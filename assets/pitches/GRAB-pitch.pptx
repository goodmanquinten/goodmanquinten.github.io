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0.xml" ContentType="application/vnd.openxmlformats-officedocument.drawingml.chart+xml"/>
  <Override PartName="/ppt/notesSlides/notesSlide14.xml" ContentType="application/vnd.openxmlformats-officedocument.presentationml.notesSlide+xml"/>
  <Override PartName="/ppt/charts/chart1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21.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5" d="100"/>
          <a:sy n="105" d="100"/>
        </p:scale>
        <p:origin x="84" y="1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inten Goodman" userId="5a088423784ddb5d" providerId="LiveId" clId="{C95F43FB-CBDE-4B9E-937B-765593B87992}"/>
    <pc:docChg chg="modSld">
      <pc:chgData name="Quinten Goodman" userId="5a088423784ddb5d" providerId="LiveId" clId="{C95F43FB-CBDE-4B9E-937B-765593B87992}" dt="2026-10-26T19:24:40.915" v="0" actId="1036"/>
      <pc:docMkLst>
        <pc:docMk/>
      </pc:docMkLst>
      <pc:sldChg chg="modSp mod">
        <pc:chgData name="Quinten Goodman" userId="5a088423784ddb5d" providerId="LiveId" clId="{C95F43FB-CBDE-4B9E-937B-765593B87992}" dt="2026-10-26T19:24:40.915" v="0" actId="1036"/>
        <pc:sldMkLst>
          <pc:docMk/>
          <pc:sldMk cId="0" sldId="269"/>
        </pc:sldMkLst>
        <pc:spChg chg="mod">
          <ac:chgData name="Quinten Goodman" userId="5a088423784ddb5d" providerId="LiveId" clId="{C95F43FB-CBDE-4B9E-937B-765593B87992}" dt="2026-10-26T19:24:40.915" v="0" actId="1036"/>
          <ac:spMkLst>
            <pc:docMk/>
            <pc:sldMk cId="0" sldId="269"/>
            <ac:spMk id="4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Revenue</c:v>
                </c:pt>
              </c:strCache>
            </c:strRef>
          </c:tx>
          <c:spPr>
            <a:solidFill>
              <a:srgbClr val="376092"/>
            </a:solidFill>
          </c:spPr>
          <c:invertIfNegative val="0"/>
          <c:cat>
            <c:strRef>
              <c:f>Sheet1!$A$2:$A$7</c:f>
              <c:strCache>
                <c:ptCount val="6"/>
                <c:pt idx="0">
                  <c:v>FY20</c:v>
                </c:pt>
                <c:pt idx="1">
                  <c:v>FY21</c:v>
                </c:pt>
                <c:pt idx="2">
                  <c:v>FY22</c:v>
                </c:pt>
                <c:pt idx="3">
                  <c:v>FY23</c:v>
                </c:pt>
                <c:pt idx="4">
                  <c:v>FY24</c:v>
                </c:pt>
                <c:pt idx="5">
                  <c:v>FY25</c:v>
                </c:pt>
              </c:strCache>
            </c:strRef>
          </c:cat>
          <c:val>
            <c:numRef>
              <c:f>Sheet1!$B$2:$B$7</c:f>
              <c:numCache>
                <c:formatCode>#,##0</c:formatCode>
                <c:ptCount val="6"/>
                <c:pt idx="0">
                  <c:v>469</c:v>
                </c:pt>
                <c:pt idx="1">
                  <c:v>675</c:v>
                </c:pt>
                <c:pt idx="2">
                  <c:v>1433</c:v>
                </c:pt>
                <c:pt idx="3">
                  <c:v>2359</c:v>
                </c:pt>
                <c:pt idx="4">
                  <c:v>2797</c:v>
                </c:pt>
                <c:pt idx="5">
                  <c:v>3370</c:v>
                </c:pt>
              </c:numCache>
            </c:numRef>
          </c:val>
          <c:extLst>
            <c:ext xmlns:c16="http://schemas.microsoft.com/office/drawing/2014/chart" uri="{C3380CC4-5D6E-409C-BE32-E72D297353CC}">
              <c16:uniqueId val="{00000000-6EAE-4AF6-9F40-898D0D61F599}"/>
            </c:ext>
          </c:extLst>
        </c:ser>
        <c:ser>
          <c:idx val="1"/>
          <c:order val="1"/>
          <c:tx>
            <c:strRef>
              <c:f>Sheet1!$C$1</c:f>
              <c:strCache>
                <c:ptCount val="1"/>
                <c:pt idx="0">
                  <c:v>EBITDA</c:v>
                </c:pt>
              </c:strCache>
            </c:strRef>
          </c:tx>
          <c:spPr>
            <a:solidFill>
              <a:srgbClr val="1874B2"/>
            </a:solidFill>
          </c:spPr>
          <c:invertIfNegative val="0"/>
          <c:cat>
            <c:strRef>
              <c:f>Sheet1!$A$2:$A$7</c:f>
              <c:strCache>
                <c:ptCount val="6"/>
                <c:pt idx="0">
                  <c:v>FY20</c:v>
                </c:pt>
                <c:pt idx="1">
                  <c:v>FY21</c:v>
                </c:pt>
                <c:pt idx="2">
                  <c:v>FY22</c:v>
                </c:pt>
                <c:pt idx="3">
                  <c:v>FY23</c:v>
                </c:pt>
                <c:pt idx="4">
                  <c:v>FY24</c:v>
                </c:pt>
                <c:pt idx="5">
                  <c:v>FY25</c:v>
                </c:pt>
              </c:strCache>
            </c:strRef>
          </c:cat>
          <c:val>
            <c:numRef>
              <c:f>Sheet1!$C$2:$C$7</c:f>
              <c:numCache>
                <c:formatCode>#,##0</c:formatCode>
                <c:ptCount val="6"/>
                <c:pt idx="0">
                  <c:v>-821</c:v>
                </c:pt>
                <c:pt idx="1">
                  <c:v>-1183</c:v>
                </c:pt>
                <c:pt idx="2">
                  <c:v>-1136</c:v>
                </c:pt>
                <c:pt idx="3">
                  <c:v>-238</c:v>
                </c:pt>
                <c:pt idx="4">
                  <c:v>142</c:v>
                </c:pt>
                <c:pt idx="5">
                  <c:v>411</c:v>
                </c:pt>
              </c:numCache>
            </c:numRef>
          </c:val>
          <c:extLst>
            <c:ext xmlns:c16="http://schemas.microsoft.com/office/drawing/2014/chart" uri="{C3380CC4-5D6E-409C-BE32-E72D297353CC}">
              <c16:uniqueId val="{00000001-6EAE-4AF6-9F40-898D0D61F599}"/>
            </c:ext>
          </c:extLst>
        </c:ser>
        <c:dLbls>
          <c:showLegendKey val="0"/>
          <c:showVal val="0"/>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Gross merchandise value</c:v>
                </c:pt>
              </c:strCache>
            </c:strRef>
          </c:tx>
          <c:spPr>
            <a:solidFill>
              <a:srgbClr val="376092"/>
            </a:solidFill>
          </c:spPr>
          <c:invertIfNegative val="0"/>
          <c:dLbls>
            <c:numFmt formatCode="#,##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#,##0.0</c:formatCode>
                <c:ptCount val="3"/>
                <c:pt idx="0">
                  <c:v>17</c:v>
                </c:pt>
                <c:pt idx="1">
                  <c:v>19.2</c:v>
                </c:pt>
                <c:pt idx="2">
                  <c:v>22.7</c:v>
                </c:pt>
              </c:numCache>
            </c:numRef>
          </c:val>
          <c:extLst>
            <c:ext xmlns:c16="http://schemas.microsoft.com/office/drawing/2014/chart" uri="{C3380CC4-5D6E-409C-BE32-E72D297353CC}">
              <c16:uniqueId val="{00000000-5A22-4EA0-BD41-E3802C1D80EB}"/>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Grab share of GMV</c:v>
                </c:pt>
              </c:strCache>
            </c:strRef>
          </c:tx>
          <c:spPr>
            <a:solidFill>
              <a:srgbClr val="376092"/>
            </a:solidFill>
          </c:spPr>
          <c:invertIfNegative val="0"/>
          <c:dLbls>
            <c:numFmt formatCode="#,##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Rides, Indonesia H1 2025</c:v>
                </c:pt>
                <c:pt idx="1">
                  <c:v>Rides, Vietnam</c:v>
                </c:pt>
                <c:pt idx="2">
                  <c:v>Food delivery, SEA 2025</c:v>
                </c:pt>
              </c:strCache>
            </c:strRef>
          </c:cat>
          <c:val>
            <c:numRef>
              <c:f>Sheet1!$B$2:$B$4</c:f>
              <c:numCache>
                <c:formatCode>#,##0.0</c:formatCode>
                <c:ptCount val="3"/>
                <c:pt idx="0">
                  <c:v>50.1</c:v>
                </c:pt>
                <c:pt idx="1">
                  <c:v>62</c:v>
                </c:pt>
                <c:pt idx="2">
                  <c:v>55</c:v>
                </c:pt>
              </c:numCache>
            </c:numRef>
          </c:val>
          <c:extLst>
            <c:ext xmlns:c16="http://schemas.microsoft.com/office/drawing/2014/chart" uri="{C3380CC4-5D6E-409C-BE32-E72D297353CC}">
              <c16:uniqueId val="{00000000-DC32-44BA-9E1C-0292C78BF1D5}"/>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b"/>
        <c:numFmt formatCode="#,##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6"/>
          <c:y val="0.06"/>
          <c:w val="0.88"/>
          <c:h val="0.8"/>
        </c:manualLayout>
      </c:layout>
      <c:lineChart>
        <c:grouping val="standard"/>
        <c:varyColors val="0"/>
        <c:ser>
          <c:idx val="0"/>
          <c:order val="0"/>
          <c:tx>
            <c:strRef>
              <c:f>Sheet1!$B$1</c:f>
              <c:strCache>
                <c:ptCount val="1"/>
                <c:pt idx="0">
                  <c:v>GRAB</c:v>
                </c:pt>
              </c:strCache>
            </c:strRef>
          </c:tx>
          <c:spPr>
            <a:ln w="28575">
              <a:solidFill>
                <a:srgbClr val="376092"/>
              </a:solidFill>
            </a:ln>
          </c:spPr>
          <c:marker>
            <c:symbol val="none"/>
          </c:marker>
          <c:cat>
            <c:strRef>
              <c:f>Sheet1!$A$2:$A$106</c:f>
              <c:strCache>
                <c:ptCount val="105"/>
                <c:pt idx="0">
                  <c:v>10/24</c:v>
                </c:pt>
                <c:pt idx="1">
                  <c:v>10/24</c:v>
                </c:pt>
                <c:pt idx="2">
                  <c:v>11/24</c:v>
                </c:pt>
                <c:pt idx="3">
                  <c:v>11/24</c:v>
                </c:pt>
                <c:pt idx="4">
                  <c:v>11/24</c:v>
                </c:pt>
                <c:pt idx="5">
                  <c:v>11/24</c:v>
                </c:pt>
                <c:pt idx="6">
                  <c:v>11/24</c:v>
                </c:pt>
                <c:pt idx="7">
                  <c:v>12/24</c:v>
                </c:pt>
                <c:pt idx="8">
                  <c:v>12/24</c:v>
                </c:pt>
                <c:pt idx="9">
                  <c:v>12/24</c:v>
                </c:pt>
                <c:pt idx="10">
                  <c:v>12/24</c:v>
                </c:pt>
                <c:pt idx="11">
                  <c:v>01/25</c:v>
                </c:pt>
                <c:pt idx="12">
                  <c:v>01/25</c:v>
                </c:pt>
                <c:pt idx="13">
                  <c:v>01/25</c:v>
                </c:pt>
                <c:pt idx="14">
                  <c:v>01/25</c:v>
                </c:pt>
                <c:pt idx="15">
                  <c:v>01/25</c:v>
                </c:pt>
                <c:pt idx="16">
                  <c:v>02/25</c:v>
                </c:pt>
                <c:pt idx="17">
                  <c:v>02/25</c:v>
                </c:pt>
                <c:pt idx="18">
                  <c:v>02/25</c:v>
                </c:pt>
                <c:pt idx="19">
                  <c:v>02/25</c:v>
                </c:pt>
                <c:pt idx="20">
                  <c:v>03/25</c:v>
                </c:pt>
                <c:pt idx="21">
                  <c:v>03/25</c:v>
                </c:pt>
                <c:pt idx="22">
                  <c:v>03/25</c:v>
                </c:pt>
                <c:pt idx="23">
                  <c:v>03/25</c:v>
                </c:pt>
                <c:pt idx="24">
                  <c:v>04/25</c:v>
                </c:pt>
                <c:pt idx="25">
                  <c:v>04/25</c:v>
                </c:pt>
                <c:pt idx="26">
                  <c:v>04/25</c:v>
                </c:pt>
                <c:pt idx="27">
                  <c:v>04/25</c:v>
                </c:pt>
                <c:pt idx="28">
                  <c:v>05/25</c:v>
                </c:pt>
                <c:pt idx="29">
                  <c:v>05/25</c:v>
                </c:pt>
                <c:pt idx="30">
                  <c:v>05/25</c:v>
                </c:pt>
                <c:pt idx="31">
                  <c:v>05/25</c:v>
                </c:pt>
                <c:pt idx="32">
                  <c:v>05/25</c:v>
                </c:pt>
                <c:pt idx="33">
                  <c:v>06/25</c:v>
                </c:pt>
                <c:pt idx="34">
                  <c:v>06/25</c:v>
                </c:pt>
                <c:pt idx="35">
                  <c:v>06/25</c:v>
                </c:pt>
                <c:pt idx="36">
                  <c:v>06/25</c:v>
                </c:pt>
                <c:pt idx="37">
                  <c:v>07/25</c:v>
                </c:pt>
                <c:pt idx="38">
                  <c:v>07/25</c:v>
                </c:pt>
                <c:pt idx="39">
                  <c:v>07/25</c:v>
                </c:pt>
                <c:pt idx="40">
                  <c:v>07/25</c:v>
                </c:pt>
                <c:pt idx="41">
                  <c:v>08/25</c:v>
                </c:pt>
                <c:pt idx="42">
                  <c:v>08/25</c:v>
                </c:pt>
                <c:pt idx="43">
                  <c:v>08/25</c:v>
                </c:pt>
                <c:pt idx="44">
                  <c:v>08/25</c:v>
                </c:pt>
                <c:pt idx="45">
                  <c:v>08/25</c:v>
                </c:pt>
                <c:pt idx="46">
                  <c:v>09/25</c:v>
                </c:pt>
                <c:pt idx="47">
                  <c:v>09/25</c:v>
                </c:pt>
                <c:pt idx="48">
                  <c:v>09/25</c:v>
                </c:pt>
                <c:pt idx="49">
                  <c:v>09/25</c:v>
                </c:pt>
                <c:pt idx="50">
                  <c:v>10/25</c:v>
                </c:pt>
                <c:pt idx="51">
                  <c:v>10/25</c:v>
                </c:pt>
                <c:pt idx="52">
                  <c:v>10/25</c:v>
                </c:pt>
                <c:pt idx="53">
                  <c:v>10/25</c:v>
                </c:pt>
                <c:pt idx="54">
                  <c:v>10/25</c:v>
                </c:pt>
                <c:pt idx="55">
                  <c:v>11/25</c:v>
                </c:pt>
                <c:pt idx="56">
                  <c:v>11/25</c:v>
                </c:pt>
                <c:pt idx="57">
                  <c:v>11/25</c:v>
                </c:pt>
                <c:pt idx="58">
                  <c:v>11/25</c:v>
                </c:pt>
                <c:pt idx="59">
                  <c:v>12/25</c:v>
                </c:pt>
                <c:pt idx="60">
                  <c:v>12/25</c:v>
                </c:pt>
                <c:pt idx="61">
                  <c:v>12/25</c:v>
                </c:pt>
                <c:pt idx="62">
                  <c:v>12/25</c:v>
                </c:pt>
                <c:pt idx="63">
                  <c:v>01/26</c:v>
                </c:pt>
                <c:pt idx="64">
                  <c:v>01/26</c:v>
                </c:pt>
                <c:pt idx="65">
                  <c:v>01/26</c:v>
                </c:pt>
                <c:pt idx="66">
                  <c:v>01/26</c:v>
                </c:pt>
                <c:pt idx="67">
                  <c:v>01/26</c:v>
                </c:pt>
                <c:pt idx="68">
                  <c:v>02/26</c:v>
                </c:pt>
                <c:pt idx="69">
                  <c:v>02/26</c:v>
                </c:pt>
                <c:pt idx="70">
                  <c:v>02/26</c:v>
                </c:pt>
                <c:pt idx="71">
                  <c:v>02/26</c:v>
                </c:pt>
                <c:pt idx="72">
                  <c:v>03/26</c:v>
                </c:pt>
                <c:pt idx="73">
                  <c:v>03/26</c:v>
                </c:pt>
                <c:pt idx="74">
                  <c:v>03/26</c:v>
                </c:pt>
                <c:pt idx="75">
                  <c:v>03/26</c:v>
                </c:pt>
                <c:pt idx="76">
                  <c:v>04/26</c:v>
                </c:pt>
                <c:pt idx="77">
                  <c:v>04/26</c:v>
                </c:pt>
                <c:pt idx="78">
                  <c:v>04/26</c:v>
                </c:pt>
                <c:pt idx="79">
                  <c:v>04/26</c:v>
                </c:pt>
                <c:pt idx="80">
                  <c:v>05/26</c:v>
                </c:pt>
                <c:pt idx="81">
                  <c:v>05/26</c:v>
                </c:pt>
                <c:pt idx="82">
                  <c:v>05/26</c:v>
                </c:pt>
                <c:pt idx="83">
                  <c:v>05/26</c:v>
                </c:pt>
                <c:pt idx="84">
                  <c:v>05/26</c:v>
                </c:pt>
                <c:pt idx="85">
                  <c:v>06/26</c:v>
                </c:pt>
                <c:pt idx="86">
                  <c:v>06/26</c:v>
                </c:pt>
                <c:pt idx="87">
                  <c:v>06/26</c:v>
                </c:pt>
                <c:pt idx="88">
                  <c:v>06/26</c:v>
                </c:pt>
                <c:pt idx="89">
                  <c:v>07/26</c:v>
                </c:pt>
                <c:pt idx="90">
                  <c:v>07/26</c:v>
                </c:pt>
                <c:pt idx="91">
                  <c:v>07/26</c:v>
                </c:pt>
                <c:pt idx="92">
                  <c:v>07/26</c:v>
                </c:pt>
                <c:pt idx="93">
                  <c:v>07/26</c:v>
                </c:pt>
                <c:pt idx="94">
                  <c:v>08/26</c:v>
                </c:pt>
                <c:pt idx="95">
                  <c:v>08/26</c:v>
                </c:pt>
                <c:pt idx="96">
                  <c:v>08/26</c:v>
                </c:pt>
                <c:pt idx="97">
                  <c:v>08/26</c:v>
                </c:pt>
                <c:pt idx="98">
                  <c:v>09/26</c:v>
                </c:pt>
                <c:pt idx="99">
                  <c:v>09/26</c:v>
                </c:pt>
                <c:pt idx="100">
                  <c:v>09/26</c:v>
                </c:pt>
                <c:pt idx="101">
                  <c:v>09/26</c:v>
                </c:pt>
                <c:pt idx="102">
                  <c:v>10/26</c:v>
                </c:pt>
                <c:pt idx="103">
                  <c:v>10/26</c:v>
                </c:pt>
                <c:pt idx="104">
                  <c:v>10/26</c:v>
                </c:pt>
              </c:strCache>
            </c:strRef>
          </c:cat>
          <c:val>
            <c:numRef>
              <c:f>Sheet1!$B$2:$B$106</c:f>
              <c:numCache>
                <c:formatCode>0</c:formatCode>
                <c:ptCount val="105"/>
                <c:pt idx="0">
                  <c:v>100</c:v>
                </c:pt>
                <c:pt idx="1">
                  <c:v>109.11528150134049</c:v>
                </c:pt>
                <c:pt idx="2">
                  <c:v>109.11528150134049</c:v>
                </c:pt>
                <c:pt idx="3">
                  <c:v>113.40482573726543</c:v>
                </c:pt>
                <c:pt idx="4">
                  <c:v>126.80965147453085</c:v>
                </c:pt>
                <c:pt idx="5">
                  <c:v>135.92493297587131</c:v>
                </c:pt>
                <c:pt idx="6">
                  <c:v>134.04825737265415</c:v>
                </c:pt>
                <c:pt idx="7">
                  <c:v>137.80160857908848</c:v>
                </c:pt>
                <c:pt idx="8">
                  <c:v>137.53351206434317</c:v>
                </c:pt>
                <c:pt idx="9">
                  <c:v>131.36729222520108</c:v>
                </c:pt>
                <c:pt idx="10">
                  <c:v>128.9544235924933</c:v>
                </c:pt>
                <c:pt idx="11">
                  <c:v>128.9544235924933</c:v>
                </c:pt>
                <c:pt idx="12">
                  <c:v>120.37533512064344</c:v>
                </c:pt>
                <c:pt idx="13">
                  <c:v>120.64343163538874</c:v>
                </c:pt>
                <c:pt idx="14">
                  <c:v>122.52010723860592</c:v>
                </c:pt>
                <c:pt idx="15">
                  <c:v>122.7882037533512</c:v>
                </c:pt>
                <c:pt idx="16">
                  <c:v>128.41823056300268</c:v>
                </c:pt>
                <c:pt idx="17">
                  <c:v>131.36729222520108</c:v>
                </c:pt>
                <c:pt idx="18">
                  <c:v>131.36729222520108</c:v>
                </c:pt>
                <c:pt idx="19">
                  <c:v>130.02680965147454</c:v>
                </c:pt>
                <c:pt idx="20">
                  <c:v>123.05630026809651</c:v>
                </c:pt>
                <c:pt idx="21">
                  <c:v>117.96246648793567</c:v>
                </c:pt>
                <c:pt idx="22">
                  <c:v>124.39678284182305</c:v>
                </c:pt>
                <c:pt idx="23">
                  <c:v>122.52010723860592</c:v>
                </c:pt>
                <c:pt idx="24">
                  <c:v>100</c:v>
                </c:pt>
                <c:pt idx="25">
                  <c:v>108.57908847184987</c:v>
                </c:pt>
                <c:pt idx="26">
                  <c:v>110.18766756032173</c:v>
                </c:pt>
                <c:pt idx="27">
                  <c:v>128.15013404825737</c:v>
                </c:pt>
                <c:pt idx="28">
                  <c:v>131.09919571045577</c:v>
                </c:pt>
                <c:pt idx="29">
                  <c:v>131.36729222520108</c:v>
                </c:pt>
                <c:pt idx="30">
                  <c:v>136.46112600536193</c:v>
                </c:pt>
                <c:pt idx="31">
                  <c:v>132.7077747989276</c:v>
                </c:pt>
                <c:pt idx="32">
                  <c:v>130.56300268096516</c:v>
                </c:pt>
                <c:pt idx="33">
                  <c:v>138.60589812332441</c:v>
                </c:pt>
                <c:pt idx="34">
                  <c:v>122.52010723860592</c:v>
                </c:pt>
                <c:pt idx="35">
                  <c:v>120.37533512064344</c:v>
                </c:pt>
                <c:pt idx="36">
                  <c:v>131.9034852546917</c:v>
                </c:pt>
                <c:pt idx="37">
                  <c:v>130.56300268096516</c:v>
                </c:pt>
                <c:pt idx="38">
                  <c:v>134.04825737265415</c:v>
                </c:pt>
                <c:pt idx="39">
                  <c:v>143.16353887399464</c:v>
                </c:pt>
                <c:pt idx="40">
                  <c:v>143.69973190348526</c:v>
                </c:pt>
                <c:pt idx="41">
                  <c:v>128.68632707774799</c:v>
                </c:pt>
                <c:pt idx="42">
                  <c:v>130.83109919571046</c:v>
                </c:pt>
                <c:pt idx="43">
                  <c:v>137.53351206434317</c:v>
                </c:pt>
                <c:pt idx="44">
                  <c:v>137.53351206434317</c:v>
                </c:pt>
                <c:pt idx="45">
                  <c:v>133.78016085790884</c:v>
                </c:pt>
                <c:pt idx="46">
                  <c:v>138.3378016085791</c:v>
                </c:pt>
                <c:pt idx="47">
                  <c:v>160.85790884718497</c:v>
                </c:pt>
                <c:pt idx="48">
                  <c:v>171.31367292225201</c:v>
                </c:pt>
                <c:pt idx="49">
                  <c:v>163.8069705093834</c:v>
                </c:pt>
                <c:pt idx="50">
                  <c:v>165.14745308310992</c:v>
                </c:pt>
                <c:pt idx="51">
                  <c:v>157.1045576407507</c:v>
                </c:pt>
                <c:pt idx="52">
                  <c:v>151.20643431635386</c:v>
                </c:pt>
                <c:pt idx="53">
                  <c:v>156.83646112600536</c:v>
                </c:pt>
                <c:pt idx="54">
                  <c:v>161.12600536193028</c:v>
                </c:pt>
                <c:pt idx="55">
                  <c:v>149.06166219839142</c:v>
                </c:pt>
                <c:pt idx="56">
                  <c:v>145.0402144772118</c:v>
                </c:pt>
                <c:pt idx="57">
                  <c:v>131.36729222520108</c:v>
                </c:pt>
                <c:pt idx="58">
                  <c:v>146.11260053619304</c:v>
                </c:pt>
                <c:pt idx="59">
                  <c:v>139.14209115281503</c:v>
                </c:pt>
                <c:pt idx="60">
                  <c:v>138.06970509383379</c:v>
                </c:pt>
                <c:pt idx="61">
                  <c:v>132.17158176943698</c:v>
                </c:pt>
                <c:pt idx="62">
                  <c:v>138.06970509383379</c:v>
                </c:pt>
                <c:pt idx="63">
                  <c:v>136.19302949061662</c:v>
                </c:pt>
                <c:pt idx="64">
                  <c:v>130.02680965147454</c:v>
                </c:pt>
                <c:pt idx="65">
                  <c:v>117.42627345844502</c:v>
                </c:pt>
                <c:pt idx="66">
                  <c:v>122.7882037533512</c:v>
                </c:pt>
                <c:pt idx="67">
                  <c:v>115.28150134048256</c:v>
                </c:pt>
                <c:pt idx="68">
                  <c:v>114.47721179624664</c:v>
                </c:pt>
                <c:pt idx="69">
                  <c:v>110.72386058981235</c:v>
                </c:pt>
                <c:pt idx="70">
                  <c:v>117.42627345844502</c:v>
                </c:pt>
                <c:pt idx="71">
                  <c:v>113.13672922252009</c:v>
                </c:pt>
                <c:pt idx="72">
                  <c:v>106.70241286863271</c:v>
                </c:pt>
                <c:pt idx="73">
                  <c:v>99.463806970509381</c:v>
                </c:pt>
                <c:pt idx="74">
                  <c:v>95.442359249329755</c:v>
                </c:pt>
                <c:pt idx="75">
                  <c:v>95.710455764075064</c:v>
                </c:pt>
                <c:pt idx="76">
                  <c:v>97.050938337801611</c:v>
                </c:pt>
                <c:pt idx="77">
                  <c:v>98.659517426273467</c:v>
                </c:pt>
                <c:pt idx="78">
                  <c:v>112.86863270777481</c:v>
                </c:pt>
                <c:pt idx="79">
                  <c:v>104.55764075067025</c:v>
                </c:pt>
                <c:pt idx="80">
                  <c:v>98.391420911528144</c:v>
                </c:pt>
                <c:pt idx="81">
                  <c:v>99.731903485254705</c:v>
                </c:pt>
                <c:pt idx="82">
                  <c:v>95.174262734584445</c:v>
                </c:pt>
                <c:pt idx="83">
                  <c:v>94.101876675603208</c:v>
                </c:pt>
                <c:pt idx="84">
                  <c:v>94.906166219839136</c:v>
                </c:pt>
                <c:pt idx="85">
                  <c:v>89.544235924932963</c:v>
                </c:pt>
                <c:pt idx="86">
                  <c:v>88.471849865951739</c:v>
                </c:pt>
                <c:pt idx="87">
                  <c:v>95.710455764075064</c:v>
                </c:pt>
                <c:pt idx="88">
                  <c:v>95.174262734584445</c:v>
                </c:pt>
                <c:pt idx="89">
                  <c:v>104.55764075067025</c:v>
                </c:pt>
                <c:pt idx="90">
                  <c:v>105.36193029490617</c:v>
                </c:pt>
                <c:pt idx="91">
                  <c:v>95.710455764075064</c:v>
                </c:pt>
                <c:pt idx="92">
                  <c:v>88.739946380697049</c:v>
                </c:pt>
                <c:pt idx="93">
                  <c:v>93.833780160857899</c:v>
                </c:pt>
                <c:pt idx="94">
                  <c:v>98.123324396782834</c:v>
                </c:pt>
                <c:pt idx="95">
                  <c:v>97.050938337801611</c:v>
                </c:pt>
                <c:pt idx="96">
                  <c:v>93.297587131367294</c:v>
                </c:pt>
                <c:pt idx="97">
                  <c:v>96.782841823056302</c:v>
                </c:pt>
                <c:pt idx="98">
                  <c:v>91.689008042895438</c:v>
                </c:pt>
                <c:pt idx="99">
                  <c:v>81.769436997319033</c:v>
                </c:pt>
                <c:pt idx="100">
                  <c:v>74.932975871313673</c:v>
                </c:pt>
                <c:pt idx="101">
                  <c:v>83.914209115281508</c:v>
                </c:pt>
                <c:pt idx="102">
                  <c:v>82.573726541554961</c:v>
                </c:pt>
                <c:pt idx="103">
                  <c:v>85.52278820375335</c:v>
                </c:pt>
                <c:pt idx="104">
                  <c:v>78.820375335120644</c:v>
                </c:pt>
              </c:numCache>
            </c:numRef>
          </c:val>
          <c:smooth val="0"/>
          <c:extLst>
            <c:ext xmlns:c16="http://schemas.microsoft.com/office/drawing/2014/chart" uri="{C3380CC4-5D6E-409C-BE32-E72D297353CC}">
              <c16:uniqueId val="{00000000-A23A-4336-95C0-3AA3BEA2E158}"/>
            </c:ext>
          </c:extLst>
        </c:ser>
        <c:ser>
          <c:idx val="1"/>
          <c:order val="1"/>
          <c:tx>
            <c:strRef>
              <c:f>Sheet1!$C$1</c:f>
              <c:strCache>
                <c:ptCount val="1"/>
                <c:pt idx="0">
                  <c:v>SPX</c:v>
                </c:pt>
              </c:strCache>
            </c:strRef>
          </c:tx>
          <c:spPr>
            <a:ln w="19050">
              <a:solidFill>
                <a:srgbClr val="898989"/>
              </a:solidFill>
            </a:ln>
          </c:spPr>
          <c:marker>
            <c:symbol val="none"/>
          </c:marker>
          <c:cat>
            <c:strRef>
              <c:f>Sheet1!$A$2:$A$106</c:f>
              <c:strCache>
                <c:ptCount val="105"/>
                <c:pt idx="0">
                  <c:v>10/24</c:v>
                </c:pt>
                <c:pt idx="1">
                  <c:v>10/24</c:v>
                </c:pt>
                <c:pt idx="2">
                  <c:v>11/24</c:v>
                </c:pt>
                <c:pt idx="3">
                  <c:v>11/24</c:v>
                </c:pt>
                <c:pt idx="4">
                  <c:v>11/24</c:v>
                </c:pt>
                <c:pt idx="5">
                  <c:v>11/24</c:v>
                </c:pt>
                <c:pt idx="6">
                  <c:v>11/24</c:v>
                </c:pt>
                <c:pt idx="7">
                  <c:v>12/24</c:v>
                </c:pt>
                <c:pt idx="8">
                  <c:v>12/24</c:v>
                </c:pt>
                <c:pt idx="9">
                  <c:v>12/24</c:v>
                </c:pt>
                <c:pt idx="10">
                  <c:v>12/24</c:v>
                </c:pt>
                <c:pt idx="11">
                  <c:v>01/25</c:v>
                </c:pt>
                <c:pt idx="12">
                  <c:v>01/25</c:v>
                </c:pt>
                <c:pt idx="13">
                  <c:v>01/25</c:v>
                </c:pt>
                <c:pt idx="14">
                  <c:v>01/25</c:v>
                </c:pt>
                <c:pt idx="15">
                  <c:v>01/25</c:v>
                </c:pt>
                <c:pt idx="16">
                  <c:v>02/25</c:v>
                </c:pt>
                <c:pt idx="17">
                  <c:v>02/25</c:v>
                </c:pt>
                <c:pt idx="18">
                  <c:v>02/25</c:v>
                </c:pt>
                <c:pt idx="19">
                  <c:v>02/25</c:v>
                </c:pt>
                <c:pt idx="20">
                  <c:v>03/25</c:v>
                </c:pt>
                <c:pt idx="21">
                  <c:v>03/25</c:v>
                </c:pt>
                <c:pt idx="22">
                  <c:v>03/25</c:v>
                </c:pt>
                <c:pt idx="23">
                  <c:v>03/25</c:v>
                </c:pt>
                <c:pt idx="24">
                  <c:v>04/25</c:v>
                </c:pt>
                <c:pt idx="25">
                  <c:v>04/25</c:v>
                </c:pt>
                <c:pt idx="26">
                  <c:v>04/25</c:v>
                </c:pt>
                <c:pt idx="27">
                  <c:v>04/25</c:v>
                </c:pt>
                <c:pt idx="28">
                  <c:v>05/25</c:v>
                </c:pt>
                <c:pt idx="29">
                  <c:v>05/25</c:v>
                </c:pt>
                <c:pt idx="30">
                  <c:v>05/25</c:v>
                </c:pt>
                <c:pt idx="31">
                  <c:v>05/25</c:v>
                </c:pt>
                <c:pt idx="32">
                  <c:v>05/25</c:v>
                </c:pt>
                <c:pt idx="33">
                  <c:v>06/25</c:v>
                </c:pt>
                <c:pt idx="34">
                  <c:v>06/25</c:v>
                </c:pt>
                <c:pt idx="35">
                  <c:v>06/25</c:v>
                </c:pt>
                <c:pt idx="36">
                  <c:v>06/25</c:v>
                </c:pt>
                <c:pt idx="37">
                  <c:v>07/25</c:v>
                </c:pt>
                <c:pt idx="38">
                  <c:v>07/25</c:v>
                </c:pt>
                <c:pt idx="39">
                  <c:v>07/25</c:v>
                </c:pt>
                <c:pt idx="40">
                  <c:v>07/25</c:v>
                </c:pt>
                <c:pt idx="41">
                  <c:v>08/25</c:v>
                </c:pt>
                <c:pt idx="42">
                  <c:v>08/25</c:v>
                </c:pt>
                <c:pt idx="43">
                  <c:v>08/25</c:v>
                </c:pt>
                <c:pt idx="44">
                  <c:v>08/25</c:v>
                </c:pt>
                <c:pt idx="45">
                  <c:v>08/25</c:v>
                </c:pt>
                <c:pt idx="46">
                  <c:v>09/25</c:v>
                </c:pt>
                <c:pt idx="47">
                  <c:v>09/25</c:v>
                </c:pt>
                <c:pt idx="48">
                  <c:v>09/25</c:v>
                </c:pt>
                <c:pt idx="49">
                  <c:v>09/25</c:v>
                </c:pt>
                <c:pt idx="50">
                  <c:v>10/25</c:v>
                </c:pt>
                <c:pt idx="51">
                  <c:v>10/25</c:v>
                </c:pt>
                <c:pt idx="52">
                  <c:v>10/25</c:v>
                </c:pt>
                <c:pt idx="53">
                  <c:v>10/25</c:v>
                </c:pt>
                <c:pt idx="54">
                  <c:v>10/25</c:v>
                </c:pt>
                <c:pt idx="55">
                  <c:v>11/25</c:v>
                </c:pt>
                <c:pt idx="56">
                  <c:v>11/25</c:v>
                </c:pt>
                <c:pt idx="57">
                  <c:v>11/25</c:v>
                </c:pt>
                <c:pt idx="58">
                  <c:v>11/25</c:v>
                </c:pt>
                <c:pt idx="59">
                  <c:v>12/25</c:v>
                </c:pt>
                <c:pt idx="60">
                  <c:v>12/25</c:v>
                </c:pt>
                <c:pt idx="61">
                  <c:v>12/25</c:v>
                </c:pt>
                <c:pt idx="62">
                  <c:v>12/25</c:v>
                </c:pt>
                <c:pt idx="63">
                  <c:v>01/26</c:v>
                </c:pt>
                <c:pt idx="64">
                  <c:v>01/26</c:v>
                </c:pt>
                <c:pt idx="65">
                  <c:v>01/26</c:v>
                </c:pt>
                <c:pt idx="66">
                  <c:v>01/26</c:v>
                </c:pt>
                <c:pt idx="67">
                  <c:v>01/26</c:v>
                </c:pt>
                <c:pt idx="68">
                  <c:v>02/26</c:v>
                </c:pt>
                <c:pt idx="69">
                  <c:v>02/26</c:v>
                </c:pt>
                <c:pt idx="70">
                  <c:v>02/26</c:v>
                </c:pt>
                <c:pt idx="71">
                  <c:v>02/26</c:v>
                </c:pt>
                <c:pt idx="72">
                  <c:v>03/26</c:v>
                </c:pt>
                <c:pt idx="73">
                  <c:v>03/26</c:v>
                </c:pt>
                <c:pt idx="74">
                  <c:v>03/26</c:v>
                </c:pt>
                <c:pt idx="75">
                  <c:v>03/26</c:v>
                </c:pt>
                <c:pt idx="76">
                  <c:v>04/26</c:v>
                </c:pt>
                <c:pt idx="77">
                  <c:v>04/26</c:v>
                </c:pt>
                <c:pt idx="78">
                  <c:v>04/26</c:v>
                </c:pt>
                <c:pt idx="79">
                  <c:v>04/26</c:v>
                </c:pt>
                <c:pt idx="80">
                  <c:v>05/26</c:v>
                </c:pt>
                <c:pt idx="81">
                  <c:v>05/26</c:v>
                </c:pt>
                <c:pt idx="82">
                  <c:v>05/26</c:v>
                </c:pt>
                <c:pt idx="83">
                  <c:v>05/26</c:v>
                </c:pt>
                <c:pt idx="84">
                  <c:v>05/26</c:v>
                </c:pt>
                <c:pt idx="85">
                  <c:v>06/26</c:v>
                </c:pt>
                <c:pt idx="86">
                  <c:v>06/26</c:v>
                </c:pt>
                <c:pt idx="87">
                  <c:v>06/26</c:v>
                </c:pt>
                <c:pt idx="88">
                  <c:v>06/26</c:v>
                </c:pt>
                <c:pt idx="89">
                  <c:v>07/26</c:v>
                </c:pt>
                <c:pt idx="90">
                  <c:v>07/26</c:v>
                </c:pt>
                <c:pt idx="91">
                  <c:v>07/26</c:v>
                </c:pt>
                <c:pt idx="92">
                  <c:v>07/26</c:v>
                </c:pt>
                <c:pt idx="93">
                  <c:v>07/26</c:v>
                </c:pt>
                <c:pt idx="94">
                  <c:v>08/26</c:v>
                </c:pt>
                <c:pt idx="95">
                  <c:v>08/26</c:v>
                </c:pt>
                <c:pt idx="96">
                  <c:v>08/26</c:v>
                </c:pt>
                <c:pt idx="97">
                  <c:v>08/26</c:v>
                </c:pt>
                <c:pt idx="98">
                  <c:v>09/26</c:v>
                </c:pt>
                <c:pt idx="99">
                  <c:v>09/26</c:v>
                </c:pt>
                <c:pt idx="100">
                  <c:v>09/26</c:v>
                </c:pt>
                <c:pt idx="101">
                  <c:v>09/26</c:v>
                </c:pt>
                <c:pt idx="102">
                  <c:v>10/26</c:v>
                </c:pt>
                <c:pt idx="103">
                  <c:v>10/26</c:v>
                </c:pt>
                <c:pt idx="104">
                  <c:v>10/26</c:v>
                </c:pt>
              </c:strCache>
            </c:strRef>
          </c:cat>
          <c:val>
            <c:numRef>
              <c:f>Sheet1!$C$2:$C$106</c:f>
              <c:numCache>
                <c:formatCode>0</c:formatCode>
                <c:ptCount val="105"/>
                <c:pt idx="0">
                  <c:v>100</c:v>
                </c:pt>
                <c:pt idx="1">
                  <c:v>99.035751372199968</c:v>
                </c:pt>
                <c:pt idx="2">
                  <c:v>97.683245604612026</c:v>
                </c:pt>
                <c:pt idx="3">
                  <c:v>102.23149810645782</c:v>
                </c:pt>
                <c:pt idx="4">
                  <c:v>100.10145498382687</c:v>
                </c:pt>
                <c:pt idx="5">
                  <c:v>101.78475515246382</c:v>
                </c:pt>
                <c:pt idx="6">
                  <c:v>102.85966644329518</c:v>
                </c:pt>
                <c:pt idx="7">
                  <c:v>103.8467637565285</c:v>
                </c:pt>
                <c:pt idx="8">
                  <c:v>103.17869547647183</c:v>
                </c:pt>
                <c:pt idx="9">
                  <c:v>101.12845224027951</c:v>
                </c:pt>
                <c:pt idx="10">
                  <c:v>101.81033203914286</c:v>
                </c:pt>
                <c:pt idx="11">
                  <c:v>101.32658785575319</c:v>
                </c:pt>
                <c:pt idx="12">
                  <c:v>99.358361169511667</c:v>
                </c:pt>
                <c:pt idx="13">
                  <c:v>102.25059551517816</c:v>
                </c:pt>
                <c:pt idx="14">
                  <c:v>104.03381605444125</c:v>
                </c:pt>
                <c:pt idx="15">
                  <c:v>102.99863419425132</c:v>
                </c:pt>
                <c:pt idx="16">
                  <c:v>102.75070890604245</c:v>
                </c:pt>
                <c:pt idx="17">
                  <c:v>104.26213239619622</c:v>
                </c:pt>
                <c:pt idx="18">
                  <c:v>102.5314297309141</c:v>
                </c:pt>
                <c:pt idx="19">
                  <c:v>101.53171448691913</c:v>
                </c:pt>
                <c:pt idx="20">
                  <c:v>98.389167676953676</c:v>
                </c:pt>
                <c:pt idx="21">
                  <c:v>96.151019579959311</c:v>
                </c:pt>
                <c:pt idx="22">
                  <c:v>96.639026577795519</c:v>
                </c:pt>
                <c:pt idx="23">
                  <c:v>95.162046628369538</c:v>
                </c:pt>
                <c:pt idx="24">
                  <c:v>86.519446106942084</c:v>
                </c:pt>
                <c:pt idx="25">
                  <c:v>91.452033959284989</c:v>
                </c:pt>
                <c:pt idx="26">
                  <c:v>90.076679506263773</c:v>
                </c:pt>
                <c:pt idx="27">
                  <c:v>94.211780031954049</c:v>
                </c:pt>
                <c:pt idx="28">
                  <c:v>96.96487611408655</c:v>
                </c:pt>
                <c:pt idx="29">
                  <c:v>96.508584455732375</c:v>
                </c:pt>
                <c:pt idx="30">
                  <c:v>101.59787336712893</c:v>
                </c:pt>
                <c:pt idx="31">
                  <c:v>98.945379705934002</c:v>
                </c:pt>
                <c:pt idx="32">
                  <c:v>100.80175014109915</c:v>
                </c:pt>
                <c:pt idx="33">
                  <c:v>102.3136851689865</c:v>
                </c:pt>
                <c:pt idx="34">
                  <c:v>101.91485624937124</c:v>
                </c:pt>
                <c:pt idx="35">
                  <c:v>101.75917826578478</c:v>
                </c:pt>
                <c:pt idx="36">
                  <c:v>105.25860790121182</c:v>
                </c:pt>
                <c:pt idx="37">
                  <c:v>107.07081557871116</c:v>
                </c:pt>
                <c:pt idx="38">
                  <c:v>106.73661092610496</c:v>
                </c:pt>
                <c:pt idx="39">
                  <c:v>107.36818951449953</c:v>
                </c:pt>
                <c:pt idx="40">
                  <c:v>108.93434754214645</c:v>
                </c:pt>
                <c:pt idx="41">
                  <c:v>106.36591658183667</c:v>
                </c:pt>
                <c:pt idx="42">
                  <c:v>108.94815906095312</c:v>
                </c:pt>
                <c:pt idx="43">
                  <c:v>109.97720246834008</c:v>
                </c:pt>
                <c:pt idx="44">
                  <c:v>110.26894948905905</c:v>
                </c:pt>
                <c:pt idx="45">
                  <c:v>110.15555862478197</c:v>
                </c:pt>
                <c:pt idx="46">
                  <c:v>110.51772734015724</c:v>
                </c:pt>
                <c:pt idx="47">
                  <c:v>112.27042612798333</c:v>
                </c:pt>
                <c:pt idx="48">
                  <c:v>113.63572033891079</c:v>
                </c:pt>
                <c:pt idx="49">
                  <c:v>113.2834413530514</c:v>
                </c:pt>
                <c:pt idx="50">
                  <c:v>114.51266652684635</c:v>
                </c:pt>
                <c:pt idx="51">
                  <c:v>111.72853715554328</c:v>
                </c:pt>
                <c:pt idx="52">
                  <c:v>113.6297523986857</c:v>
                </c:pt>
                <c:pt idx="53">
                  <c:v>115.80685699280606</c:v>
                </c:pt>
                <c:pt idx="54">
                  <c:v>116.63401350800642</c:v>
                </c:pt>
                <c:pt idx="55">
                  <c:v>114.73450339064262</c:v>
                </c:pt>
                <c:pt idx="56">
                  <c:v>114.82504556948643</c:v>
                </c:pt>
                <c:pt idx="57">
                  <c:v>112.58928464858209</c:v>
                </c:pt>
                <c:pt idx="58">
                  <c:v>116.78559918972422</c:v>
                </c:pt>
                <c:pt idx="59">
                  <c:v>117.14896149314453</c:v>
                </c:pt>
                <c:pt idx="60">
                  <c:v>116.41592792092308</c:v>
                </c:pt>
                <c:pt idx="61">
                  <c:v>116.53682133862604</c:v>
                </c:pt>
                <c:pt idx="62">
                  <c:v>118.16419338172479</c:v>
                </c:pt>
                <c:pt idx="63">
                  <c:v>116.9455399877572</c:v>
                </c:pt>
                <c:pt idx="64">
                  <c:v>118.78383608966917</c:v>
                </c:pt>
                <c:pt idx="65">
                  <c:v>118.33589954763013</c:v>
                </c:pt>
                <c:pt idx="66">
                  <c:v>117.91984885765099</c:v>
                </c:pt>
                <c:pt idx="67">
                  <c:v>118.3191893149998</c:v>
                </c:pt>
                <c:pt idx="68">
                  <c:v>118.20443435009985</c:v>
                </c:pt>
                <c:pt idx="69">
                  <c:v>116.56529693912871</c:v>
                </c:pt>
                <c:pt idx="70">
                  <c:v>117.81583618515621</c:v>
                </c:pt>
                <c:pt idx="71">
                  <c:v>117.29355615917008</c:v>
                </c:pt>
                <c:pt idx="72">
                  <c:v>114.92581850300188</c:v>
                </c:pt>
                <c:pt idx="73">
                  <c:v>113.08718137593419</c:v>
                </c:pt>
                <c:pt idx="74">
                  <c:v>110.94366775965227</c:v>
                </c:pt>
                <c:pt idx="75">
                  <c:v>108.59690315056089</c:v>
                </c:pt>
                <c:pt idx="76">
                  <c:v>112.24314411552567</c:v>
                </c:pt>
                <c:pt idx="77">
                  <c:v>116.23654868901406</c:v>
                </c:pt>
                <c:pt idx="78">
                  <c:v>121.50828605872113</c:v>
                </c:pt>
                <c:pt idx="79">
                  <c:v>122.17362613753204</c:v>
                </c:pt>
                <c:pt idx="80">
                  <c:v>123.28263994393546</c:v>
                </c:pt>
                <c:pt idx="81">
                  <c:v>126.16106277079528</c:v>
                </c:pt>
                <c:pt idx="82">
                  <c:v>126.32424330780761</c:v>
                </c:pt>
                <c:pt idx="83">
                  <c:v>127.432063526166</c:v>
                </c:pt>
                <c:pt idx="84">
                  <c:v>129.24955709357903</c:v>
                </c:pt>
                <c:pt idx="85">
                  <c:v>125.90205416502546</c:v>
                </c:pt>
                <c:pt idx="86">
                  <c:v>126.71574018657485</c:v>
                </c:pt>
                <c:pt idx="87">
                  <c:v>127.89432312474528</c:v>
                </c:pt>
                <c:pt idx="88">
                  <c:v>125.39529078362466</c:v>
                </c:pt>
                <c:pt idx="89">
                  <c:v>127.59865431473551</c:v>
                </c:pt>
                <c:pt idx="90">
                  <c:v>129.16992771971826</c:v>
                </c:pt>
                <c:pt idx="91">
                  <c:v>127.16299467830243</c:v>
                </c:pt>
                <c:pt idx="92">
                  <c:v>126.38358168490298</c:v>
                </c:pt>
                <c:pt idx="93">
                  <c:v>127.70914646518901</c:v>
                </c:pt>
                <c:pt idx="94">
                  <c:v>132.27751945122233</c:v>
                </c:pt>
                <c:pt idx="95">
                  <c:v>132.7570008201655</c:v>
                </c:pt>
                <c:pt idx="96">
                  <c:v>130.85766121537955</c:v>
                </c:pt>
                <c:pt idx="97">
                  <c:v>131.49520774399923</c:v>
                </c:pt>
                <c:pt idx="98">
                  <c:v>131.61183834725568</c:v>
                </c:pt>
                <c:pt idx="99">
                  <c:v>130.56113984248049</c:v>
                </c:pt>
                <c:pt idx="100">
                  <c:v>130.45064769202702</c:v>
                </c:pt>
                <c:pt idx="101">
                  <c:v>132.03488005292709</c:v>
                </c:pt>
                <c:pt idx="102">
                  <c:v>131.68208952933412</c:v>
                </c:pt>
                <c:pt idx="103">
                  <c:v>133.19658224588937</c:v>
                </c:pt>
                <c:pt idx="104">
                  <c:v>130.6030859366341</c:v>
                </c:pt>
              </c:numCache>
            </c:numRef>
          </c:val>
          <c:smooth val="0"/>
          <c:extLst>
            <c:ext xmlns:c16="http://schemas.microsoft.com/office/drawing/2014/chart" uri="{C3380CC4-5D6E-409C-BE32-E72D297353CC}">
              <c16:uniqueId val="{00000001-A23A-4336-95C0-3AA3BEA2E158}"/>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898989"/>
            </a:solidFill>
          </a:ln>
        </c:spPr>
        <c:txPr>
          <a:bodyPr/>
          <a:lstStyle/>
          <a:p>
            <a:pPr>
              <a:defRPr sz="1100">
                <a:solidFill>
                  <a:srgbClr val="898989"/>
                </a:solidFill>
              </a:defRPr>
            </a:pPr>
            <a:endParaRPr lang="en-US"/>
          </a:p>
        </c:txPr>
        <c:crossAx val="2140495176"/>
        <c:crosses val="autoZero"/>
        <c:auto val="1"/>
        <c:lblAlgn val="ctr"/>
        <c:lblOffset val="100"/>
        <c:tickLblSkip val="13"/>
        <c:tickMarkSkip val="13"/>
        <c:noMultiLvlLbl val="0"/>
      </c:catAx>
      <c:valAx>
        <c:axId val="2140495176"/>
        <c:scaling>
          <c:orientation val="minMax"/>
          <c:max val="200"/>
          <c:min val="50"/>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majorUnit val="25"/>
      </c:valAx>
    </c:plotArea>
    <c:legend>
      <c:legendPos val="t"/>
      <c:overlay val="0"/>
      <c:txPr>
        <a:bodyPr/>
        <a:lstStyle/>
        <a:p>
          <a:pPr>
            <a:defRPr sz="1100"/>
          </a:pPr>
          <a:endParaRPr lang="en-US"/>
        </a:p>
      </c:txPr>
    </c:legend>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Quarterly revenue</c:v>
                </c:pt>
              </c:strCache>
            </c:strRef>
          </c:tx>
          <c:spPr>
            <a:ln w="28575">
              <a:solidFill>
                <a:srgbClr val="376092"/>
              </a:solidFill>
            </a:ln>
          </c:spPr>
          <c:marker>
            <c:symbol val="none"/>
          </c:marker>
          <c:cat>
            <c:strRef>
              <c:f>Sheet1!$A$2:$A$13</c:f>
              <c:strCache>
                <c:ptCount val="12"/>
                <c:pt idx="0">
                  <c:v>3Q23</c:v>
                </c:pt>
                <c:pt idx="1">
                  <c:v>4Q23</c:v>
                </c:pt>
                <c:pt idx="2">
                  <c:v>1Q24</c:v>
                </c:pt>
                <c:pt idx="3">
                  <c:v>2Q24</c:v>
                </c:pt>
                <c:pt idx="4">
                  <c:v>3Q24</c:v>
                </c:pt>
                <c:pt idx="5">
                  <c:v>4Q24</c:v>
                </c:pt>
                <c:pt idx="6">
                  <c:v>1Q25</c:v>
                </c:pt>
                <c:pt idx="7">
                  <c:v>2Q25</c:v>
                </c:pt>
                <c:pt idx="8">
                  <c:v>3Q25</c:v>
                </c:pt>
                <c:pt idx="9">
                  <c:v>4Q25</c:v>
                </c:pt>
                <c:pt idx="10">
                  <c:v>1Q26</c:v>
                </c:pt>
                <c:pt idx="11">
                  <c:v>2Q26</c:v>
                </c:pt>
              </c:strCache>
            </c:strRef>
          </c:cat>
          <c:val>
            <c:numRef>
              <c:f>Sheet1!$B$2:$B$13</c:f>
              <c:numCache>
                <c:formatCode>0</c:formatCode>
                <c:ptCount val="12"/>
                <c:pt idx="0">
                  <c:v>100</c:v>
                </c:pt>
                <c:pt idx="1">
                  <c:v>106.17886178861788</c:v>
                </c:pt>
                <c:pt idx="2">
                  <c:v>106.17886178861788</c:v>
                </c:pt>
                <c:pt idx="3">
                  <c:v>107.96747967479673</c:v>
                </c:pt>
                <c:pt idx="4">
                  <c:v>116.42276422764229</c:v>
                </c:pt>
                <c:pt idx="5">
                  <c:v>124.22764227642276</c:v>
                </c:pt>
                <c:pt idx="6">
                  <c:v>125.6910569105691</c:v>
                </c:pt>
                <c:pt idx="7">
                  <c:v>133.17073170731709</c:v>
                </c:pt>
                <c:pt idx="8">
                  <c:v>141.95121951219511</c:v>
                </c:pt>
                <c:pt idx="9">
                  <c:v>147.3170731707317</c:v>
                </c:pt>
                <c:pt idx="10">
                  <c:v>155.28455284552845</c:v>
                </c:pt>
                <c:pt idx="11">
                  <c:v>162.11382113821139</c:v>
                </c:pt>
              </c:numCache>
            </c:numRef>
          </c:val>
          <c:smooth val="0"/>
          <c:extLst>
            <c:ext xmlns:c16="http://schemas.microsoft.com/office/drawing/2014/chart" uri="{C3380CC4-5D6E-409C-BE32-E72D297353CC}">
              <c16:uniqueId val="{00000000-E46E-4690-A611-266A36CD58EF}"/>
            </c:ext>
          </c:extLst>
        </c:ser>
        <c:ser>
          <c:idx val="1"/>
          <c:order val="1"/>
          <c:tx>
            <c:strRef>
              <c:f>Sheet1!$C$1</c:f>
              <c:strCache>
                <c:ptCount val="1"/>
                <c:pt idx="0">
                  <c:v>Share price (quarter-end)</c:v>
                </c:pt>
              </c:strCache>
            </c:strRef>
          </c:tx>
          <c:spPr>
            <a:ln w="28575">
              <a:solidFill>
                <a:srgbClr val="1874B2"/>
              </a:solidFill>
            </a:ln>
          </c:spPr>
          <c:marker>
            <c:symbol val="none"/>
          </c:marker>
          <c:cat>
            <c:strRef>
              <c:f>Sheet1!$A$2:$A$13</c:f>
              <c:strCache>
                <c:ptCount val="12"/>
                <c:pt idx="0">
                  <c:v>3Q23</c:v>
                </c:pt>
                <c:pt idx="1">
                  <c:v>4Q23</c:v>
                </c:pt>
                <c:pt idx="2">
                  <c:v>1Q24</c:v>
                </c:pt>
                <c:pt idx="3">
                  <c:v>2Q24</c:v>
                </c:pt>
                <c:pt idx="4">
                  <c:v>3Q24</c:v>
                </c:pt>
                <c:pt idx="5">
                  <c:v>4Q24</c:v>
                </c:pt>
                <c:pt idx="6">
                  <c:v>1Q25</c:v>
                </c:pt>
                <c:pt idx="7">
                  <c:v>2Q25</c:v>
                </c:pt>
                <c:pt idx="8">
                  <c:v>3Q25</c:v>
                </c:pt>
                <c:pt idx="9">
                  <c:v>4Q25</c:v>
                </c:pt>
                <c:pt idx="10">
                  <c:v>1Q26</c:v>
                </c:pt>
                <c:pt idx="11">
                  <c:v>2Q26</c:v>
                </c:pt>
              </c:strCache>
            </c:strRef>
          </c:cat>
          <c:val>
            <c:numRef>
              <c:f>Sheet1!$C$2:$C$13</c:f>
              <c:numCache>
                <c:formatCode>0</c:formatCode>
                <c:ptCount val="12"/>
                <c:pt idx="0">
                  <c:v>100</c:v>
                </c:pt>
                <c:pt idx="1">
                  <c:v>95.197740112994353</c:v>
                </c:pt>
                <c:pt idx="2">
                  <c:v>88.700564971751419</c:v>
                </c:pt>
                <c:pt idx="3">
                  <c:v>100.2824858757062</c:v>
                </c:pt>
                <c:pt idx="4">
                  <c:v>108.75706214689265</c:v>
                </c:pt>
                <c:pt idx="5">
                  <c:v>135.87570621468925</c:v>
                </c:pt>
                <c:pt idx="6">
                  <c:v>129.09604519774012</c:v>
                </c:pt>
                <c:pt idx="7">
                  <c:v>138.98305084745763</c:v>
                </c:pt>
                <c:pt idx="8">
                  <c:v>172.59887005649719</c:v>
                </c:pt>
                <c:pt idx="9">
                  <c:v>145.4802259887006</c:v>
                </c:pt>
                <c:pt idx="10">
                  <c:v>100.84745762711864</c:v>
                </c:pt>
                <c:pt idx="11">
                  <c:v>100.2824858757062</c:v>
                </c:pt>
              </c:numCache>
            </c:numRef>
          </c:val>
          <c:smooth val="0"/>
          <c:extLst>
            <c:ext xmlns:c16="http://schemas.microsoft.com/office/drawing/2014/chart" uri="{C3380CC4-5D6E-409C-BE32-E72D297353CC}">
              <c16:uniqueId val="{00000001-E46E-4690-A611-266A36CD58EF}"/>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40495176"/>
        <c:crosses val="autoZero"/>
        <c:auto val="1"/>
        <c:lblAlgn val="ctr"/>
        <c:lblOffset val="100"/>
        <c:tickLblSkip val="2"/>
        <c:tickMarkSkip val="2"/>
        <c:noMultiLvlLbl val="0"/>
      </c:catAx>
      <c:valAx>
        <c:axId val="2140495176"/>
        <c:scaling>
          <c:orientation val="minMax"/>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Adjusted EBITDA</c:v>
                </c:pt>
              </c:strCache>
            </c:strRef>
          </c:tx>
          <c:spPr>
            <a:solidFill>
              <a:srgbClr val="376092"/>
            </a:solidFill>
          </c:spPr>
          <c:invertIfNegative val="0"/>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3Q24</c:v>
                </c:pt>
                <c:pt idx="1">
                  <c:v>4Q24</c:v>
                </c:pt>
                <c:pt idx="2">
                  <c:v>1Q25</c:v>
                </c:pt>
                <c:pt idx="3">
                  <c:v>2Q25</c:v>
                </c:pt>
                <c:pt idx="4">
                  <c:v>3Q25</c:v>
                </c:pt>
                <c:pt idx="5">
                  <c:v>4Q25</c:v>
                </c:pt>
                <c:pt idx="6">
                  <c:v>1Q26</c:v>
                </c:pt>
                <c:pt idx="7">
                  <c:v>2Q26</c:v>
                </c:pt>
              </c:strCache>
            </c:strRef>
          </c:cat>
          <c:val>
            <c:numRef>
              <c:f>Sheet1!$B$2:$B$9</c:f>
              <c:numCache>
                <c:formatCode>#,##0</c:formatCode>
                <c:ptCount val="8"/>
                <c:pt idx="0">
                  <c:v>90</c:v>
                </c:pt>
                <c:pt idx="1">
                  <c:v>97</c:v>
                </c:pt>
                <c:pt idx="2">
                  <c:v>106</c:v>
                </c:pt>
                <c:pt idx="3">
                  <c:v>109</c:v>
                </c:pt>
                <c:pt idx="4">
                  <c:v>136</c:v>
                </c:pt>
                <c:pt idx="5">
                  <c:v>148</c:v>
                </c:pt>
                <c:pt idx="6">
                  <c:v>154</c:v>
                </c:pt>
                <c:pt idx="7">
                  <c:v>168</c:v>
                </c:pt>
              </c:numCache>
            </c:numRef>
          </c:val>
          <c:extLst>
            <c:ext xmlns:c16="http://schemas.microsoft.com/office/drawing/2014/chart" uri="{C3380CC4-5D6E-409C-BE32-E72D297353CC}">
              <c16:uniqueId val="{00000000-C8D5-4688-8EDD-E325D35AF67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Incentives / GMV (%)</c:v>
                </c:pt>
              </c:strCache>
            </c:strRef>
          </c:tx>
          <c:spPr>
            <a:ln w="28575">
              <a:solidFill>
                <a:srgbClr val="376092"/>
              </a:solidFill>
            </a:ln>
          </c:spPr>
          <c:marker>
            <c:symbol val="none"/>
          </c:marker>
          <c:cat>
            <c:strRef>
              <c:f>Sheet1!$A$2:$A$9</c:f>
              <c:strCache>
                <c:ptCount val="8"/>
                <c:pt idx="0">
                  <c:v>3Q24</c:v>
                </c:pt>
                <c:pt idx="1">
                  <c:v>4Q24</c:v>
                </c:pt>
                <c:pt idx="2">
                  <c:v>1Q25</c:v>
                </c:pt>
                <c:pt idx="3">
                  <c:v>2Q25</c:v>
                </c:pt>
                <c:pt idx="4">
                  <c:v>3Q25</c:v>
                </c:pt>
                <c:pt idx="5">
                  <c:v>4Q25</c:v>
                </c:pt>
                <c:pt idx="6">
                  <c:v>1Q26</c:v>
                </c:pt>
                <c:pt idx="7">
                  <c:v>2Q26</c:v>
                </c:pt>
              </c:strCache>
            </c:strRef>
          </c:cat>
          <c:val>
            <c:numRef>
              <c:f>Sheet1!$B$2:$B$9</c:f>
              <c:numCache>
                <c:formatCode>#,##0.0</c:formatCode>
                <c:ptCount val="8"/>
                <c:pt idx="0">
                  <c:v>9.9</c:v>
                </c:pt>
                <c:pt idx="1">
                  <c:v>10.1</c:v>
                </c:pt>
                <c:pt idx="2">
                  <c:v>10</c:v>
                </c:pt>
                <c:pt idx="3">
                  <c:v>10.199999999999999</c:v>
                </c:pt>
                <c:pt idx="4">
                  <c:v>10.1</c:v>
                </c:pt>
                <c:pt idx="5">
                  <c:v>10.4</c:v>
                </c:pt>
                <c:pt idx="6">
                  <c:v>10.5</c:v>
                </c:pt>
                <c:pt idx="7">
                  <c:v>10.9</c:v>
                </c:pt>
              </c:numCache>
            </c:numRef>
          </c:val>
          <c:smooth val="0"/>
          <c:extLst>
            <c:ext xmlns:c16="http://schemas.microsoft.com/office/drawing/2014/chart" uri="{C3380CC4-5D6E-409C-BE32-E72D297353CC}">
              <c16:uniqueId val="{00000000-A300-48EB-9556-80A15248D595}"/>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40495176"/>
        <c:crosses val="autoZero"/>
        <c:auto val="1"/>
        <c:lblAlgn val="ctr"/>
        <c:lblOffset val="100"/>
        <c:noMultiLvlLbl val="0"/>
      </c:catAx>
      <c:valAx>
        <c:axId val="2140495176"/>
        <c:scaling>
          <c:orientation val="minMax"/>
        </c:scaling>
        <c:delete val="0"/>
        <c:axPos val="l"/>
        <c:majorGridlines>
          <c:spPr>
            <a:ln w="6350">
              <a:solidFill>
                <a:srgbClr val="D9D9D9"/>
              </a:solidFill>
            </a:ln>
          </c:spPr>
        </c:majorGridlines>
        <c:numFmt formatCode="#,##0.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valAx>
    </c:plotArea>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Gross loan portfolio</c:v>
                </c:pt>
              </c:strCache>
            </c:strRef>
          </c:tx>
          <c:spPr>
            <a:solidFill>
              <a:srgbClr val="376092"/>
            </a:solidFill>
          </c:spPr>
          <c:invertIfNegative val="0"/>
          <c:dLbls>
            <c:numFmt formatCode="#,##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2025</c:v>
                </c:pt>
                <c:pt idx="1">
                  <c:v>Q2 2026</c:v>
                </c:pt>
                <c:pt idx="2">
                  <c:v>+ Atome</c:v>
                </c:pt>
                <c:pt idx="3">
                  <c:v>2028 target</c:v>
                </c:pt>
              </c:strCache>
            </c:strRef>
          </c:cat>
          <c:val>
            <c:numRef>
              <c:f>Sheet1!$B$2:$B$5</c:f>
              <c:numCache>
                <c:formatCode>#,##0.0</c:formatCode>
                <c:ptCount val="4"/>
                <c:pt idx="0">
                  <c:v>0.78</c:v>
                </c:pt>
                <c:pt idx="1">
                  <c:v>2.3199999999999998</c:v>
                </c:pt>
                <c:pt idx="2">
                  <c:v>3.32</c:v>
                </c:pt>
                <c:pt idx="3">
                  <c:v>6</c:v>
                </c:pt>
              </c:numCache>
            </c:numRef>
          </c:val>
          <c:extLst>
            <c:ext xmlns:c16="http://schemas.microsoft.com/office/drawing/2014/chart" uri="{C3380CC4-5D6E-409C-BE32-E72D297353CC}">
              <c16:uniqueId val="{00000000-B73B-46CB-AEED-2C9A8C5744A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Segment adjusted EBITDA</c:v>
                </c:pt>
              </c:strCache>
            </c:strRef>
          </c:tx>
          <c:spPr>
            <a:solidFill>
              <a:srgbClr val="376092"/>
            </a:solidFill>
          </c:spPr>
          <c:invertIfNegative val="0"/>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Q2 2025</c:v>
                </c:pt>
                <c:pt idx="1">
                  <c:v>Q1 2026</c:v>
                </c:pt>
                <c:pt idx="2">
                  <c:v>Q2 2026</c:v>
                </c:pt>
              </c:strCache>
            </c:strRef>
          </c:cat>
          <c:val>
            <c:numRef>
              <c:f>Sheet1!$B$2:$B$4</c:f>
              <c:numCache>
                <c:formatCode>#,##0</c:formatCode>
                <c:ptCount val="3"/>
                <c:pt idx="0">
                  <c:v>-26</c:v>
                </c:pt>
                <c:pt idx="1">
                  <c:v>-17</c:v>
                </c:pt>
                <c:pt idx="2">
                  <c:v>-15</c:v>
                </c:pt>
              </c:numCache>
            </c:numRef>
          </c:val>
          <c:extLst>
            <c:ext xmlns:c16="http://schemas.microsoft.com/office/drawing/2014/chart" uri="{C3380CC4-5D6E-409C-BE32-E72D297353CC}">
              <c16:uniqueId val="{00000000-8ABC-4222-9505-285625FC8D6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3"/>
          <c:y val="0.09"/>
          <c:w val="0.62"/>
          <c:h val="0.8"/>
        </c:manualLayout>
      </c:layout>
      <c:barChart>
        <c:barDir val="bar"/>
        <c:grouping val="stacked"/>
        <c:varyColors val="1"/>
        <c:ser>
          <c:idx val="0"/>
          <c:order val="0"/>
          <c:tx>
            <c:strRef>
              <c:f>Sheet1!$B$1</c:f>
              <c:strCache>
                <c:ptCount val="1"/>
                <c:pt idx="0">
                  <c:v>base</c:v>
                </c:pt>
              </c:strCache>
            </c:strRef>
          </c:tx>
          <c:spPr>
            <a:noFill/>
            <a:ln>
              <a:noFill/>
            </a:ln>
          </c:spPr>
          <c:invertIfNegative val="1"/>
          <c:cat>
            <c:strRef>
              <c:f>Sheet1!$A$2:$A$9</c:f>
              <c:strCache>
                <c:ptCount val="8"/>
                <c:pt idx="0">
                  <c:v>DCF Scenarios</c:v>
                </c:pt>
                <c:pt idx="1">
                  <c:v>EV/EBITDA LTM 17.0–27.7x</c:v>
                </c:pt>
                <c:pt idx="2">
                  <c:v>EV/EBITDA FY1 10.1–21.8x</c:v>
                </c:pt>
                <c:pt idx="3">
                  <c:v>P/E LTM 16.3–45.3x</c:v>
                </c:pt>
                <c:pt idx="4">
                  <c:v>P/E FY1 24.4–53.5x</c:v>
                </c:pt>
                <c:pt idx="5">
                  <c:v>EV/Sales LTM 0.9–3.3x</c:v>
                </c:pt>
                <c:pt idx="6">
                  <c:v>Analyst Price Targets</c:v>
                </c:pt>
                <c:pt idx="7">
                  <c:v>52-Week Trading Range</c:v>
                </c:pt>
              </c:strCache>
            </c:strRef>
          </c:cat>
          <c:val>
            <c:numRef>
              <c:f>Sheet1!$B$2:$B$9</c:f>
              <c:numCache>
                <c:formatCode>0</c:formatCode>
                <c:ptCount val="8"/>
                <c:pt idx="0">
                  <c:v>1.8563613879163321</c:v>
                </c:pt>
                <c:pt idx="1">
                  <c:v>3.7490198277748288</c:v>
                </c:pt>
                <c:pt idx="2">
                  <c:v>3.032643073912288</c:v>
                </c:pt>
                <c:pt idx="3">
                  <c:v>2.2592839048204545</c:v>
                </c:pt>
                <c:pt idx="4">
                  <c:v>3.6614581508649837</c:v>
                </c:pt>
                <c:pt idx="5">
                  <c:v>2.05585301575071</c:v>
                </c:pt>
                <c:pt idx="6">
                  <c:v>4</c:v>
                </c:pt>
                <c:pt idx="7">
                  <c:v>2.68</c:v>
                </c:pt>
              </c:numCache>
            </c:numRef>
          </c:val>
          <c:extLst>
            <c:ext xmlns:c16="http://schemas.microsoft.com/office/drawing/2014/chart" uri="{C3380CC4-5D6E-409C-BE32-E72D297353CC}">
              <c16:uniqueId val="{00000000-4399-4454-BA45-76FA0F398281}"/>
            </c:ext>
          </c:extLst>
        </c:ser>
        <c:ser>
          <c:idx val="1"/>
          <c:order val="1"/>
          <c:tx>
            <c:strRef>
              <c:f>Sheet1!$C$1</c:f>
              <c:strCache>
                <c:ptCount val="1"/>
                <c:pt idx="0">
                  <c:v>range</c:v>
                </c:pt>
              </c:strCache>
            </c:strRef>
          </c:tx>
          <c:spPr>
            <a:solidFill>
              <a:srgbClr val="C5D9F0"/>
            </a:solidFill>
            <a:ln w="12700">
              <a:solidFill>
                <a:srgbClr val="376092"/>
              </a:solidFill>
            </a:ln>
          </c:spPr>
          <c:invertIfNegative val="1"/>
          <c:cat>
            <c:strRef>
              <c:f>Sheet1!$A$2:$A$9</c:f>
              <c:strCache>
                <c:ptCount val="8"/>
                <c:pt idx="0">
                  <c:v>DCF Scenarios</c:v>
                </c:pt>
                <c:pt idx="1">
                  <c:v>EV/EBITDA LTM 17.0–27.7x</c:v>
                </c:pt>
                <c:pt idx="2">
                  <c:v>EV/EBITDA FY1 10.1–21.8x</c:v>
                </c:pt>
                <c:pt idx="3">
                  <c:v>P/E LTM 16.3–45.3x</c:v>
                </c:pt>
                <c:pt idx="4">
                  <c:v>P/E FY1 24.4–53.5x</c:v>
                </c:pt>
                <c:pt idx="5">
                  <c:v>EV/Sales LTM 0.9–3.3x</c:v>
                </c:pt>
                <c:pt idx="6">
                  <c:v>Analyst Price Targets</c:v>
                </c:pt>
                <c:pt idx="7">
                  <c:v>52-Week Trading Range</c:v>
                </c:pt>
              </c:strCache>
            </c:strRef>
          </c:cat>
          <c:val>
            <c:numRef>
              <c:f>Sheet1!$C$2:$C$9</c:f>
              <c:numCache>
                <c:formatCode>0</c:formatCode>
                <c:ptCount val="8"/>
                <c:pt idx="0">
                  <c:v>2.7414813140920775</c:v>
                </c:pt>
                <c:pt idx="1">
                  <c:v>1.5903730001119287</c:v>
                </c:pt>
                <c:pt idx="2">
                  <c:v>2.0971997444932837</c:v>
                </c:pt>
                <c:pt idx="3">
                  <c:v>4.0356580274054306</c:v>
                </c:pt>
                <c:pt idx="4">
                  <c:v>4.3579354648256139</c:v>
                </c:pt>
                <c:pt idx="5">
                  <c:v>2.2094749349478473</c:v>
                </c:pt>
                <c:pt idx="6">
                  <c:v>3</c:v>
                </c:pt>
                <c:pt idx="7">
                  <c:v>3.56</c:v>
                </c:pt>
              </c:numCache>
            </c:numRef>
          </c:val>
          <c:extLst>
            <c:ext xmlns:c14="http://schemas.microsoft.com/office/drawing/2007/8/2/chart" uri="{6F2FDCE9-48DA-4B69-8628-5D25D57E5C99}">
              <c14:invertSolidFillFmt>
                <c14:spPr xmlns:c14="http://schemas.microsoft.com/office/drawing/2007/8/2/chart">
                  <a:solidFill>
                    <a:srgbClr val="FFFFFF"/>
                  </a:solidFill>
                  <a:ln w="12700">
                    <a:solidFill>
                      <a:srgbClr val="376092"/>
                    </a:solidFill>
                  </a:ln>
                </c14:spPr>
              </c14:invertSolidFillFmt>
            </c:ext>
            <c:ext xmlns:c16="http://schemas.microsoft.com/office/drawing/2014/chart" uri="{C3380CC4-5D6E-409C-BE32-E72D297353CC}">
              <c16:uniqueId val="{00000001-4399-4454-BA45-76FA0F398281}"/>
            </c:ext>
          </c:extLst>
        </c:ser>
        <c:dLbls>
          <c:showLegendKey val="0"/>
          <c:showVal val="0"/>
          <c:showCatName val="0"/>
          <c:showSerName val="0"/>
          <c:showPercent val="0"/>
          <c:showBubbleSize val="0"/>
        </c:dLbls>
        <c:gapWidth val="55"/>
        <c:overlap val="100"/>
        <c:axId val="-2068027336"/>
        <c:axId val="-2113994440"/>
      </c:barChart>
      <c:catAx>
        <c:axId val="-2068027336"/>
        <c:scaling>
          <c:orientation val="maxMin"/>
        </c:scaling>
        <c:delete val="0"/>
        <c:axPos val="l"/>
        <c:numFmt formatCode="General" sourceLinked="0"/>
        <c:majorTickMark val="out"/>
        <c:minorTickMark val="none"/>
        <c:tickLblPos val="nextTo"/>
        <c:spPr>
          <a:ln>
            <a:noFill/>
          </a:ln>
        </c:spPr>
        <c:txPr>
          <a:bodyPr/>
          <a:lstStyle/>
          <a:p>
            <a:pPr>
              <a:defRPr sz="1200" b="1"/>
            </a:pPr>
            <a:endParaRPr lang="en-US"/>
          </a:p>
        </c:txPr>
        <c:crossAx val="-2113994440"/>
        <c:crosses val="autoZero"/>
        <c:auto val="1"/>
        <c:lblAlgn val="ctr"/>
        <c:lblOffset val="100"/>
        <c:noMultiLvlLbl val="0"/>
      </c:catAx>
      <c:valAx>
        <c:axId val="-2113994440"/>
        <c:scaling>
          <c:orientation val="minMax"/>
          <c:max val="10"/>
          <c:min val="0"/>
        </c:scaling>
        <c:delete val="1"/>
        <c:axPos val="t"/>
        <c:numFmt formatCode="0" sourceLinked="1"/>
        <c:majorTickMark val="out"/>
        <c:minorTickMark val="none"/>
        <c:tickLblPos val="nextTo"/>
        <c:crossAx val="-2068027336"/>
        <c:crosses val="autoZero"/>
        <c:crossBetween val="between"/>
        <c:majorUnit val="2"/>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Analysts' forecasts</c:v>
                </c:pt>
              </c:strCache>
            </c:strRef>
          </c:tx>
          <c:spPr>
            <a:ln w="28575">
              <a:solidFill>
                <a:srgbClr val="376092"/>
              </a:solidFill>
            </a:ln>
          </c:spPr>
          <c:marker>
            <c:symbol val="none"/>
          </c:marker>
          <c:cat>
            <c:strRef>
              <c:f>Sheet1!$A$2:$A$11</c:f>
              <c:strCache>
                <c:ptCount val="10"/>
                <c:pt idx="0">
                  <c:v>Y1</c:v>
                </c:pt>
                <c:pt idx="1">
                  <c:v>Y2</c:v>
                </c:pt>
                <c:pt idx="2">
                  <c:v>Y3</c:v>
                </c:pt>
                <c:pt idx="3">
                  <c:v>Y4</c:v>
                </c:pt>
                <c:pt idx="4">
                  <c:v>Y5</c:v>
                </c:pt>
                <c:pt idx="5">
                  <c:v>Y6</c:v>
                </c:pt>
                <c:pt idx="6">
                  <c:v>Y7</c:v>
                </c:pt>
                <c:pt idx="7">
                  <c:v>Y8</c:v>
                </c:pt>
                <c:pt idx="8">
                  <c:v>Y9</c:v>
                </c:pt>
                <c:pt idx="9">
                  <c:v>Y10</c:v>
                </c:pt>
              </c:strCache>
            </c:strRef>
          </c:cat>
          <c:val>
            <c:numRef>
              <c:f>Sheet1!$B$2:$B$11</c:f>
              <c:numCache>
                <c:formatCode>#,##0</c:formatCode>
                <c:ptCount val="10"/>
                <c:pt idx="0">
                  <c:v>4185.2510499999999</c:v>
                </c:pt>
                <c:pt idx="1">
                  <c:v>5190.58158</c:v>
                </c:pt>
                <c:pt idx="2">
                  <c:v>6143.21047</c:v>
                </c:pt>
                <c:pt idx="3">
                  <c:v>7131.5491960630852</c:v>
                </c:pt>
                <c:pt idx="4">
                  <c:v>8117.3854187279521</c:v>
                </c:pt>
                <c:pt idx="5">
                  <c:v>9055.6637011339899</c:v>
                </c:pt>
                <c:pt idx="6">
                  <c:v>9897.3111083059775</c:v>
                </c:pt>
                <c:pt idx="7">
                  <c:v>10593.03631453802</c:v>
                </c:pt>
                <c:pt idx="8">
                  <c:v>11097.764652613354</c:v>
                </c:pt>
                <c:pt idx="9">
                  <c:v>11375.208768928687</c:v>
                </c:pt>
              </c:numCache>
            </c:numRef>
          </c:val>
          <c:smooth val="0"/>
          <c:extLst>
            <c:ext xmlns:c16="http://schemas.microsoft.com/office/drawing/2014/chart" uri="{C3380CC4-5D6E-409C-BE32-E72D297353CC}">
              <c16:uniqueId val="{00000000-516B-4EA6-AC2E-53195D2F54A6}"/>
            </c:ext>
          </c:extLst>
        </c:ser>
        <c:ser>
          <c:idx val="1"/>
          <c:order val="1"/>
          <c:tx>
            <c:strRef>
              <c:f>Sheet1!$C$1</c:f>
              <c:strCache>
                <c:ptCount val="1"/>
                <c:pt idx="0">
                  <c:v>Analysts' highest</c:v>
                </c:pt>
              </c:strCache>
            </c:strRef>
          </c:tx>
          <c:spPr>
            <a:ln w="28575">
              <a:solidFill>
                <a:srgbClr val="1874B2"/>
              </a:solidFill>
            </a:ln>
          </c:spPr>
          <c:marker>
            <c:symbol val="none"/>
          </c:marker>
          <c:cat>
            <c:strRef>
              <c:f>Sheet1!$A$2:$A$11</c:f>
              <c:strCache>
                <c:ptCount val="10"/>
                <c:pt idx="0">
                  <c:v>Y1</c:v>
                </c:pt>
                <c:pt idx="1">
                  <c:v>Y2</c:v>
                </c:pt>
                <c:pt idx="2">
                  <c:v>Y3</c:v>
                </c:pt>
                <c:pt idx="3">
                  <c:v>Y4</c:v>
                </c:pt>
                <c:pt idx="4">
                  <c:v>Y5</c:v>
                </c:pt>
                <c:pt idx="5">
                  <c:v>Y6</c:v>
                </c:pt>
                <c:pt idx="6">
                  <c:v>Y7</c:v>
                </c:pt>
                <c:pt idx="7">
                  <c:v>Y8</c:v>
                </c:pt>
                <c:pt idx="8">
                  <c:v>Y9</c:v>
                </c:pt>
                <c:pt idx="9">
                  <c:v>Y10</c:v>
                </c:pt>
              </c:strCache>
            </c:strRef>
          </c:cat>
          <c:val>
            <c:numRef>
              <c:f>Sheet1!$C$2:$C$11</c:f>
              <c:numCache>
                <c:formatCode>#,##0</c:formatCode>
                <c:ptCount val="10"/>
                <c:pt idx="0">
                  <c:v>4381</c:v>
                </c:pt>
                <c:pt idx="1">
                  <c:v>5777.38</c:v>
                </c:pt>
                <c:pt idx="2">
                  <c:v>7229.3</c:v>
                </c:pt>
                <c:pt idx="3">
                  <c:v>9046.103681945795</c:v>
                </c:pt>
                <c:pt idx="4">
                  <c:v>11319.490382818982</c:v>
                </c:pt>
                <c:pt idx="5">
                  <c:v>13651.859132674015</c:v>
                </c:pt>
                <c:pt idx="6">
                  <c:v>15846.896358251443</c:v>
                </c:pt>
                <c:pt idx="7">
                  <c:v>17677.600489782082</c:v>
                </c:pt>
                <c:pt idx="8">
                  <c:v>18919.668114030101</c:v>
                </c:pt>
                <c:pt idx="9">
                  <c:v>19392.659816880852</c:v>
                </c:pt>
              </c:numCache>
            </c:numRef>
          </c:val>
          <c:smooth val="0"/>
          <c:extLst>
            <c:ext xmlns:c16="http://schemas.microsoft.com/office/drawing/2014/chart" uri="{C3380CC4-5D6E-409C-BE32-E72D297353CC}">
              <c16:uniqueId val="{00000001-516B-4EA6-AC2E-53195D2F54A6}"/>
            </c:ext>
          </c:extLst>
        </c:ser>
        <c:ser>
          <c:idx val="2"/>
          <c:order val="2"/>
          <c:tx>
            <c:strRef>
              <c:f>Sheet1!$D$1</c:f>
              <c:strCache>
                <c:ptCount val="1"/>
                <c:pt idx="0">
                  <c:v>Combined downside</c:v>
                </c:pt>
              </c:strCache>
            </c:strRef>
          </c:tx>
          <c:spPr>
            <a:ln w="28575">
              <a:solidFill>
                <a:srgbClr val="898989"/>
              </a:solidFill>
            </a:ln>
          </c:spPr>
          <c:marker>
            <c:symbol val="none"/>
          </c:marker>
          <c:cat>
            <c:strRef>
              <c:f>Sheet1!$A$2:$A$11</c:f>
              <c:strCache>
                <c:ptCount val="10"/>
                <c:pt idx="0">
                  <c:v>Y1</c:v>
                </c:pt>
                <c:pt idx="1">
                  <c:v>Y2</c:v>
                </c:pt>
                <c:pt idx="2">
                  <c:v>Y3</c:v>
                </c:pt>
                <c:pt idx="3">
                  <c:v>Y4</c:v>
                </c:pt>
                <c:pt idx="4">
                  <c:v>Y5</c:v>
                </c:pt>
                <c:pt idx="5">
                  <c:v>Y6</c:v>
                </c:pt>
                <c:pt idx="6">
                  <c:v>Y7</c:v>
                </c:pt>
                <c:pt idx="7">
                  <c:v>Y8</c:v>
                </c:pt>
                <c:pt idx="8">
                  <c:v>Y9</c:v>
                </c:pt>
                <c:pt idx="9">
                  <c:v>Y10</c:v>
                </c:pt>
              </c:strCache>
            </c:strRef>
          </c:cat>
          <c:val>
            <c:numRef>
              <c:f>Sheet1!$D$2:$D$11</c:f>
              <c:numCache>
                <c:formatCode>#,##0</c:formatCode>
                <c:ptCount val="10"/>
                <c:pt idx="0">
                  <c:v>4185.2510499999999</c:v>
                </c:pt>
                <c:pt idx="1">
                  <c:v>4207.0576118718845</c:v>
                </c:pt>
                <c:pt idx="2">
                  <c:v>4593.1188423133844</c:v>
                </c:pt>
                <c:pt idx="3">
                  <c:v>4962.5964344809508</c:v>
                </c:pt>
                <c:pt idx="4">
                  <c:v>5305.6009619039405</c:v>
                </c:pt>
                <c:pt idx="5">
                  <c:v>5625.4988064188583</c:v>
                </c:pt>
                <c:pt idx="6">
                  <c:v>5915.0475855566847</c:v>
                </c:pt>
                <c:pt idx="7">
                  <c:v>6167.3077014261135</c:v>
                </c:pt>
                <c:pt idx="8">
                  <c:v>6375.908197270609</c:v>
                </c:pt>
                <c:pt idx="9">
                  <c:v>6535.3059022023735</c:v>
                </c:pt>
              </c:numCache>
            </c:numRef>
          </c:val>
          <c:smooth val="0"/>
          <c:extLst>
            <c:ext xmlns:c16="http://schemas.microsoft.com/office/drawing/2014/chart" uri="{C3380CC4-5D6E-409C-BE32-E72D297353CC}">
              <c16:uniqueId val="{00000002-516B-4EA6-AC2E-53195D2F54A6}"/>
            </c:ext>
          </c:extLst>
        </c:ser>
        <c:ser>
          <c:idx val="3"/>
          <c:order val="3"/>
          <c:tx>
            <c:strRef>
              <c:f>Sheet1!$E$1</c:f>
              <c:strCache>
                <c:ptCount val="1"/>
                <c:pt idx="0">
                  <c:v>Indonesia + Vietnam cap</c:v>
                </c:pt>
              </c:strCache>
            </c:strRef>
          </c:tx>
          <c:spPr>
            <a:ln w="28575">
              <a:solidFill>
                <a:srgbClr val="C5D9F0"/>
              </a:solidFill>
            </a:ln>
          </c:spPr>
          <c:marker>
            <c:symbol val="none"/>
          </c:marker>
          <c:cat>
            <c:strRef>
              <c:f>Sheet1!$A$2:$A$11</c:f>
              <c:strCache>
                <c:ptCount val="10"/>
                <c:pt idx="0">
                  <c:v>Y1</c:v>
                </c:pt>
                <c:pt idx="1">
                  <c:v>Y2</c:v>
                </c:pt>
                <c:pt idx="2">
                  <c:v>Y3</c:v>
                </c:pt>
                <c:pt idx="3">
                  <c:v>Y4</c:v>
                </c:pt>
                <c:pt idx="4">
                  <c:v>Y5</c:v>
                </c:pt>
                <c:pt idx="5">
                  <c:v>Y6</c:v>
                </c:pt>
                <c:pt idx="6">
                  <c:v>Y7</c:v>
                </c:pt>
                <c:pt idx="7">
                  <c:v>Y8</c:v>
                </c:pt>
                <c:pt idx="8">
                  <c:v>Y9</c:v>
                </c:pt>
                <c:pt idx="9">
                  <c:v>Y10</c:v>
                </c:pt>
              </c:strCache>
            </c:strRef>
          </c:cat>
          <c:val>
            <c:numRef>
              <c:f>Sheet1!$E$2:$E$11</c:f>
              <c:numCache>
                <c:formatCode>#,##0</c:formatCode>
                <c:ptCount val="10"/>
                <c:pt idx="0">
                  <c:v>4185.2510499999999</c:v>
                </c:pt>
                <c:pt idx="1">
                  <c:v>4467.2952143998464</c:v>
                </c:pt>
                <c:pt idx="2">
                  <c:v>5287.1791553042176</c:v>
                </c:pt>
                <c:pt idx="3">
                  <c:v>6137.7969123124149</c:v>
                </c:pt>
                <c:pt idx="4">
                  <c:v>6986.2608795607212</c:v>
                </c:pt>
                <c:pt idx="5">
                  <c:v>7793.7939114888695</c:v>
                </c:pt>
                <c:pt idx="6">
                  <c:v>8518.1611863928629</c:v>
                </c:pt>
                <c:pt idx="7">
                  <c:v>9116.9399236953122</c:v>
                </c:pt>
                <c:pt idx="8">
                  <c:v>9551.3364271514674</c:v>
                </c:pt>
                <c:pt idx="9">
                  <c:v>9790.1198378302524</c:v>
                </c:pt>
              </c:numCache>
            </c:numRef>
          </c:val>
          <c:smooth val="0"/>
          <c:extLst>
            <c:ext xmlns:c16="http://schemas.microsoft.com/office/drawing/2014/chart" uri="{C3380CC4-5D6E-409C-BE32-E72D297353CC}">
              <c16:uniqueId val="{00000003-516B-4EA6-AC2E-53195D2F54A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40495176"/>
        <c:crosses val="autoZero"/>
        <c:auto val="1"/>
        <c:lblAlgn val="ctr"/>
        <c:lblOffset val="100"/>
        <c:tickLblSkip val="2"/>
        <c:tickMarkSkip val="2"/>
        <c:noMultiLvlLbl val="0"/>
      </c:catAx>
      <c:valAx>
        <c:axId val="2140495176"/>
        <c:scaling>
          <c:orientation val="minMax"/>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25400">
              <a:solidFill>
                <a:srgbClr val="1F3864"/>
              </a:solidFill>
            </a:ln>
          </c:spPr>
          <c:marker>
            <c:symbol val="circle"/>
            <c:size val="5"/>
            <c:spPr>
              <a:solidFill>
                <a:srgbClr val="1F3864"/>
              </a:solidFill>
              <a:ln>
                <a:solidFill>
                  <a:srgbClr val="1F3864"/>
                </a:solidFill>
              </a:ln>
            </c:spPr>
          </c:marker>
          <c:cat>
            <c:strRef>
              <c:f>Sheet1!$A$2:$A$16</c:f>
              <c:strCache>
                <c:ptCount val="15"/>
                <c:pt idx="0">
                  <c:v>FY21</c:v>
                </c:pt>
                <c:pt idx="1">
                  <c:v>FY22</c:v>
                </c:pt>
                <c:pt idx="2">
                  <c:v>FY23</c:v>
                </c:pt>
                <c:pt idx="3">
                  <c:v>FY24</c:v>
                </c:pt>
                <c:pt idx="4">
                  <c:v>FY25</c:v>
                </c:pt>
                <c:pt idx="5">
                  <c:v>FY26E</c:v>
                </c:pt>
                <c:pt idx="6">
                  <c:v>FY27E</c:v>
                </c:pt>
                <c:pt idx="7">
                  <c:v>FY28E</c:v>
                </c:pt>
                <c:pt idx="8">
                  <c:v>FY29E</c:v>
                </c:pt>
                <c:pt idx="9">
                  <c:v>FY30E</c:v>
                </c:pt>
                <c:pt idx="10">
                  <c:v>FY31E</c:v>
                </c:pt>
                <c:pt idx="11">
                  <c:v>FY32E</c:v>
                </c:pt>
                <c:pt idx="12">
                  <c:v>FY33E</c:v>
                </c:pt>
                <c:pt idx="13">
                  <c:v>FY34E</c:v>
                </c:pt>
                <c:pt idx="14">
                  <c:v>FY35E</c:v>
                </c:pt>
              </c:strCache>
            </c:strRef>
          </c:cat>
          <c:val>
            <c:numRef>
              <c:f>Sheet1!$B$2:$B$16</c:f>
              <c:numCache>
                <c:formatCode>0%</c:formatCode>
                <c:ptCount val="15"/>
                <c:pt idx="0">
                  <c:v>0.43923240938166308</c:v>
                </c:pt>
                <c:pt idx="1">
                  <c:v>1.1229629629629629</c:v>
                </c:pt>
                <c:pt idx="2">
                  <c:v>0.64619678995115137</c:v>
                </c:pt>
                <c:pt idx="3">
                  <c:v>0.1856718948707079</c:v>
                </c:pt>
                <c:pt idx="4">
                  <c:v>0.20486235252055773</c:v>
                </c:pt>
              </c:numCache>
            </c:numRef>
          </c:val>
          <c:smooth val="0"/>
          <c:extLst>
            <c:ext xmlns:c16="http://schemas.microsoft.com/office/drawing/2014/chart" uri="{C3380CC4-5D6E-409C-BE32-E72D297353CC}">
              <c16:uniqueId val="{00000000-ECB7-482A-AE03-0DD5FB12DD27}"/>
            </c:ext>
          </c:extLst>
        </c:ser>
        <c:ser>
          <c:idx val="1"/>
          <c:order val="1"/>
          <c:tx>
            <c:strRef>
              <c:f>Sheet1!$C$1</c:f>
              <c:strCache>
                <c:ptCount val="1"/>
                <c:pt idx="0">
                  <c:v>Trend (OLS, R² 0.33)</c:v>
                </c:pt>
              </c:strCache>
            </c:strRef>
          </c:tx>
          <c:spPr>
            <a:ln w="19050">
              <a:solidFill>
                <a:srgbClr val="898989"/>
              </a:solidFill>
              <a:prstDash val="dash"/>
            </a:ln>
          </c:spPr>
          <c:marker>
            <c:symbol val="none"/>
          </c:marker>
          <c:cat>
            <c:strRef>
              <c:f>Sheet1!$A$2:$A$16</c:f>
              <c:strCache>
                <c:ptCount val="15"/>
                <c:pt idx="0">
                  <c:v>FY21</c:v>
                </c:pt>
                <c:pt idx="1">
                  <c:v>FY22</c:v>
                </c:pt>
                <c:pt idx="2">
                  <c:v>FY23</c:v>
                </c:pt>
                <c:pt idx="3">
                  <c:v>FY24</c:v>
                </c:pt>
                <c:pt idx="4">
                  <c:v>FY25</c:v>
                </c:pt>
                <c:pt idx="5">
                  <c:v>FY26E</c:v>
                </c:pt>
                <c:pt idx="6">
                  <c:v>FY27E</c:v>
                </c:pt>
                <c:pt idx="7">
                  <c:v>FY28E</c:v>
                </c:pt>
                <c:pt idx="8">
                  <c:v>FY29E</c:v>
                </c:pt>
                <c:pt idx="9">
                  <c:v>FY30E</c:v>
                </c:pt>
                <c:pt idx="10">
                  <c:v>FY31E</c:v>
                </c:pt>
                <c:pt idx="11">
                  <c:v>FY32E</c:v>
                </c:pt>
                <c:pt idx="12">
                  <c:v>FY33E</c:v>
                </c:pt>
                <c:pt idx="13">
                  <c:v>FY34E</c:v>
                </c:pt>
                <c:pt idx="14">
                  <c:v>FY35E</c:v>
                </c:pt>
              </c:strCache>
            </c:strRef>
          </c:cat>
          <c:val>
            <c:numRef>
              <c:f>Sheet1!$C$2:$C$16</c:f>
              <c:numCache>
                <c:formatCode>0%</c:formatCode>
                <c:ptCount val="15"/>
                <c:pt idx="0">
                  <c:v>0.8009915183003018</c:v>
                </c:pt>
                <c:pt idx="1">
                  <c:v>0.66038840011885525</c:v>
                </c:pt>
                <c:pt idx="2">
                  <c:v>0.51978528193740869</c:v>
                </c:pt>
                <c:pt idx="3">
                  <c:v>0.37918216375596203</c:v>
                </c:pt>
                <c:pt idx="4">
                  <c:v>0.23857904557451548</c:v>
                </c:pt>
                <c:pt idx="5">
                  <c:v>9.7975927393068929E-2</c:v>
                </c:pt>
              </c:numCache>
            </c:numRef>
          </c:val>
          <c:smooth val="0"/>
          <c:extLst>
            <c:ext xmlns:c16="http://schemas.microsoft.com/office/drawing/2014/chart" uri="{C3380CC4-5D6E-409C-BE32-E72D297353CC}">
              <c16:uniqueId val="{00000001-ECB7-482A-AE03-0DD5FB12DD27}"/>
            </c:ext>
          </c:extLst>
        </c:ser>
        <c:ser>
          <c:idx val="2"/>
          <c:order val="2"/>
          <c:tx>
            <c:strRef>
              <c:f>Sheet1!$D$1</c:f>
              <c:strCache>
                <c:ptCount val="1"/>
                <c:pt idx="0">
                  <c:v>Used in DCF</c:v>
                </c:pt>
              </c:strCache>
            </c:strRef>
          </c:tx>
          <c:spPr>
            <a:ln w="38100">
              <a:solidFill>
                <a:srgbClr val="1874B2"/>
              </a:solidFill>
            </a:ln>
          </c:spPr>
          <c:marker>
            <c:symbol val="none"/>
          </c:marker>
          <c:cat>
            <c:strRef>
              <c:f>Sheet1!$A$2:$A$16</c:f>
              <c:strCache>
                <c:ptCount val="15"/>
                <c:pt idx="0">
                  <c:v>FY21</c:v>
                </c:pt>
                <c:pt idx="1">
                  <c:v>FY22</c:v>
                </c:pt>
                <c:pt idx="2">
                  <c:v>FY23</c:v>
                </c:pt>
                <c:pt idx="3">
                  <c:v>FY24</c:v>
                </c:pt>
                <c:pt idx="4">
                  <c:v>FY25</c:v>
                </c:pt>
                <c:pt idx="5">
                  <c:v>FY26E</c:v>
                </c:pt>
                <c:pt idx="6">
                  <c:v>FY27E</c:v>
                </c:pt>
                <c:pt idx="7">
                  <c:v>FY28E</c:v>
                </c:pt>
                <c:pt idx="8">
                  <c:v>FY29E</c:v>
                </c:pt>
                <c:pt idx="9">
                  <c:v>FY30E</c:v>
                </c:pt>
                <c:pt idx="10">
                  <c:v>FY31E</c:v>
                </c:pt>
                <c:pt idx="11">
                  <c:v>FY32E</c:v>
                </c:pt>
                <c:pt idx="12">
                  <c:v>FY33E</c:v>
                </c:pt>
                <c:pt idx="13">
                  <c:v>FY34E</c:v>
                </c:pt>
                <c:pt idx="14">
                  <c:v>FY35E</c:v>
                </c:pt>
              </c:strCache>
            </c:strRef>
          </c:cat>
          <c:val>
            <c:numRef>
              <c:f>Sheet1!$D$2:$D$16</c:f>
              <c:numCache>
                <c:formatCode>General</c:formatCode>
                <c:ptCount val="15"/>
                <c:pt idx="4" formatCode="0%">
                  <c:v>0.20486235252055773</c:v>
                </c:pt>
                <c:pt idx="5" formatCode="0%">
                  <c:v>0.24191425816023737</c:v>
                </c:pt>
                <c:pt idx="6" formatCode="0%">
                  <c:v>0.24020793925850636</c:v>
                </c:pt>
                <c:pt idx="7" formatCode="0%">
                  <c:v>0.18353027985738746</c:v>
                </c:pt>
                <c:pt idx="8" formatCode="0%">
                  <c:v>0.16088309702061782</c:v>
                </c:pt>
                <c:pt idx="9" formatCode="0%">
                  <c:v>0.13823591418384817</c:v>
                </c:pt>
                <c:pt idx="10" formatCode="0%">
                  <c:v>0.11558873134707855</c:v>
                </c:pt>
                <c:pt idx="11" formatCode="0%">
                  <c:v>9.2941548510308905E-2</c:v>
                </c:pt>
                <c:pt idx="12" formatCode="0%">
                  <c:v>7.0294365673539277E-2</c:v>
                </c:pt>
                <c:pt idx="13" formatCode="0%">
                  <c:v>4.7647182836769636E-2</c:v>
                </c:pt>
                <c:pt idx="14" formatCode="0%">
                  <c:v>2.4999999999999994E-2</c:v>
                </c:pt>
              </c:numCache>
            </c:numRef>
          </c:val>
          <c:smooth val="0"/>
          <c:extLst>
            <c:ext xmlns:c16="http://schemas.microsoft.com/office/drawing/2014/chart" uri="{C3380CC4-5D6E-409C-BE32-E72D297353CC}">
              <c16:uniqueId val="{00000002-ECB7-482A-AE03-0DD5FB12DD2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40495176"/>
        <c:crosses val="autoZero"/>
        <c:auto val="1"/>
        <c:lblAlgn val="ctr"/>
        <c:lblOffset val="100"/>
        <c:tickLblSkip val="3"/>
        <c:tickMarkSkip val="3"/>
        <c:noMultiLvlLbl val="0"/>
      </c:catAx>
      <c:valAx>
        <c:axId val="2140495176"/>
        <c:scaling>
          <c:orientation val="minMax"/>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25400">
              <a:solidFill>
                <a:srgbClr val="1F3864"/>
              </a:solidFill>
            </a:ln>
          </c:spPr>
          <c:marker>
            <c:symbol val="circle"/>
            <c:size val="5"/>
            <c:spPr>
              <a:solidFill>
                <a:srgbClr val="1F3864"/>
              </a:solidFill>
              <a:ln>
                <a:solidFill>
                  <a:srgbClr val="1F3864"/>
                </a:solidFill>
              </a:ln>
            </c:spPr>
          </c:marker>
          <c:cat>
            <c:strRef>
              <c:f>Sheet1!$A$2:$A$16</c:f>
              <c:strCache>
                <c:ptCount val="15"/>
                <c:pt idx="0">
                  <c:v>FY21</c:v>
                </c:pt>
                <c:pt idx="1">
                  <c:v>FY22</c:v>
                </c:pt>
                <c:pt idx="2">
                  <c:v>FY23</c:v>
                </c:pt>
                <c:pt idx="3">
                  <c:v>FY24</c:v>
                </c:pt>
                <c:pt idx="4">
                  <c:v>FY25</c:v>
                </c:pt>
                <c:pt idx="5">
                  <c:v>FY26E</c:v>
                </c:pt>
                <c:pt idx="6">
                  <c:v>FY27E</c:v>
                </c:pt>
                <c:pt idx="7">
                  <c:v>FY28E</c:v>
                </c:pt>
                <c:pt idx="8">
                  <c:v>FY29E</c:v>
                </c:pt>
                <c:pt idx="9">
                  <c:v>FY30E</c:v>
                </c:pt>
                <c:pt idx="10">
                  <c:v>FY31E</c:v>
                </c:pt>
                <c:pt idx="11">
                  <c:v>FY32E</c:v>
                </c:pt>
                <c:pt idx="12">
                  <c:v>FY33E</c:v>
                </c:pt>
                <c:pt idx="13">
                  <c:v>FY34E</c:v>
                </c:pt>
                <c:pt idx="14">
                  <c:v>FY35E</c:v>
                </c:pt>
              </c:strCache>
            </c:strRef>
          </c:cat>
          <c:val>
            <c:numRef>
              <c:f>Sheet1!$B$2:$B$16</c:f>
              <c:numCache>
                <c:formatCode>0%</c:formatCode>
                <c:ptCount val="15"/>
                <c:pt idx="0">
                  <c:v>-2.2637037037037038</c:v>
                </c:pt>
                <c:pt idx="1">
                  <c:v>-0.89741800418702022</c:v>
                </c:pt>
                <c:pt idx="2">
                  <c:v>-0.16235693090292497</c:v>
                </c:pt>
                <c:pt idx="3">
                  <c:v>-1.7876296031462281E-3</c:v>
                </c:pt>
                <c:pt idx="4">
                  <c:v>6.943620178041543E-2</c:v>
                </c:pt>
              </c:numCache>
            </c:numRef>
          </c:val>
          <c:smooth val="0"/>
          <c:extLst>
            <c:ext xmlns:c16="http://schemas.microsoft.com/office/drawing/2014/chart" uri="{C3380CC4-5D6E-409C-BE32-E72D297353CC}">
              <c16:uniqueId val="{00000000-5970-428B-83CF-34AF11B81068}"/>
            </c:ext>
          </c:extLst>
        </c:ser>
        <c:ser>
          <c:idx val="1"/>
          <c:order val="1"/>
          <c:tx>
            <c:strRef>
              <c:f>Sheet1!$C$1</c:f>
              <c:strCache>
                <c:ptCount val="1"/>
                <c:pt idx="0">
                  <c:v>Trend (OLS, R² 0.81)</c:v>
                </c:pt>
              </c:strCache>
            </c:strRef>
          </c:tx>
          <c:spPr>
            <a:ln w="19050">
              <a:solidFill>
                <a:srgbClr val="898989"/>
              </a:solidFill>
              <a:prstDash val="dash"/>
            </a:ln>
          </c:spPr>
          <c:marker>
            <c:symbol val="none"/>
          </c:marker>
          <c:cat>
            <c:strRef>
              <c:f>Sheet1!$A$2:$A$16</c:f>
              <c:strCache>
                <c:ptCount val="15"/>
                <c:pt idx="0">
                  <c:v>FY21</c:v>
                </c:pt>
                <c:pt idx="1">
                  <c:v>FY22</c:v>
                </c:pt>
                <c:pt idx="2">
                  <c:v>FY23</c:v>
                </c:pt>
                <c:pt idx="3">
                  <c:v>FY24</c:v>
                </c:pt>
                <c:pt idx="4">
                  <c:v>FY25</c:v>
                </c:pt>
                <c:pt idx="5">
                  <c:v>FY26E</c:v>
                </c:pt>
                <c:pt idx="6">
                  <c:v>FY27E</c:v>
                </c:pt>
                <c:pt idx="7">
                  <c:v>FY28E</c:v>
                </c:pt>
                <c:pt idx="8">
                  <c:v>FY29E</c:v>
                </c:pt>
                <c:pt idx="9">
                  <c:v>FY30E</c:v>
                </c:pt>
                <c:pt idx="10">
                  <c:v>FY31E</c:v>
                </c:pt>
                <c:pt idx="11">
                  <c:v>FY32E</c:v>
                </c:pt>
                <c:pt idx="12">
                  <c:v>FY33E</c:v>
                </c:pt>
                <c:pt idx="13">
                  <c:v>FY34E</c:v>
                </c:pt>
                <c:pt idx="14">
                  <c:v>FY35E</c:v>
                </c:pt>
              </c:strCache>
            </c:strRef>
          </c:cat>
          <c:val>
            <c:numRef>
              <c:f>Sheet1!$C$2:$C$16</c:f>
              <c:numCache>
                <c:formatCode>0%</c:formatCode>
                <c:ptCount val="15"/>
                <c:pt idx="0">
                  <c:v>-1.7635480504336984</c:v>
                </c:pt>
                <c:pt idx="1">
                  <c:v>-1.2073570318784872</c:v>
                </c:pt>
                <c:pt idx="2">
                  <c:v>-0.65116601332327595</c:v>
                </c:pt>
                <c:pt idx="3">
                  <c:v>-9.4974994768064702E-2</c:v>
                </c:pt>
              </c:numCache>
            </c:numRef>
          </c:val>
          <c:smooth val="0"/>
          <c:extLst>
            <c:ext xmlns:c16="http://schemas.microsoft.com/office/drawing/2014/chart" uri="{C3380CC4-5D6E-409C-BE32-E72D297353CC}">
              <c16:uniqueId val="{00000001-5970-428B-83CF-34AF11B81068}"/>
            </c:ext>
          </c:extLst>
        </c:ser>
        <c:ser>
          <c:idx val="2"/>
          <c:order val="2"/>
          <c:tx>
            <c:strRef>
              <c:f>Sheet1!$D$1</c:f>
              <c:strCache>
                <c:ptCount val="1"/>
                <c:pt idx="0">
                  <c:v>Used in DCF</c:v>
                </c:pt>
              </c:strCache>
            </c:strRef>
          </c:tx>
          <c:spPr>
            <a:ln w="38100">
              <a:solidFill>
                <a:srgbClr val="1874B2"/>
              </a:solidFill>
            </a:ln>
          </c:spPr>
          <c:marker>
            <c:symbol val="none"/>
          </c:marker>
          <c:cat>
            <c:strRef>
              <c:f>Sheet1!$A$2:$A$16</c:f>
              <c:strCache>
                <c:ptCount val="15"/>
                <c:pt idx="0">
                  <c:v>FY21</c:v>
                </c:pt>
                <c:pt idx="1">
                  <c:v>FY22</c:v>
                </c:pt>
                <c:pt idx="2">
                  <c:v>FY23</c:v>
                </c:pt>
                <c:pt idx="3">
                  <c:v>FY24</c:v>
                </c:pt>
                <c:pt idx="4">
                  <c:v>FY25</c:v>
                </c:pt>
                <c:pt idx="5">
                  <c:v>FY26E</c:v>
                </c:pt>
                <c:pt idx="6">
                  <c:v>FY27E</c:v>
                </c:pt>
                <c:pt idx="7">
                  <c:v>FY28E</c:v>
                </c:pt>
                <c:pt idx="8">
                  <c:v>FY29E</c:v>
                </c:pt>
                <c:pt idx="9">
                  <c:v>FY30E</c:v>
                </c:pt>
                <c:pt idx="10">
                  <c:v>FY31E</c:v>
                </c:pt>
                <c:pt idx="11">
                  <c:v>FY32E</c:v>
                </c:pt>
                <c:pt idx="12">
                  <c:v>FY33E</c:v>
                </c:pt>
                <c:pt idx="13">
                  <c:v>FY34E</c:v>
                </c:pt>
                <c:pt idx="14">
                  <c:v>FY35E</c:v>
                </c:pt>
              </c:strCache>
            </c:strRef>
          </c:cat>
          <c:val>
            <c:numRef>
              <c:f>Sheet1!$D$2:$D$16</c:f>
              <c:numCache>
                <c:formatCode>General</c:formatCode>
                <c:ptCount val="15"/>
                <c:pt idx="4" formatCode="0%">
                  <c:v>6.943620178041543E-2</c:v>
                </c:pt>
                <c:pt idx="5" formatCode="0%">
                  <c:v>6.2630770978481798E-3</c:v>
                </c:pt>
                <c:pt idx="6" formatCode="0%">
                  <c:v>6.6119654360581301E-2</c:v>
                </c:pt>
                <c:pt idx="7" formatCode="0%">
                  <c:v>0.10451442501204097</c:v>
                </c:pt>
                <c:pt idx="8" formatCode="0%">
                  <c:v>0.10996612767401398</c:v>
                </c:pt>
                <c:pt idx="9" formatCode="0%">
                  <c:v>0.11404579667028225</c:v>
                </c:pt>
                <c:pt idx="10" formatCode="0%">
                  <c:v>0.11702433527520231</c:v>
                </c:pt>
                <c:pt idx="11" formatCode="0%">
                  <c:v>0.11908859508112651</c:v>
                </c:pt>
                <c:pt idx="12" formatCode="0%">
                  <c:v>0.12036035531714293</c:v>
                </c:pt>
                <c:pt idx="13" formatCode="0%">
                  <c:v>0.12090794906251737</c:v>
                </c:pt>
                <c:pt idx="14" formatCode="0%">
                  <c:v>0.12075204176006971</c:v>
                </c:pt>
              </c:numCache>
            </c:numRef>
          </c:val>
          <c:smooth val="0"/>
          <c:extLst>
            <c:ext xmlns:c16="http://schemas.microsoft.com/office/drawing/2014/chart" uri="{C3380CC4-5D6E-409C-BE32-E72D297353CC}">
              <c16:uniqueId val="{00000002-5970-428B-83CF-34AF11B8106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40495176"/>
        <c:crosses val="autoZero"/>
        <c:auto val="1"/>
        <c:lblAlgn val="ctr"/>
        <c:lblOffset val="100"/>
        <c:tickLblSkip val="3"/>
        <c:tickMarkSkip val="3"/>
        <c:noMultiLvlLbl val="0"/>
      </c:catAx>
      <c:valAx>
        <c:axId val="2140495176"/>
        <c:scaling>
          <c:orientation val="minMax"/>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Revenue added</c:v>
                </c:pt>
              </c:strCache>
            </c:strRef>
          </c:tx>
          <c:spPr>
            <a:solidFill>
              <a:srgbClr val="376092"/>
            </a:solidFill>
          </c:spPr>
          <c:invertIfNegative val="0"/>
          <c:cat>
            <c:strRef>
              <c:f>Sheet1!$A$2:$A$6</c:f>
              <c:strCache>
                <c:ptCount val="5"/>
                <c:pt idx="0">
                  <c:v>FY21</c:v>
                </c:pt>
                <c:pt idx="1">
                  <c:v>FY22</c:v>
                </c:pt>
                <c:pt idx="2">
                  <c:v>FY23</c:v>
                </c:pt>
                <c:pt idx="3">
                  <c:v>FY24</c:v>
                </c:pt>
                <c:pt idx="4">
                  <c:v>FY25</c:v>
                </c:pt>
              </c:strCache>
            </c:strRef>
          </c:cat>
          <c:val>
            <c:numRef>
              <c:f>Sheet1!$B$2:$B$6</c:f>
              <c:numCache>
                <c:formatCode>#,##0</c:formatCode>
                <c:ptCount val="5"/>
                <c:pt idx="0">
                  <c:v>206</c:v>
                </c:pt>
                <c:pt idx="1">
                  <c:v>758</c:v>
                </c:pt>
                <c:pt idx="2">
                  <c:v>926</c:v>
                </c:pt>
                <c:pt idx="3">
                  <c:v>438</c:v>
                </c:pt>
                <c:pt idx="4">
                  <c:v>573</c:v>
                </c:pt>
              </c:numCache>
            </c:numRef>
          </c:val>
          <c:extLst>
            <c:ext xmlns:c16="http://schemas.microsoft.com/office/drawing/2014/chart" uri="{C3380CC4-5D6E-409C-BE32-E72D297353CC}">
              <c16:uniqueId val="{00000000-0E1F-477C-8917-FE14966FB787}"/>
            </c:ext>
          </c:extLst>
        </c:ser>
        <c:ser>
          <c:idx val="1"/>
          <c:order val="1"/>
          <c:tx>
            <c:strRef>
              <c:f>Sheet1!$C$1</c:f>
              <c:strCache>
                <c:ptCount val="1"/>
                <c:pt idx="0">
                  <c:v>Capex less D&amp;A</c:v>
                </c:pt>
              </c:strCache>
            </c:strRef>
          </c:tx>
          <c:spPr>
            <a:solidFill>
              <a:srgbClr val="1874B2"/>
            </a:solidFill>
          </c:spPr>
          <c:invertIfNegative val="0"/>
          <c:cat>
            <c:strRef>
              <c:f>Sheet1!$A$2:$A$6</c:f>
              <c:strCache>
                <c:ptCount val="5"/>
                <c:pt idx="0">
                  <c:v>FY21</c:v>
                </c:pt>
                <c:pt idx="1">
                  <c:v>FY22</c:v>
                </c:pt>
                <c:pt idx="2">
                  <c:v>FY23</c:v>
                </c:pt>
                <c:pt idx="3">
                  <c:v>FY24</c:v>
                </c:pt>
                <c:pt idx="4">
                  <c:v>FY25</c:v>
                </c:pt>
              </c:strCache>
            </c:strRef>
          </c:cat>
          <c:val>
            <c:numRef>
              <c:f>Sheet1!$C$2:$C$6</c:f>
              <c:numCache>
                <c:formatCode>#,##0</c:formatCode>
                <c:ptCount val="5"/>
                <c:pt idx="0">
                  <c:v>-260</c:v>
                </c:pt>
                <c:pt idx="1">
                  <c:v>-76</c:v>
                </c:pt>
                <c:pt idx="2">
                  <c:v>-53</c:v>
                </c:pt>
                <c:pt idx="3">
                  <c:v>-34</c:v>
                </c:pt>
                <c:pt idx="4">
                  <c:v>-54</c:v>
                </c:pt>
              </c:numCache>
            </c:numRef>
          </c:val>
          <c:extLst>
            <c:ext xmlns:c16="http://schemas.microsoft.com/office/drawing/2014/chart" uri="{C3380CC4-5D6E-409C-BE32-E72D297353CC}">
              <c16:uniqueId val="{00000001-0E1F-477C-8917-FE14966FB787}"/>
            </c:ext>
          </c:extLst>
        </c:ser>
        <c:dLbls>
          <c:showLegendKey val="0"/>
          <c:showVal val="0"/>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D9D9D9"/>
              </a:solidFill>
            </a:ln>
          </c:spPr>
        </c:majorGridlines>
        <c:numFmt formatCode="#,##0" sourceLinked="0"/>
        <c:majorTickMark val="out"/>
        <c:minorTickMark val="none"/>
        <c:tickLblPos val="nextTo"/>
        <c:spPr>
          <a:ln>
            <a:noFill/>
          </a:ln>
        </c:spPr>
        <c:txPr>
          <a:bodyPr/>
          <a:lstStyle/>
          <a:p>
            <a:pPr>
              <a:defRPr sz="1100">
                <a:solidFill>
                  <a:srgbClr val="898989"/>
                </a:solidFill>
              </a:defRPr>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latin typeface="Book Antiqu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10Y yield (annual avg.)</c:v>
                </c:pt>
              </c:strCache>
            </c:strRef>
          </c:tx>
          <c:spPr>
            <a:ln w="25400">
              <a:solidFill>
                <a:srgbClr val="1F3864"/>
              </a:solidFill>
            </a:ln>
          </c:spPr>
          <c:marker>
            <c:symbol val="circle"/>
            <c:size val="5"/>
            <c:spPr>
              <a:solidFill>
                <a:srgbClr val="1F3864"/>
              </a:solidFill>
              <a:ln>
                <a:solidFill>
                  <a:srgbClr val="1F3864"/>
                </a:solidFill>
              </a:ln>
            </c:spPr>
          </c:marker>
          <c:cat>
            <c:strRef>
              <c:f>Sheet1!$A$2:$A$41</c:f>
              <c:strCache>
                <c:ptCount val="40"/>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pt idx="18">
                  <c:v>2015</c:v>
                </c:pt>
                <c:pt idx="19">
                  <c:v>2016</c:v>
                </c:pt>
                <c:pt idx="20">
                  <c:v>2017</c:v>
                </c:pt>
                <c:pt idx="21">
                  <c:v>2018</c:v>
                </c:pt>
                <c:pt idx="22">
                  <c:v>2019</c:v>
                </c:pt>
                <c:pt idx="23">
                  <c:v>2020</c:v>
                </c:pt>
                <c:pt idx="24">
                  <c:v>2021</c:v>
                </c:pt>
                <c:pt idx="25">
                  <c:v>2022</c:v>
                </c:pt>
                <c:pt idx="26">
                  <c:v>2023</c:v>
                </c:pt>
                <c:pt idx="27">
                  <c:v>2024</c:v>
                </c:pt>
                <c:pt idx="28">
                  <c:v>2025</c:v>
                </c:pt>
                <c:pt idx="29">
                  <c:v>2026</c:v>
                </c:pt>
                <c:pt idx="30">
                  <c:v>2027E</c:v>
                </c:pt>
                <c:pt idx="31">
                  <c:v>2028E</c:v>
                </c:pt>
                <c:pt idx="32">
                  <c:v>2029E</c:v>
                </c:pt>
                <c:pt idx="33">
                  <c:v>2030E</c:v>
                </c:pt>
                <c:pt idx="34">
                  <c:v>2031E</c:v>
                </c:pt>
                <c:pt idx="35">
                  <c:v>2032E</c:v>
                </c:pt>
                <c:pt idx="36">
                  <c:v>2033E</c:v>
                </c:pt>
                <c:pt idx="37">
                  <c:v>2034E</c:v>
                </c:pt>
                <c:pt idx="38">
                  <c:v>2035E</c:v>
                </c:pt>
                <c:pt idx="39">
                  <c:v>2036E</c:v>
                </c:pt>
              </c:strCache>
            </c:strRef>
          </c:cat>
          <c:val>
            <c:numRef>
              <c:f>Sheet1!$B$2:$B$41</c:f>
              <c:numCache>
                <c:formatCode>0.0%</c:formatCode>
                <c:ptCount val="40"/>
                <c:pt idx="0">
                  <c:v>6.3134999999999997E-2</c:v>
                </c:pt>
                <c:pt idx="1">
                  <c:v>5.2146666666666668E-2</c:v>
                </c:pt>
                <c:pt idx="2">
                  <c:v>5.6967499999999997E-2</c:v>
                </c:pt>
                <c:pt idx="3">
                  <c:v>5.9602333333333334E-2</c:v>
                </c:pt>
                <c:pt idx="4">
                  <c:v>4.9517687499999997E-2</c:v>
                </c:pt>
                <c:pt idx="5">
                  <c:v>4.5317500000000004E-2</c:v>
                </c:pt>
                <c:pt idx="6">
                  <c:v>3.9760484111666668E-2</c:v>
                </c:pt>
                <c:pt idx="7">
                  <c:v>4.2423916666666665E-2</c:v>
                </c:pt>
                <c:pt idx="8">
                  <c:v>4.2660833333333335E-2</c:v>
                </c:pt>
                <c:pt idx="9">
                  <c:v>4.7811166666666662E-2</c:v>
                </c:pt>
                <c:pt idx="10">
                  <c:v>4.5748000000000004E-2</c:v>
                </c:pt>
                <c:pt idx="11">
                  <c:v>3.5879916666666671E-2</c:v>
                </c:pt>
                <c:pt idx="12">
                  <c:v>3.2722500000000002E-2</c:v>
                </c:pt>
                <c:pt idx="13">
                  <c:v>3.1260000000000003E-2</c:v>
                </c:pt>
                <c:pt idx="14">
                  <c:v>2.7317499999999998E-2</c:v>
                </c:pt>
                <c:pt idx="15">
                  <c:v>1.73525E-2</c:v>
                </c:pt>
                <c:pt idx="16">
                  <c:v>2.3576666666666666E-2</c:v>
                </c:pt>
                <c:pt idx="17">
                  <c:v>2.4822500000000001E-2</c:v>
                </c:pt>
                <c:pt idx="18">
                  <c:v>2.0997500000000002E-2</c:v>
                </c:pt>
                <c:pt idx="19">
                  <c:v>1.822E-2</c:v>
                </c:pt>
                <c:pt idx="20">
                  <c:v>2.327333333333333E-2</c:v>
                </c:pt>
                <c:pt idx="21">
                  <c:v>2.8897500000000003E-2</c:v>
                </c:pt>
                <c:pt idx="22">
                  <c:v>2.0821666666666665E-2</c:v>
                </c:pt>
                <c:pt idx="23">
                  <c:v>8.1541666666666655E-3</c:v>
                </c:pt>
                <c:pt idx="24">
                  <c:v>1.4605833333333334E-2</c:v>
                </c:pt>
                <c:pt idx="25">
                  <c:v>2.9863333333333335E-2</c:v>
                </c:pt>
                <c:pt idx="26">
                  <c:v>3.9620833333333334E-2</c:v>
                </c:pt>
                <c:pt idx="27">
                  <c:v>4.2352499999999994E-2</c:v>
                </c:pt>
                <c:pt idx="28">
                  <c:v>4.2390833333333329E-2</c:v>
                </c:pt>
                <c:pt idx="29">
                  <c:v>4.5720999999999998E-2</c:v>
                </c:pt>
              </c:numCache>
            </c:numRef>
          </c:val>
          <c:smooth val="0"/>
          <c:extLst>
            <c:ext xmlns:c16="http://schemas.microsoft.com/office/drawing/2014/chart" uri="{C3380CC4-5D6E-409C-BE32-E72D297353CC}">
              <c16:uniqueId val="{00000000-419E-4194-908C-F141E299BB26}"/>
            </c:ext>
          </c:extLst>
        </c:ser>
        <c:ser>
          <c:idx val="1"/>
          <c:order val="1"/>
          <c:tx>
            <c:strRef>
              <c:f>Sheet1!$C$1</c:f>
              <c:strCache>
                <c:ptCount val="1"/>
                <c:pt idx="0">
                  <c:v>30-year average</c:v>
                </c:pt>
              </c:strCache>
            </c:strRef>
          </c:tx>
          <c:spPr>
            <a:ln w="15875">
              <a:solidFill>
                <a:srgbClr val="898989"/>
              </a:solidFill>
              <a:prstDash val="sysDot"/>
            </a:ln>
          </c:spPr>
          <c:marker>
            <c:symbol val="none"/>
          </c:marker>
          <c:cat>
            <c:strRef>
              <c:f>Sheet1!$A$2:$A$41</c:f>
              <c:strCache>
                <c:ptCount val="40"/>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pt idx="18">
                  <c:v>2015</c:v>
                </c:pt>
                <c:pt idx="19">
                  <c:v>2016</c:v>
                </c:pt>
                <c:pt idx="20">
                  <c:v>2017</c:v>
                </c:pt>
                <c:pt idx="21">
                  <c:v>2018</c:v>
                </c:pt>
                <c:pt idx="22">
                  <c:v>2019</c:v>
                </c:pt>
                <c:pt idx="23">
                  <c:v>2020</c:v>
                </c:pt>
                <c:pt idx="24">
                  <c:v>2021</c:v>
                </c:pt>
                <c:pt idx="25">
                  <c:v>2022</c:v>
                </c:pt>
                <c:pt idx="26">
                  <c:v>2023</c:v>
                </c:pt>
                <c:pt idx="27">
                  <c:v>2024</c:v>
                </c:pt>
                <c:pt idx="28">
                  <c:v>2025</c:v>
                </c:pt>
                <c:pt idx="29">
                  <c:v>2026</c:v>
                </c:pt>
                <c:pt idx="30">
                  <c:v>2027E</c:v>
                </c:pt>
                <c:pt idx="31">
                  <c:v>2028E</c:v>
                </c:pt>
                <c:pt idx="32">
                  <c:v>2029E</c:v>
                </c:pt>
                <c:pt idx="33">
                  <c:v>2030E</c:v>
                </c:pt>
                <c:pt idx="34">
                  <c:v>2031E</c:v>
                </c:pt>
                <c:pt idx="35">
                  <c:v>2032E</c:v>
                </c:pt>
                <c:pt idx="36">
                  <c:v>2033E</c:v>
                </c:pt>
                <c:pt idx="37">
                  <c:v>2034E</c:v>
                </c:pt>
                <c:pt idx="38">
                  <c:v>2035E</c:v>
                </c:pt>
                <c:pt idx="39">
                  <c:v>2036E</c:v>
                </c:pt>
              </c:strCache>
            </c:strRef>
          </c:cat>
          <c:val>
            <c:numRef>
              <c:f>Sheet1!$C$2:$C$41</c:f>
              <c:numCache>
                <c:formatCode>0.0%</c:formatCode>
                <c:ptCount val="40"/>
                <c:pt idx="0">
                  <c:v>3.5857366831499989E-2</c:v>
                </c:pt>
                <c:pt idx="1">
                  <c:v>3.5857366831499989E-2</c:v>
                </c:pt>
                <c:pt idx="2">
                  <c:v>3.5857366831499989E-2</c:v>
                </c:pt>
                <c:pt idx="3">
                  <c:v>3.5857366831499989E-2</c:v>
                </c:pt>
                <c:pt idx="4">
                  <c:v>3.5857366831499989E-2</c:v>
                </c:pt>
                <c:pt idx="5">
                  <c:v>3.5857366831499989E-2</c:v>
                </c:pt>
                <c:pt idx="6">
                  <c:v>3.5857366831499989E-2</c:v>
                </c:pt>
                <c:pt idx="7">
                  <c:v>3.5857366831499989E-2</c:v>
                </c:pt>
                <c:pt idx="8">
                  <c:v>3.5857366831499989E-2</c:v>
                </c:pt>
                <c:pt idx="9">
                  <c:v>3.5857366831499989E-2</c:v>
                </c:pt>
                <c:pt idx="10">
                  <c:v>3.5857366831499989E-2</c:v>
                </c:pt>
                <c:pt idx="11">
                  <c:v>3.5857366831499989E-2</c:v>
                </c:pt>
                <c:pt idx="12">
                  <c:v>3.5857366831499989E-2</c:v>
                </c:pt>
                <c:pt idx="13">
                  <c:v>3.5857366831499989E-2</c:v>
                </c:pt>
                <c:pt idx="14">
                  <c:v>3.5857366831499989E-2</c:v>
                </c:pt>
                <c:pt idx="15">
                  <c:v>3.5857366831499989E-2</c:v>
                </c:pt>
                <c:pt idx="16">
                  <c:v>3.5857366831499989E-2</c:v>
                </c:pt>
                <c:pt idx="17">
                  <c:v>3.5857366831499989E-2</c:v>
                </c:pt>
                <c:pt idx="18">
                  <c:v>3.5857366831499989E-2</c:v>
                </c:pt>
                <c:pt idx="19">
                  <c:v>3.5857366831499989E-2</c:v>
                </c:pt>
                <c:pt idx="20">
                  <c:v>3.5857366831499989E-2</c:v>
                </c:pt>
                <c:pt idx="21">
                  <c:v>3.5857366831499989E-2</c:v>
                </c:pt>
                <c:pt idx="22">
                  <c:v>3.5857366831499989E-2</c:v>
                </c:pt>
                <c:pt idx="23">
                  <c:v>3.5857366831499989E-2</c:v>
                </c:pt>
                <c:pt idx="24">
                  <c:v>3.5857366831499989E-2</c:v>
                </c:pt>
                <c:pt idx="25">
                  <c:v>3.5857366831499989E-2</c:v>
                </c:pt>
                <c:pt idx="26">
                  <c:v>3.5857366831499989E-2</c:v>
                </c:pt>
                <c:pt idx="27">
                  <c:v>3.5857366831499989E-2</c:v>
                </c:pt>
                <c:pt idx="28">
                  <c:v>3.5857366831499989E-2</c:v>
                </c:pt>
                <c:pt idx="29">
                  <c:v>3.5857366831499989E-2</c:v>
                </c:pt>
                <c:pt idx="30">
                  <c:v>3.5857366831499989E-2</c:v>
                </c:pt>
                <c:pt idx="31">
                  <c:v>3.5857366831499989E-2</c:v>
                </c:pt>
                <c:pt idx="32">
                  <c:v>3.5857366831499989E-2</c:v>
                </c:pt>
                <c:pt idx="33">
                  <c:v>3.5857366831499989E-2</c:v>
                </c:pt>
                <c:pt idx="34">
                  <c:v>3.5857366831499989E-2</c:v>
                </c:pt>
                <c:pt idx="35">
                  <c:v>3.5857366831499989E-2</c:v>
                </c:pt>
                <c:pt idx="36">
                  <c:v>3.5857366831499989E-2</c:v>
                </c:pt>
                <c:pt idx="37">
                  <c:v>3.5857366831499989E-2</c:v>
                </c:pt>
                <c:pt idx="38">
                  <c:v>3.5857366831499989E-2</c:v>
                </c:pt>
                <c:pt idx="39">
                  <c:v>3.5857366831499989E-2</c:v>
                </c:pt>
              </c:numCache>
            </c:numRef>
          </c:val>
          <c:smooth val="0"/>
          <c:extLst>
            <c:ext xmlns:c16="http://schemas.microsoft.com/office/drawing/2014/chart" uri="{C3380CC4-5D6E-409C-BE32-E72D297353CC}">
              <c16:uniqueId val="{00000001-419E-4194-908C-F141E299BB26}"/>
            </c:ext>
          </c:extLst>
        </c:ser>
        <c:ser>
          <c:idx val="2"/>
          <c:order val="2"/>
          <c:tx>
            <c:strRef>
              <c:f>Sheet1!$D$1</c:f>
              <c:strCache>
                <c:ptCount val="1"/>
                <c:pt idx="0">
                  <c:v>Used in DCF</c:v>
                </c:pt>
              </c:strCache>
            </c:strRef>
          </c:tx>
          <c:spPr>
            <a:ln w="38100">
              <a:solidFill>
                <a:srgbClr val="1874B2"/>
              </a:solidFill>
            </a:ln>
          </c:spPr>
          <c:marker>
            <c:symbol val="none"/>
          </c:marker>
          <c:cat>
            <c:strRef>
              <c:f>Sheet1!$A$2:$A$41</c:f>
              <c:strCache>
                <c:ptCount val="40"/>
                <c:pt idx="0">
                  <c:v>1997</c:v>
                </c:pt>
                <c:pt idx="1">
                  <c:v>1998</c:v>
                </c:pt>
                <c:pt idx="2">
                  <c:v>1999</c:v>
                </c:pt>
                <c:pt idx="3">
                  <c:v>2000</c:v>
                </c:pt>
                <c:pt idx="4">
                  <c:v>2001</c:v>
                </c:pt>
                <c:pt idx="5">
                  <c:v>2002</c:v>
                </c:pt>
                <c:pt idx="6">
                  <c:v>2003</c:v>
                </c:pt>
                <c:pt idx="7">
                  <c:v>2004</c:v>
                </c:pt>
                <c:pt idx="8">
                  <c:v>2005</c:v>
                </c:pt>
                <c:pt idx="9">
                  <c:v>2006</c:v>
                </c:pt>
                <c:pt idx="10">
                  <c:v>2007</c:v>
                </c:pt>
                <c:pt idx="11">
                  <c:v>2008</c:v>
                </c:pt>
                <c:pt idx="12">
                  <c:v>2009</c:v>
                </c:pt>
                <c:pt idx="13">
                  <c:v>2010</c:v>
                </c:pt>
                <c:pt idx="14">
                  <c:v>2011</c:v>
                </c:pt>
                <c:pt idx="15">
                  <c:v>2012</c:v>
                </c:pt>
                <c:pt idx="16">
                  <c:v>2013</c:v>
                </c:pt>
                <c:pt idx="17">
                  <c:v>2014</c:v>
                </c:pt>
                <c:pt idx="18">
                  <c:v>2015</c:v>
                </c:pt>
                <c:pt idx="19">
                  <c:v>2016</c:v>
                </c:pt>
                <c:pt idx="20">
                  <c:v>2017</c:v>
                </c:pt>
                <c:pt idx="21">
                  <c:v>2018</c:v>
                </c:pt>
                <c:pt idx="22">
                  <c:v>2019</c:v>
                </c:pt>
                <c:pt idx="23">
                  <c:v>2020</c:v>
                </c:pt>
                <c:pt idx="24">
                  <c:v>2021</c:v>
                </c:pt>
                <c:pt idx="25">
                  <c:v>2022</c:v>
                </c:pt>
                <c:pt idx="26">
                  <c:v>2023</c:v>
                </c:pt>
                <c:pt idx="27">
                  <c:v>2024</c:v>
                </c:pt>
                <c:pt idx="28">
                  <c:v>2025</c:v>
                </c:pt>
                <c:pt idx="29">
                  <c:v>2026</c:v>
                </c:pt>
                <c:pt idx="30">
                  <c:v>2027E</c:v>
                </c:pt>
                <c:pt idx="31">
                  <c:v>2028E</c:v>
                </c:pt>
                <c:pt idx="32">
                  <c:v>2029E</c:v>
                </c:pt>
                <c:pt idx="33">
                  <c:v>2030E</c:v>
                </c:pt>
                <c:pt idx="34">
                  <c:v>2031E</c:v>
                </c:pt>
                <c:pt idx="35">
                  <c:v>2032E</c:v>
                </c:pt>
                <c:pt idx="36">
                  <c:v>2033E</c:v>
                </c:pt>
                <c:pt idx="37">
                  <c:v>2034E</c:v>
                </c:pt>
                <c:pt idx="38">
                  <c:v>2035E</c:v>
                </c:pt>
                <c:pt idx="39">
                  <c:v>2036E</c:v>
                </c:pt>
              </c:strCache>
            </c:strRef>
          </c:cat>
          <c:val>
            <c:numRef>
              <c:f>Sheet1!$D$2:$D$41</c:f>
              <c:numCache>
                <c:formatCode>General</c:formatCode>
                <c:ptCount val="40"/>
                <c:pt idx="29" formatCode="0.0%">
                  <c:v>5.0357000000000006E-2</c:v>
                </c:pt>
                <c:pt idx="30" formatCode="0.0%">
                  <c:v>4.74570733663E-2</c:v>
                </c:pt>
                <c:pt idx="31" formatCode="0.0%">
                  <c:v>4.45571467326E-2</c:v>
                </c:pt>
                <c:pt idx="32" formatCode="0.0%">
                  <c:v>4.1657220098899994E-2</c:v>
                </c:pt>
                <c:pt idx="33" formatCode="0.0%">
                  <c:v>3.8757293465199988E-2</c:v>
                </c:pt>
                <c:pt idx="34" formatCode="0.0%">
                  <c:v>3.5857366831499989E-2</c:v>
                </c:pt>
                <c:pt idx="35" formatCode="0.0%">
                  <c:v>3.5857366831499989E-2</c:v>
                </c:pt>
                <c:pt idx="36" formatCode="0.0%">
                  <c:v>3.5857366831499989E-2</c:v>
                </c:pt>
                <c:pt idx="37" formatCode="0.0%">
                  <c:v>3.5857366831499989E-2</c:v>
                </c:pt>
                <c:pt idx="38" formatCode="0.0%">
                  <c:v>3.5857366831499989E-2</c:v>
                </c:pt>
                <c:pt idx="39" formatCode="0.0%">
                  <c:v>3.5857366831499989E-2</c:v>
                </c:pt>
              </c:numCache>
            </c:numRef>
          </c:val>
          <c:smooth val="0"/>
          <c:extLst>
            <c:ext xmlns:c16="http://schemas.microsoft.com/office/drawing/2014/chart" uri="{C3380CC4-5D6E-409C-BE32-E72D297353CC}">
              <c16:uniqueId val="{00000002-419E-4194-908C-F141E299BB2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898989"/>
            </a:solidFill>
          </a:ln>
        </c:spPr>
        <c:txPr>
          <a:bodyPr/>
          <a:lstStyle/>
          <a:p>
            <a:pPr>
              <a:defRPr sz="1100"/>
            </a:pPr>
            <a:endParaRPr lang="en-US"/>
          </a:p>
        </c:txPr>
        <c:crossAx val="2140495176"/>
        <c:crosses val="autoZero"/>
        <c:auto val="1"/>
        <c:lblAlgn val="ctr"/>
        <c:lblOffset val="100"/>
        <c:tickLblSkip val="5"/>
        <c:tickMarkSkip val="5"/>
        <c:noMultiLvlLbl val="0"/>
      </c:catAx>
      <c:valAx>
        <c:axId val="2140495176"/>
        <c:scaling>
          <c:orientation val="minMax"/>
        </c:scaling>
        <c:delete val="0"/>
        <c:axPos val="l"/>
        <c:majorGridlines>
          <c:spPr>
            <a:ln w="6350">
              <a:solidFill>
                <a:srgbClr val="D9D9D9"/>
              </a:solidFill>
            </a:ln>
          </c:spPr>
        </c:majorGridlines>
        <c:numFmt formatCode="0.0%" sourceLinked="0"/>
        <c:majorTickMark val="out"/>
        <c:minorTickMark val="none"/>
        <c:tickLblPos val="nextTo"/>
        <c:spPr>
          <a:ln>
            <a:noFill/>
          </a:ln>
        </c:spPr>
        <c:txPr>
          <a:bodyPr/>
          <a:lstStyle/>
          <a:p>
            <a:pPr>
              <a:defRPr sz="1100">
                <a:solidFill>
                  <a:srgbClr val="898989"/>
                </a:solidFill>
              </a:defRPr>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latin typeface="Book Antiqu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5y beta</c:v>
                </c:pt>
              </c:strCache>
            </c:strRef>
          </c:tx>
          <c:spPr>
            <a:solidFill>
              <a:srgbClr val="376092"/>
            </a:solidFill>
          </c:spPr>
          <c:invertIfNegative val="0"/>
          <c:dPt>
            <c:idx val="1"/>
            <c:invertIfNegative val="1"/>
            <c:bubble3D val="0"/>
            <c:spPr>
              <a:solidFill>
                <a:srgbClr val="1874B2"/>
              </a:solidFill>
            </c:spPr>
            <c:extLst>
              <c:ext xmlns:c16="http://schemas.microsoft.com/office/drawing/2014/chart" uri="{C3380CC4-5D6E-409C-BE32-E72D297353CC}">
                <c16:uniqueId val="{00000001-ECD4-4AF7-9CE6-E364A4450723}"/>
              </c:ext>
            </c:extLst>
          </c:dPt>
          <c:dLbls>
            <c:numFmt formatCode="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GOTO</c:v>
                </c:pt>
                <c:pt idx="1">
                  <c:v>GRAB</c:v>
                </c:pt>
                <c:pt idx="2">
                  <c:v>NU</c:v>
                </c:pt>
                <c:pt idx="3">
                  <c:v>UBER</c:v>
                </c:pt>
                <c:pt idx="4">
                  <c:v>MELI</c:v>
                </c:pt>
                <c:pt idx="5">
                  <c:v>3690</c:v>
                </c:pt>
                <c:pt idx="6">
                  <c:v>SE</c:v>
                </c:pt>
                <c:pt idx="7">
                  <c:v>DHER</c:v>
                </c:pt>
                <c:pt idx="8">
                  <c:v>DASH</c:v>
                </c:pt>
                <c:pt idx="9">
                  <c:v>LYFT</c:v>
                </c:pt>
              </c:strCache>
            </c:strRef>
          </c:cat>
          <c:val>
            <c:numRef>
              <c:f>Sheet1!$B$2:$B$11</c:f>
              <c:numCache>
                <c:formatCode>0.00</c:formatCode>
                <c:ptCount val="10"/>
                <c:pt idx="0">
                  <c:v>0.72853687276385304</c:v>
                </c:pt>
                <c:pt idx="1">
                  <c:v>0.80847133537464899</c:v>
                </c:pt>
                <c:pt idx="2">
                  <c:v>0.95362960535084196</c:v>
                </c:pt>
                <c:pt idx="3">
                  <c:v>1.3207866110373701</c:v>
                </c:pt>
                <c:pt idx="4">
                  <c:v>1.41327141945808</c:v>
                </c:pt>
                <c:pt idx="5">
                  <c:v>1.46123414535722</c:v>
                </c:pt>
                <c:pt idx="6">
                  <c:v>1.552717214684</c:v>
                </c:pt>
                <c:pt idx="7">
                  <c:v>1.8240493167173299</c:v>
                </c:pt>
                <c:pt idx="8">
                  <c:v>1.98096461917986</c:v>
                </c:pt>
                <c:pt idx="9">
                  <c:v>2.0934419226764001</c:v>
                </c:pt>
              </c:numCache>
            </c:numRef>
          </c:val>
          <c:extLst>
            <c:ext xmlns:c16="http://schemas.microsoft.com/office/drawing/2014/chart" uri="{C3380CC4-5D6E-409C-BE32-E72D297353CC}">
              <c16:uniqueId val="{00000002-ECD4-4AF7-9CE6-E364A445072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low"/>
        <c:spPr>
          <a:ln>
            <a:solidFill>
              <a:srgbClr val="898989"/>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b"/>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Book Antiqu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249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Grab Holdings (NASDAQ: GRAB), Long. Target $3.62 by 31 May 2027, about +35% from $2.68 (26 Oct).</a:t>
            </a:r>
          </a:p>
          <a:p>
            <a:r>
              <a:t>One-line pitch: the stock price already matches a bad case (wider fee caps, slower growth); the good case - profits scaling and fintech with Atome becoming a second engine - is upside on top. Today's only fee cap costs ~1% of revenue.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story in six steps: what Grab is and who runs it, the market it competes in and why the stock is cheap, our three reasons to own it, what it is worth, and the trade (target and stop).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Grab in one minute.</a:t>
            </a:r>
          </a:p>
          <a:p>
            <a:r>
              <a:t>- Founded in 2012 as a taxi-booking app (MyTeksi, Malaysia); now headquartered in Singapore. Listed on Nasdaq in December 2021 through a SPAC merger.</a:t>
            </a:r>
          </a:p>
          <a:p>
            <a:r>
              <a:t>- One app for three businesses (next slide): food and grocery delivery, rides, and financial services, in 8 countries.</a:t>
            </a:r>
          </a:p>
          <a:p>
            <a:r>
              <a:t>- Scale: 53.9M people used Grab in an average month in Q2 2026, +17%.</a:t>
            </a:r>
          </a:p>
          <a:p>
            <a:r>
              <a:t>- FY2025 was its first full year with a net profit. 2026 guidance: revenue $4.10-4.15B, adjusted EBITDA $720-740M.</a:t>
            </a:r>
          </a:p>
          <a:p>
            <a:r>
              <a:t>Competition (from Grab's annual report): in deliveries ShopeeFood (owned by Sea Ltd), Foodpanda, Gojek (mainly Indonesia) and Line Man Wongnai (Thailand); in payments ShopeePay, GoPay, Dana and Touch 'n Go.</a:t>
            </a:r>
          </a:p>
          <a:p>
            <a:r>
              <a:t>Uber: sold its Southeast Asian business to Grab in 2018 in exchange for a 27.5% stake. It still owns 13.1%. Grab's annual report says Uber has a non-compete in Southeast Asia that lasts until one year after Uber sells all its Grab shares.</a:t>
            </a:r>
          </a:p>
          <a:p>
            <a:r>
              <a:t>Chart: revenue and EBITDA by year (Refinitiv). EBITDA turned positive as the business scaled.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the money comes from, Q2 2026 (Grab results). Total revenue $997M, +22%.</a:t>
            </a:r>
          </a:p>
          <a:p>
            <a:r>
              <a:t>- Deliveries $531M (53%), +21%. GrabFood (restaurants), GrabMart (groceries, growing 1.7x faster than food), GrabExpress (parcels), and advertising: restaurants and brands pay to be shown in the app, a high-margin line. Grab also owns most of Jaya Grocer, a Malaysian supermarket chain. Grab earns a commission from merchants plus delivery and platform fees from users.</a:t>
            </a:r>
          </a:p>
          <a:p>
            <a:r>
              <a:t>- Mobility $331M (33%), +12%. Cars and taxis (GrabCar), motorbike taxis (GrabBike; Indonesia's 8% fee cap applies to these), and Saver rides, a cheaper tier that brought 1 in 4 new riders. Airport rides are more than 10% of Mobility bookings. Grab keeps a share of each fare (the take rate).</a:t>
            </a:r>
          </a:p>
          <a:p>
            <a:r>
              <a:t>- Financial services $134M (13%), +59%. Wallets (GrabPay, and OVO in Indonesia), loans and pay-later to users, drivers and merchants (loan book $2.3B), and three digital banks: GXS (Singapore, joint venture with Singtel), GXBank (Malaysia) and Superbank (Indonesia). Grab earns interest on loans, fees on payments, and the spread on deposits. Still loss-making (-$15M segment adjusted EBITDA in Q2), breakeven guided for H2 2026.</a:t>
            </a:r>
          </a:p>
          <a:p>
            <a:r>
              <a:t>Rides and delivery are 86% of revenue; fintech is the fastest-growing part.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market Grab plays in (e-Conomy SEA 2025 by Google, Temasek and Bain; Momentum Works).</a:t>
            </a:r>
          </a:p>
          <a:p>
            <a:r>
              <a:t>- Southeast Asia's digital economy (online shopping, delivery, rides, travel, media) is set to pass $300B of spending in 2025, growing ~15% a year.</a:t>
            </a:r>
          </a:p>
          <a:p>
            <a:r>
              <a:t>- Food delivery: ~$23B of orders in 2025; platforms are mostly profitable now, and advertising revenue grew 60-90%. Momentum Works puts it at $22.7B, +18%, with Grab at 55% and ShopeeFood second.</a:t>
            </a:r>
          </a:p>
          <a:p>
            <a:r>
              <a:t>- Rides (transport): $11.5B of bookings in 2025.</a:t>
            </a:r>
          </a:p>
          <a:p>
            <a:r>
              <a:t>- Payments: more than 60% of payments in the region are already digital.</a:t>
            </a:r>
          </a:p>
          <a:p>
            <a:r>
              <a:t>- Tourism helps at the margin: Vietnam's foreign arrivals rose 20% in 2025 to 21.2M; airport rides are over 10% of Grab's Mobility bookings; travellers using Grab grew more than 10x in 3 years. Grab does not disclose how much revenue comes from tourists; we estimate low single digits.</a:t>
            </a:r>
          </a:p>
          <a:p>
            <a:r>
              <a:t>Chart 1: food delivery orders 2023-2025. 2025 is Momentum Works' figure; 2023 and 2024 are back-calculated from its growth rates (+13% in 2024, +18% in 2025).</a:t>
            </a:r>
          </a:p>
          <a:p>
            <a:r>
              <a:t>Chart 2: Grab's share of each market by order value (GMV). Food delivery: 55% of the 6-country market (Momentum Works). Rides: no reliable region-wide figure exists; ABI Research (Mar 2026) gives Vietnam 62% (Xanh SM, Vingroup's all-electric fleet, over 25%) and Indonesia 50.1% in H1 2025 (Gojek 41.5%; Grab and Gojek together 89% of trips). A "~70% of the region" figure circulates on blogs; we do not use it.</a:t>
            </a:r>
          </a:p>
          <a:p>
            <a:r>
              <a:t>Other countries (no reliable 2025 data, for Q&amp;A only):</a:t>
            </a:r>
          </a:p>
          <a:p>
            <a:r>
              <a:t>- Singapore: ~80% after the Uber deal (competition regulator CCCS, 2018 - official but old); blogs say ~70-75% today (Gojek, TADA, CDG Zig compete).</a:t>
            </a:r>
          </a:p>
          <a:p>
            <a:r>
              <a:t>- Philippines: often quoted ~90% of car rides, but no traceable source; inDrive grew rides 8x in 2025 with a 10% commission.</a:t>
            </a:r>
          </a:p>
          <a:p>
            <a:r>
              <a:t>- Thailand: disputed. Redseer (H1 2024, food + rides combined, by transactions) had LINE MAN 44% vs Grab 40%; Grab says it never shared data with Redseer. Bolt is a strong rival in Bangkok rides.</a:t>
            </a:r>
          </a:p>
          <a:p>
            <a:r>
              <a:t>- Malaysia: no share data found; Grab is the clear leader (only a 2021 preference survey, 94%).</a:t>
            </a:r>
          </a:p>
          <a:p>
            <a:r>
              <a:t>Callout: Grab's on-demand order value grew 21% (Q2 2026) vs ~18% for regional food delivery (Momentum Works, 2025) and mid-teens for rides (Bain gives only the size, $11.5B) - Grab is taking share (periods differ: 2025 market vs Q2 2026 Grab). Payments: &gt;60% digital in SEA (e-Conomy SEA 2025) vs cash only 14% of US payments by number in 2024 (Federal Reserve Diary of Consumer Payment Choice); definitions differ, so treat as directional. The shift away from cash goes mostly to e-wallets and QR codes (GrabPay, OVO), Grab's layer.</a:t>
            </a:r>
          </a:p>
          <a:p>
            <a:r>
              <a:t>Tourism (moved off the slide, for Q&amp;A), sized (Claude's estimate, our DCF):</a:t>
            </a:r>
          </a:p>
          <a:p>
            <a:r>
              <a:t>- Airport rides are over 10% of Mobility bookings; Mobility is ~36% of revenue (2025), so airport rides are at most ~4% of revenue, and some of those riders are locals. Tourists also order food, but Grab does not disclose it. Working range: tourism ~2-4% of revenue.</a:t>
            </a:r>
          </a:p>
          <a:p>
            <a:r>
              <a:t>- A continuous rise in tourism is already in analysts' forecasts (they expect ~19% a year growth). What matters for the price is tourism growing faster than expected.</a:t>
            </a:r>
          </a:p>
          <a:p>
            <a:r>
              <a:t>- If tourism revenue grows 10 points a year faster than consensus for 5 years, group growth rises only 0.2-0.4 points a year, worth +0.7% to +1.3% of our value (~$0.02-0.04 a share). Each extra point of group growth is worth ~$0.11 a share.</a:t>
            </a:r>
          </a:p>
          <a:p>
            <a:r>
              <a:t>- Conclusion: tourism is a nice tailwind and a good story (Vietnam arrivals +20% in 2025, travellers using Grab up 10x in 3 years), but it does not move the valuation; local rides, food delivery and fintech do.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chart: Grab's share price vs the S&amp;P 500 over the last 2 years. (Since its SPAC listing in Dec 2021 the stock is down ~70%; we show 2 years so recent moves are readable.)</a:t>
            </a:r>
          </a:p>
          <a:p>
            <a:r>
              <a:t>Bottom chart: quarterly revenue vs the quarter-end share price, both set to 100 in 3Q23. Revenue is up 62% (and turned profitable) while the share price ended where it started (101), and has fallen further since June to $2.68 (26 Oct): the business improved, the stock did not follow. We start in 2023, not at the 2021 listing, so the SPAC-era price does not exaggerate the gap.</a:t>
            </a:r>
          </a:p>
          <a:p>
            <a:r>
              <a:t>The path down from the Sep 2025 peak ($6.39 weekly close, end of a strong 2025 rally; no single trigger found): Q3 2025 results on 4 Nov (EPS slightly below estimates, $127M operating cash outflow, though guidance was raised) and GoTo-merger noise; Indonesian cap reports in Jan 2026 (-10% vs market); the Iran war from 28 Feb pushed Brent from ~$71 to over $112 and the S&amp;P 500 fell ~9% (Grab $4.22 to $3.56); the 8% cap in May (-5%); rising incentives through the summer. Each step was a worry, while revenue kept growing 20%+ and adjusted EBITDA rose every quarter.</a:t>
            </a:r>
          </a:p>
          <a:p>
            <a:r>
              <a:t>Why now:</a:t>
            </a:r>
          </a:p>
          <a:p>
            <a:r>
              <a:t>- Profitable growth: in Q2 2026 revenue grew 22% and adjusted EBITDA 54%. Adjusted EBITDA = profit before interest, tax, depreciation and stock-based pay (Grab's own measure). FY2025 was Grab's first year with a net profit.</a:t>
            </a:r>
          </a:p>
          <a:p>
            <a:r>
              <a:t>- The selloff: in May 2026 Indonesia capped what ride apps can keep from each motorbike-taxi fare at 8% (Grab used to keep ~15-20%). Motorbike taxis in Indonesia are only ~6% of Grab's ride bookings by value.</a:t>
            </a:r>
          </a:p>
          <a:p>
            <a:r>
              <a:t>- Insiders: the CEO bought $29.9M of shares at ~$2.89 in Sept 2026, and Grab has ~$900M of share buybacks left to spend by Sep 2027 (~7% of the company): the $750M added in August plus ~$149M left from February's $500M programme ($351M already spent).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framing (say it plainly): the stock price already matches a bad case; the good case is upside we get for free.</a:t>
            </a:r>
          </a:p>
          <a:p>
            <a:r>
              <a:t>- Bad case: Indonesia extends the 8% cap to car rides (the only extension under discussion) and growth slows. At $2.68 the price is below even our DCF value in that case ($3.04), and the reverse DCF says the price is consistent with ~11% a year growth vs analysts' ~19%.</a:t>
            </a:r>
          </a:p>
          <a:p>
            <a:r>
              <a:t>- Good case: profits keep scaling and fintech becomes a second engine. Our base case (analysts' forecasts, with stock pay counted as a cost) gives $3.62 by May 2027, +35%. Analysts average $5.43.</a:t>
            </a:r>
          </a:p>
          <a:p>
            <a:r>
              <a:t>We say "matches" or "is consistent with", not "the market assumes": we cannot know what the market assumes, only which of our cases fits the price.</a:t>
            </a:r>
          </a:p>
          <a:p>
            <a:r>
              <a:t>Three reasons:</a:t>
            </a:r>
          </a:p>
          <a:p>
            <a:r>
              <a:t>1. Scale is now profit: costs grow more slowly than revenue, so margins rise (adjusted EBITDA margin 13.3% to 16.9% in a year).</a:t>
            </a:r>
          </a:p>
          <a:p>
            <a:r>
              <a:t>2. Fintech and Atome: Grab lends to its own users, drivers and merchants; the loan book tripled to $2.3B, and Atome adds a $1.0B pay-later book. The segment still loses a little (-$15M in Q2) because lenders book expected losses up front; breakeven is guided for H2 2026.</a:t>
            </a:r>
          </a:p>
          <a:p>
            <a:r>
              <a:t>3. The price reflects the bad case: today's only fee cap costs ~1% of revenue; the stock fell far more on the news. The CEO bought $29.9M of stock at ~$2.89.</a:t>
            </a:r>
          </a:p>
          <a:p>
            <a:r>
              <a:t>Right panel: our target and what other methods say (DCF, peer multiples, analysts' average target $5.43).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Driver I: why profits keep rising.</a:t>
            </a:r>
          </a:p>
          <a:p>
            <a:r>
              <a:t>- Operating leverage: revenue +22% but adjusted EBITDA +54% in Q2 2026, because many costs (head office, technology) do not grow with orders. Grab guides these corporate costs flat for H2 2026.</a:t>
            </a:r>
          </a:p>
          <a:p>
            <a:r>
              <a:t>- Deliveries (Q2 2026 vs Q2 2025, Grab release): segment adjusted EBITDA $63M to $96M (+53%); as % of Deliveries GMV 1.8% to 2.3% (+45 bps); Deliveries GMV +22% to $4.25B. Grab credits operating leverage and advertising (self-serve advertisers +21%, their average spend +24%).</a:t>
            </a:r>
          </a:p>
          <a:p>
            <a:r>
              <a:t>- Advertising: restaurants and brands pay to be shown in the app, a high-margin revenue line. Groceries (GrabMart) grew 1.7x faster than food, raising order size and ad space.</a:t>
            </a:r>
          </a:p>
          <a:p>
            <a:r>
              <a:t>- Scale: 55% of the region's food delivery and 53.9M monthly users.</a:t>
            </a:r>
          </a:p>
          <a:p>
            <a:r>
              <a:t>- Watch: incentives (driver bonuses and customer discounts) rose to 10.9% of order value, partly to help drivers with fuel costs.</a:t>
            </a:r>
          </a:p>
          <a:p>
            <a:r>
              <a:t>Charts: top, adjusted EBITDA every quarter (rising each time); bottom, incentives as a % of on-demand order value (GMV), the thing to watch. Reported: 3Q25 10.1%, 4Q25 10.4%, 1Q26 10.5%, 2Q26 10.9%; 3Q24-2Q25 (9.9%, 10.1%, 10.0%, 10.2%) are derived from Grab's reported year-on-year changes. In dollars: Incentives = partner incentives (bonuses to drivers) + consumer incentives (discounts and promos), from Grab's quarterly releases: 462, 512, 501, 546, 585, 638, 650, 706 ($M).</a:t>
            </a:r>
          </a:p>
          <a:p>
            <a:r>
              <a:t>How to read it: EBITDA rises every quarter (90 to 168), but incentives in dollars are ~4x bigger and also rising. Incentives as a share of on-demand order value (GMV): 10.1% in 3Q25, 10.4% in 4Q25, 10.5% in 1Q26, 10.9% in 2Q26 (Grab). Part of the 2026 rise was fuel support for drivers during the oil shock and festive-season promotions.</a:t>
            </a:r>
          </a:p>
          <a:p>
            <a:r>
              <a:t>Why it matters: incentives are the biggest lever on margins. 1% of Q2 order value ($6.46B) is ~$65M a quarter, ~40% of Q2's adjusted EBITDA. If incentives fall back toward ~10% as fuel prices ease, margins jump; if competition forces them higher, margins stall. That is why it is the first thing to check in Q3 results.</a:t>
            </a:r>
          </a:p>
          <a:p>
            <a:r>
              <a:t>Caveat: incentives are mostly deducted from revenue in Grab's accounts. EBITDA + incentives is not a profit Grab could earn (zero incentives is unrealistic); the chart shows the size of the lever, not a target.</a:t>
            </a:r>
          </a:p>
          <a:p>
            <a:r>
              <a:t>Link to valuation: our base case needs the margin after stock pay to go from ~1% now to ~12%; incentives, ads and flat overheads are the levers.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Driver II: fintech and Atome.</a:t>
            </a:r>
          </a:p>
          <a:p>
            <a:r>
              <a:t>How it makes money: interest on loans to Grab users, drivers and merchants (including pay-later), payment fees, and the spread on deposits at its three digital banks.</a:t>
            </a:r>
          </a:p>
          <a:p>
            <a:r>
              <a:t>Why Grab can do it cheaply: it already has the customers (near-zero cost to find borrowers, per management) and sees their spending and earnings in the app, which helps judge who can repay.</a:t>
            </a:r>
          </a:p>
          <a:p>
            <a:r>
              <a:t>Why it still loses money (-$15M in Q2, from -$26M a year ago): lenders must book expected bad debts the day a loan is made (IFRS 9), while interest comes in over the following months. A book growing ~3x a year therefore looks unprofitable until growth slows. Add interest paid on $2.5B of deposits and the fixed cost of running three banks. Superbank, the oldest of the banks, has been profitable since FY2025. Breakeven is guided for H2 2026.</a:t>
            </a:r>
          </a:p>
          <a:p>
            <a:r>
              <a:t>Atome (Grab 6-K, 15 Sep 2026): Grab buys 60% of Atome Financial, a buy-now-pay-later and consumer lender, for $1.49B in cash (incl. $0.26B of new growth capital), closing by Q3 2027; that values all of Atome at ~$2.5B (our calculation). The other 40% follows ~2 years later at 13x Atome's EBITDA (25% weight on 2.5x revenue), whole-company value between $2.0B and $4.5B, so ~$0.8-1.8B more. Atome: $1.0B loan book (June 2026), 25M users who have ever transacted, 30,000+ brands, Singapore, Malaysia, Philippines, Indonesia, Thailand (JV). Not disclosed: Atome's revenue, profit and bad-loan rate - expect the question; our answer is that the Phase 2 price formula makes the sellers share the risk.</a:t>
            </a:r>
          </a:p>
          <a:p>
            <a:r>
              <a:t>Targets: Grab aims for over $6B of loans and $500M of Financial Services EBITDA in 2028, including Atome.</a:t>
            </a:r>
          </a:p>
          <a:p>
            <a:r>
              <a:t>Demand: Malaysia (Grab's largest market, 31% of revenue) - pay-later transactions +24% to 174M and value +22% to RM14.7B (~US$3.5B at ~4.2 ringgit per dollar) in H1 2026 vs H2 2025; 9.2M active accounts; RM6.6B outstanding; arrears 3.3% (4.0% for under-30s). A new Consumer Credit Act (licensing from June 2026) adds affordability checks: good for quality, may slow growth.</a:t>
            </a:r>
          </a:p>
          <a:p>
            <a:r>
              <a:t>Valuation link: our DCF adds Grab's net cash (~$1.23 a share) but does not yet include Atome's earnings; ~$0.36 a share of that cash is committed to Atome Phase 1. If Atome earns its cost of capital, the effect is roughly neutral.</a:t>
            </a:r>
          </a:p>
          <a:p>
            <a:r>
              <a:t>Chart: the loan book path - a year ago, today, today plus Atome, and the 2028 target.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Grab's revenue by country in 2025 (bubble size). Malaysia 31%, Singapore 22%, Indonesia 21%, Philippines 9%, Thailand 9%, Vietnam 8%.</a:t>
            </a:r>
          </a:p>
          <a:p>
            <a:r>
              <a:t>Right: the rules in each country today and what could come next.</a:t>
            </a:r>
          </a:p>
          <a:p>
            <a:r>
              <a:t>Two kinds of rule:</a:t>
            </a:r>
          </a:p>
          <a:p>
            <a:r>
              <a:t>- Fee caps limit how much of each fare the app keeps. Only Indonesia has one, and only for motorbike taxis (ojek/ojol), since July 2026.</a:t>
            </a:r>
          </a:p>
          <a:p>
            <a:r>
              <a:t>- Driver-welfare laws (Singapore, Malaysia) make apps pay into drivers' pensions and insurance. They raise costs gradually but do not cap fees.</a:t>
            </a:r>
          </a:p>
          <a:p>
            <a:r>
              <a:t>How we get ~1%: motorbike taxis are 6% of Grab's ride bookings; rides are 36% of revenue; Grab's cut falls from ~17.5% to 8% (-54%). 6% x 36% x 54% = ~1.2% of revenue, about $0.11 per share.</a:t>
            </a:r>
          </a:p>
          <a:p>
            <a:r>
              <a:t>Each country, in plain words (In Force = the rule today; Effect on Grab = what it does to Grab):</a:t>
            </a:r>
          </a:p>
          <a:p>
            <a:r>
              <a:t>- Malaysia (31% of revenue): the Gig Workers Act, passed Aug 2025, treats ride and delivery drivers as gig workers with legal protections: platforms must contribute to drivers' social security (accident and injury cover through SOCSO) and there is a formal process for disputes. Effect: a higher cost per driver for Grab, phased in as the Act takes effect. It does NOT cap what Grab charges. Grab does not disclose the cost; it raised guidance in Aug 2026 regardless.</a:t>
            </a:r>
          </a:p>
          <a:p>
            <a:r>
              <a:t>- Singapore (22%): the Platform Workers Act, in force Jan 2025, gives drivers and riders pension savings (CPF, mainly for younger workers) and work-injury cover. Platforms pay a CPF share that steps up every year (3.5% to 7% in Jan 2026) until it matches normal employer rates in 2029. Effect: a rising cost per ride; apps can pass part of it to fares. Not a fee cap.</a:t>
            </a:r>
          </a:p>
          <a:p>
            <a:r>
              <a:t>- Indonesia (21%): an 8% cap on what apps keep from motorbike-taxi fares, from 1 Jul 2026 (Grab used to keep ~15-20%). Effect: ~1.2% of group revenue, ~$0.11 a share. Cars: the Transport Minister said (Jun 2026) the cap does not yet apply to car rides; it needs talks with provincial governments and will be studied after the motorbike rollout; no date. The regulation (Perpres 27/2026, issued 8 Oct) covers motorbikes, cars and couriers in general terms, so extending it needs only ministry rules, not a new law. None proposed for food delivery.</a:t>
            </a:r>
          </a:p>
          <a:p>
            <a:r>
              <a:t>- Philippines (9%): no cap in law; some lawmakers floated a 15% cap on car rides. Grab voluntarily cut its car commission from 20-21% to 18% in Apr 2026. Effect: none from regulation; the voluntary cut is already in Grab's numbers.</a:t>
            </a:r>
          </a:p>
          <a:p>
            <a:r>
              <a:t>- Thailand (9%): the government has set ride fares since its 2021 rules; there is no rule on commissions. Effect: none on Grab's commission; fare limits apply to every app equally.</a:t>
            </a:r>
          </a:p>
          <a:p>
            <a:r>
              <a:t>- Vietnam (8%): the competition regulator asked apps and drivers for fee data (Sep 2026) and is reviewing fare structures and discounts (Oct 2026) after driver complaints. Effect: none yet; a ruling could limit Grab's fees or discounts.</a:t>
            </a:r>
          </a:p>
          <a:p>
            <a:r>
              <a:t>Bottom line: only Indonesia's cap directly cuts Grab's revenue (~1%). Malaysia and Singapore raise costs (driver benefits), not caps. The others do not affect Grab today.</a:t>
            </a:r>
          </a:p>
          <a:p>
            <a:r>
              <a:t>Market reaction (daily closes vs the S&amp;P 500, Refinitiv):</a:t>
            </a:r>
          </a:p>
          <a:p>
            <a:r>
              <a:t>- 13-15 Jan 2026, first reports of a lower cap (then ~10%): Grab -10% vs the market in 3 days ($4.89 to $4.39, -$0.50).</a:t>
            </a:r>
          </a:p>
          <a:p>
            <a:r>
              <a:t>- 1 May 2026, Prabowo announces the 8% cap: -3.9% that day, -5% over two days ($3.82 to $3.62, -$0.20, ~$800M of market value). Window stops before Q1 results on 5 May.</a:t>
            </a:r>
          </a:p>
          <a:p>
            <a:r>
              <a:t>- Our estimate of the rule's direct cost: ~$0.11 a share (~3% of the price). The market reacted to the risk of a wider cap, not just the rule as written.</a:t>
            </a:r>
          </a:p>
          <a:p>
            <a:r>
              <a:t>Most realistic next step: Indonesia adds car rides (discussed, no date): value $3.04, above today's $2.68. A cap on Indonesian food delivery has not been proposed (value $2.37, -12% vs the price).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strengths, weaknesses, opportunities and threats.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the slide shows: Grab next to 9 listed peers on valuation multiples. Each multiple = price (or enterprise value) divided by a profit measure. Lower = cheaper.</a:t>
            </a:r>
          </a:p>
          <a:p>
            <a:r>
              <a:t>- LTM = last 12 months (actual results). FY1 = analysts' forecast for the current fiscal year (2026 for Grab).</a:t>
            </a:r>
          </a:p>
          <a:p>
            <a:r>
              <a:t>- EV/EBITDA = enterprise value (market value + debt - cash) / EBITDA. P/E = share price / earnings per share. EV/Sales = enterprise value / revenue.</a:t>
            </a:r>
          </a:p>
          <a:p>
            <a:r>
              <a:t>- Sim. Weight: how similar each peer is to Grab on growth, margin, debt and size; the "Similarity-Weighted" row leans on the closest peers. The table shows the 8 most similar of 9 (Nu Holdings is the 9th).</a:t>
            </a:r>
          </a:p>
          <a:p>
            <a:r>
              <a:t>Key read: on 2026 forecast earnings Grab trades at 17.9x vs ~31x for peers (similarity-weighted 31.7x, median 30.8x), and at 10.0x EBITDA vs 14.8x, while holding ~$5B of net cash.</a:t>
            </a:r>
          </a:p>
          <a:p>
            <a:r>
              <a:t>Why we do not use comps for our target: peers' multiples and "adjusted" earnings ignore stock-based pay, which flatters Grab. Applying peer multiples gives ~$4.13 (right panel); our DCF, which counts stock pay as a cost, gives $3.62. So comps support the call but our target is the more conservative number.</a:t>
            </a:r>
          </a:p>
          <a:p>
            <a:r>
              <a:t>Odd numbers, if asked: Lyft's 2.4x P/E LTM is distorted by a one-off tax gain; Meituan's 188x P/E FY1 reflects depressed earnings during its food-delivery price war; GoTo's market cap and multiples look low in the data feed (possible currency/unit issue) - it has the smallest weight (8%), and the medians are barely affected.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our $3.62 is deliberately conservative. Peers' multiples and analysts' average target ($5.43) ignore stock-based pay; we deduct it.</a:t>
            </a:r>
          </a:p>
          <a:p>
            <a:r>
              <a:t>Football field: each bar is the range of values from one method. Grey line = today's price, blue line = our target.</a:t>
            </a:r>
          </a:p>
          <a:p>
            <a:r>
              <a:t>Our target uses a DCF (discounted cash flow): we forecast Grab's cash flows using analysts' (consensus) revenue and profit forecasts, and discount them back to today.</a:t>
            </a:r>
          </a:p>
          <a:p>
            <a:r>
              <a:t>Important: we subtract stock-based pay (shares given to staff, ~$280M a year) as a real cost. Analysts' "EBIT" leaves it out, which is why peer multiples and analysts' targets look higher.</a:t>
            </a:r>
          </a:p>
          <a:p>
            <a:r>
              <a:t>Table: what the base case needs. Revenue growth ~19% a year for 5 years (the price implies ~11%), and the margin after stock pay rising from ~1% to ~12%. Net cash adds $1.23 per share. Value today $3.39, rolled forward to May 2027 at the cost of equity = $3.62.</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cases, no probabilities:</a:t>
            </a:r>
          </a:p>
          <a:p>
            <a:r>
              <a:t>- Base ($3.39 today): analysts' forecasts.</a:t>
            </a:r>
          </a:p>
          <a:p>
            <a:r>
              <a:t>- Best ($4.60): analysts' highest forecasts.</a:t>
            </a:r>
          </a:p>
          <a:p>
            <a:r>
              <a:t>- Regulatory stress ($1.98): Indonesia AND Vietnam cap every ride and delivery fee at 8% from next year. No government has proposed this.</a:t>
            </a:r>
          </a:p>
          <a:p>
            <a:r>
              <a:t>- Combined downside ($1.86): growth only half of what analysts expect, margins only as good as peers', and the cap on all of Indonesia.</a:t>
            </a:r>
          </a:p>
          <a:p>
            <a:r>
              <a:t>Lower table: value if the cap spreads step by step, with its status. Today's rule (motorbike taxis) costs ~$0.11 a share. Adding cars (discussed, no date) gives $3.04, above today's $2.68. Adding food delivery (not proposed) gives $2.37 (-12% vs the price).</a:t>
            </a:r>
          </a:p>
          <a:p>
            <a:r>
              <a:t>How accurate is the -12%? It is an upper bound, not a forecast: it assumes the 8% cap also hits what restaurants pay Grab (today's rule only covers drivers' share of the fare), that Grab cannot raise any other fee, and that each country has the group's mix of rides and delivery. US cities show apps usually offset caps with customer fees. No probability is attached because no government has proposed it.</a:t>
            </a:r>
          </a:p>
          <a:p>
            <a:r>
              <a:t>Reverse DCF: the growth rate that makes the DCF equal today's price: ~11% a year vs analysts' ~19%.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Macro backdrop 2026 (for Q&amp;A):</a:t>
            </a:r>
          </a:p>
          <a:p>
            <a:r>
              <a:t>- Oil shock: after the US/Israel strikes on Iran (28 Feb 2026), Strait of Hormuz shipping was disrupted; Brent rose from ~$71 to over $112 by late March.</a:t>
            </a:r>
          </a:p>
          <a:p>
            <a:r>
              <a:t>- Fuel rationing: Indonesia capped subsidised petrol at 50 litres/day (Apr-May); Malaysia cut its petrol subsidy quota from 300 to 200 litres/month, restored in Sept; the Philippines declared a national energy emergency.</a:t>
            </a:r>
          </a:p>
          <a:p>
            <a:r>
              <a:t>- Driver protests: transport strikes in the Philippines, fuel protests in Vietnam (and the Sept app boycott over fees), protests against fuel rationing in Indonesia.</a:t>
            </a:r>
          </a:p>
          <a:p>
            <a:r>
              <a:t>- Grab's response (Q2): &gt;$7M of driver support (fuel discounts, cashback), incentives up to 10.9% of order value, cheaper Saver rides (1 in 4 new riders), EV partnerships (Wuling, BYD). Monthly active drivers hit a record (+19%) and Grab raised full-year guidance in August.</a:t>
            </a:r>
          </a:p>
          <a:p>
            <a:r>
              <a:t>Competition (moved off the slide): ShopeeFood overtook Foodpanda for No. 2 in 2025; Grab's share still rose to 55%.</a:t>
            </a:r>
          </a:p>
          <a:p>
            <a:r>
              <a:t>Foodpanda Taiwan (21 Oct 2026): Taiwan's competition regulator blocked Grab's $600M purchase because Uber (Uber Eats) owns ~13% of Grab. Small for the thesis: ~$60M of 2028 EBITDA (~4% of Grab's $1.7B target), not in our DCF, and Grab keeps the $600M of cash. It does show that Uber's stake can complicate deals outside Southeast Asia.</a:t>
            </a:r>
          </a:p>
          <a:p>
            <a:r>
              <a:t>Risks, honestly:</a:t>
            </a:r>
          </a:p>
          <a:p>
            <a:r>
              <a:t>- Fee caps spreading: today ~1% of revenue. Even with cars capped (discussed) our value is above the price; adding food delivery (not proposed) gives $2.37, -12% vs the price.</a:t>
            </a:r>
          </a:p>
          <a:p>
            <a:r>
              <a:t>- Take rate = the share of each order Grab keeps. It is falling (ride revenue +12% while ride value +18%). More rides help, but only if driver bonuses and discounts (now 10.9% of order value) stop rising.</a:t>
            </a:r>
          </a:p>
          <a:p>
            <a:r>
              <a:t>- Credit losses: lending is new and growing fast. Grab says bad-loan ratios are stable but gives no figures.</a:t>
            </a:r>
          </a:p>
          <a:p>
            <a:r>
              <a:t>- Oil shock and driver protests: fuel costs push up driver incentives; Grab still grew 22% and raised guidance, but a longer shock would weigh on Mobility margins.</a:t>
            </a:r>
          </a:p>
          <a:p>
            <a:r>
              <a:t>Catalysts: each one tests a part of the thesis.</a:t>
            </a:r>
          </a:p>
          <a:p>
            <a:r>
              <a:t>Q3 results: expected ~3 Nov 2026 (earnings calendars, projected from last year's 4 Nov; Grab has not confirmed the date; one calendar says 12 Nov). About a week after the pitch, so the stock can move sharply either way right after we buy. What to watch: Mobility margin with the 8% cap in force for a full quarter, incentives as % of GMV (10.9% in Q2), fintech loss (-$15M in Q2; breakeven guided for H2), loan quality, and whether full-year guidance ($4.10-4.15B revenue, $720-740M adj. EBITDA) holds. If results disappoint, the stop-loss limits our loss.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recommendation in one slide.</a:t>
            </a:r>
          </a:p>
          <a:p>
            <a:r>
              <a:t>Target $3.62 by 31 May 2027 (+35% from $2.68, 26 Oct intraday). Stop-loss $2.40 (-10%): if the share falls to $2.40 we sell.</a:t>
            </a:r>
          </a:p>
          <a:p>
            <a:r>
              <a:t>Reward : risk = (3.62 - 2.68) / (2.68 - 2.40) = 0.94 / 0.28 = 3.3 : 1 (3.4 with the rounded target; the slide uses the unrounded $3.615). The stop could go as low as ~$1.74 and still keep 1 : 1.</a:t>
            </a:r>
          </a:p>
          <a:p>
            <a:r>
              <a:t>Why $2.40: the stock hit a new 52-week low today ($2.68), so we set the stop from today's price. $2.40 leaves ~10% room, about one normal week of Grab's swings, for the Q3 results reaction (~3 Nov). It also sits just above our value if Indonesia also capped food delivery ($2.37), a step no government has proposed: below it, the market would be pricing something worse than that.</a:t>
            </a:r>
          </a:p>
          <a:p>
            <a:r>
              <a:t>Context: the -25% / -31% DCF cases assume fee caps no government has proposed. If the market starts to price them in, the stop limits our loss to -10%.</a:t>
            </a:r>
          </a:p>
          <a:p>
            <a:r>
              <a:t>Grey markers: other reference values, the DCF best case ($4.60) and the analysts' average target ($5.43). We do not use them as our target.</a:t>
            </a:r>
          </a:p>
          <a:p>
            <a:r>
              <a:t>Exit triggers: the specific events that would break the thesis, regardless of price.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Ownership (Grab FY2025 annual report, as of 31 Jan 2026):</a:t>
            </a:r>
          </a:p>
          <a:p>
            <a:r>
              <a:t>- Anthony Tan: 3.2% of the shares but 59.9% of the votes, because his Class B shares carried 45 votes each and other founders' and executives' Class B shares are voted by him (proxies).</a:t>
            </a:r>
          </a:p>
          <a:p>
            <a:r>
              <a:t>- In March 2026 shareholders approved doubling the vote per Class B share to 90 (85.9% of votes cast in favour). Grab said this keeps Tan in control as Singapore's bank regulator (MAS) requires Singaporean control of its digital bank. Grab's estimate: Tan's voting power ~69-75% after the change.</a:t>
            </a:r>
          </a:p>
          <a:p>
            <a:r>
              <a:t>- Uber 13.1% of shares (5.5% of votes); SoftBank (SB Investment Advisers) 9.8% (4.1%); Toyota 5.4% (2.3%). About 90% of Class A shares are held by the public and institutions.</a:t>
            </a:r>
          </a:p>
          <a:p>
            <a:r>
              <a:t>Why this matters: a founder-controlled company means a long-term owner, but minority shareholders have little say (governance risk, expect a question).</a:t>
            </a:r>
          </a:p>
          <a:p>
            <a:r>
              <a:t>Management:</a:t>
            </a:r>
          </a:p>
          <a:p>
            <a:r>
              <a:t>- Anthony Tan, co-founder, Chairman and CEO since 2012. Harvard MBA. In September 2026 he bought 10.35M shares for $29.9M (~$2.89 each) with his own money.</a:t>
            </a:r>
          </a:p>
          <a:p>
            <a:r>
              <a:t>- Alex Hungate, President and COO since January 2022: runs Mobility, Deliveries and Financial Services. Before: CEO of SATS (Singapore airport services, 2014-2021) and CEO of HSBC Singapore (2010-2013). He also bought $0.87M of shares.</a:t>
            </a:r>
          </a:p>
          <a:p>
            <a:r>
              <a:t>- Peter Oey, CFO since April 2020: before, CFO of LegalZoom (2014-2020) and 15 years at Activision Blizzard. CFO through the turn from losses to Grab's first full-year profit.</a:t>
            </a:r>
          </a:p>
          <a:p>
            <a:r>
              <a:t>Co-founder Tan Hooi Ling no longer holds a position at Grab.</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slide: it shows how Grab became the leader (it bought Uber's business), and whether management buys well. That matters now because Atome ($1.49B cash for 60%) is Grab's largest cash acquisition and is part of its $500M 2028 fintech EBITDA target.</a:t>
            </a:r>
          </a:p>
          <a:p>
            <a:r>
              <a:t>Scorecard (our judgement, evidence below): worked - Kudo, Uber SEA; working - Jaya Grocer, Superbank; failed - Bento; unclear - OVO; blocked - Foodpanda Taiwan; too early - Chope, Atome.</a:t>
            </a:r>
          </a:p>
          <a:p>
            <a:r>
              <a:t>Evidence:</a:t>
            </a:r>
          </a:p>
          <a:p>
            <a:r>
              <a:t>- Kudo: still operating as GrabKios, Grab's agent network that sells airtime, bill payments and e-commerce through small shops in Indonesia (20-F).</a:t>
            </a:r>
          </a:p>
          <a:p>
            <a:r>
              <a:t>- Uber SEA: removed Grab's main rival. Singapore's competition regulator (CCCS, Sep 2018) found Grab's share rose to ~80% and fares rose 10-15%; it fined Grab S$6.42M and Uber S$6.58M and ordered Grab to drop driver exclusivity. Commercially a clear win; regulators remember it (it is also why Uber's stake blocked Foodpanda Taiwan).</a:t>
            </a:r>
          </a:p>
          <a:p>
            <a:r>
              <a:t>- Bento: relaunched as GrabInvest (AutoInvest, Earn+); Grab shut it in Sep 2023 after a review found it not commercially viable. A small, clear failure.</a:t>
            </a:r>
          </a:p>
          <a:p>
            <a:r>
              <a:t>- OVO: still one of Grab's two wallets and part of Indonesian fintech (about 60% of Superbank customers have a Grab and/or OVO account), but Grab does not publish OVO's profit, so we cannot judge it.</a:t>
            </a:r>
          </a:p>
          <a:p>
            <a:r>
              <a:t>- Jaya Grocer: Grab called it EBITDA-accretive when it bought it; it still runs ~50 stores, added in-store advertising with Grab (2024) and is investing RM100M in a new warehouse (2025). Grab has also bought Everrise, another Malaysian supermarket chain.</a:t>
            </a:r>
          </a:p>
          <a:p>
            <a:r>
              <a:t>- Superbank: profitable since FY2025, listed in Dec 2025, more than 7M customers; Grab consolidated it in May 2026.</a:t>
            </a:r>
          </a:p>
          <a:p>
            <a:r>
              <a:t>- Chope (Jul 2024) and Atome (closing by Q3 2027): too early to judge.</a:t>
            </a:r>
          </a:p>
          <a:p>
            <a:r>
              <a:t>Deal list. Five of these nine deals built the financial-services arm; Grab's own payments wallet (GrabPay) and the GXS / GXBank digital banks (joint ventures with Singtel and partners) were built in-house.</a:t>
            </a:r>
          </a:p>
          <a:p>
            <a:r>
              <a:t>- Apr 2017 Kudo: Indonesian payments and agent network, reported $80-100M. Grab's first major acquisition.</a:t>
            </a:r>
          </a:p>
          <a:p>
            <a:r>
              <a:t>- Mar 2018 Uber Southeast Asia: Uber's rides and food business in the region, in exchange for 27.5% of Grab. Uber has not sold: the same 535.9M shares in the Mar 2024 and Jan 2026 filings. Its stake fell by dilution as Grab issued new shares (funding rounds 2018-21 to ~16.6%, the Dec 2021 SPAC listing to ~14.3%, then stock pay to 13.1%). Uber still owns 13.1% and has a non-compete in Southeast Asia while it holds Grab shares.</a:t>
            </a:r>
          </a:p>
          <a:p>
            <a:r>
              <a:t>- Feb 2020 Bento: Singapore robo-advisor, became GrabInvest.</a:t>
            </a:r>
          </a:p>
          <a:p>
            <a:r>
              <a:t>- Oct 2021 OVO: Grab took majority control of OVO, a leading Indonesian e-wallet.</a:t>
            </a:r>
          </a:p>
          <a:p>
            <a:r>
              <a:t>- Jan 2022 Jaya Grocer: majority of a Malaysian supermarket chain (groceries for GrabMart).</a:t>
            </a:r>
          </a:p>
          <a:p>
            <a:r>
              <a:t>- Jul 2024 Chope: restaurant reservations in Singapore, Indonesia and Thailand (terms not disclosed).</a:t>
            </a:r>
          </a:p>
          <a:p>
            <a:r>
              <a:t>- Mar 2026 Foodpanda Taiwan: $600M cash; Grab's first market outside Southeast Asia; ~$1.8B of orders in 2025, already profitable; Grab expected at least $60M of extra adjusted EBITDA by 2028.</a:t>
            </a:r>
          </a:p>
          <a:p>
            <a:r>
              <a:t>  BLOCKED 21 Oct 2026 by Taiwan's Fair Trade Commission: it judged the harm to competition larger than the benefits, mainly because Uber (owner of Uber Eats, the other big player in Taiwan) owns ~13% of Grab. Same regulator blocked Uber's own bid for Foodpanda Taiwan in 2024/25. Grab said it was disappointed and its Southeast Asian business is unaffected; it can reapply with changes. Delivery Hero mentioned a break fee arrangement (amount not disclosed). Morningstar called it "a minor dent". Grab's shares rose ~0.7% pre-market on the news.</a:t>
            </a:r>
          </a:p>
          <a:p>
            <a:r>
              <a:t>- May 2026 Superbank: Grab's stake rose above 50% (50.47%), so the Indonesian digital bank is now consolidated (Emtek group still the controlling shareholder under Indonesian rules).</a:t>
            </a:r>
          </a:p>
          <a:p>
            <a:r>
              <a:t>- Sep 2026 Atome: consumer lender (buy-now-pay-later); $1.49B cash for 60%, first close by Q3 2027; the rest ~2 years later.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Peer table: the companies we compare Grab with and their valuation multiples. Weights show how similar each is to Grab (growth, margin, debt, size).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each DCF input was chosen: history, a fitted trend line, and the value used. Grab was loss-making until recently, so its history says little; we rely on analysts' forecasts.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each DCF input was chosen: history, a fitted trend line, and the value used. Grab was loss-making until recently, so its history says little; we rely on analysts' forecasts.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the value changes if our assumptions are wrong.</a:t>
            </a:r>
          </a:p>
          <a:p>
            <a:r>
              <a:t>Left: discount rate (WACC) and long-run growth. Right: revenue growth and long-run margin after stock pay.</a:t>
            </a:r>
          </a:p>
          <a:p>
            <a:r>
              <a:t>Green = above today's price, red = below. The value depends far more on growth and margins than on interest rates.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base-case (consensus) DCF year by year: revenue, margin, cash flow and how it adds up to $3.39 per share. Net cash is added because Grab holds more cash than debt.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chart" Target="../charts/char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chart" Target="../charts/chart9.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chart" Target="../charts/chart16.xml"/><Relationship Id="rId4" Type="http://schemas.openxmlformats.org/officeDocument/2006/relationships/chart" Target="../charts/char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background"/>
          <p:cNvSpPr/>
          <p:nvPr/>
        </p:nvSpPr>
        <p:spPr>
          <a:xfrm>
            <a:off x="0" y="0"/>
            <a:ext cx="12191695" cy="68580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frame:logo-title" descr="nova_logo_large_white.png"/>
          <p:cNvPicPr>
            <a:picLocks noChangeAspect="1"/>
          </p:cNvPicPr>
          <p:nvPr/>
        </p:nvPicPr>
        <p:blipFill>
          <a:blip r:embed="rId3"/>
          <a:stretch>
            <a:fillRect/>
          </a:stretch>
        </p:blipFill>
        <p:spPr>
          <a:xfrm>
            <a:off x="219456" y="274320"/>
            <a:ext cx="2011680" cy="1005840"/>
          </a:xfrm>
          <a:prstGeom prst="rect">
            <a:avLst/>
          </a:prstGeom>
        </p:spPr>
      </p:pic>
      <p:sp>
        <p:nvSpPr>
          <p:cNvPr id="4" name="title:company"/>
          <p:cNvSpPr/>
          <p:nvPr/>
        </p:nvSpPr>
        <p:spPr>
          <a:xfrm>
            <a:off x="914400" y="1600200"/>
            <a:ext cx="10362895"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4400" b="1" i="0">
                <a:solidFill>
                  <a:srgbClr val="FFFFFF"/>
                </a:solidFill>
                <a:latin typeface="Book Antiqua"/>
              </a:rPr>
              <a:t>Grab Holdings</a:t>
            </a:r>
          </a:p>
          <a:p>
            <a:pPr algn="ctr">
              <a:buNone/>
            </a:pPr>
            <a:r>
              <a:rPr sz="3600" b="1" i="0">
                <a:solidFill>
                  <a:srgbClr val="FFFFFF"/>
                </a:solidFill>
                <a:latin typeface="Book Antiqua"/>
              </a:rPr>
              <a:t>(NASDAQ: GRAB)</a:t>
            </a:r>
          </a:p>
        </p:txBody>
      </p:sp>
      <p:sp>
        <p:nvSpPr>
          <p:cNvPr id="5" name="title:price"/>
          <p:cNvSpPr/>
          <p:nvPr/>
        </p:nvSpPr>
        <p:spPr>
          <a:xfrm>
            <a:off x="914400" y="3154680"/>
            <a:ext cx="10362895"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2600" b="0" i="0">
                <a:solidFill>
                  <a:srgbClr val="FFFFFF"/>
                </a:solidFill>
                <a:latin typeface="Book Antiqua"/>
              </a:rPr>
              <a:t>Stock Price: $2.68</a:t>
            </a:r>
          </a:p>
          <a:p>
            <a:pPr algn="ctr">
              <a:buNone/>
            </a:pPr>
            <a:r>
              <a:rPr sz="2600" b="0" i="0">
                <a:solidFill>
                  <a:srgbClr val="FFFFFF"/>
                </a:solidFill>
                <a:latin typeface="Book Antiqua"/>
              </a:rPr>
              <a:t>Price Target (May 2027): $3.62 (34.9% Upside)</a:t>
            </a:r>
          </a:p>
        </p:txBody>
      </p:sp>
      <p:sp>
        <p:nvSpPr>
          <p:cNvPr id="6" name="title:position"/>
          <p:cNvSpPr/>
          <p:nvPr/>
        </p:nvSpPr>
        <p:spPr>
          <a:xfrm>
            <a:off x="914400" y="4251960"/>
            <a:ext cx="10362895"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2800" b="0" i="0">
                <a:solidFill>
                  <a:srgbClr val="FFFFFF"/>
                </a:solidFill>
                <a:latin typeface="Book Antiqua"/>
              </a:rPr>
              <a:t>Long Equity</a:t>
            </a:r>
          </a:p>
        </p:txBody>
      </p:sp>
      <p:sp>
        <p:nvSpPr>
          <p:cNvPr id="7" name="title:style"/>
          <p:cNvSpPr/>
          <p:nvPr/>
        </p:nvSpPr>
        <p:spPr>
          <a:xfrm>
            <a:off x="914400" y="4800600"/>
            <a:ext cx="10362895"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800" b="0" i="0">
                <a:solidFill>
                  <a:srgbClr val="C5D9F0"/>
                </a:solidFill>
                <a:latin typeface="Book Antiqua"/>
              </a:rPr>
              <a:t>Style: GARP   |   Sector: Industrials / Mobility &amp; Delivery</a:t>
            </a:r>
          </a:p>
        </p:txBody>
      </p:sp>
      <p:sp>
        <p:nvSpPr>
          <p:cNvPr id="8" name="title:presenter"/>
          <p:cNvSpPr/>
          <p:nvPr/>
        </p:nvSpPr>
        <p:spPr>
          <a:xfrm>
            <a:off x="219456" y="5669280"/>
            <a:ext cx="640080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800" b="0" i="0">
                <a:solidFill>
                  <a:srgbClr val="FFFFFF"/>
                </a:solidFill>
                <a:latin typeface="Book Antiqua"/>
              </a:rPr>
              <a:t>Nova Students Portfolio  |  Quinten Goodman</a:t>
            </a:r>
          </a:p>
        </p:txBody>
      </p:sp>
      <p:sp>
        <p:nvSpPr>
          <p:cNvPr id="9" name="title:date"/>
          <p:cNvSpPr/>
          <p:nvPr/>
        </p:nvSpPr>
        <p:spPr>
          <a:xfrm>
            <a:off x="8314639" y="5669280"/>
            <a:ext cx="365760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800" b="0" i="0">
                <a:solidFill>
                  <a:srgbClr val="FFFFFF"/>
                </a:solidFill>
                <a:latin typeface="Book Antiqua"/>
              </a:rPr>
              <a:t>October 2026</a:t>
            </a:r>
          </a:p>
        </p:txBody>
      </p:sp>
      <p:cxnSp>
        <p:nvCxnSpPr>
          <p:cNvPr id="10" name="frame:rule-bottom"/>
          <p:cNvCxnSpPr/>
          <p:nvPr/>
        </p:nvCxnSpPr>
        <p:spPr>
          <a:xfrm>
            <a:off x="219456" y="6336792"/>
            <a:ext cx="11752783" cy="0"/>
          </a:xfrm>
          <a:prstGeom prst="line">
            <a:avLst/>
          </a:prstGeom>
          <a:ln w="44450" cmpd="dbl">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FFFFFF"/>
                </a:solidFill>
                <a:latin typeface="Book Antiqua"/>
              </a:rPr>
              <a:t>NSP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Agenda</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From the business to the trade - what Grab is, why the stock is cheap, and how we play it.</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2</a:t>
            </a:r>
          </a:p>
        </p:txBody>
      </p:sp>
      <p:sp>
        <p:nvSpPr>
          <p:cNvPr id="10" name="label:agenda-dot"/>
          <p:cNvSpPr/>
          <p:nvPr/>
        </p:nvSpPr>
        <p:spPr>
          <a:xfrm>
            <a:off x="493776" y="2093976"/>
            <a:ext cx="658368" cy="658368"/>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Book Antiqua"/>
              </a:rPr>
              <a:t>01</a:t>
            </a:r>
          </a:p>
        </p:txBody>
      </p:sp>
      <p:sp>
        <p:nvSpPr>
          <p:cNvPr id="11" name="body:agenda"/>
          <p:cNvSpPr/>
          <p:nvPr/>
        </p:nvSpPr>
        <p:spPr>
          <a:xfrm>
            <a:off x="1335024" y="1737360"/>
            <a:ext cx="4669383"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l">
              <a:buNone/>
            </a:pPr>
            <a:r>
              <a:rPr sz="1800" b="1" i="0">
                <a:solidFill>
                  <a:srgbClr val="376092"/>
                </a:solidFill>
                <a:latin typeface="Book Antiqua"/>
              </a:rPr>
              <a:t>COMPANY</a:t>
            </a:r>
          </a:p>
          <a:p>
            <a:pPr algn="l">
              <a:spcBef>
                <a:spcPts val="200"/>
              </a:spcBef>
              <a:buNone/>
            </a:pPr>
            <a:r>
              <a:rPr sz="1400" b="0" i="0">
                <a:solidFill>
                  <a:srgbClr val="898989"/>
                </a:solidFill>
                <a:latin typeface="Book Antiqua"/>
              </a:rPr>
              <a:t>What Grab does, where revenue comes from</a:t>
            </a:r>
          </a:p>
        </p:txBody>
      </p:sp>
      <p:sp>
        <p:nvSpPr>
          <p:cNvPr id="12" name="label:agenda-dot"/>
          <p:cNvSpPr/>
          <p:nvPr/>
        </p:nvSpPr>
        <p:spPr>
          <a:xfrm>
            <a:off x="493776" y="3465576"/>
            <a:ext cx="658368" cy="658368"/>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Book Antiqua"/>
              </a:rPr>
              <a:t>02</a:t>
            </a:r>
          </a:p>
        </p:txBody>
      </p:sp>
      <p:sp>
        <p:nvSpPr>
          <p:cNvPr id="13" name="body:agenda"/>
          <p:cNvSpPr/>
          <p:nvPr/>
        </p:nvSpPr>
        <p:spPr>
          <a:xfrm>
            <a:off x="1335024" y="3108960"/>
            <a:ext cx="4669383"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l">
              <a:buNone/>
            </a:pPr>
            <a:r>
              <a:rPr sz="1800" b="1" i="0">
                <a:solidFill>
                  <a:srgbClr val="376092"/>
                </a:solidFill>
                <a:latin typeface="Book Antiqua"/>
              </a:rPr>
              <a:t>MANAGEMENT &amp; M&amp;A</a:t>
            </a:r>
          </a:p>
          <a:p>
            <a:pPr algn="l">
              <a:spcBef>
                <a:spcPts val="200"/>
              </a:spcBef>
              <a:buNone/>
            </a:pPr>
            <a:r>
              <a:rPr sz="1400" b="0" i="0">
                <a:solidFill>
                  <a:srgbClr val="898989"/>
                </a:solidFill>
                <a:latin typeface="Book Antiqua"/>
              </a:rPr>
              <a:t>Who runs it, who owns it, how it was built</a:t>
            </a:r>
          </a:p>
        </p:txBody>
      </p:sp>
      <p:sp>
        <p:nvSpPr>
          <p:cNvPr id="14" name="label:agenda-dot"/>
          <p:cNvSpPr/>
          <p:nvPr/>
        </p:nvSpPr>
        <p:spPr>
          <a:xfrm>
            <a:off x="493776" y="4837176"/>
            <a:ext cx="658368" cy="658368"/>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Book Antiqua"/>
              </a:rPr>
              <a:t>03</a:t>
            </a:r>
          </a:p>
        </p:txBody>
      </p:sp>
      <p:sp>
        <p:nvSpPr>
          <p:cNvPr id="15" name="body:agenda"/>
          <p:cNvSpPr/>
          <p:nvPr/>
        </p:nvSpPr>
        <p:spPr>
          <a:xfrm>
            <a:off x="1335024" y="4480560"/>
            <a:ext cx="4669383"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l">
              <a:buNone/>
            </a:pPr>
            <a:r>
              <a:rPr sz="1800" b="1" i="0">
                <a:solidFill>
                  <a:srgbClr val="376092"/>
                </a:solidFill>
                <a:latin typeface="Book Antiqua"/>
              </a:rPr>
              <a:t>MARKET &amp; SITUATION</a:t>
            </a:r>
          </a:p>
          <a:p>
            <a:pPr algn="l">
              <a:spcBef>
                <a:spcPts val="200"/>
              </a:spcBef>
              <a:buNone/>
            </a:pPr>
            <a:r>
              <a:rPr sz="1400" b="0" i="0">
                <a:solidFill>
                  <a:srgbClr val="898989"/>
                </a:solidFill>
                <a:latin typeface="Book Antiqua"/>
              </a:rPr>
              <a:t>Southeast Asia's super-app market; why the stock is down</a:t>
            </a:r>
          </a:p>
        </p:txBody>
      </p:sp>
      <p:sp>
        <p:nvSpPr>
          <p:cNvPr id="16" name="label:agenda-dot"/>
          <p:cNvSpPr/>
          <p:nvPr/>
        </p:nvSpPr>
        <p:spPr>
          <a:xfrm>
            <a:off x="6370167" y="2093976"/>
            <a:ext cx="658368" cy="658368"/>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Book Antiqua"/>
              </a:rPr>
              <a:t>04</a:t>
            </a:r>
          </a:p>
        </p:txBody>
      </p:sp>
      <p:sp>
        <p:nvSpPr>
          <p:cNvPr id="17" name="body:agenda"/>
          <p:cNvSpPr/>
          <p:nvPr/>
        </p:nvSpPr>
        <p:spPr>
          <a:xfrm>
            <a:off x="7211415" y="1737360"/>
            <a:ext cx="4669383"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l">
              <a:buNone/>
            </a:pPr>
            <a:r>
              <a:rPr sz="1800" b="1" i="0">
                <a:solidFill>
                  <a:srgbClr val="376092"/>
                </a:solidFill>
                <a:latin typeface="Book Antiqua"/>
              </a:rPr>
              <a:t>INVESTMENT THESIS</a:t>
            </a:r>
          </a:p>
          <a:p>
            <a:pPr algn="l">
              <a:spcBef>
                <a:spcPts val="200"/>
              </a:spcBef>
              <a:buNone/>
            </a:pPr>
            <a:r>
              <a:rPr sz="1400" b="0" i="0">
                <a:solidFill>
                  <a:srgbClr val="898989"/>
                </a:solidFill>
                <a:latin typeface="Book Antiqua"/>
              </a:rPr>
              <a:t>Profit scale-up, fintech, contained regulation</a:t>
            </a:r>
          </a:p>
        </p:txBody>
      </p:sp>
      <p:sp>
        <p:nvSpPr>
          <p:cNvPr id="18" name="label:agenda-dot"/>
          <p:cNvSpPr/>
          <p:nvPr/>
        </p:nvSpPr>
        <p:spPr>
          <a:xfrm>
            <a:off x="6370167" y="3465576"/>
            <a:ext cx="658368" cy="658368"/>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Book Antiqua"/>
              </a:rPr>
              <a:t>05</a:t>
            </a:r>
          </a:p>
        </p:txBody>
      </p:sp>
      <p:sp>
        <p:nvSpPr>
          <p:cNvPr id="19" name="body:agenda"/>
          <p:cNvSpPr/>
          <p:nvPr/>
        </p:nvSpPr>
        <p:spPr>
          <a:xfrm>
            <a:off x="7211415" y="3108960"/>
            <a:ext cx="4669383"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l">
              <a:buNone/>
            </a:pPr>
            <a:r>
              <a:rPr sz="1800" b="1" i="0">
                <a:solidFill>
                  <a:srgbClr val="376092"/>
                </a:solidFill>
                <a:latin typeface="Book Antiqua"/>
              </a:rPr>
              <a:t>VALUATION</a:t>
            </a:r>
          </a:p>
          <a:p>
            <a:pPr algn="l">
              <a:spcBef>
                <a:spcPts val="200"/>
              </a:spcBef>
              <a:buNone/>
            </a:pPr>
            <a:r>
              <a:rPr sz="1400" b="0" i="0">
                <a:solidFill>
                  <a:srgbClr val="898989"/>
                </a:solidFill>
                <a:latin typeface="Book Antiqua"/>
              </a:rPr>
              <a:t>DCF with stock-based pay as a real cost</a:t>
            </a:r>
          </a:p>
        </p:txBody>
      </p:sp>
      <p:sp>
        <p:nvSpPr>
          <p:cNvPr id="20" name="label:agenda-dot"/>
          <p:cNvSpPr/>
          <p:nvPr/>
        </p:nvSpPr>
        <p:spPr>
          <a:xfrm>
            <a:off x="6370167" y="4837176"/>
            <a:ext cx="658368" cy="658368"/>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Book Antiqua"/>
              </a:rPr>
              <a:t>06</a:t>
            </a:r>
          </a:p>
        </p:txBody>
      </p:sp>
      <p:sp>
        <p:nvSpPr>
          <p:cNvPr id="21" name="body:agenda"/>
          <p:cNvSpPr/>
          <p:nvPr/>
        </p:nvSpPr>
        <p:spPr>
          <a:xfrm>
            <a:off x="7211415" y="4480560"/>
            <a:ext cx="4669383"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l">
              <a:buNone/>
            </a:pPr>
            <a:r>
              <a:rPr sz="1800" b="1" i="0">
                <a:solidFill>
                  <a:srgbClr val="376092"/>
                </a:solidFill>
                <a:latin typeface="Book Antiqua"/>
              </a:rPr>
              <a:t>RISKS &amp; RECOMMENDATION</a:t>
            </a:r>
          </a:p>
          <a:p>
            <a:pPr algn="l">
              <a:spcBef>
                <a:spcPts val="200"/>
              </a:spcBef>
              <a:buNone/>
            </a:pPr>
            <a:r>
              <a:rPr sz="1400" b="0" i="0">
                <a:solidFill>
                  <a:srgbClr val="898989"/>
                </a:solidFill>
                <a:latin typeface="Book Antiqua"/>
              </a:rPr>
              <a:t>What could go wrong; target and stop-loss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Company &amp; Industry Overview</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Grab is Southeast Asia's everyday app: rides, food delivery and payments in one app, in 8 countries.</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3</a:t>
            </a:r>
          </a:p>
        </p:txBody>
      </p:sp>
      <p:sp>
        <p:nvSpPr>
          <p:cNvPr id="10" name="section:Business Overview"/>
          <p:cNvSpPr/>
          <p:nvPr/>
        </p:nvSpPr>
        <p:spPr>
          <a:xfrm>
            <a:off x="219456" y="1362456"/>
            <a:ext cx="587639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Business Overview</a:t>
            </a:r>
          </a:p>
        </p:txBody>
      </p:sp>
      <p:sp>
        <p:nvSpPr>
          <p:cNvPr id="11" name="body:Business Overview"/>
          <p:cNvSpPr/>
          <p:nvPr/>
        </p:nvSpPr>
        <p:spPr>
          <a:xfrm>
            <a:off x="219456" y="1709928"/>
            <a:ext cx="5876391" cy="20345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500" b="1" i="0">
                <a:solidFill>
                  <a:srgbClr val="000000"/>
                </a:solidFill>
                <a:latin typeface="Book Antiqua"/>
              </a:rPr>
              <a:t>Founded 2012</a:t>
            </a:r>
            <a:r>
              <a:rPr sz="1500" b="0" i="0">
                <a:solidFill>
                  <a:srgbClr val="000000"/>
                </a:solidFill>
                <a:latin typeface="Book Antiqua"/>
              </a:rPr>
              <a:t> in Malaysia; HQ Singapore; on Nasdaq since Dec 2021</a:t>
            </a:r>
          </a:p>
          <a:p>
            <a:pPr marL="177800" indent="-177800" algn="l">
              <a:spcBef>
                <a:spcPts val="600"/>
              </a:spcBef>
              <a:buFont typeface="Arial"/>
              <a:buChar char="•"/>
            </a:pPr>
            <a:r>
              <a:rPr sz="1500" b="1" i="0">
                <a:solidFill>
                  <a:srgbClr val="000000"/>
                </a:solidFill>
                <a:latin typeface="Book Antiqua"/>
              </a:rPr>
              <a:t>One app, three businesses:</a:t>
            </a:r>
            <a:r>
              <a:rPr sz="1500" b="0" i="0">
                <a:solidFill>
                  <a:srgbClr val="000000"/>
                </a:solidFill>
                <a:latin typeface="Book Antiqua"/>
              </a:rPr>
              <a:t> deliveries, rides and financial services in 8 countries</a:t>
            </a:r>
          </a:p>
          <a:p>
            <a:pPr marL="177800" indent="-177800" algn="l">
              <a:spcBef>
                <a:spcPts val="600"/>
              </a:spcBef>
              <a:buFont typeface="Arial"/>
              <a:buChar char="•"/>
            </a:pPr>
            <a:r>
              <a:rPr sz="1500" b="1" i="0">
                <a:solidFill>
                  <a:srgbClr val="000000"/>
                </a:solidFill>
                <a:latin typeface="Book Antiqua"/>
              </a:rPr>
              <a:t>Scale:</a:t>
            </a:r>
            <a:r>
              <a:rPr sz="1500" b="0" i="0">
                <a:solidFill>
                  <a:srgbClr val="000000"/>
                </a:solidFill>
                <a:latin typeface="Book Antiqua"/>
              </a:rPr>
              <a:t> 53.9M monthly users in Q2 2026, +17% vs Q2 2025</a:t>
            </a:r>
          </a:p>
          <a:p>
            <a:pPr marL="177800" indent="-177800" algn="l">
              <a:spcBef>
                <a:spcPts val="600"/>
              </a:spcBef>
              <a:buFont typeface="Arial"/>
              <a:buChar char="•"/>
            </a:pPr>
            <a:r>
              <a:rPr sz="1500" b="1" i="0">
                <a:solidFill>
                  <a:srgbClr val="000000"/>
                </a:solidFill>
                <a:latin typeface="Book Antiqua"/>
              </a:rPr>
              <a:t>Now profitable:</a:t>
            </a:r>
            <a:r>
              <a:rPr sz="1500" b="0" i="0">
                <a:solidFill>
                  <a:srgbClr val="000000"/>
                </a:solidFill>
                <a:latin typeface="Book Antiqua"/>
              </a:rPr>
              <a:t> first full-year net profit in FY2025</a:t>
            </a:r>
          </a:p>
        </p:txBody>
      </p:sp>
      <p:sp>
        <p:nvSpPr>
          <p:cNvPr id="12" name="section:Industry Overview"/>
          <p:cNvSpPr/>
          <p:nvPr/>
        </p:nvSpPr>
        <p:spPr>
          <a:xfrm>
            <a:off x="219456" y="3845052"/>
            <a:ext cx="587639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Industry Overview</a:t>
            </a:r>
          </a:p>
        </p:txBody>
      </p:sp>
      <p:sp>
        <p:nvSpPr>
          <p:cNvPr id="13" name="body:Industry Overview"/>
          <p:cNvSpPr/>
          <p:nvPr/>
        </p:nvSpPr>
        <p:spPr>
          <a:xfrm>
            <a:off x="219456" y="4192524"/>
            <a:ext cx="5876391" cy="20345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500" b="1" i="0">
                <a:solidFill>
                  <a:srgbClr val="000000"/>
                </a:solidFill>
                <a:latin typeface="Book Antiqua"/>
              </a:rPr>
              <a:t>Delivery rivals:</a:t>
            </a:r>
            <a:r>
              <a:rPr sz="1500" b="0" i="0">
                <a:solidFill>
                  <a:srgbClr val="000000"/>
                </a:solidFill>
                <a:latin typeface="Book Antiqua"/>
              </a:rPr>
              <a:t> ShopeeFood, Foodpanda, Gojek (Indonesia), Line Man (Thailand)</a:t>
            </a:r>
          </a:p>
          <a:p>
            <a:pPr marL="177800" indent="-177800" algn="l">
              <a:spcBef>
                <a:spcPts val="600"/>
              </a:spcBef>
              <a:buFont typeface="Arial"/>
              <a:buChar char="•"/>
            </a:pPr>
            <a:r>
              <a:rPr sz="1500" b="1" i="0">
                <a:solidFill>
                  <a:srgbClr val="000000"/>
                </a:solidFill>
                <a:latin typeface="Book Antiqua"/>
              </a:rPr>
              <a:t>Payment rivals:</a:t>
            </a:r>
            <a:r>
              <a:rPr sz="1500" b="0" i="0">
                <a:solidFill>
                  <a:srgbClr val="000000"/>
                </a:solidFill>
                <a:latin typeface="Book Antiqua"/>
              </a:rPr>
              <a:t> ShopeePay, GoPay and Dana (Indonesia), Touch 'n Go (Malaysia)</a:t>
            </a:r>
          </a:p>
          <a:p>
            <a:pPr marL="177800" indent="-177800" algn="l">
              <a:spcBef>
                <a:spcPts val="600"/>
              </a:spcBef>
              <a:buFont typeface="Arial"/>
              <a:buChar char="•"/>
            </a:pPr>
            <a:r>
              <a:rPr sz="1500" b="1" i="0">
                <a:solidFill>
                  <a:srgbClr val="000000"/>
                </a:solidFill>
                <a:latin typeface="Book Antiqua"/>
              </a:rPr>
              <a:t>Regulation:</a:t>
            </a:r>
            <a:r>
              <a:rPr sz="1500" b="0" i="0">
                <a:solidFill>
                  <a:srgbClr val="000000"/>
                </a:solidFill>
                <a:latin typeface="Book Antiqua"/>
              </a:rPr>
              <a:t> Indonesia caps ride fees; Singapore and Malaysia mandate driver benefits</a:t>
            </a:r>
          </a:p>
        </p:txBody>
      </p:sp>
      <p:sp>
        <p:nvSpPr>
          <p:cNvPr id="14" name="section:Revenue &amp; EBITDA (USD MM)"/>
          <p:cNvSpPr/>
          <p:nvPr/>
        </p:nvSpPr>
        <p:spPr>
          <a:xfrm>
            <a:off x="6324447" y="1362456"/>
            <a:ext cx="564779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Revenue &amp; EBITDA (USD MM)</a:t>
            </a:r>
          </a:p>
        </p:txBody>
      </p:sp>
      <p:graphicFrame>
        <p:nvGraphicFramePr>
          <p:cNvPr id="15" name="chart:overview"/>
          <p:cNvGraphicFramePr>
            <a:graphicFrameLocks noGrp="1"/>
          </p:cNvGraphicFramePr>
          <p:nvPr/>
        </p:nvGraphicFramePr>
        <p:xfrm>
          <a:off x="6324447" y="1709928"/>
          <a:ext cx="3840498" cy="2034539"/>
        </p:xfrm>
        <a:graphic>
          <a:graphicData uri="http://schemas.openxmlformats.org/drawingml/2006/chart">
            <c:chart xmlns:c="http://schemas.openxmlformats.org/drawingml/2006/chart" xmlns:r="http://schemas.openxmlformats.org/officeDocument/2006/relationships" r:id="rId4"/>
          </a:graphicData>
        </a:graphic>
      </p:graphicFrame>
      <p:sp>
        <p:nvSpPr>
          <p:cNvPr id="16" name="callout:overview"/>
          <p:cNvSpPr/>
          <p:nvPr/>
        </p:nvSpPr>
        <p:spPr>
          <a:xfrm>
            <a:off x="10256385" y="1783080"/>
            <a:ext cx="1715853" cy="1924811"/>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ctr">
              <a:buNone/>
            </a:pPr>
            <a:r>
              <a:rPr sz="1300" b="0" i="0">
                <a:solidFill>
                  <a:srgbClr val="000000"/>
                </a:solidFill>
                <a:latin typeface="Book Antiqua"/>
              </a:rPr>
              <a:t>Uber sold its Southeast Asian business to Grab in 2018 and still owns 13%; it cannot compete in the region while it holds Grab shares.</a:t>
            </a:r>
          </a:p>
        </p:txBody>
      </p:sp>
      <p:sp>
        <p:nvSpPr>
          <p:cNvPr id="17" name="section:Key Statistics"/>
          <p:cNvSpPr/>
          <p:nvPr/>
        </p:nvSpPr>
        <p:spPr>
          <a:xfrm>
            <a:off x="6324447" y="3845052"/>
            <a:ext cx="564779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Key Statistics</a:t>
            </a:r>
          </a:p>
        </p:txBody>
      </p:sp>
      <p:sp>
        <p:nvSpPr>
          <p:cNvPr id="18" name="body:stat-label"/>
          <p:cNvSpPr/>
          <p:nvPr/>
        </p:nvSpPr>
        <p:spPr>
          <a:xfrm>
            <a:off x="6379311" y="4210812"/>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Share Price</a:t>
            </a:r>
          </a:p>
        </p:txBody>
      </p:sp>
      <p:sp>
        <p:nvSpPr>
          <p:cNvPr id="19" name="body:stat-value"/>
          <p:cNvSpPr/>
          <p:nvPr/>
        </p:nvSpPr>
        <p:spPr>
          <a:xfrm>
            <a:off x="9148343" y="4210812"/>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$2.68</a:t>
            </a:r>
          </a:p>
        </p:txBody>
      </p:sp>
      <p:cxnSp>
        <p:nvCxnSpPr>
          <p:cNvPr id="20" name="frame:stat-rule"/>
          <p:cNvCxnSpPr/>
          <p:nvPr/>
        </p:nvCxnSpPr>
        <p:spPr>
          <a:xfrm>
            <a:off x="6379311" y="4498848"/>
            <a:ext cx="5538064"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body:stat-label"/>
          <p:cNvSpPr/>
          <p:nvPr/>
        </p:nvSpPr>
        <p:spPr>
          <a:xfrm>
            <a:off x="6379311" y="4498848"/>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Market Capitalization</a:t>
            </a:r>
          </a:p>
        </p:txBody>
      </p:sp>
      <p:sp>
        <p:nvSpPr>
          <p:cNvPr id="22" name="body:stat-value"/>
          <p:cNvSpPr/>
          <p:nvPr/>
        </p:nvSpPr>
        <p:spPr>
          <a:xfrm>
            <a:off x="9148343" y="4498848"/>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$11.0bn</a:t>
            </a:r>
          </a:p>
        </p:txBody>
      </p:sp>
      <p:cxnSp>
        <p:nvCxnSpPr>
          <p:cNvPr id="23" name="frame:stat-rule"/>
          <p:cNvCxnSpPr/>
          <p:nvPr/>
        </p:nvCxnSpPr>
        <p:spPr>
          <a:xfrm>
            <a:off x="6379311" y="4786883"/>
            <a:ext cx="5538064"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body:stat-label"/>
          <p:cNvSpPr/>
          <p:nvPr/>
        </p:nvSpPr>
        <p:spPr>
          <a:xfrm>
            <a:off x="6379311" y="4786883"/>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52-Week Range</a:t>
            </a:r>
          </a:p>
        </p:txBody>
      </p:sp>
      <p:sp>
        <p:nvSpPr>
          <p:cNvPr id="25" name="body:stat-value"/>
          <p:cNvSpPr/>
          <p:nvPr/>
        </p:nvSpPr>
        <p:spPr>
          <a:xfrm>
            <a:off x="9148343" y="4786883"/>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$2.68 – $6.24</a:t>
            </a:r>
          </a:p>
        </p:txBody>
      </p:sp>
      <p:cxnSp>
        <p:nvCxnSpPr>
          <p:cNvPr id="26" name="frame:stat-rule"/>
          <p:cNvCxnSpPr/>
          <p:nvPr/>
        </p:nvCxnSpPr>
        <p:spPr>
          <a:xfrm>
            <a:off x="6379311" y="5074919"/>
            <a:ext cx="5538064"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body:stat-label"/>
          <p:cNvSpPr/>
          <p:nvPr/>
        </p:nvSpPr>
        <p:spPr>
          <a:xfrm>
            <a:off x="6379311" y="5074919"/>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Enterprise Value</a:t>
            </a:r>
          </a:p>
        </p:txBody>
      </p:sp>
      <p:sp>
        <p:nvSpPr>
          <p:cNvPr id="28" name="body:stat-value"/>
          <p:cNvSpPr/>
          <p:nvPr/>
        </p:nvSpPr>
        <p:spPr>
          <a:xfrm>
            <a:off x="9148343" y="5074919"/>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$7.3bn</a:t>
            </a:r>
          </a:p>
        </p:txBody>
      </p:sp>
      <p:cxnSp>
        <p:nvCxnSpPr>
          <p:cNvPr id="29" name="frame:stat-rule"/>
          <p:cNvCxnSpPr/>
          <p:nvPr/>
        </p:nvCxnSpPr>
        <p:spPr>
          <a:xfrm>
            <a:off x="6379311" y="5362955"/>
            <a:ext cx="5538064"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body:stat-label"/>
          <p:cNvSpPr/>
          <p:nvPr/>
        </p:nvSpPr>
        <p:spPr>
          <a:xfrm>
            <a:off x="6379311" y="5362955"/>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EV/EBITDA (LTM)</a:t>
            </a:r>
          </a:p>
        </p:txBody>
      </p:sp>
      <p:sp>
        <p:nvSpPr>
          <p:cNvPr id="31" name="body:stat-value"/>
          <p:cNvSpPr/>
          <p:nvPr/>
        </p:nvSpPr>
        <p:spPr>
          <a:xfrm>
            <a:off x="9148343" y="5362955"/>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12.1x</a:t>
            </a:r>
          </a:p>
        </p:txBody>
      </p:sp>
      <p:cxnSp>
        <p:nvCxnSpPr>
          <p:cNvPr id="32" name="frame:stat-rule"/>
          <p:cNvCxnSpPr/>
          <p:nvPr/>
        </p:nvCxnSpPr>
        <p:spPr>
          <a:xfrm>
            <a:off x="6379311" y="5650992"/>
            <a:ext cx="5538064"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3" name="body:stat-label"/>
          <p:cNvSpPr/>
          <p:nvPr/>
        </p:nvSpPr>
        <p:spPr>
          <a:xfrm>
            <a:off x="6379311" y="5650992"/>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Dividend Yield</a:t>
            </a:r>
          </a:p>
        </p:txBody>
      </p:sp>
      <p:sp>
        <p:nvSpPr>
          <p:cNvPr id="34" name="body:stat-value"/>
          <p:cNvSpPr/>
          <p:nvPr/>
        </p:nvSpPr>
        <p:spPr>
          <a:xfrm>
            <a:off x="9148343" y="5650992"/>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n/a</a:t>
            </a:r>
          </a:p>
        </p:txBody>
      </p:sp>
      <p:cxnSp>
        <p:nvCxnSpPr>
          <p:cNvPr id="35" name="frame:stat-rule"/>
          <p:cNvCxnSpPr/>
          <p:nvPr/>
        </p:nvCxnSpPr>
        <p:spPr>
          <a:xfrm>
            <a:off x="6379311" y="5939027"/>
            <a:ext cx="5538064"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6" name="body:stat-label"/>
          <p:cNvSpPr/>
          <p:nvPr/>
        </p:nvSpPr>
        <p:spPr>
          <a:xfrm>
            <a:off x="6379311" y="5939027"/>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Beta</a:t>
            </a:r>
          </a:p>
        </p:txBody>
      </p:sp>
      <p:sp>
        <p:nvSpPr>
          <p:cNvPr id="37" name="body:stat-value"/>
          <p:cNvSpPr/>
          <p:nvPr/>
        </p:nvSpPr>
        <p:spPr>
          <a:xfrm>
            <a:off x="9148343" y="5939027"/>
            <a:ext cx="2769031" cy="2880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0.81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Products &amp; Revenue Sources (Q2 2026)</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In Q2 2026, rides and delivery brought in 86% of revenue; fintech is the smallest but grew fastest (+59% vs Q2 2025).</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4</a:t>
            </a:r>
          </a:p>
        </p:txBody>
      </p:sp>
      <p:sp>
        <p:nvSpPr>
          <p:cNvPr id="10" name="section:Deliveries"/>
          <p:cNvSpPr/>
          <p:nvPr/>
        </p:nvSpPr>
        <p:spPr>
          <a:xfrm>
            <a:off x="219456" y="1362456"/>
            <a:ext cx="37956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Deliveries</a:t>
            </a:r>
          </a:p>
        </p:txBody>
      </p:sp>
      <p:sp>
        <p:nvSpPr>
          <p:cNvPr id="11" name="panel:segment-stat"/>
          <p:cNvSpPr/>
          <p:nvPr/>
        </p:nvSpPr>
        <p:spPr>
          <a:xfrm>
            <a:off x="219456" y="1673352"/>
            <a:ext cx="3795674" cy="8686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noAutofit/>
          </a:bodyPr>
          <a:lstStyle/>
          <a:p>
            <a:pPr algn="ctr">
              <a:buNone/>
            </a:pPr>
            <a:r>
              <a:rPr sz="2600" b="1" i="0">
                <a:solidFill>
                  <a:srgbClr val="376092"/>
                </a:solidFill>
                <a:latin typeface="Book Antiqua"/>
              </a:rPr>
              <a:t>$531M</a:t>
            </a:r>
          </a:p>
          <a:p>
            <a:pPr algn="ctr">
              <a:buNone/>
            </a:pPr>
            <a:r>
              <a:rPr sz="1400" b="0" i="0">
                <a:solidFill>
                  <a:srgbClr val="000000"/>
                </a:solidFill>
                <a:latin typeface="Book Antiqua"/>
              </a:rPr>
              <a:t>53% of Q2 2026 revenue  |  +21% vs Q2 2025</a:t>
            </a:r>
          </a:p>
        </p:txBody>
      </p:sp>
      <p:sp>
        <p:nvSpPr>
          <p:cNvPr id="12" name="body:segment-products"/>
          <p:cNvSpPr/>
          <p:nvPr/>
        </p:nvSpPr>
        <p:spPr>
          <a:xfrm>
            <a:off x="219456" y="2596896"/>
            <a:ext cx="3795674" cy="17739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300" b="1" i="0">
                <a:solidFill>
                  <a:srgbClr val="000000"/>
                </a:solidFill>
                <a:latin typeface="Book Antiqua"/>
              </a:rPr>
              <a:t>GrabFood:</a:t>
            </a:r>
            <a:r>
              <a:rPr sz="1300" b="0" i="0">
                <a:solidFill>
                  <a:srgbClr val="000000"/>
                </a:solidFill>
                <a:latin typeface="Book Antiqua"/>
              </a:rPr>
              <a:t> restaurant delivery; 55% of the region's food delivery</a:t>
            </a:r>
          </a:p>
          <a:p>
            <a:pPr marL="177800" indent="-177800" algn="l">
              <a:spcBef>
                <a:spcPts val="486"/>
              </a:spcBef>
              <a:buFont typeface="Arial"/>
              <a:buChar char="•"/>
            </a:pPr>
            <a:r>
              <a:rPr sz="1300" b="1" i="0">
                <a:solidFill>
                  <a:srgbClr val="000000"/>
                </a:solidFill>
                <a:latin typeface="Book Antiqua"/>
              </a:rPr>
              <a:t>GrabMart:</a:t>
            </a:r>
            <a:r>
              <a:rPr sz="1300" b="0" i="0">
                <a:solidFill>
                  <a:srgbClr val="000000"/>
                </a:solidFill>
                <a:latin typeface="Book Antiqua"/>
              </a:rPr>
              <a:t> groceries; grew 1.7x faster than food in Q2 2026</a:t>
            </a:r>
          </a:p>
          <a:p>
            <a:pPr marL="177800" indent="-177800" algn="l">
              <a:spcBef>
                <a:spcPts val="486"/>
              </a:spcBef>
              <a:buFont typeface="Arial"/>
              <a:buChar char="•"/>
            </a:pPr>
            <a:r>
              <a:rPr sz="1300" b="1" i="0">
                <a:solidFill>
                  <a:srgbClr val="000000"/>
                </a:solidFill>
                <a:latin typeface="Book Antiqua"/>
              </a:rPr>
              <a:t>GrabExpress:</a:t>
            </a:r>
            <a:r>
              <a:rPr sz="1300" b="0" i="0">
                <a:solidFill>
                  <a:srgbClr val="000000"/>
                </a:solidFill>
                <a:latin typeface="Book Antiqua"/>
              </a:rPr>
              <a:t> parcel and courier delivery</a:t>
            </a:r>
          </a:p>
          <a:p>
            <a:pPr marL="177800" indent="-177800" algn="l">
              <a:spcBef>
                <a:spcPts val="486"/>
              </a:spcBef>
              <a:buFont typeface="Arial"/>
              <a:buChar char="•"/>
            </a:pPr>
            <a:r>
              <a:rPr sz="1300" b="1" i="0">
                <a:solidFill>
                  <a:srgbClr val="000000"/>
                </a:solidFill>
                <a:latin typeface="Book Antiqua"/>
              </a:rPr>
              <a:t>Advertising:</a:t>
            </a:r>
            <a:r>
              <a:rPr sz="1300" b="0" i="0">
                <a:solidFill>
                  <a:srgbClr val="000000"/>
                </a:solidFill>
                <a:latin typeface="Book Antiqua"/>
              </a:rPr>
              <a:t> restaurants and brands pay to be seen in the app</a:t>
            </a:r>
          </a:p>
        </p:txBody>
      </p:sp>
      <p:sp>
        <p:nvSpPr>
          <p:cNvPr id="13" name="panel:segment-earns"/>
          <p:cNvSpPr/>
          <p:nvPr/>
        </p:nvSpPr>
        <p:spPr>
          <a:xfrm>
            <a:off x="219456" y="4425696"/>
            <a:ext cx="3795674" cy="9144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t">
            <a:noAutofit/>
          </a:bodyPr>
          <a:lstStyle/>
          <a:p>
            <a:pPr algn="l">
              <a:buNone/>
            </a:pPr>
            <a:r>
              <a:rPr sz="1400" b="1" i="0">
                <a:solidFill>
                  <a:srgbClr val="376092"/>
                </a:solidFill>
                <a:latin typeface="Book Antiqua"/>
              </a:rPr>
              <a:t>How it earns</a:t>
            </a:r>
          </a:p>
          <a:p>
            <a:pPr algn="l">
              <a:spcBef>
                <a:spcPts val="200"/>
              </a:spcBef>
              <a:buNone/>
            </a:pPr>
            <a:r>
              <a:rPr sz="1400" b="0" i="0">
                <a:solidFill>
                  <a:srgbClr val="000000"/>
                </a:solidFill>
                <a:latin typeface="Book Antiqua"/>
              </a:rPr>
              <a:t>Commission from merchants, delivery and platform fees from users, and advertising.</a:t>
            </a:r>
          </a:p>
        </p:txBody>
      </p:sp>
      <p:sp>
        <p:nvSpPr>
          <p:cNvPr id="14" name="section:Mobility"/>
          <p:cNvSpPr/>
          <p:nvPr/>
        </p:nvSpPr>
        <p:spPr>
          <a:xfrm>
            <a:off x="4198010" y="1362456"/>
            <a:ext cx="37956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Mobility</a:t>
            </a:r>
          </a:p>
        </p:txBody>
      </p:sp>
      <p:sp>
        <p:nvSpPr>
          <p:cNvPr id="15" name="panel:segment-stat"/>
          <p:cNvSpPr/>
          <p:nvPr/>
        </p:nvSpPr>
        <p:spPr>
          <a:xfrm>
            <a:off x="4198010" y="1673352"/>
            <a:ext cx="3795674" cy="8686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noAutofit/>
          </a:bodyPr>
          <a:lstStyle/>
          <a:p>
            <a:pPr algn="ctr">
              <a:buNone/>
            </a:pPr>
            <a:r>
              <a:rPr sz="2600" b="1" i="0">
                <a:solidFill>
                  <a:srgbClr val="376092"/>
                </a:solidFill>
                <a:latin typeface="Book Antiqua"/>
              </a:rPr>
              <a:t>$331M</a:t>
            </a:r>
          </a:p>
          <a:p>
            <a:pPr algn="ctr">
              <a:buNone/>
            </a:pPr>
            <a:r>
              <a:rPr sz="1400" b="0" i="0">
                <a:solidFill>
                  <a:srgbClr val="000000"/>
                </a:solidFill>
                <a:latin typeface="Book Antiqua"/>
              </a:rPr>
              <a:t>33% of Q2 2026 revenue  |  +12% vs Q2 2025</a:t>
            </a:r>
          </a:p>
        </p:txBody>
      </p:sp>
      <p:sp>
        <p:nvSpPr>
          <p:cNvPr id="16" name="body:segment-products"/>
          <p:cNvSpPr/>
          <p:nvPr/>
        </p:nvSpPr>
        <p:spPr>
          <a:xfrm>
            <a:off x="4198010" y="2596896"/>
            <a:ext cx="3795674" cy="17739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400" b="1" i="0">
                <a:solidFill>
                  <a:srgbClr val="000000"/>
                </a:solidFill>
                <a:latin typeface="Book Antiqua"/>
              </a:rPr>
              <a:t>GrabCar:</a:t>
            </a:r>
            <a:r>
              <a:rPr sz="1400" b="0" i="0">
                <a:solidFill>
                  <a:srgbClr val="000000"/>
                </a:solidFill>
                <a:latin typeface="Book Antiqua"/>
              </a:rPr>
              <a:t> private cars and taxis</a:t>
            </a:r>
          </a:p>
          <a:p>
            <a:pPr marL="177800" indent="-177800" algn="l">
              <a:spcBef>
                <a:spcPts val="600"/>
              </a:spcBef>
              <a:buFont typeface="Arial"/>
              <a:buChar char="•"/>
            </a:pPr>
            <a:r>
              <a:rPr sz="1400" b="1" i="0">
                <a:solidFill>
                  <a:srgbClr val="000000"/>
                </a:solidFill>
                <a:latin typeface="Book Antiqua"/>
              </a:rPr>
              <a:t>GrabBike:</a:t>
            </a:r>
            <a:r>
              <a:rPr sz="1400" b="0" i="0">
                <a:solidFill>
                  <a:srgbClr val="000000"/>
                </a:solidFill>
                <a:latin typeface="Book Antiqua"/>
              </a:rPr>
              <a:t> motorbike taxis (Indonesia's 8% cap applies)</a:t>
            </a:r>
          </a:p>
          <a:p>
            <a:pPr marL="177800" indent="-177800" algn="l">
              <a:spcBef>
                <a:spcPts val="600"/>
              </a:spcBef>
              <a:buFont typeface="Arial"/>
              <a:buChar char="•"/>
            </a:pPr>
            <a:r>
              <a:rPr sz="1400" b="1" i="0">
                <a:solidFill>
                  <a:srgbClr val="000000"/>
                </a:solidFill>
                <a:latin typeface="Book Antiqua"/>
              </a:rPr>
              <a:t>Saver rides:</a:t>
            </a:r>
            <a:r>
              <a:rPr sz="1400" b="0" i="0">
                <a:solidFill>
                  <a:srgbClr val="000000"/>
                </a:solidFill>
                <a:latin typeface="Book Antiqua"/>
              </a:rPr>
              <a:t> cheaper tier; 1 in 4 new riders</a:t>
            </a:r>
          </a:p>
          <a:p>
            <a:pPr marL="177800" indent="-177800" algn="l">
              <a:spcBef>
                <a:spcPts val="600"/>
              </a:spcBef>
              <a:buFont typeface="Arial"/>
              <a:buChar char="•"/>
            </a:pPr>
            <a:r>
              <a:rPr sz="1400" b="1" i="0">
                <a:solidFill>
                  <a:srgbClr val="000000"/>
                </a:solidFill>
                <a:latin typeface="Book Antiqua"/>
              </a:rPr>
              <a:t>Airport rides:</a:t>
            </a:r>
            <a:r>
              <a:rPr sz="1400" b="0" i="0">
                <a:solidFill>
                  <a:srgbClr val="000000"/>
                </a:solidFill>
                <a:latin typeface="Book Antiqua"/>
              </a:rPr>
              <a:t> over 10% of Mobility bookings</a:t>
            </a:r>
          </a:p>
        </p:txBody>
      </p:sp>
      <p:sp>
        <p:nvSpPr>
          <p:cNvPr id="17" name="panel:segment-earns"/>
          <p:cNvSpPr/>
          <p:nvPr/>
        </p:nvSpPr>
        <p:spPr>
          <a:xfrm>
            <a:off x="4198010" y="4425696"/>
            <a:ext cx="3795674" cy="9144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t">
            <a:noAutofit/>
          </a:bodyPr>
          <a:lstStyle/>
          <a:p>
            <a:pPr algn="l">
              <a:buNone/>
            </a:pPr>
            <a:r>
              <a:rPr sz="1400" b="1" i="0">
                <a:solidFill>
                  <a:srgbClr val="376092"/>
                </a:solidFill>
                <a:latin typeface="Book Antiqua"/>
              </a:rPr>
              <a:t>How it earns</a:t>
            </a:r>
          </a:p>
          <a:p>
            <a:pPr algn="l">
              <a:spcBef>
                <a:spcPts val="200"/>
              </a:spcBef>
              <a:buNone/>
            </a:pPr>
            <a:r>
              <a:rPr sz="1400" b="0" i="0">
                <a:solidFill>
                  <a:srgbClr val="000000"/>
                </a:solidFill>
                <a:latin typeface="Book Antiqua"/>
              </a:rPr>
              <a:t>A share of every fare (the take rate), less driver incentives.</a:t>
            </a:r>
          </a:p>
        </p:txBody>
      </p:sp>
      <p:sp>
        <p:nvSpPr>
          <p:cNvPr id="18" name="section:Financial Services"/>
          <p:cNvSpPr/>
          <p:nvPr/>
        </p:nvSpPr>
        <p:spPr>
          <a:xfrm>
            <a:off x="8176564" y="1362456"/>
            <a:ext cx="37956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Financial Services</a:t>
            </a:r>
          </a:p>
        </p:txBody>
      </p:sp>
      <p:sp>
        <p:nvSpPr>
          <p:cNvPr id="19" name="panel:segment-stat"/>
          <p:cNvSpPr/>
          <p:nvPr/>
        </p:nvSpPr>
        <p:spPr>
          <a:xfrm>
            <a:off x="8176564" y="1673352"/>
            <a:ext cx="3795674" cy="8686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noAutofit/>
          </a:bodyPr>
          <a:lstStyle/>
          <a:p>
            <a:pPr algn="ctr">
              <a:buNone/>
            </a:pPr>
            <a:r>
              <a:rPr sz="2600" b="1" i="0">
                <a:solidFill>
                  <a:srgbClr val="376092"/>
                </a:solidFill>
                <a:latin typeface="Book Antiqua"/>
              </a:rPr>
              <a:t>$134M</a:t>
            </a:r>
          </a:p>
          <a:p>
            <a:pPr algn="ctr">
              <a:buNone/>
            </a:pPr>
            <a:r>
              <a:rPr sz="1400" b="0" i="0">
                <a:solidFill>
                  <a:srgbClr val="000000"/>
                </a:solidFill>
                <a:latin typeface="Book Antiqua"/>
              </a:rPr>
              <a:t>13% of Q2 2026 revenue  |  +59% vs Q2 2025</a:t>
            </a:r>
          </a:p>
        </p:txBody>
      </p:sp>
      <p:sp>
        <p:nvSpPr>
          <p:cNvPr id="20" name="body:segment-products"/>
          <p:cNvSpPr/>
          <p:nvPr/>
        </p:nvSpPr>
        <p:spPr>
          <a:xfrm>
            <a:off x="8176564" y="2596896"/>
            <a:ext cx="3795674" cy="17739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400" b="1" i="0">
                <a:solidFill>
                  <a:srgbClr val="000000"/>
                </a:solidFill>
                <a:latin typeface="Book Antiqua"/>
              </a:rPr>
              <a:t>GrabPay and OVO:</a:t>
            </a:r>
            <a:r>
              <a:rPr sz="1400" b="0" i="0">
                <a:solidFill>
                  <a:srgbClr val="000000"/>
                </a:solidFill>
                <a:latin typeface="Book Antiqua"/>
              </a:rPr>
              <a:t> e-wallets (OVO in Indonesia)</a:t>
            </a:r>
          </a:p>
          <a:p>
            <a:pPr marL="177800" indent="-177800" algn="l">
              <a:spcBef>
                <a:spcPts val="600"/>
              </a:spcBef>
              <a:buFont typeface="Arial"/>
              <a:buChar char="•"/>
            </a:pPr>
            <a:r>
              <a:rPr sz="1400" b="1" i="0">
                <a:solidFill>
                  <a:srgbClr val="000000"/>
                </a:solidFill>
                <a:latin typeface="Book Antiqua"/>
              </a:rPr>
              <a:t>Loans and PayLater:</a:t>
            </a:r>
            <a:r>
              <a:rPr sz="1400" b="0" i="0">
                <a:solidFill>
                  <a:srgbClr val="000000"/>
                </a:solidFill>
                <a:latin typeface="Book Antiqua"/>
              </a:rPr>
              <a:t> to users, drivers and merchants; $2.3B book</a:t>
            </a:r>
          </a:p>
          <a:p>
            <a:pPr marL="177800" indent="-177800" algn="l">
              <a:spcBef>
                <a:spcPts val="600"/>
              </a:spcBef>
              <a:buFont typeface="Arial"/>
              <a:buChar char="•"/>
            </a:pPr>
            <a:r>
              <a:rPr sz="1400" b="1" i="0">
                <a:solidFill>
                  <a:srgbClr val="000000"/>
                </a:solidFill>
                <a:latin typeface="Book Antiqua"/>
              </a:rPr>
              <a:t>Digital banks:</a:t>
            </a:r>
            <a:r>
              <a:rPr sz="1400" b="0" i="0">
                <a:solidFill>
                  <a:srgbClr val="000000"/>
                </a:solidFill>
                <a:latin typeface="Book Antiqua"/>
              </a:rPr>
              <a:t> GXS (SG), GXBank (MY), Superbank (ID)</a:t>
            </a:r>
          </a:p>
        </p:txBody>
      </p:sp>
      <p:sp>
        <p:nvSpPr>
          <p:cNvPr id="21" name="panel:segment-earns"/>
          <p:cNvSpPr/>
          <p:nvPr/>
        </p:nvSpPr>
        <p:spPr>
          <a:xfrm>
            <a:off x="8176564" y="4425696"/>
            <a:ext cx="3795674" cy="9144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t">
            <a:noAutofit/>
          </a:bodyPr>
          <a:lstStyle/>
          <a:p>
            <a:pPr algn="l">
              <a:buNone/>
            </a:pPr>
            <a:r>
              <a:rPr sz="1400" b="1" i="0">
                <a:solidFill>
                  <a:srgbClr val="376092"/>
                </a:solidFill>
                <a:latin typeface="Book Antiqua"/>
              </a:rPr>
              <a:t>How it earns</a:t>
            </a:r>
          </a:p>
          <a:p>
            <a:pPr algn="l">
              <a:spcBef>
                <a:spcPts val="200"/>
              </a:spcBef>
              <a:buNone/>
            </a:pPr>
            <a:r>
              <a:rPr sz="1400" b="0" i="0">
                <a:solidFill>
                  <a:srgbClr val="000000"/>
                </a:solidFill>
                <a:latin typeface="Book Antiqua"/>
              </a:rPr>
              <a:t>Interest on loans, payment fees and deposit spread; breakeven guided for H2 2026.</a:t>
            </a:r>
          </a:p>
        </p:txBody>
      </p:sp>
      <p:sp>
        <p:nvSpPr>
          <p:cNvPr id="22" name="callout:segments"/>
          <p:cNvSpPr/>
          <p:nvPr/>
        </p:nvSpPr>
        <p:spPr>
          <a:xfrm>
            <a:off x="219456" y="5440680"/>
            <a:ext cx="11752783" cy="566928"/>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ctr">
              <a:buNone/>
            </a:pPr>
            <a:r>
              <a:rPr sz="1400" b="0" i="0">
                <a:solidFill>
                  <a:srgbClr val="000000"/>
                </a:solidFill>
                <a:latin typeface="Book Antiqua"/>
              </a:rPr>
              <a:t>One app, three ways to earn from the same user: Grab's 53.9M monthly users ride, order and borrow.</a:t>
            </a:r>
          </a:p>
        </p:txBody>
      </p:sp>
      <p:sp>
        <p:nvSpPr>
          <p:cNvPr id="23" name="source"/>
          <p:cNvSpPr/>
          <p:nvPr/>
        </p:nvSpPr>
        <p:spPr>
          <a:xfrm>
            <a:off x="219456" y="6007607"/>
            <a:ext cx="11752783" cy="219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Grab Q2 2026 results and earnings call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Market Overview</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Southeast Asia's digital economy grew ~15% in 2025, and Grab leads in both food delivery and rides.</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5</a:t>
            </a:r>
          </a:p>
        </p:txBody>
      </p:sp>
      <p:sp>
        <p:nvSpPr>
          <p:cNvPr id="10" name="section:A Growing Market That Grab Leads"/>
          <p:cNvSpPr/>
          <p:nvPr/>
        </p:nvSpPr>
        <p:spPr>
          <a:xfrm>
            <a:off x="219456" y="1362456"/>
            <a:ext cx="658155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A Growing Market That Grab Leads</a:t>
            </a:r>
          </a:p>
        </p:txBody>
      </p:sp>
      <p:sp>
        <p:nvSpPr>
          <p:cNvPr id="11" name="body:driver"/>
          <p:cNvSpPr/>
          <p:nvPr/>
        </p:nvSpPr>
        <p:spPr>
          <a:xfrm>
            <a:off x="219456" y="1709928"/>
            <a:ext cx="6581558" cy="34564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500" b="1" i="0">
                <a:solidFill>
                  <a:srgbClr val="000000"/>
                </a:solidFill>
                <a:latin typeface="Book Antiqua"/>
              </a:rPr>
              <a:t>Digital economy:</a:t>
            </a:r>
            <a:r>
              <a:rPr sz="1500" b="0" i="0">
                <a:solidFill>
                  <a:srgbClr val="000000"/>
                </a:solidFill>
                <a:latin typeface="Book Antiqua"/>
              </a:rPr>
              <a:t> over $300B of spending in 2025, ~15% more than 2024</a:t>
            </a:r>
          </a:p>
          <a:p>
            <a:pPr marL="177800" indent="-177800" algn="l">
              <a:spcBef>
                <a:spcPts val="800"/>
              </a:spcBef>
              <a:buFont typeface="Arial"/>
              <a:buChar char="•"/>
            </a:pPr>
            <a:r>
              <a:rPr sz="1500" b="1" i="0">
                <a:solidFill>
                  <a:srgbClr val="000000"/>
                </a:solidFill>
                <a:latin typeface="Book Antiqua"/>
              </a:rPr>
              <a:t>Food delivery:</a:t>
            </a:r>
            <a:r>
              <a:rPr sz="1500" b="0" i="0">
                <a:solidFill>
                  <a:srgbClr val="000000"/>
                </a:solidFill>
                <a:latin typeface="Book Antiqua"/>
              </a:rPr>
              <a:t> ~$23B of orders in 2025; ad revenue +60-90% vs 2024</a:t>
            </a:r>
          </a:p>
          <a:p>
            <a:pPr marL="177800" indent="-177800" algn="l">
              <a:spcBef>
                <a:spcPts val="800"/>
              </a:spcBef>
              <a:buFont typeface="Arial"/>
              <a:buChar char="•"/>
            </a:pPr>
            <a:r>
              <a:rPr sz="1500" b="1" i="0">
                <a:solidFill>
                  <a:srgbClr val="000000"/>
                </a:solidFill>
                <a:latin typeface="Book Antiqua"/>
              </a:rPr>
              <a:t>Rides:</a:t>
            </a:r>
            <a:r>
              <a:rPr sz="1500" b="0" i="0">
                <a:solidFill>
                  <a:srgbClr val="000000"/>
                </a:solidFill>
                <a:latin typeface="Book Antiqua"/>
              </a:rPr>
              <a:t> $11.5B of bookings in 2025; Grab has 62% of Vietnam and 50% of Indonesia</a:t>
            </a:r>
          </a:p>
          <a:p>
            <a:pPr marL="177800" indent="-177800" algn="l">
              <a:spcBef>
                <a:spcPts val="800"/>
              </a:spcBef>
              <a:buFont typeface="Arial"/>
              <a:buChar char="•"/>
            </a:pPr>
            <a:r>
              <a:rPr sz="1500" b="1" i="0">
                <a:solidFill>
                  <a:srgbClr val="000000"/>
                </a:solidFill>
                <a:latin typeface="Book Antiqua"/>
              </a:rPr>
              <a:t>Payments:</a:t>
            </a:r>
            <a:r>
              <a:rPr sz="1500" b="0" i="0">
                <a:solidFill>
                  <a:srgbClr val="000000"/>
                </a:solidFill>
                <a:latin typeface="Book Antiqua"/>
              </a:rPr>
              <a:t> over 60% of payments in the region are already digital</a:t>
            </a:r>
          </a:p>
          <a:p>
            <a:pPr marL="177800" indent="-177800" algn="l">
              <a:spcBef>
                <a:spcPts val="800"/>
              </a:spcBef>
              <a:buFont typeface="Arial"/>
              <a:buChar char="•"/>
            </a:pPr>
            <a:r>
              <a:rPr sz="1500" b="1" i="0">
                <a:solidFill>
                  <a:srgbClr val="000000"/>
                </a:solidFill>
                <a:latin typeface="Book Antiqua"/>
              </a:rPr>
              <a:t>Rivals:</a:t>
            </a:r>
            <a:r>
              <a:rPr sz="1500" b="0" i="0">
                <a:solidFill>
                  <a:srgbClr val="000000"/>
                </a:solidFill>
                <a:latin typeface="Book Antiqua"/>
              </a:rPr>
              <a:t> ShopeeFood (No. 2 in food), Gojek (Indonesian rides), Xanh SM (Vietnam, &gt;25%)</a:t>
            </a:r>
          </a:p>
        </p:txBody>
      </p:sp>
      <p:sp>
        <p:nvSpPr>
          <p:cNvPr id="12" name="callout:driver"/>
          <p:cNvSpPr/>
          <p:nvPr/>
        </p:nvSpPr>
        <p:spPr>
          <a:xfrm>
            <a:off x="219456" y="5266944"/>
            <a:ext cx="6581558" cy="960120"/>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ctr">
              <a:buNone/>
            </a:pPr>
            <a:r>
              <a:rPr sz="1400" b="0" i="0">
                <a:solidFill>
                  <a:srgbClr val="000000"/>
                </a:solidFill>
                <a:latin typeface="Book Antiqua"/>
              </a:rPr>
              <a:t>Grab grows faster than its market (orders +21% in Q2 2026 vs food delivery +18% in 2025), and ~40% of payments are still cash (US: ~14%).</a:t>
            </a:r>
          </a:p>
        </p:txBody>
      </p:sp>
      <p:sp>
        <p:nvSpPr>
          <p:cNvPr id="13" name="section:SEA Food Delivery Orders (USD bn)"/>
          <p:cNvSpPr/>
          <p:nvPr/>
        </p:nvSpPr>
        <p:spPr>
          <a:xfrm>
            <a:off x="7029614" y="1362456"/>
            <a:ext cx="49426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SEA Food Delivery Orders (USD bn)</a:t>
            </a:r>
          </a:p>
        </p:txBody>
      </p:sp>
      <p:graphicFrame>
        <p:nvGraphicFramePr>
          <p:cNvPr id="14" name="chart:driver-0"/>
          <p:cNvGraphicFramePr>
            <a:graphicFrameLocks noGrp="1"/>
          </p:cNvGraphicFramePr>
          <p:nvPr/>
        </p:nvGraphicFramePr>
        <p:xfrm>
          <a:off x="7029614" y="1709928"/>
          <a:ext cx="4942624" cy="1833371"/>
        </p:xfrm>
        <a:graphic>
          <a:graphicData uri="http://schemas.openxmlformats.org/drawingml/2006/chart">
            <c:chart xmlns:c="http://schemas.openxmlformats.org/drawingml/2006/chart" xmlns:r="http://schemas.openxmlformats.org/officeDocument/2006/relationships" r:id="rId4"/>
          </a:graphicData>
        </a:graphic>
      </p:graphicFrame>
      <p:sp>
        <p:nvSpPr>
          <p:cNvPr id="15" name="source"/>
          <p:cNvSpPr/>
          <p:nvPr/>
        </p:nvSpPr>
        <p:spPr>
          <a:xfrm>
            <a:off x="7029614" y="3543299"/>
            <a:ext cx="4942624"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Momentum Works ($22.7B 2025, +18%; +13% 2024); 2023-24 back-calculated</a:t>
            </a:r>
          </a:p>
        </p:txBody>
      </p:sp>
      <p:sp>
        <p:nvSpPr>
          <p:cNvPr id="16" name="section:Grab's Market Share by GMV (%)"/>
          <p:cNvSpPr/>
          <p:nvPr/>
        </p:nvSpPr>
        <p:spPr>
          <a:xfrm>
            <a:off x="7029614" y="3845052"/>
            <a:ext cx="49426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Grab's Market Share by GMV (%)</a:t>
            </a:r>
          </a:p>
        </p:txBody>
      </p:sp>
      <p:graphicFrame>
        <p:nvGraphicFramePr>
          <p:cNvPr id="17" name="chart:driver-1"/>
          <p:cNvGraphicFramePr>
            <a:graphicFrameLocks noGrp="1"/>
          </p:cNvGraphicFramePr>
          <p:nvPr/>
        </p:nvGraphicFramePr>
        <p:xfrm>
          <a:off x="7029614" y="4192524"/>
          <a:ext cx="4942624" cy="1833371"/>
        </p:xfrm>
        <a:graphic>
          <a:graphicData uri="http://schemas.openxmlformats.org/drawingml/2006/chart">
            <c:chart xmlns:c="http://schemas.openxmlformats.org/drawingml/2006/chart" xmlns:r="http://schemas.openxmlformats.org/officeDocument/2006/relationships" r:id="rId5"/>
          </a:graphicData>
        </a:graphic>
      </p:graphicFrame>
      <p:sp>
        <p:nvSpPr>
          <p:cNvPr id="18" name="source"/>
          <p:cNvSpPr/>
          <p:nvPr/>
        </p:nvSpPr>
        <p:spPr>
          <a:xfrm>
            <a:off x="7029614" y="6025896"/>
            <a:ext cx="4942624"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Momentum Works (food, 6 countries); ABI Research, Mar 2026 (rides)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Situation Overview</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Grab is now profitable and growing ~20% a year, yet the stock has halved since Sep 2025 on regulation fears.</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6</a:t>
            </a:r>
          </a:p>
        </p:txBody>
      </p:sp>
      <p:sp>
        <p:nvSpPr>
          <p:cNvPr id="10" name="section:Share Price Performance vs SPX (Rebased to 100)"/>
          <p:cNvSpPr/>
          <p:nvPr/>
        </p:nvSpPr>
        <p:spPr>
          <a:xfrm>
            <a:off x="219456" y="1362456"/>
            <a:ext cx="11752783"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Share Price Performance vs SPX (Rebased to 100)</a:t>
            </a:r>
          </a:p>
        </p:txBody>
      </p:sp>
      <p:sp>
        <p:nvSpPr>
          <p:cNvPr id="11" name="frame:chart-border"/>
          <p:cNvSpPr/>
          <p:nvPr/>
        </p:nvSpPr>
        <p:spPr>
          <a:xfrm>
            <a:off x="219456" y="1709928"/>
            <a:ext cx="11752783" cy="205740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price"/>
          <p:cNvGraphicFramePr>
            <a:graphicFrameLocks noGrp="1"/>
          </p:cNvGraphicFramePr>
          <p:nvPr/>
        </p:nvGraphicFramePr>
        <p:xfrm>
          <a:off x="265176" y="1728216"/>
          <a:ext cx="11661343" cy="2020824"/>
        </p:xfrm>
        <a:graphic>
          <a:graphicData uri="http://schemas.openxmlformats.org/drawingml/2006/chart">
            <c:chart xmlns:c="http://schemas.openxmlformats.org/drawingml/2006/chart" xmlns:r="http://schemas.openxmlformats.org/officeDocument/2006/relationships" r:id="rId4"/>
          </a:graphicData>
        </a:graphic>
      </p:graphicFrame>
      <p:sp>
        <p:nvSpPr>
          <p:cNvPr id="13" name="callout:price-end"/>
          <p:cNvSpPr/>
          <p:nvPr/>
        </p:nvSpPr>
        <p:spPr>
          <a:xfrm>
            <a:off x="9900958" y="1764792"/>
            <a:ext cx="1325880" cy="256032"/>
          </a:xfrm>
          <a:prstGeom prst="rect">
            <a:avLst/>
          </a:prstGeom>
          <a:solidFill>
            <a:srgbClr val="FFFFFF"/>
          </a:solidFill>
          <a:ln w="9525">
            <a:solidFill>
              <a:srgbClr val="376092"/>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buNone/>
            </a:pPr>
            <a:r>
              <a:rPr sz="1100" b="1" i="0">
                <a:solidFill>
                  <a:srgbClr val="376092"/>
                </a:solidFill>
                <a:latin typeface="Book Antiqua"/>
              </a:rPr>
              <a:t>GRAB: -21.2%</a:t>
            </a:r>
          </a:p>
        </p:txBody>
      </p:sp>
      <p:cxnSp>
        <p:nvCxnSpPr>
          <p:cNvPr id="14" name="callout:event-line"/>
          <p:cNvCxnSpPr/>
          <p:nvPr/>
        </p:nvCxnSpPr>
        <p:spPr>
          <a:xfrm flipV="1">
            <a:off x="10634801" y="2513891"/>
            <a:ext cx="0" cy="502920"/>
          </a:xfrm>
          <a:prstGeom prst="line">
            <a:avLst/>
          </a:prstGeom>
          <a:ln w="9525">
            <a:solidFill>
              <a:srgbClr val="376092"/>
            </a:solidFill>
          </a:ln>
        </p:spPr>
        <p:style>
          <a:lnRef idx="2">
            <a:schemeClr val="accent1"/>
          </a:lnRef>
          <a:fillRef idx="0">
            <a:schemeClr val="accent1"/>
          </a:fillRef>
          <a:effectRef idx="1">
            <a:schemeClr val="accent1"/>
          </a:effectRef>
          <a:fontRef idx="minor">
            <a:schemeClr val="tx1"/>
          </a:fontRef>
        </p:style>
      </p:cxnSp>
      <p:sp>
        <p:nvSpPr>
          <p:cNvPr id="15" name="callout:event-dot"/>
          <p:cNvSpPr/>
          <p:nvPr/>
        </p:nvSpPr>
        <p:spPr>
          <a:xfrm>
            <a:off x="10602797" y="2984807"/>
            <a:ext cx="64008" cy="6400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allout:event"/>
          <p:cNvSpPr/>
          <p:nvPr/>
        </p:nvSpPr>
        <p:spPr>
          <a:xfrm>
            <a:off x="9809518" y="2148131"/>
            <a:ext cx="1417320" cy="365760"/>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buNone/>
            </a:pPr>
            <a:r>
              <a:rPr sz="950" b="1" i="0">
                <a:solidFill>
                  <a:srgbClr val="000000"/>
                </a:solidFill>
                <a:latin typeface="Book Antiqua"/>
              </a:rPr>
              <a:t>(9/26) Atome deal; CEO buys $29.9M of stock</a:t>
            </a:r>
          </a:p>
        </p:txBody>
      </p:sp>
      <p:cxnSp>
        <p:nvCxnSpPr>
          <p:cNvPr id="17" name="callout:event-line"/>
          <p:cNvCxnSpPr/>
          <p:nvPr/>
        </p:nvCxnSpPr>
        <p:spPr>
          <a:xfrm flipH="1">
            <a:off x="10006937" y="2947464"/>
            <a:ext cx="233172" cy="137160"/>
          </a:xfrm>
          <a:prstGeom prst="line">
            <a:avLst/>
          </a:prstGeom>
          <a:ln w="9525">
            <a:solidFill>
              <a:srgbClr val="376092"/>
            </a:solidFill>
          </a:ln>
        </p:spPr>
        <p:style>
          <a:lnRef idx="2">
            <a:schemeClr val="accent1"/>
          </a:lnRef>
          <a:fillRef idx="0">
            <a:schemeClr val="accent1"/>
          </a:fillRef>
          <a:effectRef idx="1">
            <a:schemeClr val="accent1"/>
          </a:effectRef>
          <a:fontRef idx="minor">
            <a:schemeClr val="tx1"/>
          </a:fontRef>
        </p:style>
      </p:cxnSp>
      <p:sp>
        <p:nvSpPr>
          <p:cNvPr id="18" name="callout:event-dot"/>
          <p:cNvSpPr/>
          <p:nvPr/>
        </p:nvSpPr>
        <p:spPr>
          <a:xfrm>
            <a:off x="10208105" y="2915460"/>
            <a:ext cx="64008" cy="6400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allout:event"/>
          <p:cNvSpPr/>
          <p:nvPr/>
        </p:nvSpPr>
        <p:spPr>
          <a:xfrm>
            <a:off x="8681057" y="3084624"/>
            <a:ext cx="1417320" cy="365760"/>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buNone/>
            </a:pPr>
            <a:r>
              <a:rPr sz="950" b="1" i="0">
                <a:solidFill>
                  <a:srgbClr val="000000"/>
                </a:solidFill>
                <a:latin typeface="Book Antiqua"/>
              </a:rPr>
              <a:t>(8/26) Q2 beat, guide raised, buyback +$750M</a:t>
            </a:r>
          </a:p>
        </p:txBody>
      </p:sp>
      <p:cxnSp>
        <p:nvCxnSpPr>
          <p:cNvPr id="20" name="callout:event-line"/>
          <p:cNvCxnSpPr/>
          <p:nvPr/>
        </p:nvCxnSpPr>
        <p:spPr>
          <a:xfrm flipV="1">
            <a:off x="8858688" y="2441655"/>
            <a:ext cx="0" cy="502920"/>
          </a:xfrm>
          <a:prstGeom prst="line">
            <a:avLst/>
          </a:prstGeom>
          <a:ln w="9525">
            <a:solidFill>
              <a:srgbClr val="376092"/>
            </a:solidFill>
          </a:ln>
        </p:spPr>
        <p:style>
          <a:lnRef idx="2">
            <a:schemeClr val="accent1"/>
          </a:lnRef>
          <a:fillRef idx="0">
            <a:schemeClr val="accent1"/>
          </a:fillRef>
          <a:effectRef idx="1">
            <a:schemeClr val="accent1"/>
          </a:effectRef>
          <a:fontRef idx="minor">
            <a:schemeClr val="tx1"/>
          </a:fontRef>
        </p:style>
      </p:cxnSp>
      <p:sp>
        <p:nvSpPr>
          <p:cNvPr id="21" name="callout:event-dot"/>
          <p:cNvSpPr/>
          <p:nvPr/>
        </p:nvSpPr>
        <p:spPr>
          <a:xfrm>
            <a:off x="8826684" y="2912571"/>
            <a:ext cx="64008" cy="6400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allout:event"/>
          <p:cNvSpPr/>
          <p:nvPr/>
        </p:nvSpPr>
        <p:spPr>
          <a:xfrm>
            <a:off x="8150028" y="2075895"/>
            <a:ext cx="1417320" cy="365760"/>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buNone/>
            </a:pPr>
            <a:r>
              <a:rPr sz="900" b="1" i="0">
                <a:solidFill>
                  <a:srgbClr val="000000"/>
                </a:solidFill>
                <a:latin typeface="Book Antiqua"/>
              </a:rPr>
              <a:t>(5/26) 8% cap announced: -5% ($0.20) in 2 days</a:t>
            </a:r>
          </a:p>
        </p:txBody>
      </p:sp>
      <p:cxnSp>
        <p:nvCxnSpPr>
          <p:cNvPr id="23" name="callout:event-line"/>
          <p:cNvCxnSpPr/>
          <p:nvPr/>
        </p:nvCxnSpPr>
        <p:spPr>
          <a:xfrm flipH="1">
            <a:off x="7836133" y="2855001"/>
            <a:ext cx="233172" cy="137160"/>
          </a:xfrm>
          <a:prstGeom prst="line">
            <a:avLst/>
          </a:prstGeom>
          <a:ln w="9525">
            <a:solidFill>
              <a:srgbClr val="376092"/>
            </a:solidFill>
          </a:ln>
        </p:spPr>
        <p:style>
          <a:lnRef idx="2">
            <a:schemeClr val="accent1"/>
          </a:lnRef>
          <a:fillRef idx="0">
            <a:schemeClr val="accent1"/>
          </a:fillRef>
          <a:effectRef idx="1">
            <a:schemeClr val="accent1"/>
          </a:effectRef>
          <a:fontRef idx="minor">
            <a:schemeClr val="tx1"/>
          </a:fontRef>
        </p:style>
      </p:cxnSp>
      <p:sp>
        <p:nvSpPr>
          <p:cNvPr id="24" name="callout:event-dot"/>
          <p:cNvSpPr/>
          <p:nvPr/>
        </p:nvSpPr>
        <p:spPr>
          <a:xfrm>
            <a:off x="8037301" y="2822997"/>
            <a:ext cx="64008" cy="6400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allout:event"/>
          <p:cNvSpPr/>
          <p:nvPr/>
        </p:nvSpPr>
        <p:spPr>
          <a:xfrm>
            <a:off x="6510253" y="2992161"/>
            <a:ext cx="1417320" cy="365760"/>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buNone/>
            </a:pPr>
            <a:r>
              <a:rPr sz="950" b="1" i="0">
                <a:solidFill>
                  <a:srgbClr val="000000"/>
                </a:solidFill>
                <a:latin typeface="Book Antiqua"/>
              </a:rPr>
              <a:t>(3/26) Iran war: oil above $100</a:t>
            </a:r>
          </a:p>
        </p:txBody>
      </p:sp>
      <p:cxnSp>
        <p:nvCxnSpPr>
          <p:cNvPr id="26" name="callout:event-line"/>
          <p:cNvCxnSpPr/>
          <p:nvPr/>
        </p:nvCxnSpPr>
        <p:spPr>
          <a:xfrm flipH="1">
            <a:off x="6239417" y="2537159"/>
            <a:ext cx="941832" cy="502920"/>
          </a:xfrm>
          <a:prstGeom prst="line">
            <a:avLst/>
          </a:prstGeom>
          <a:ln w="9525">
            <a:solidFill>
              <a:srgbClr val="376092"/>
            </a:solidFill>
          </a:ln>
        </p:spPr>
        <p:style>
          <a:lnRef idx="2">
            <a:schemeClr val="accent1"/>
          </a:lnRef>
          <a:fillRef idx="0">
            <a:schemeClr val="accent1"/>
          </a:fillRef>
          <a:effectRef idx="1">
            <a:schemeClr val="accent1"/>
          </a:effectRef>
          <a:fontRef idx="minor">
            <a:schemeClr val="tx1"/>
          </a:fontRef>
        </p:style>
      </p:cxnSp>
      <p:sp>
        <p:nvSpPr>
          <p:cNvPr id="27" name="callout:event-dot"/>
          <p:cNvSpPr/>
          <p:nvPr/>
        </p:nvSpPr>
        <p:spPr>
          <a:xfrm>
            <a:off x="7149245" y="2505155"/>
            <a:ext cx="64008" cy="6400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allout:event"/>
          <p:cNvSpPr/>
          <p:nvPr/>
        </p:nvSpPr>
        <p:spPr>
          <a:xfrm>
            <a:off x="4913537" y="3040079"/>
            <a:ext cx="1417320" cy="365760"/>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buNone/>
            </a:pPr>
            <a:r>
              <a:rPr sz="950" b="1" i="0">
                <a:solidFill>
                  <a:srgbClr val="000000"/>
                </a:solidFill>
                <a:latin typeface="Book Antiqua"/>
              </a:rPr>
              <a:t>(1/26) Reports Indonesia will cap app fees: -10%</a:t>
            </a:r>
          </a:p>
        </p:txBody>
      </p:sp>
      <p:cxnSp>
        <p:nvCxnSpPr>
          <p:cNvPr id="29" name="callout:event-line"/>
          <p:cNvCxnSpPr/>
          <p:nvPr/>
        </p:nvCxnSpPr>
        <p:spPr>
          <a:xfrm flipH="1" flipV="1">
            <a:off x="4599642" y="2261304"/>
            <a:ext cx="1792224" cy="137160"/>
          </a:xfrm>
          <a:prstGeom prst="line">
            <a:avLst/>
          </a:prstGeom>
          <a:ln w="9525">
            <a:solidFill>
              <a:srgbClr val="376092"/>
            </a:solidFill>
          </a:ln>
        </p:spPr>
        <p:style>
          <a:lnRef idx="2">
            <a:schemeClr val="accent1"/>
          </a:lnRef>
          <a:fillRef idx="0">
            <a:schemeClr val="accent1"/>
          </a:fillRef>
          <a:effectRef idx="1">
            <a:schemeClr val="accent1"/>
          </a:effectRef>
          <a:fontRef idx="minor">
            <a:schemeClr val="tx1"/>
          </a:fontRef>
        </p:style>
      </p:cxnSp>
      <p:sp>
        <p:nvSpPr>
          <p:cNvPr id="30" name="callout:event-dot"/>
          <p:cNvSpPr/>
          <p:nvPr/>
        </p:nvSpPr>
        <p:spPr>
          <a:xfrm>
            <a:off x="6359862" y="2366460"/>
            <a:ext cx="64008" cy="6400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allout:event"/>
          <p:cNvSpPr/>
          <p:nvPr/>
        </p:nvSpPr>
        <p:spPr>
          <a:xfrm>
            <a:off x="3273762" y="1895544"/>
            <a:ext cx="1417320" cy="365760"/>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Autofit/>
          </a:bodyPr>
          <a:lstStyle/>
          <a:p>
            <a:pPr algn="ctr">
              <a:buNone/>
            </a:pPr>
            <a:r>
              <a:rPr sz="950" b="1" i="0">
                <a:solidFill>
                  <a:srgbClr val="000000"/>
                </a:solidFill>
                <a:latin typeface="Book Antiqua"/>
              </a:rPr>
              <a:t>(11/25) Q3 2025: profit miss, cash outflow</a:t>
            </a:r>
          </a:p>
        </p:txBody>
      </p:sp>
      <p:sp>
        <p:nvSpPr>
          <p:cNvPr id="32" name="section:Revenue +72% Since 3Q23, Share Price Flat (3Q23 = 100)"/>
          <p:cNvSpPr/>
          <p:nvPr/>
        </p:nvSpPr>
        <p:spPr>
          <a:xfrm>
            <a:off x="219456" y="3867912"/>
            <a:ext cx="552380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Revenue +72% Since 3Q23, Share Price Flat (3Q23 = 100)</a:t>
            </a:r>
          </a:p>
        </p:txBody>
      </p:sp>
      <p:graphicFrame>
        <p:nvGraphicFramePr>
          <p:cNvPr id="33" name="chart:history"/>
          <p:cNvGraphicFramePr>
            <a:graphicFrameLocks noGrp="1"/>
          </p:cNvGraphicFramePr>
          <p:nvPr/>
        </p:nvGraphicFramePr>
        <p:xfrm>
          <a:off x="219456" y="4206240"/>
          <a:ext cx="5523808" cy="2020823"/>
        </p:xfrm>
        <a:graphic>
          <a:graphicData uri="http://schemas.openxmlformats.org/drawingml/2006/chart">
            <c:chart xmlns:c="http://schemas.openxmlformats.org/drawingml/2006/chart" xmlns:r="http://schemas.openxmlformats.org/officeDocument/2006/relationships" r:id="rId5"/>
          </a:graphicData>
        </a:graphic>
      </p:graphicFrame>
      <p:sp>
        <p:nvSpPr>
          <p:cNvPr id="34" name="section:Why This Opportunity Exists"/>
          <p:cNvSpPr/>
          <p:nvPr/>
        </p:nvSpPr>
        <p:spPr>
          <a:xfrm>
            <a:off x="5971864" y="3867912"/>
            <a:ext cx="6000375"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Why This Opportunity Exists</a:t>
            </a:r>
          </a:p>
        </p:txBody>
      </p:sp>
      <p:sp>
        <p:nvSpPr>
          <p:cNvPr id="35" name="body:why"/>
          <p:cNvSpPr/>
          <p:nvPr/>
        </p:nvSpPr>
        <p:spPr>
          <a:xfrm>
            <a:off x="5971864" y="4215384"/>
            <a:ext cx="6000375" cy="20116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algn="l">
              <a:buNone/>
            </a:pPr>
            <a:r>
              <a:rPr sz="1350" b="1" i="0">
                <a:solidFill>
                  <a:srgbClr val="376092"/>
                </a:solidFill>
                <a:latin typeface="Book Antiqua"/>
              </a:rPr>
              <a:t>Profitable growth is here</a:t>
            </a:r>
          </a:p>
          <a:p>
            <a:pPr marL="177800" indent="-177800" algn="l">
              <a:spcBef>
                <a:spcPts val="90"/>
              </a:spcBef>
              <a:buFont typeface="Arial"/>
              <a:buChar char="•"/>
            </a:pPr>
            <a:r>
              <a:rPr sz="1350" b="0" i="0">
                <a:solidFill>
                  <a:srgbClr val="000000"/>
                </a:solidFill>
                <a:latin typeface="Book Antiqua"/>
              </a:rPr>
              <a:t>Q2 2026 vs Q2 2025, revenue +22% and adj. EBITDA +54%; first full-year profit in FY2025.</a:t>
            </a:r>
          </a:p>
          <a:p>
            <a:pPr algn="l">
              <a:spcBef>
                <a:spcPts val="540"/>
              </a:spcBef>
              <a:buNone/>
            </a:pPr>
            <a:r>
              <a:rPr sz="1350" b="1" i="0">
                <a:solidFill>
                  <a:srgbClr val="376092"/>
                </a:solidFill>
                <a:latin typeface="Book Antiqua"/>
              </a:rPr>
              <a:t>The selloff is about regulation</a:t>
            </a:r>
          </a:p>
          <a:p>
            <a:pPr marL="177800" indent="-177800" algn="l">
              <a:spcBef>
                <a:spcPts val="90"/>
              </a:spcBef>
              <a:buFont typeface="Arial"/>
              <a:buChar char="•"/>
            </a:pPr>
            <a:r>
              <a:rPr sz="1350" b="0" i="0">
                <a:solidFill>
                  <a:srgbClr val="000000"/>
                </a:solidFill>
                <a:latin typeface="Book Antiqua"/>
              </a:rPr>
              <a:t>Indonesia's 8% fee cap covers motorbike taxis only: ~6% of ride bookings.</a:t>
            </a:r>
          </a:p>
          <a:p>
            <a:pPr algn="l">
              <a:spcBef>
                <a:spcPts val="540"/>
              </a:spcBef>
              <a:buNone/>
            </a:pPr>
            <a:r>
              <a:rPr sz="1350" b="1" i="0">
                <a:solidFill>
                  <a:srgbClr val="376092"/>
                </a:solidFill>
                <a:latin typeface="Book Antiqua"/>
              </a:rPr>
              <a:t>Insiders are buying</a:t>
            </a:r>
          </a:p>
          <a:p>
            <a:pPr marL="177800" indent="-177800" algn="l">
              <a:spcBef>
                <a:spcPts val="90"/>
              </a:spcBef>
              <a:buFont typeface="Arial"/>
              <a:buChar char="•"/>
            </a:pPr>
            <a:r>
              <a:rPr sz="1350" b="0" i="0">
                <a:solidFill>
                  <a:srgbClr val="000000"/>
                </a:solidFill>
                <a:latin typeface="Book Antiqua"/>
              </a:rPr>
              <a:t>CEO bought $29.9M of stock; ~$900M of buybacks left to spend by Sep 2027.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Investment Thesis Summary</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Today's price already reflects the bad case (wider fee caps, slower growth); rising profits and fintech would be extra upside.</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7</a:t>
            </a:r>
          </a:p>
        </p:txBody>
      </p:sp>
      <p:sp>
        <p:nvSpPr>
          <p:cNvPr id="10" name="label:pillar"/>
          <p:cNvSpPr/>
          <p:nvPr/>
        </p:nvSpPr>
        <p:spPr>
          <a:xfrm>
            <a:off x="219456" y="1362456"/>
            <a:ext cx="2233028" cy="155448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ctr">
              <a:buNone/>
            </a:pPr>
            <a:r>
              <a:rPr sz="1700" b="1" i="0">
                <a:solidFill>
                  <a:srgbClr val="FFFFFF"/>
                </a:solidFill>
                <a:latin typeface="Book Antiqua"/>
              </a:rPr>
              <a:t>Scale Is Now Profit</a:t>
            </a:r>
          </a:p>
        </p:txBody>
      </p:sp>
      <p:sp>
        <p:nvSpPr>
          <p:cNvPr id="11" name="panel:pillar"/>
          <p:cNvSpPr/>
          <p:nvPr/>
        </p:nvSpPr>
        <p:spPr>
          <a:xfrm>
            <a:off x="2553068" y="1362456"/>
            <a:ext cx="6380390" cy="15544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marL="177800" indent="-177800" algn="l">
              <a:buFont typeface="Arial"/>
              <a:buChar char="•"/>
            </a:pPr>
            <a:r>
              <a:rPr sz="1500" b="0" i="0">
                <a:solidFill>
                  <a:srgbClr val="000000"/>
                </a:solidFill>
                <a:latin typeface="Book Antiqua"/>
              </a:rPr>
              <a:t>Q2 2026 vs Q2 2025: adj. EBITDA +54%, revenue +22%; margin 13% to 17%</a:t>
            </a:r>
          </a:p>
          <a:p>
            <a:pPr marL="177800" indent="-177800" algn="l">
              <a:spcBef>
                <a:spcPts val="600"/>
              </a:spcBef>
              <a:buFont typeface="Arial"/>
              <a:buChar char="•"/>
            </a:pPr>
            <a:r>
              <a:rPr sz="1500" b="0" i="0">
                <a:solidFill>
                  <a:srgbClr val="000000"/>
                </a:solidFill>
                <a:latin typeface="Book Antiqua"/>
              </a:rPr>
              <a:t>Overheads flat while ads and groceries add high-margin revenue</a:t>
            </a:r>
          </a:p>
          <a:p>
            <a:pPr marL="177800" indent="-177800" algn="l">
              <a:spcBef>
                <a:spcPts val="600"/>
              </a:spcBef>
              <a:buFont typeface="Arial"/>
              <a:buChar char="•"/>
            </a:pPr>
            <a:r>
              <a:rPr sz="1500" b="0" i="0">
                <a:solidFill>
                  <a:srgbClr val="000000"/>
                </a:solidFill>
                <a:latin typeface="Book Antiqua"/>
              </a:rPr>
              <a:t>No. 1 in regional food delivery (55%) with 53.9M monthly users</a:t>
            </a:r>
          </a:p>
        </p:txBody>
      </p:sp>
      <p:sp>
        <p:nvSpPr>
          <p:cNvPr id="12" name="label:pillar"/>
          <p:cNvSpPr/>
          <p:nvPr/>
        </p:nvSpPr>
        <p:spPr>
          <a:xfrm>
            <a:off x="219456" y="3017520"/>
            <a:ext cx="2233028" cy="155448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ctr">
              <a:buNone/>
            </a:pPr>
            <a:r>
              <a:rPr sz="1700" b="1" i="0">
                <a:solidFill>
                  <a:srgbClr val="FFFFFF"/>
                </a:solidFill>
                <a:latin typeface="Book Antiqua"/>
              </a:rPr>
              <a:t>Fintech and Atome, the Second Engine</a:t>
            </a:r>
          </a:p>
        </p:txBody>
      </p:sp>
      <p:sp>
        <p:nvSpPr>
          <p:cNvPr id="13" name="panel:pillar"/>
          <p:cNvSpPr/>
          <p:nvPr/>
        </p:nvSpPr>
        <p:spPr>
          <a:xfrm>
            <a:off x="2553068" y="3017520"/>
            <a:ext cx="6380390" cy="15544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marL="177800" indent="-177800" algn="l">
              <a:buFont typeface="Arial"/>
              <a:buChar char="•"/>
            </a:pPr>
            <a:r>
              <a:rPr sz="1500" b="0" i="0">
                <a:solidFill>
                  <a:srgbClr val="000000"/>
                </a:solidFill>
                <a:latin typeface="Book Antiqua"/>
              </a:rPr>
              <a:t>Lends to users it already knows; loan book ~3x in a year, to $2.3B</a:t>
            </a:r>
          </a:p>
          <a:p>
            <a:pPr marL="177800" indent="-177800" algn="l">
              <a:spcBef>
                <a:spcPts val="600"/>
              </a:spcBef>
              <a:buFont typeface="Arial"/>
              <a:buChar char="•"/>
            </a:pPr>
            <a:r>
              <a:rPr sz="1500" b="0" i="0">
                <a:solidFill>
                  <a:srgbClr val="000000"/>
                </a:solidFill>
                <a:latin typeface="Book Antiqua"/>
              </a:rPr>
              <a:t>Atome ($1.49B for 60%) adds a $1.0B pay-later book in 5 markets</a:t>
            </a:r>
          </a:p>
          <a:p>
            <a:pPr marL="177800" indent="-177800" algn="l">
              <a:spcBef>
                <a:spcPts val="600"/>
              </a:spcBef>
              <a:buFont typeface="Arial"/>
              <a:buChar char="•"/>
            </a:pPr>
            <a:r>
              <a:rPr sz="1500" b="0" i="0">
                <a:solidFill>
                  <a:srgbClr val="000000"/>
                </a:solidFill>
                <a:latin typeface="Book Antiqua"/>
              </a:rPr>
              <a:t>Loss narrowing (-$26M to -$15M a quarter); breakeven guided for H2 2026</a:t>
            </a:r>
          </a:p>
        </p:txBody>
      </p:sp>
      <p:sp>
        <p:nvSpPr>
          <p:cNvPr id="14" name="label:pillar"/>
          <p:cNvSpPr/>
          <p:nvPr/>
        </p:nvSpPr>
        <p:spPr>
          <a:xfrm>
            <a:off x="219456" y="4672584"/>
            <a:ext cx="2233028" cy="155448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ctr">
              <a:buNone/>
            </a:pPr>
            <a:r>
              <a:rPr sz="1700" b="1" i="0">
                <a:solidFill>
                  <a:srgbClr val="FFFFFF"/>
                </a:solidFill>
                <a:latin typeface="Book Antiqua"/>
              </a:rPr>
              <a:t>The Price Already Reflects Fee Caps</a:t>
            </a:r>
          </a:p>
        </p:txBody>
      </p:sp>
      <p:sp>
        <p:nvSpPr>
          <p:cNvPr id="15" name="panel:pillar"/>
          <p:cNvSpPr/>
          <p:nvPr/>
        </p:nvSpPr>
        <p:spPr>
          <a:xfrm>
            <a:off x="2553068" y="4672584"/>
            <a:ext cx="6380390" cy="15544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marL="177800" indent="-177800" algn="l">
              <a:buFont typeface="Arial"/>
              <a:buChar char="•"/>
            </a:pPr>
            <a:r>
              <a:rPr sz="1500" b="0" i="0">
                <a:solidFill>
                  <a:srgbClr val="000000"/>
                </a:solidFill>
                <a:latin typeface="Book Antiqua"/>
              </a:rPr>
              <a:t>Only fee cap today (Indonesian motorbike taxis): ~1% of revenue</a:t>
            </a:r>
          </a:p>
          <a:p>
            <a:pPr marL="177800" indent="-177800" algn="l">
              <a:spcBef>
                <a:spcPts val="600"/>
              </a:spcBef>
              <a:buFont typeface="Arial"/>
              <a:buChar char="•"/>
            </a:pPr>
            <a:r>
              <a:rPr sz="1500" b="0" i="0">
                <a:solidFill>
                  <a:srgbClr val="000000"/>
                </a:solidFill>
                <a:latin typeface="Book Antiqua"/>
              </a:rPr>
              <a:t>Even if car rides are capped too, our value ($3.04) is above $2.68</a:t>
            </a:r>
          </a:p>
          <a:p>
            <a:pPr marL="177800" indent="-177800" algn="l">
              <a:spcBef>
                <a:spcPts val="600"/>
              </a:spcBef>
              <a:buFont typeface="Arial"/>
              <a:buChar char="•"/>
            </a:pPr>
            <a:r>
              <a:rPr sz="1500" b="0" i="0">
                <a:solidFill>
                  <a:srgbClr val="000000"/>
                </a:solidFill>
                <a:latin typeface="Book Antiqua"/>
              </a:rPr>
              <a:t>The CEO bought $29.9M of stock at ~$2.89 in September 2026</a:t>
            </a:r>
          </a:p>
        </p:txBody>
      </p:sp>
      <p:sp>
        <p:nvSpPr>
          <p:cNvPr id="16" name="panel:valuation-bg"/>
          <p:cNvSpPr/>
          <p:nvPr/>
        </p:nvSpPr>
        <p:spPr>
          <a:xfrm>
            <a:off x="9034043" y="1362456"/>
            <a:ext cx="2938195" cy="4864607"/>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abel:valuation-heading"/>
          <p:cNvSpPr/>
          <p:nvPr/>
        </p:nvSpPr>
        <p:spPr>
          <a:xfrm>
            <a:off x="9180347" y="1490472"/>
            <a:ext cx="264558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700" b="1" i="0">
                <a:solidFill>
                  <a:srgbClr val="376092"/>
                </a:solidFill>
                <a:latin typeface="Book Antiqua"/>
              </a:rPr>
              <a:t>Price Target</a:t>
            </a:r>
          </a:p>
        </p:txBody>
      </p:sp>
      <p:cxnSp>
        <p:nvCxnSpPr>
          <p:cNvPr id="18" name="frame:panel-rule"/>
          <p:cNvCxnSpPr/>
          <p:nvPr/>
        </p:nvCxnSpPr>
        <p:spPr>
          <a:xfrm>
            <a:off x="9180347" y="1828800"/>
            <a:ext cx="2645588" cy="0"/>
          </a:xfrm>
          <a:prstGeom prst="line">
            <a:avLst/>
          </a:prstGeom>
          <a:ln w="15875">
            <a:solidFill>
              <a:srgbClr val="376092"/>
            </a:solidFill>
          </a:ln>
        </p:spPr>
        <p:style>
          <a:lnRef idx="2">
            <a:schemeClr val="accent1"/>
          </a:lnRef>
          <a:fillRef idx="0">
            <a:schemeClr val="accent1"/>
          </a:fillRef>
          <a:effectRef idx="1">
            <a:schemeClr val="accent1"/>
          </a:effectRef>
          <a:fontRef idx="minor">
            <a:schemeClr val="tx1"/>
          </a:fontRef>
        </p:style>
      </p:cxnSp>
      <p:sp>
        <p:nvSpPr>
          <p:cNvPr id="19" name="body:valuation-label"/>
          <p:cNvSpPr/>
          <p:nvPr/>
        </p:nvSpPr>
        <p:spPr>
          <a:xfrm>
            <a:off x="9180347" y="1901952"/>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Current Price</a:t>
            </a:r>
          </a:p>
        </p:txBody>
      </p:sp>
      <p:sp>
        <p:nvSpPr>
          <p:cNvPr id="20" name="body:valuation-value"/>
          <p:cNvSpPr/>
          <p:nvPr/>
        </p:nvSpPr>
        <p:spPr>
          <a:xfrm>
            <a:off x="10767700" y="1901952"/>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$2.68</a:t>
            </a:r>
          </a:p>
        </p:txBody>
      </p:sp>
      <p:sp>
        <p:nvSpPr>
          <p:cNvPr id="21" name="body:valuation-label"/>
          <p:cNvSpPr/>
          <p:nvPr/>
        </p:nvSpPr>
        <p:spPr>
          <a:xfrm>
            <a:off x="9180347" y="2249424"/>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Target (May 2027)</a:t>
            </a:r>
          </a:p>
        </p:txBody>
      </p:sp>
      <p:sp>
        <p:nvSpPr>
          <p:cNvPr id="22" name="body:valuation-value"/>
          <p:cNvSpPr/>
          <p:nvPr/>
        </p:nvSpPr>
        <p:spPr>
          <a:xfrm>
            <a:off x="10767700" y="2249424"/>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$3.62</a:t>
            </a:r>
          </a:p>
        </p:txBody>
      </p:sp>
      <p:sp>
        <p:nvSpPr>
          <p:cNvPr id="23" name="body:valuation-label"/>
          <p:cNvSpPr/>
          <p:nvPr/>
        </p:nvSpPr>
        <p:spPr>
          <a:xfrm>
            <a:off x="9180347" y="2596896"/>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Implied Upside</a:t>
            </a:r>
          </a:p>
        </p:txBody>
      </p:sp>
      <p:sp>
        <p:nvSpPr>
          <p:cNvPr id="24" name="body:valuation-value"/>
          <p:cNvSpPr/>
          <p:nvPr/>
        </p:nvSpPr>
        <p:spPr>
          <a:xfrm>
            <a:off x="10767700" y="2596896"/>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2E7D32"/>
                </a:solidFill>
                <a:latin typeface="Book Antiqua"/>
              </a:rPr>
              <a:t>+34.9%</a:t>
            </a:r>
          </a:p>
        </p:txBody>
      </p:sp>
      <p:sp>
        <p:nvSpPr>
          <p:cNvPr id="25" name="label:valuation-heading"/>
          <p:cNvSpPr/>
          <p:nvPr/>
        </p:nvSpPr>
        <p:spPr>
          <a:xfrm>
            <a:off x="9180347" y="3172968"/>
            <a:ext cx="264558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700" b="1" i="0">
                <a:solidFill>
                  <a:srgbClr val="376092"/>
                </a:solidFill>
                <a:latin typeface="Book Antiqua"/>
              </a:rPr>
              <a:t>Valuation Range</a:t>
            </a:r>
          </a:p>
        </p:txBody>
      </p:sp>
      <p:cxnSp>
        <p:nvCxnSpPr>
          <p:cNvPr id="26" name="frame:panel-rule"/>
          <p:cNvCxnSpPr/>
          <p:nvPr/>
        </p:nvCxnSpPr>
        <p:spPr>
          <a:xfrm>
            <a:off x="9180347" y="3511296"/>
            <a:ext cx="2645588" cy="0"/>
          </a:xfrm>
          <a:prstGeom prst="line">
            <a:avLst/>
          </a:prstGeom>
          <a:ln w="15875">
            <a:solidFill>
              <a:srgbClr val="376092"/>
            </a:solidFill>
          </a:ln>
        </p:spPr>
        <p:style>
          <a:lnRef idx="2">
            <a:schemeClr val="accent1"/>
          </a:lnRef>
          <a:fillRef idx="0">
            <a:schemeClr val="accent1"/>
          </a:fillRef>
          <a:effectRef idx="1">
            <a:schemeClr val="accent1"/>
          </a:effectRef>
          <a:fontRef idx="minor">
            <a:schemeClr val="tx1"/>
          </a:fontRef>
        </p:style>
      </p:cxnSp>
      <p:sp>
        <p:nvSpPr>
          <p:cNvPr id="27" name="body:valuation-label"/>
          <p:cNvSpPr/>
          <p:nvPr/>
        </p:nvSpPr>
        <p:spPr>
          <a:xfrm>
            <a:off x="9180347" y="3584448"/>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DCF (base case)</a:t>
            </a:r>
          </a:p>
        </p:txBody>
      </p:sp>
      <p:sp>
        <p:nvSpPr>
          <p:cNvPr id="28" name="body:valuation-value"/>
          <p:cNvSpPr/>
          <p:nvPr/>
        </p:nvSpPr>
        <p:spPr>
          <a:xfrm>
            <a:off x="10767700" y="3584448"/>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$3.39</a:t>
            </a:r>
          </a:p>
        </p:txBody>
      </p:sp>
      <p:sp>
        <p:nvSpPr>
          <p:cNvPr id="29" name="body:valuation-label"/>
          <p:cNvSpPr/>
          <p:nvPr/>
        </p:nvSpPr>
        <p:spPr>
          <a:xfrm>
            <a:off x="9180347" y="3931920"/>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EV/EBITDA LTM</a:t>
            </a:r>
          </a:p>
        </p:txBody>
      </p:sp>
      <p:sp>
        <p:nvSpPr>
          <p:cNvPr id="30" name="body:valuation-value"/>
          <p:cNvSpPr/>
          <p:nvPr/>
        </p:nvSpPr>
        <p:spPr>
          <a:xfrm>
            <a:off x="10767700" y="3931920"/>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$4.31</a:t>
            </a:r>
          </a:p>
        </p:txBody>
      </p:sp>
      <p:sp>
        <p:nvSpPr>
          <p:cNvPr id="31" name="body:valuation-label"/>
          <p:cNvSpPr/>
          <p:nvPr/>
        </p:nvSpPr>
        <p:spPr>
          <a:xfrm>
            <a:off x="9180347" y="4279392"/>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EV/EBITDA FY1</a:t>
            </a:r>
          </a:p>
        </p:txBody>
      </p:sp>
      <p:sp>
        <p:nvSpPr>
          <p:cNvPr id="32" name="body:valuation-value"/>
          <p:cNvSpPr/>
          <p:nvPr/>
        </p:nvSpPr>
        <p:spPr>
          <a:xfrm>
            <a:off x="10767700" y="4279392"/>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$3.89</a:t>
            </a:r>
          </a:p>
        </p:txBody>
      </p:sp>
      <p:sp>
        <p:nvSpPr>
          <p:cNvPr id="33" name="body:valuation-label"/>
          <p:cNvSpPr/>
          <p:nvPr/>
        </p:nvSpPr>
        <p:spPr>
          <a:xfrm>
            <a:off x="9180347" y="4626864"/>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P/E LTM</a:t>
            </a:r>
          </a:p>
        </p:txBody>
      </p:sp>
      <p:sp>
        <p:nvSpPr>
          <p:cNvPr id="34" name="body:valuation-value"/>
          <p:cNvSpPr/>
          <p:nvPr/>
        </p:nvSpPr>
        <p:spPr>
          <a:xfrm>
            <a:off x="10767700" y="4626864"/>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$4.13</a:t>
            </a:r>
          </a:p>
        </p:txBody>
      </p:sp>
      <p:sp>
        <p:nvSpPr>
          <p:cNvPr id="35" name="body:valuation-label"/>
          <p:cNvSpPr/>
          <p:nvPr/>
        </p:nvSpPr>
        <p:spPr>
          <a:xfrm>
            <a:off x="9180347" y="4974336"/>
            <a:ext cx="158735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500" b="0" i="0">
                <a:solidFill>
                  <a:srgbClr val="000000"/>
                </a:solidFill>
                <a:latin typeface="Book Antiqua"/>
              </a:rPr>
              <a:t>Consensus TP</a:t>
            </a:r>
          </a:p>
        </p:txBody>
      </p:sp>
      <p:sp>
        <p:nvSpPr>
          <p:cNvPr id="36" name="body:valuation-value"/>
          <p:cNvSpPr/>
          <p:nvPr/>
        </p:nvSpPr>
        <p:spPr>
          <a:xfrm>
            <a:off x="10767700" y="4974336"/>
            <a:ext cx="105823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500" b="1" i="0">
                <a:solidFill>
                  <a:srgbClr val="000000"/>
                </a:solidFill>
                <a:latin typeface="Book Antiqua"/>
              </a:rPr>
              <a:t>$5.43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Investment Driver I – Scale Is Now Profit</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Revenue is growing faster than costs, so margins rise; ads, groceries and flat overheads should keep it going.</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8</a:t>
            </a:r>
          </a:p>
        </p:txBody>
      </p:sp>
      <p:sp>
        <p:nvSpPr>
          <p:cNvPr id="10" name="section:Why Margins Keep Rising"/>
          <p:cNvSpPr/>
          <p:nvPr/>
        </p:nvSpPr>
        <p:spPr>
          <a:xfrm>
            <a:off x="219456" y="1362456"/>
            <a:ext cx="658155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Why Margins Keep Rising</a:t>
            </a:r>
          </a:p>
        </p:txBody>
      </p:sp>
      <p:sp>
        <p:nvSpPr>
          <p:cNvPr id="11" name="body:driver"/>
          <p:cNvSpPr/>
          <p:nvPr/>
        </p:nvSpPr>
        <p:spPr>
          <a:xfrm>
            <a:off x="219456" y="1709928"/>
            <a:ext cx="6581558" cy="34564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500" b="1" i="0">
                <a:solidFill>
                  <a:srgbClr val="000000"/>
                </a:solidFill>
                <a:latin typeface="Book Antiqua"/>
              </a:rPr>
              <a:t>Operating leverage:</a:t>
            </a:r>
            <a:r>
              <a:rPr sz="1500" b="0" i="0">
                <a:solidFill>
                  <a:srgbClr val="000000"/>
                </a:solidFill>
                <a:latin typeface="Book Antiqua"/>
              </a:rPr>
              <a:t> Q2 2026 vs Q2 2025, adj. EBITDA +54% on revenue +22%; margin 13.3% to 16.9%</a:t>
            </a:r>
          </a:p>
          <a:p>
            <a:pPr marL="177800" indent="-177800" algn="l">
              <a:spcBef>
                <a:spcPts val="800"/>
              </a:spcBef>
              <a:buFont typeface="Arial"/>
              <a:buChar char="•"/>
            </a:pPr>
            <a:r>
              <a:rPr sz="1500" b="1" i="0">
                <a:solidFill>
                  <a:srgbClr val="000000"/>
                </a:solidFill>
                <a:latin typeface="Book Antiqua"/>
              </a:rPr>
              <a:t>Flat overheads:</a:t>
            </a:r>
            <a:r>
              <a:rPr sz="1500" b="0" i="0">
                <a:solidFill>
                  <a:srgbClr val="000000"/>
                </a:solidFill>
                <a:latin typeface="Book Antiqua"/>
              </a:rPr>
              <a:t> corporate costs guided broadly stable for H2 2026</a:t>
            </a:r>
          </a:p>
          <a:p>
            <a:pPr marL="177800" indent="-177800" algn="l">
              <a:spcBef>
                <a:spcPts val="800"/>
              </a:spcBef>
              <a:buFont typeface="Arial"/>
              <a:buChar char="•"/>
            </a:pPr>
            <a:r>
              <a:rPr sz="1500" b="1" i="0">
                <a:solidFill>
                  <a:srgbClr val="000000"/>
                </a:solidFill>
                <a:latin typeface="Book Antiqua"/>
              </a:rPr>
              <a:t>Deliveries:</a:t>
            </a:r>
            <a:r>
              <a:rPr sz="1500" b="0" i="0">
                <a:solidFill>
                  <a:srgbClr val="000000"/>
                </a:solidFill>
                <a:latin typeface="Book Antiqua"/>
              </a:rPr>
              <a:t> profit +53% vs Q2 2025 ($63M to $96M), from ads and efficiency; margin 1.8% to 2.3% of orders</a:t>
            </a:r>
          </a:p>
          <a:p>
            <a:pPr marL="177800" indent="-177800" algn="l">
              <a:spcBef>
                <a:spcPts val="800"/>
              </a:spcBef>
              <a:buFont typeface="Arial"/>
              <a:buChar char="•"/>
            </a:pPr>
            <a:r>
              <a:rPr sz="1500" b="1" i="0">
                <a:solidFill>
                  <a:srgbClr val="000000"/>
                </a:solidFill>
                <a:latin typeface="Book Antiqua"/>
              </a:rPr>
              <a:t>Scale:</a:t>
            </a:r>
            <a:r>
              <a:rPr sz="1500" b="0" i="0">
                <a:solidFill>
                  <a:srgbClr val="000000"/>
                </a:solidFill>
                <a:latin typeface="Book Antiqua"/>
              </a:rPr>
              <a:t> 55% of regional food delivery in 2025; 53.9M monthly users (+17% vs Q2 2025)</a:t>
            </a:r>
          </a:p>
          <a:p>
            <a:pPr marL="177800" indent="-177800" algn="l">
              <a:spcBef>
                <a:spcPts val="800"/>
              </a:spcBef>
              <a:buFont typeface="Arial"/>
              <a:buChar char="•"/>
            </a:pPr>
            <a:r>
              <a:rPr sz="1500" b="1" i="0">
                <a:solidFill>
                  <a:srgbClr val="000000"/>
                </a:solidFill>
                <a:latin typeface="Book Antiqua"/>
              </a:rPr>
              <a:t>Watch:</a:t>
            </a:r>
            <a:r>
              <a:rPr sz="1500" b="0" i="0">
                <a:solidFill>
                  <a:srgbClr val="000000"/>
                </a:solidFill>
                <a:latin typeface="Book Antiqua"/>
              </a:rPr>
              <a:t> incentives rose to 10.9% of order value (from 10.1% in 3Q25), partly fuel support</a:t>
            </a:r>
          </a:p>
        </p:txBody>
      </p:sp>
      <p:sp>
        <p:nvSpPr>
          <p:cNvPr id="12" name="callout:driver"/>
          <p:cNvSpPr/>
          <p:nvPr/>
        </p:nvSpPr>
        <p:spPr>
          <a:xfrm>
            <a:off x="219456" y="5266944"/>
            <a:ext cx="6581558" cy="960120"/>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ctr">
              <a:buNone/>
            </a:pPr>
            <a:r>
              <a:rPr sz="1400" b="0" i="0">
                <a:solidFill>
                  <a:srgbClr val="000000"/>
                </a:solidFill>
                <a:latin typeface="Book Antiqua"/>
              </a:rPr>
              <a:t>Incentives are ~4x EBITDA ($706M vs $168M in Q2 2026). Cutting them from 10.9% to 9.9% of order value would add ~$65M a quarter: ~40% more EBITDA.</a:t>
            </a:r>
          </a:p>
        </p:txBody>
      </p:sp>
      <p:sp>
        <p:nvSpPr>
          <p:cNvPr id="13" name="section:Adjusted EBITDA by Quarter (USD MM)"/>
          <p:cNvSpPr/>
          <p:nvPr/>
        </p:nvSpPr>
        <p:spPr>
          <a:xfrm>
            <a:off x="7029614" y="1362456"/>
            <a:ext cx="49426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Adjusted EBITDA by Quarter (USD MM)</a:t>
            </a:r>
          </a:p>
        </p:txBody>
      </p:sp>
      <p:graphicFrame>
        <p:nvGraphicFramePr>
          <p:cNvPr id="14" name="chart:driver-0"/>
          <p:cNvGraphicFramePr>
            <a:graphicFrameLocks noGrp="1"/>
          </p:cNvGraphicFramePr>
          <p:nvPr/>
        </p:nvGraphicFramePr>
        <p:xfrm>
          <a:off x="7029614" y="1709928"/>
          <a:ext cx="4942624" cy="1833371"/>
        </p:xfrm>
        <a:graphic>
          <a:graphicData uri="http://schemas.openxmlformats.org/drawingml/2006/chart">
            <c:chart xmlns:c="http://schemas.openxmlformats.org/drawingml/2006/chart" xmlns:r="http://schemas.openxmlformats.org/officeDocument/2006/relationships" r:id="rId4"/>
          </a:graphicData>
        </a:graphic>
      </p:graphicFrame>
      <p:sp>
        <p:nvSpPr>
          <p:cNvPr id="15" name="source"/>
          <p:cNvSpPr/>
          <p:nvPr/>
        </p:nvSpPr>
        <p:spPr>
          <a:xfrm>
            <a:off x="7029614" y="3543299"/>
            <a:ext cx="4942624"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Grab quarterly results</a:t>
            </a:r>
          </a:p>
        </p:txBody>
      </p:sp>
      <p:sp>
        <p:nvSpPr>
          <p:cNvPr id="16" name="section:Incentives as % of Order Value (On-Demand GMV)"/>
          <p:cNvSpPr/>
          <p:nvPr/>
        </p:nvSpPr>
        <p:spPr>
          <a:xfrm>
            <a:off x="7029614" y="3845052"/>
            <a:ext cx="49426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Incentives as % of Order Value (On-Demand GMV)</a:t>
            </a:r>
          </a:p>
        </p:txBody>
      </p:sp>
      <p:graphicFrame>
        <p:nvGraphicFramePr>
          <p:cNvPr id="17" name="chart:driver-1"/>
          <p:cNvGraphicFramePr>
            <a:graphicFrameLocks noGrp="1"/>
          </p:cNvGraphicFramePr>
          <p:nvPr/>
        </p:nvGraphicFramePr>
        <p:xfrm>
          <a:off x="7029614" y="4192524"/>
          <a:ext cx="4942624" cy="1833371"/>
        </p:xfrm>
        <a:graphic>
          <a:graphicData uri="http://schemas.openxmlformats.org/drawingml/2006/chart">
            <c:chart xmlns:c="http://schemas.openxmlformats.org/drawingml/2006/chart" xmlns:r="http://schemas.openxmlformats.org/officeDocument/2006/relationships" r:id="rId5"/>
          </a:graphicData>
        </a:graphic>
      </p:graphicFrame>
      <p:sp>
        <p:nvSpPr>
          <p:cNvPr id="18" name="source"/>
          <p:cNvSpPr/>
          <p:nvPr/>
        </p:nvSpPr>
        <p:spPr>
          <a:xfrm>
            <a:off x="7029614" y="6025896"/>
            <a:ext cx="4942624"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Grab results; 3Q24-2Q25 derived from reported year-on-year changes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2200" b="1" i="0">
                <a:solidFill>
                  <a:srgbClr val="376092"/>
                </a:solidFill>
                <a:latin typeface="Book Antiqua"/>
              </a:rPr>
              <a:t>Investment Driver II – Fintech and Atome, the Second Engine</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500" b="0" i="0">
                <a:solidFill>
                  <a:srgbClr val="FFFFFF"/>
                </a:solidFill>
                <a:latin typeface="Book Antiqua"/>
              </a:rPr>
              <a:t>Grab lends to customers it already knows, and Atome adds a $1B loan book; today's small loss comes from growing loans ~3x a year.</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9</a:t>
            </a:r>
          </a:p>
        </p:txBody>
      </p:sp>
      <p:sp>
        <p:nvSpPr>
          <p:cNvPr id="10" name="section:Lending to Users Grab Already Knows"/>
          <p:cNvSpPr/>
          <p:nvPr/>
        </p:nvSpPr>
        <p:spPr>
          <a:xfrm>
            <a:off x="219456" y="1362456"/>
            <a:ext cx="658155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Lending to Users Grab Already Knows</a:t>
            </a:r>
          </a:p>
        </p:txBody>
      </p:sp>
      <p:sp>
        <p:nvSpPr>
          <p:cNvPr id="11" name="body:driver"/>
          <p:cNvSpPr/>
          <p:nvPr/>
        </p:nvSpPr>
        <p:spPr>
          <a:xfrm>
            <a:off x="219456" y="1709928"/>
            <a:ext cx="6581558" cy="34564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500" b="1" i="0">
                <a:solidFill>
                  <a:srgbClr val="000000"/>
                </a:solidFill>
                <a:latin typeface="Book Antiqua"/>
              </a:rPr>
              <a:t>Ecosystem edge:</a:t>
            </a:r>
            <a:r>
              <a:rPr sz="1500" b="0" i="0">
                <a:solidFill>
                  <a:srgbClr val="000000"/>
                </a:solidFill>
                <a:latin typeface="Book Antiqua"/>
              </a:rPr>
              <a:t> borrowers already use the app; finding them costs almost nothing</a:t>
            </a:r>
          </a:p>
          <a:p>
            <a:pPr marL="177800" indent="-177800" algn="l">
              <a:spcBef>
                <a:spcPts val="800"/>
              </a:spcBef>
              <a:buFont typeface="Arial"/>
              <a:buChar char="•"/>
            </a:pPr>
            <a:r>
              <a:rPr sz="1500" b="1" i="0">
                <a:solidFill>
                  <a:srgbClr val="000000"/>
                </a:solidFill>
                <a:latin typeface="Book Antiqua"/>
              </a:rPr>
              <a:t>Scale:</a:t>
            </a:r>
            <a:r>
              <a:rPr sz="1500" b="0" i="0">
                <a:solidFill>
                  <a:srgbClr val="000000"/>
                </a:solidFill>
                <a:latin typeface="Book Antiqua"/>
              </a:rPr>
              <a:t> loan book ~3x in a year, to $2.3B (Jun 2026); Superbank profitable since FY2025</a:t>
            </a:r>
          </a:p>
          <a:p>
            <a:pPr marL="177800" indent="-177800" algn="l">
              <a:spcBef>
                <a:spcPts val="800"/>
              </a:spcBef>
              <a:buFont typeface="Arial"/>
              <a:buChar char="•"/>
            </a:pPr>
            <a:r>
              <a:rPr sz="1500" b="1" i="0">
                <a:solidFill>
                  <a:srgbClr val="000000"/>
                </a:solidFill>
                <a:latin typeface="Book Antiqua"/>
              </a:rPr>
              <a:t>Atome:</a:t>
            </a:r>
            <a:r>
              <a:rPr sz="1500" b="0" i="0">
                <a:solidFill>
                  <a:srgbClr val="000000"/>
                </a:solidFill>
                <a:latin typeface="Book Antiqua"/>
              </a:rPr>
              <a:t> $1.49B for 60% of a pay-later lender in 5 markets; $1.0B loan book</a:t>
            </a:r>
          </a:p>
          <a:p>
            <a:pPr marL="177800" indent="-177800" algn="l">
              <a:spcBef>
                <a:spcPts val="800"/>
              </a:spcBef>
              <a:buFont typeface="Arial"/>
              <a:buChar char="•"/>
            </a:pPr>
            <a:r>
              <a:rPr sz="1500" b="1" i="0">
                <a:solidFill>
                  <a:srgbClr val="000000"/>
                </a:solidFill>
                <a:latin typeface="Book Antiqua"/>
              </a:rPr>
              <a:t>Demand:</a:t>
            </a:r>
            <a:r>
              <a:rPr sz="1500" b="0" i="0">
                <a:solidFill>
                  <a:srgbClr val="000000"/>
                </a:solidFill>
                <a:latin typeface="Book Antiqua"/>
              </a:rPr>
              <a:t> Malaysia pay-later spending ~US$3.5B (RM14.7B) in H1 2026, +22% vs H2 2025; 9.2M users</a:t>
            </a:r>
          </a:p>
          <a:p>
            <a:pPr marL="177800" indent="-177800" algn="l">
              <a:spcBef>
                <a:spcPts val="800"/>
              </a:spcBef>
              <a:buFont typeface="Arial"/>
              <a:buChar char="•"/>
            </a:pPr>
            <a:r>
              <a:rPr sz="1500" b="1" i="0">
                <a:solidFill>
                  <a:srgbClr val="000000"/>
                </a:solidFill>
                <a:latin typeface="Book Antiqua"/>
              </a:rPr>
              <a:t>Path:</a:t>
            </a:r>
            <a:r>
              <a:rPr sz="1500" b="0" i="0">
                <a:solidFill>
                  <a:srgbClr val="000000"/>
                </a:solidFill>
                <a:latin typeface="Book Antiqua"/>
              </a:rPr>
              <a:t> quarterly loss -$26M (Q2 2025) to -$15M (Q2 2026); breakeven guided H2 2026</a:t>
            </a:r>
          </a:p>
        </p:txBody>
      </p:sp>
      <p:sp>
        <p:nvSpPr>
          <p:cNvPr id="12" name="callout:driver"/>
          <p:cNvSpPr/>
          <p:nvPr/>
        </p:nvSpPr>
        <p:spPr>
          <a:xfrm>
            <a:off x="219456" y="5266944"/>
            <a:ext cx="6581558" cy="960120"/>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ctr">
              <a:buNone/>
            </a:pPr>
            <a:r>
              <a:rPr sz="1400" b="0" i="0">
                <a:solidFill>
                  <a:srgbClr val="000000"/>
                </a:solidFill>
                <a:latin typeface="Book Antiqua"/>
              </a:rPr>
              <a:t>Why it still loses money: lenders book expected losses when a loan is made, and interest arrives later - fast growth looks costly at first.</a:t>
            </a:r>
          </a:p>
        </p:txBody>
      </p:sp>
      <p:sp>
        <p:nvSpPr>
          <p:cNvPr id="13" name="section:Gross Loan Book (USD bn)"/>
          <p:cNvSpPr/>
          <p:nvPr/>
        </p:nvSpPr>
        <p:spPr>
          <a:xfrm>
            <a:off x="7029614" y="1362456"/>
            <a:ext cx="49426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Gross Loan Book (USD bn)</a:t>
            </a:r>
          </a:p>
        </p:txBody>
      </p:sp>
      <p:graphicFrame>
        <p:nvGraphicFramePr>
          <p:cNvPr id="14" name="chart:driver-0"/>
          <p:cNvGraphicFramePr>
            <a:graphicFrameLocks noGrp="1"/>
          </p:cNvGraphicFramePr>
          <p:nvPr/>
        </p:nvGraphicFramePr>
        <p:xfrm>
          <a:off x="7029614" y="1709928"/>
          <a:ext cx="4942624" cy="1833371"/>
        </p:xfrm>
        <a:graphic>
          <a:graphicData uri="http://schemas.openxmlformats.org/drawingml/2006/chart">
            <c:chart xmlns:c="http://schemas.openxmlformats.org/drawingml/2006/chart" xmlns:r="http://schemas.openxmlformats.org/officeDocument/2006/relationships" r:id="rId4"/>
          </a:graphicData>
        </a:graphic>
      </p:graphicFrame>
      <p:sp>
        <p:nvSpPr>
          <p:cNvPr id="15" name="source"/>
          <p:cNvSpPr/>
          <p:nvPr/>
        </p:nvSpPr>
        <p:spPr>
          <a:xfrm>
            <a:off x="7029614" y="3543299"/>
            <a:ext cx="4942624"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Grab Q2 2026 results; Atome 6-K (Sep 2026, $1.0B book; target "over $6B")</a:t>
            </a:r>
          </a:p>
        </p:txBody>
      </p:sp>
      <p:sp>
        <p:nvSpPr>
          <p:cNvPr id="16" name="section:Financial Services Segment Adj. EBITDA (USD MM)"/>
          <p:cNvSpPr/>
          <p:nvPr/>
        </p:nvSpPr>
        <p:spPr>
          <a:xfrm>
            <a:off x="7029614" y="3845052"/>
            <a:ext cx="49426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Financial Services Segment Adj. EBITDA (USD MM)</a:t>
            </a:r>
          </a:p>
        </p:txBody>
      </p:sp>
      <p:graphicFrame>
        <p:nvGraphicFramePr>
          <p:cNvPr id="17" name="chart:driver-1"/>
          <p:cNvGraphicFramePr>
            <a:graphicFrameLocks noGrp="1"/>
          </p:cNvGraphicFramePr>
          <p:nvPr/>
        </p:nvGraphicFramePr>
        <p:xfrm>
          <a:off x="7029614" y="4192524"/>
          <a:ext cx="4942624" cy="1833371"/>
        </p:xfrm>
        <a:graphic>
          <a:graphicData uri="http://schemas.openxmlformats.org/drawingml/2006/chart">
            <c:chart xmlns:c="http://schemas.openxmlformats.org/drawingml/2006/chart" xmlns:r="http://schemas.openxmlformats.org/officeDocument/2006/relationships" r:id="rId5"/>
          </a:graphicData>
        </a:graphic>
      </p:graphicFrame>
      <p:sp>
        <p:nvSpPr>
          <p:cNvPr id="18" name="source"/>
          <p:cNvSpPr/>
          <p:nvPr/>
        </p:nvSpPr>
        <p:spPr>
          <a:xfrm>
            <a:off x="7029614" y="6025896"/>
            <a:ext cx="4942624"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Grab Q2 2026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2250" b="1" i="0">
                <a:solidFill>
                  <a:srgbClr val="376092"/>
                </a:solidFill>
                <a:latin typeface="Book Antiqua"/>
              </a:rPr>
              <a:t>Investment Driver III – The Price Already Reflects Fee Caps</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Today's only fee cap costs ~1% of revenue; even if Indonesia also caps car rides, our value ($3.04) is above today's $2.68.</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10</a:t>
            </a:r>
          </a:p>
        </p:txBody>
      </p:sp>
      <p:sp>
        <p:nvSpPr>
          <p:cNvPr id="10" name="section:Grab Revenue by Country, 2025 (USD MM)"/>
          <p:cNvSpPr/>
          <p:nvPr/>
        </p:nvSpPr>
        <p:spPr>
          <a:xfrm>
            <a:off x="219456" y="1362456"/>
            <a:ext cx="517122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Grab Revenue by Country, 2025 (USD MM)</a:t>
            </a:r>
          </a:p>
        </p:txBody>
      </p:sp>
      <p:sp>
        <p:nvSpPr>
          <p:cNvPr id="11" name="frame:map-VNM"/>
          <p:cNvSpPr/>
          <p:nvPr/>
        </p:nvSpPr>
        <p:spPr>
          <a:xfrm>
            <a:off x="1278796" y="2324350"/>
            <a:ext cx="767693" cy="1561986"/>
          </a:xfrm>
          <a:custGeom>
            <a:avLst/>
            <a:gdLst/>
            <a:ahLst/>
            <a:cxnLst/>
            <a:rect l="l" t="t" r="r" b="b"/>
            <a:pathLst>
              <a:path w="767693" h="1561986">
                <a:moveTo>
                  <a:pt x="200083" y="1370381"/>
                </a:moveTo>
                <a:lnTo>
                  <a:pt x="202097" y="1375680"/>
                </a:lnTo>
                <a:lnTo>
                  <a:pt x="201355" y="1387973"/>
                </a:lnTo>
                <a:lnTo>
                  <a:pt x="197222" y="1400054"/>
                </a:lnTo>
                <a:lnTo>
                  <a:pt x="198387" y="1405353"/>
                </a:lnTo>
                <a:lnTo>
                  <a:pt x="195208" y="1408744"/>
                </a:lnTo>
                <a:lnTo>
                  <a:pt x="188214" y="1386066"/>
                </a:lnTo>
                <a:lnTo>
                  <a:pt x="179312" y="1376316"/>
                </a:lnTo>
                <a:lnTo>
                  <a:pt x="177404" y="1372501"/>
                </a:lnTo>
                <a:lnTo>
                  <a:pt x="182491" y="1372713"/>
                </a:lnTo>
                <a:lnTo>
                  <a:pt x="191817" y="1366566"/>
                </a:lnTo>
                <a:lnTo>
                  <a:pt x="196268" y="1366460"/>
                </a:lnTo>
                <a:lnTo>
                  <a:pt x="200083" y="1370381"/>
                </a:lnTo>
                <a:close/>
                <a:moveTo>
                  <a:pt x="614345" y="192241"/>
                </a:moveTo>
                <a:lnTo>
                  <a:pt x="596965" y="193407"/>
                </a:lnTo>
                <a:lnTo>
                  <a:pt x="578737" y="207078"/>
                </a:lnTo>
                <a:lnTo>
                  <a:pt x="554680" y="215874"/>
                </a:lnTo>
                <a:lnTo>
                  <a:pt x="550759" y="232512"/>
                </a:lnTo>
                <a:lnTo>
                  <a:pt x="528716" y="251482"/>
                </a:lnTo>
                <a:lnTo>
                  <a:pt x="519178" y="246183"/>
                </a:lnTo>
                <a:lnTo>
                  <a:pt x="509216" y="249151"/>
                </a:lnTo>
                <a:lnTo>
                  <a:pt x="499148" y="251376"/>
                </a:lnTo>
                <a:lnTo>
                  <a:pt x="485795" y="247031"/>
                </a:lnTo>
                <a:lnTo>
                  <a:pt x="477635" y="246077"/>
                </a:lnTo>
                <a:lnTo>
                  <a:pt x="483358" y="266637"/>
                </a:lnTo>
                <a:lnTo>
                  <a:pt x="463646" y="296204"/>
                </a:lnTo>
                <a:lnTo>
                  <a:pt x="460149" y="321427"/>
                </a:lnTo>
                <a:lnTo>
                  <a:pt x="422845" y="352902"/>
                </a:lnTo>
                <a:lnTo>
                  <a:pt x="403558" y="358518"/>
                </a:lnTo>
                <a:lnTo>
                  <a:pt x="385330" y="408539"/>
                </a:lnTo>
                <a:lnTo>
                  <a:pt x="383104" y="426873"/>
                </a:lnTo>
                <a:lnTo>
                  <a:pt x="366996" y="451990"/>
                </a:lnTo>
                <a:lnTo>
                  <a:pt x="376852" y="481451"/>
                </a:lnTo>
                <a:lnTo>
                  <a:pt x="384906" y="495546"/>
                </a:lnTo>
                <a:lnTo>
                  <a:pt x="393384" y="510806"/>
                </a:lnTo>
                <a:lnTo>
                  <a:pt x="420620" y="536559"/>
                </a:lnTo>
                <a:lnTo>
                  <a:pt x="448916" y="558390"/>
                </a:lnTo>
                <a:lnTo>
                  <a:pt x="453897" y="577360"/>
                </a:lnTo>
                <a:lnTo>
                  <a:pt x="442981" y="588911"/>
                </a:lnTo>
                <a:lnTo>
                  <a:pt x="460043" y="599721"/>
                </a:lnTo>
                <a:lnTo>
                  <a:pt x="503388" y="646562"/>
                </a:lnTo>
                <a:lnTo>
                  <a:pt x="530306" y="680793"/>
                </a:lnTo>
                <a:lnTo>
                  <a:pt x="569411" y="707817"/>
                </a:lnTo>
                <a:lnTo>
                  <a:pt x="574074" y="715765"/>
                </a:lnTo>
                <a:lnTo>
                  <a:pt x="596329" y="733251"/>
                </a:lnTo>
                <a:lnTo>
                  <a:pt x="604701" y="743107"/>
                </a:lnTo>
                <a:lnTo>
                  <a:pt x="616252" y="740245"/>
                </a:lnTo>
                <a:lnTo>
                  <a:pt x="626532" y="750207"/>
                </a:lnTo>
                <a:lnTo>
                  <a:pt x="639355" y="766316"/>
                </a:lnTo>
                <a:lnTo>
                  <a:pt x="645502" y="766422"/>
                </a:lnTo>
                <a:lnTo>
                  <a:pt x="647515" y="777125"/>
                </a:lnTo>
                <a:lnTo>
                  <a:pt x="664578" y="801076"/>
                </a:lnTo>
                <a:lnTo>
                  <a:pt x="688634" y="830643"/>
                </a:lnTo>
                <a:lnTo>
                  <a:pt x="704213" y="841877"/>
                </a:lnTo>
                <a:lnTo>
                  <a:pt x="716824" y="881830"/>
                </a:lnTo>
                <a:lnTo>
                  <a:pt x="732191" y="912033"/>
                </a:lnTo>
                <a:lnTo>
                  <a:pt x="737701" y="947217"/>
                </a:lnTo>
                <a:lnTo>
                  <a:pt x="745120" y="971592"/>
                </a:lnTo>
                <a:lnTo>
                  <a:pt x="749147" y="982295"/>
                </a:lnTo>
                <a:lnTo>
                  <a:pt x="753704" y="1012817"/>
                </a:lnTo>
                <a:lnTo>
                  <a:pt x="749889" y="1031257"/>
                </a:lnTo>
                <a:lnTo>
                  <a:pt x="752008" y="1064321"/>
                </a:lnTo>
                <a:lnTo>
                  <a:pt x="763136" y="1091239"/>
                </a:lnTo>
                <a:lnTo>
                  <a:pt x="767693" y="1123668"/>
                </a:lnTo>
                <a:lnTo>
                  <a:pt x="763560" y="1128755"/>
                </a:lnTo>
                <a:lnTo>
                  <a:pt x="752220" y="1124728"/>
                </a:lnTo>
                <a:lnTo>
                  <a:pt x="755505" y="1158428"/>
                </a:lnTo>
                <a:lnTo>
                  <a:pt x="746074" y="1192129"/>
                </a:lnTo>
                <a:lnTo>
                  <a:pt x="750631" y="1204634"/>
                </a:lnTo>
                <a:lnTo>
                  <a:pt x="746497" y="1204210"/>
                </a:lnTo>
                <a:lnTo>
                  <a:pt x="744272" y="1199971"/>
                </a:lnTo>
                <a:lnTo>
                  <a:pt x="740881" y="1209191"/>
                </a:lnTo>
                <a:lnTo>
                  <a:pt x="743636" y="1223922"/>
                </a:lnTo>
                <a:lnTo>
                  <a:pt x="741517" y="1235367"/>
                </a:lnTo>
                <a:lnTo>
                  <a:pt x="727422" y="1242997"/>
                </a:lnTo>
                <a:lnTo>
                  <a:pt x="721805" y="1270233"/>
                </a:lnTo>
                <a:lnTo>
                  <a:pt x="691390" y="1284752"/>
                </a:lnTo>
                <a:lnTo>
                  <a:pt x="661610" y="1301496"/>
                </a:lnTo>
                <a:lnTo>
                  <a:pt x="635858" y="1314320"/>
                </a:lnTo>
                <a:lnTo>
                  <a:pt x="617312" y="1335515"/>
                </a:lnTo>
                <a:lnTo>
                  <a:pt x="571000" y="1353001"/>
                </a:lnTo>
                <a:lnTo>
                  <a:pt x="551925" y="1363175"/>
                </a:lnTo>
                <a:lnTo>
                  <a:pt x="536134" y="1367308"/>
                </a:lnTo>
                <a:lnTo>
                  <a:pt x="520556" y="1359042"/>
                </a:lnTo>
                <a:lnTo>
                  <a:pt x="513455" y="1344947"/>
                </a:lnTo>
                <a:lnTo>
                  <a:pt x="509534" y="1346324"/>
                </a:lnTo>
                <a:lnTo>
                  <a:pt x="505613" y="1369427"/>
                </a:lnTo>
                <a:lnTo>
                  <a:pt x="491412" y="1365930"/>
                </a:lnTo>
                <a:lnTo>
                  <a:pt x="469475" y="1362539"/>
                </a:lnTo>
                <a:lnTo>
                  <a:pt x="479225" y="1362857"/>
                </a:lnTo>
                <a:lnTo>
                  <a:pt x="487703" y="1371971"/>
                </a:lnTo>
                <a:lnTo>
                  <a:pt x="485478" y="1380449"/>
                </a:lnTo>
                <a:lnTo>
                  <a:pt x="457394" y="1379601"/>
                </a:lnTo>
                <a:lnTo>
                  <a:pt x="469051" y="1387231"/>
                </a:lnTo>
                <a:lnTo>
                  <a:pt x="488445" y="1395815"/>
                </a:lnTo>
                <a:lnTo>
                  <a:pt x="480921" y="1405459"/>
                </a:lnTo>
                <a:lnTo>
                  <a:pt x="474986" y="1417223"/>
                </a:lnTo>
                <a:lnTo>
                  <a:pt x="468415" y="1426655"/>
                </a:lnTo>
                <a:lnTo>
                  <a:pt x="452837" y="1418176"/>
                </a:lnTo>
                <a:lnTo>
                  <a:pt x="424753" y="1396769"/>
                </a:lnTo>
                <a:lnTo>
                  <a:pt x="465024" y="1441915"/>
                </a:lnTo>
                <a:lnTo>
                  <a:pt x="462375" y="1453784"/>
                </a:lnTo>
                <a:lnTo>
                  <a:pt x="445312" y="1458871"/>
                </a:lnTo>
                <a:lnTo>
                  <a:pt x="397411" y="1415845"/>
                </a:lnTo>
                <a:lnTo>
                  <a:pt x="417123" y="1446366"/>
                </a:lnTo>
                <a:lnTo>
                  <a:pt x="427085" y="1464594"/>
                </a:lnTo>
                <a:lnTo>
                  <a:pt x="423057" y="1475722"/>
                </a:lnTo>
                <a:lnTo>
                  <a:pt x="341774" y="1521821"/>
                </a:lnTo>
                <a:lnTo>
                  <a:pt x="319518" y="1548421"/>
                </a:lnTo>
                <a:lnTo>
                  <a:pt x="287832" y="1561986"/>
                </a:lnTo>
                <a:lnTo>
                  <a:pt x="288255" y="1544606"/>
                </a:lnTo>
                <a:lnTo>
                  <a:pt x="279671" y="1498189"/>
                </a:lnTo>
                <a:lnTo>
                  <a:pt x="288997" y="1431317"/>
                </a:lnTo>
                <a:lnTo>
                  <a:pt x="309133" y="1422309"/>
                </a:lnTo>
                <a:lnTo>
                  <a:pt x="308179" y="1412242"/>
                </a:lnTo>
                <a:lnTo>
                  <a:pt x="295674" y="1401114"/>
                </a:lnTo>
                <a:lnTo>
                  <a:pt x="278294" y="1390305"/>
                </a:lnTo>
                <a:lnTo>
                  <a:pt x="263563" y="1393802"/>
                </a:lnTo>
                <a:lnTo>
                  <a:pt x="256251" y="1383522"/>
                </a:lnTo>
                <a:lnTo>
                  <a:pt x="238447" y="1368262"/>
                </a:lnTo>
                <a:lnTo>
                  <a:pt x="247772" y="1362751"/>
                </a:lnTo>
                <a:lnTo>
                  <a:pt x="266424" y="1356392"/>
                </a:lnTo>
                <a:lnTo>
                  <a:pt x="283487" y="1355226"/>
                </a:lnTo>
                <a:lnTo>
                  <a:pt x="297581" y="1341661"/>
                </a:lnTo>
                <a:lnTo>
                  <a:pt x="305742" y="1334031"/>
                </a:lnTo>
                <a:lnTo>
                  <a:pt x="301608" y="1317817"/>
                </a:lnTo>
                <a:lnTo>
                  <a:pt x="316127" y="1316651"/>
                </a:lnTo>
                <a:lnTo>
                  <a:pt x="332660" y="1322268"/>
                </a:lnTo>
                <a:lnTo>
                  <a:pt x="342303" y="1310928"/>
                </a:lnTo>
                <a:lnTo>
                  <a:pt x="360425" y="1309127"/>
                </a:lnTo>
                <a:lnTo>
                  <a:pt x="379289" y="1306901"/>
                </a:lnTo>
                <a:lnTo>
                  <a:pt x="389675" y="1320254"/>
                </a:lnTo>
                <a:lnTo>
                  <a:pt x="398683" y="1318029"/>
                </a:lnTo>
                <a:lnTo>
                  <a:pt x="415745" y="1327355"/>
                </a:lnTo>
                <a:lnTo>
                  <a:pt x="419242" y="1314108"/>
                </a:lnTo>
                <a:lnTo>
                  <a:pt x="422316" y="1301920"/>
                </a:lnTo>
                <a:lnTo>
                  <a:pt x="393808" y="1279877"/>
                </a:lnTo>
                <a:lnTo>
                  <a:pt x="390523" y="1266418"/>
                </a:lnTo>
                <a:lnTo>
                  <a:pt x="387767" y="1246601"/>
                </a:lnTo>
                <a:lnTo>
                  <a:pt x="389463" y="1238546"/>
                </a:lnTo>
                <a:lnTo>
                  <a:pt x="397517" y="1236639"/>
                </a:lnTo>
                <a:lnTo>
                  <a:pt x="405889" y="1225511"/>
                </a:lnTo>
                <a:lnTo>
                  <a:pt x="430582" y="1230810"/>
                </a:lnTo>
                <a:lnTo>
                  <a:pt x="447538" y="1233036"/>
                </a:lnTo>
                <a:lnTo>
                  <a:pt x="448810" y="1227631"/>
                </a:lnTo>
                <a:lnTo>
                  <a:pt x="449128" y="1205376"/>
                </a:lnTo>
                <a:lnTo>
                  <a:pt x="472125" y="1203150"/>
                </a:lnTo>
                <a:lnTo>
                  <a:pt x="486325" y="1194354"/>
                </a:lnTo>
                <a:lnTo>
                  <a:pt x="516635" y="1181213"/>
                </a:lnTo>
                <a:lnTo>
                  <a:pt x="533697" y="1167648"/>
                </a:lnTo>
                <a:lnTo>
                  <a:pt x="546202" y="1166059"/>
                </a:lnTo>
                <a:lnTo>
                  <a:pt x="558495" y="1168496"/>
                </a:lnTo>
                <a:lnTo>
                  <a:pt x="568245" y="1154083"/>
                </a:lnTo>
                <a:lnTo>
                  <a:pt x="568881" y="1125046"/>
                </a:lnTo>
                <a:lnTo>
                  <a:pt x="562310" y="1100989"/>
                </a:lnTo>
                <a:lnTo>
                  <a:pt x="569093" y="1070044"/>
                </a:lnTo>
                <a:lnTo>
                  <a:pt x="574180" y="1038569"/>
                </a:lnTo>
                <a:lnTo>
                  <a:pt x="560191" y="1007412"/>
                </a:lnTo>
                <a:lnTo>
                  <a:pt x="549593" y="985899"/>
                </a:lnTo>
                <a:lnTo>
                  <a:pt x="546308" y="974453"/>
                </a:lnTo>
                <a:lnTo>
                  <a:pt x="549805" y="948807"/>
                </a:lnTo>
                <a:lnTo>
                  <a:pt x="563476" y="930049"/>
                </a:lnTo>
                <a:lnTo>
                  <a:pt x="566232" y="913199"/>
                </a:lnTo>
                <a:lnTo>
                  <a:pt x="566867" y="895501"/>
                </a:lnTo>
                <a:lnTo>
                  <a:pt x="562098" y="884055"/>
                </a:lnTo>
                <a:lnTo>
                  <a:pt x="570047" y="875895"/>
                </a:lnTo>
                <a:lnTo>
                  <a:pt x="578419" y="861800"/>
                </a:lnTo>
                <a:lnTo>
                  <a:pt x="577147" y="849083"/>
                </a:lnTo>
                <a:lnTo>
                  <a:pt x="559979" y="832551"/>
                </a:lnTo>
                <a:lnTo>
                  <a:pt x="540797" y="816336"/>
                </a:lnTo>
                <a:lnTo>
                  <a:pt x="531365" y="802771"/>
                </a:lnTo>
                <a:lnTo>
                  <a:pt x="531259" y="793022"/>
                </a:lnTo>
                <a:lnTo>
                  <a:pt x="552773" y="781046"/>
                </a:lnTo>
                <a:lnTo>
                  <a:pt x="553196" y="771402"/>
                </a:lnTo>
                <a:lnTo>
                  <a:pt x="542599" y="767057"/>
                </a:lnTo>
                <a:lnTo>
                  <a:pt x="518648" y="746286"/>
                </a:lnTo>
                <a:lnTo>
                  <a:pt x="503917" y="738550"/>
                </a:lnTo>
                <a:lnTo>
                  <a:pt x="495439" y="721276"/>
                </a:lnTo>
                <a:lnTo>
                  <a:pt x="489187" y="724031"/>
                </a:lnTo>
                <a:lnTo>
                  <a:pt x="479013" y="727316"/>
                </a:lnTo>
                <a:lnTo>
                  <a:pt x="472866" y="718944"/>
                </a:lnTo>
                <a:lnTo>
                  <a:pt x="463117" y="706969"/>
                </a:lnTo>
                <a:lnTo>
                  <a:pt x="460997" y="683018"/>
                </a:lnTo>
                <a:lnTo>
                  <a:pt x="454532" y="671891"/>
                </a:lnTo>
                <a:lnTo>
                  <a:pt x="440544" y="654722"/>
                </a:lnTo>
                <a:lnTo>
                  <a:pt x="405889" y="626003"/>
                </a:lnTo>
                <a:lnTo>
                  <a:pt x="394974" y="613921"/>
                </a:lnTo>
                <a:lnTo>
                  <a:pt x="372507" y="591772"/>
                </a:lnTo>
                <a:lnTo>
                  <a:pt x="362651" y="572697"/>
                </a:lnTo>
                <a:lnTo>
                  <a:pt x="354279" y="555846"/>
                </a:lnTo>
                <a:lnTo>
                  <a:pt x="341668" y="545037"/>
                </a:lnTo>
                <a:lnTo>
                  <a:pt x="328209" y="539102"/>
                </a:lnTo>
                <a:lnTo>
                  <a:pt x="311464" y="521086"/>
                </a:lnTo>
                <a:lnTo>
                  <a:pt x="308497" y="511442"/>
                </a:lnTo>
                <a:lnTo>
                  <a:pt x="314644" y="498619"/>
                </a:lnTo>
                <a:lnTo>
                  <a:pt x="311464" y="492049"/>
                </a:lnTo>
                <a:lnTo>
                  <a:pt x="269286" y="478908"/>
                </a:lnTo>
                <a:lnTo>
                  <a:pt x="248196" y="465025"/>
                </a:lnTo>
                <a:lnTo>
                  <a:pt x="204852" y="437259"/>
                </a:lnTo>
                <a:lnTo>
                  <a:pt x="184611" y="429523"/>
                </a:lnTo>
                <a:lnTo>
                  <a:pt x="182279" y="421998"/>
                </a:lnTo>
                <a:lnTo>
                  <a:pt x="196268" y="413520"/>
                </a:lnTo>
                <a:lnTo>
                  <a:pt x="198811" y="398259"/>
                </a:lnTo>
                <a:lnTo>
                  <a:pt x="196692" y="386496"/>
                </a:lnTo>
                <a:lnTo>
                  <a:pt x="206760" y="385860"/>
                </a:lnTo>
                <a:lnTo>
                  <a:pt x="251164" y="393279"/>
                </a:lnTo>
                <a:lnTo>
                  <a:pt x="272041" y="378018"/>
                </a:lnTo>
                <a:lnTo>
                  <a:pt x="279671" y="362228"/>
                </a:lnTo>
                <a:lnTo>
                  <a:pt x="291647" y="350146"/>
                </a:lnTo>
                <a:lnTo>
                  <a:pt x="287514" y="334144"/>
                </a:lnTo>
                <a:lnTo>
                  <a:pt x="279459" y="329057"/>
                </a:lnTo>
                <a:lnTo>
                  <a:pt x="265047" y="328209"/>
                </a:lnTo>
                <a:lnTo>
                  <a:pt x="262821" y="317188"/>
                </a:lnTo>
                <a:lnTo>
                  <a:pt x="245865" y="308180"/>
                </a:lnTo>
                <a:lnTo>
                  <a:pt x="232300" y="305318"/>
                </a:lnTo>
                <a:lnTo>
                  <a:pt x="244063" y="295886"/>
                </a:lnTo>
                <a:lnTo>
                  <a:pt x="254237" y="288468"/>
                </a:lnTo>
                <a:lnTo>
                  <a:pt x="249468" y="279142"/>
                </a:lnTo>
                <a:lnTo>
                  <a:pt x="230392" y="265047"/>
                </a:lnTo>
                <a:lnTo>
                  <a:pt x="204004" y="251800"/>
                </a:lnTo>
                <a:lnTo>
                  <a:pt x="180795" y="260808"/>
                </a:lnTo>
                <a:lnTo>
                  <a:pt x="162991" y="276069"/>
                </a:lnTo>
                <a:lnTo>
                  <a:pt x="146141" y="273843"/>
                </a:lnTo>
                <a:lnTo>
                  <a:pt x="109685" y="262928"/>
                </a:lnTo>
                <a:lnTo>
                  <a:pt x="75031" y="224564"/>
                </a:lnTo>
                <a:lnTo>
                  <a:pt x="73759" y="210363"/>
                </a:lnTo>
                <a:lnTo>
                  <a:pt x="77786" y="192453"/>
                </a:lnTo>
                <a:lnTo>
                  <a:pt x="82979" y="179736"/>
                </a:lnTo>
                <a:lnTo>
                  <a:pt x="78634" y="170516"/>
                </a:lnTo>
                <a:lnTo>
                  <a:pt x="70898" y="168185"/>
                </a:lnTo>
                <a:lnTo>
                  <a:pt x="65917" y="161508"/>
                </a:lnTo>
                <a:lnTo>
                  <a:pt x="59664" y="174225"/>
                </a:lnTo>
                <a:lnTo>
                  <a:pt x="51504" y="174437"/>
                </a:lnTo>
                <a:lnTo>
                  <a:pt x="48219" y="164370"/>
                </a:lnTo>
                <a:lnTo>
                  <a:pt x="43132" y="150275"/>
                </a:lnTo>
                <a:lnTo>
                  <a:pt x="28295" y="137240"/>
                </a:lnTo>
                <a:lnTo>
                  <a:pt x="741" y="110004"/>
                </a:lnTo>
                <a:lnTo>
                  <a:pt x="0" y="96121"/>
                </a:lnTo>
                <a:lnTo>
                  <a:pt x="13353" y="82238"/>
                </a:lnTo>
                <a:lnTo>
                  <a:pt x="24374" y="65070"/>
                </a:lnTo>
                <a:lnTo>
                  <a:pt x="31263" y="60513"/>
                </a:lnTo>
                <a:lnTo>
                  <a:pt x="44828" y="65917"/>
                </a:lnTo>
                <a:lnTo>
                  <a:pt x="69308" y="77893"/>
                </a:lnTo>
                <a:lnTo>
                  <a:pt x="80436" y="90716"/>
                </a:lnTo>
                <a:lnTo>
                  <a:pt x="87854" y="92094"/>
                </a:lnTo>
                <a:lnTo>
                  <a:pt x="101737" y="82662"/>
                </a:lnTo>
                <a:lnTo>
                  <a:pt x="107778" y="72382"/>
                </a:lnTo>
                <a:lnTo>
                  <a:pt x="119223" y="59135"/>
                </a:lnTo>
                <a:lnTo>
                  <a:pt x="125052" y="60089"/>
                </a:lnTo>
                <a:lnTo>
                  <a:pt x="139571" y="77787"/>
                </a:lnTo>
                <a:lnTo>
                  <a:pt x="147837" y="62314"/>
                </a:lnTo>
                <a:lnTo>
                  <a:pt x="154831" y="58499"/>
                </a:lnTo>
                <a:lnTo>
                  <a:pt x="187154" y="82874"/>
                </a:lnTo>
                <a:lnTo>
                  <a:pt x="192347" y="77999"/>
                </a:lnTo>
                <a:lnTo>
                  <a:pt x="199023" y="60407"/>
                </a:lnTo>
                <a:lnTo>
                  <a:pt x="215874" y="54366"/>
                </a:lnTo>
                <a:lnTo>
                  <a:pt x="224882" y="64646"/>
                </a:lnTo>
                <a:lnTo>
                  <a:pt x="249150" y="54896"/>
                </a:lnTo>
                <a:lnTo>
                  <a:pt x="260278" y="53412"/>
                </a:lnTo>
                <a:lnTo>
                  <a:pt x="271723" y="48961"/>
                </a:lnTo>
                <a:lnTo>
                  <a:pt x="279671" y="32959"/>
                </a:lnTo>
                <a:lnTo>
                  <a:pt x="284970" y="19712"/>
                </a:lnTo>
                <a:lnTo>
                  <a:pt x="298853" y="13565"/>
                </a:lnTo>
                <a:lnTo>
                  <a:pt x="324605" y="0"/>
                </a:lnTo>
                <a:lnTo>
                  <a:pt x="336369" y="1484"/>
                </a:lnTo>
                <a:lnTo>
                  <a:pt x="351735" y="14943"/>
                </a:lnTo>
                <a:lnTo>
                  <a:pt x="357352" y="26388"/>
                </a:lnTo>
                <a:lnTo>
                  <a:pt x="382151" y="37410"/>
                </a:lnTo>
                <a:lnTo>
                  <a:pt x="394974" y="42073"/>
                </a:lnTo>
                <a:lnTo>
                  <a:pt x="405359" y="36774"/>
                </a:lnTo>
                <a:lnTo>
                  <a:pt x="420938" y="37304"/>
                </a:lnTo>
                <a:lnTo>
                  <a:pt x="431642" y="48007"/>
                </a:lnTo>
                <a:lnTo>
                  <a:pt x="441073" y="48643"/>
                </a:lnTo>
                <a:lnTo>
                  <a:pt x="462693" y="43874"/>
                </a:lnTo>
                <a:lnTo>
                  <a:pt x="487915" y="57545"/>
                </a:lnTo>
                <a:lnTo>
                  <a:pt x="479649" y="72488"/>
                </a:lnTo>
                <a:lnTo>
                  <a:pt x="466932" y="79376"/>
                </a:lnTo>
                <a:lnTo>
                  <a:pt x="462057" y="98240"/>
                </a:lnTo>
                <a:lnTo>
                  <a:pt x="468097" y="105659"/>
                </a:lnTo>
                <a:lnTo>
                  <a:pt x="474562" y="114561"/>
                </a:lnTo>
                <a:lnTo>
                  <a:pt x="474986" y="138193"/>
                </a:lnTo>
                <a:lnTo>
                  <a:pt x="479225" y="141585"/>
                </a:lnTo>
                <a:lnTo>
                  <a:pt x="489399" y="142009"/>
                </a:lnTo>
                <a:lnTo>
                  <a:pt x="503282" y="148579"/>
                </a:lnTo>
                <a:lnTo>
                  <a:pt x="511866" y="151440"/>
                </a:lnTo>
                <a:lnTo>
                  <a:pt x="517800" y="161932"/>
                </a:lnTo>
                <a:lnTo>
                  <a:pt x="540055" y="170728"/>
                </a:lnTo>
                <a:lnTo>
                  <a:pt x="557118" y="178041"/>
                </a:lnTo>
                <a:lnTo>
                  <a:pt x="579161" y="181008"/>
                </a:lnTo>
                <a:lnTo>
                  <a:pt x="596223" y="177723"/>
                </a:lnTo>
                <a:lnTo>
                  <a:pt x="614345" y="192241"/>
                </a:lnTo>
                <a:close/>
              </a:path>
            </a:pathLst>
          </a:custGeom>
          <a:solidFill>
            <a:srgbClr val="C5D9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ame:map-TLS"/>
          <p:cNvSpPr/>
          <p:nvPr/>
        </p:nvSpPr>
        <p:spPr>
          <a:xfrm>
            <a:off x="3595440" y="5677232"/>
            <a:ext cx="345483" cy="126747"/>
          </a:xfrm>
          <a:custGeom>
            <a:avLst/>
            <a:gdLst/>
            <a:ahLst/>
            <a:cxnLst/>
            <a:rect l="l" t="t" r="r" b="b"/>
            <a:pathLst>
              <a:path w="345483" h="126747">
                <a:moveTo>
                  <a:pt x="109367" y="126747"/>
                </a:moveTo>
                <a:lnTo>
                  <a:pt x="105764" y="112970"/>
                </a:lnTo>
                <a:lnTo>
                  <a:pt x="101843" y="107036"/>
                </a:lnTo>
                <a:lnTo>
                  <a:pt x="98770" y="103645"/>
                </a:lnTo>
                <a:lnTo>
                  <a:pt x="97816" y="99511"/>
                </a:lnTo>
                <a:lnTo>
                  <a:pt x="97922" y="95166"/>
                </a:lnTo>
                <a:lnTo>
                  <a:pt x="99830" y="93153"/>
                </a:lnTo>
                <a:lnTo>
                  <a:pt x="112759" y="92623"/>
                </a:lnTo>
                <a:lnTo>
                  <a:pt x="117952" y="85523"/>
                </a:lnTo>
                <a:lnTo>
                  <a:pt x="117952" y="77044"/>
                </a:lnTo>
                <a:lnTo>
                  <a:pt x="115302" y="74077"/>
                </a:lnTo>
                <a:lnTo>
                  <a:pt x="112759" y="72911"/>
                </a:lnTo>
                <a:lnTo>
                  <a:pt x="99300" y="79270"/>
                </a:lnTo>
                <a:lnTo>
                  <a:pt x="95485" y="78104"/>
                </a:lnTo>
                <a:lnTo>
                  <a:pt x="93153" y="75879"/>
                </a:lnTo>
                <a:lnTo>
                  <a:pt x="93895" y="66341"/>
                </a:lnTo>
                <a:lnTo>
                  <a:pt x="105022" y="57545"/>
                </a:lnTo>
                <a:lnTo>
                  <a:pt x="114454" y="41542"/>
                </a:lnTo>
                <a:lnTo>
                  <a:pt x="121025" y="35184"/>
                </a:lnTo>
                <a:lnTo>
                  <a:pt x="136391" y="29143"/>
                </a:lnTo>
                <a:lnTo>
                  <a:pt x="142644" y="27448"/>
                </a:lnTo>
                <a:lnTo>
                  <a:pt x="187366" y="18651"/>
                </a:lnTo>
                <a:lnTo>
                  <a:pt x="198070" y="18122"/>
                </a:lnTo>
                <a:lnTo>
                  <a:pt x="226471" y="18334"/>
                </a:lnTo>
                <a:lnTo>
                  <a:pt x="264411" y="16426"/>
                </a:lnTo>
                <a:lnTo>
                  <a:pt x="273843" y="15154"/>
                </a:lnTo>
                <a:lnTo>
                  <a:pt x="286030" y="11339"/>
                </a:lnTo>
                <a:lnTo>
                  <a:pt x="297794" y="6464"/>
                </a:lnTo>
                <a:lnTo>
                  <a:pt x="304046" y="2755"/>
                </a:lnTo>
                <a:lnTo>
                  <a:pt x="310511" y="0"/>
                </a:lnTo>
                <a:lnTo>
                  <a:pt x="320261" y="3391"/>
                </a:lnTo>
                <a:lnTo>
                  <a:pt x="336899" y="6040"/>
                </a:lnTo>
                <a:lnTo>
                  <a:pt x="341350" y="8372"/>
                </a:lnTo>
                <a:lnTo>
                  <a:pt x="345483" y="11551"/>
                </a:lnTo>
                <a:lnTo>
                  <a:pt x="326301" y="28401"/>
                </a:lnTo>
                <a:lnTo>
                  <a:pt x="305106" y="42284"/>
                </a:lnTo>
                <a:lnTo>
                  <a:pt x="292071" y="46523"/>
                </a:lnTo>
                <a:lnTo>
                  <a:pt x="278612" y="49385"/>
                </a:lnTo>
                <a:lnTo>
                  <a:pt x="268438" y="54789"/>
                </a:lnTo>
                <a:lnTo>
                  <a:pt x="259748" y="63268"/>
                </a:lnTo>
                <a:lnTo>
                  <a:pt x="248726" y="68036"/>
                </a:lnTo>
                <a:lnTo>
                  <a:pt x="236221" y="69626"/>
                </a:lnTo>
                <a:lnTo>
                  <a:pt x="225518" y="72170"/>
                </a:lnTo>
                <a:lnTo>
                  <a:pt x="215874" y="77150"/>
                </a:lnTo>
                <a:lnTo>
                  <a:pt x="202415" y="85629"/>
                </a:lnTo>
                <a:lnTo>
                  <a:pt x="197010" y="86476"/>
                </a:lnTo>
                <a:lnTo>
                  <a:pt x="191181" y="86264"/>
                </a:lnTo>
                <a:lnTo>
                  <a:pt x="180054" y="89550"/>
                </a:lnTo>
                <a:lnTo>
                  <a:pt x="145399" y="101737"/>
                </a:lnTo>
                <a:lnTo>
                  <a:pt x="124416" y="115302"/>
                </a:lnTo>
                <a:lnTo>
                  <a:pt x="109367" y="126747"/>
                </a:lnTo>
                <a:close/>
                <a:moveTo>
                  <a:pt x="0" y="108731"/>
                </a:moveTo>
                <a:lnTo>
                  <a:pt x="17168" y="99617"/>
                </a:lnTo>
                <a:lnTo>
                  <a:pt x="43238" y="92623"/>
                </a:lnTo>
                <a:lnTo>
                  <a:pt x="42602" y="97816"/>
                </a:lnTo>
                <a:lnTo>
                  <a:pt x="39953" y="105764"/>
                </a:lnTo>
                <a:lnTo>
                  <a:pt x="36032" y="109579"/>
                </a:lnTo>
                <a:lnTo>
                  <a:pt x="29991" y="116362"/>
                </a:lnTo>
                <a:lnTo>
                  <a:pt x="26070" y="117845"/>
                </a:lnTo>
                <a:lnTo>
                  <a:pt x="10491" y="116362"/>
                </a:lnTo>
                <a:lnTo>
                  <a:pt x="8478" y="117316"/>
                </a:lnTo>
                <a:lnTo>
                  <a:pt x="5723" y="116574"/>
                </a:lnTo>
                <a:lnTo>
                  <a:pt x="1695" y="112229"/>
                </a:lnTo>
                <a:lnTo>
                  <a:pt x="0" y="108731"/>
                </a:lnTo>
                <a:close/>
              </a:path>
            </a:pathLst>
          </a:custGeom>
          <a:solidFill>
            <a:srgbClr val="E6EEF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ame:map-THA"/>
          <p:cNvSpPr/>
          <p:nvPr/>
        </p:nvSpPr>
        <p:spPr>
          <a:xfrm>
            <a:off x="769897" y="2632424"/>
            <a:ext cx="876107" cy="1566119"/>
          </a:xfrm>
          <a:custGeom>
            <a:avLst/>
            <a:gdLst/>
            <a:ahLst/>
            <a:cxnLst/>
            <a:rect l="l" t="t" r="r" b="b"/>
            <a:pathLst>
              <a:path w="876107" h="1566119">
                <a:moveTo>
                  <a:pt x="109686" y="1326082"/>
                </a:moveTo>
                <a:lnTo>
                  <a:pt x="108520" y="1333925"/>
                </a:lnTo>
                <a:lnTo>
                  <a:pt x="104175" y="1333819"/>
                </a:lnTo>
                <a:lnTo>
                  <a:pt x="99830" y="1338799"/>
                </a:lnTo>
                <a:lnTo>
                  <a:pt x="97710" y="1339435"/>
                </a:lnTo>
                <a:lnTo>
                  <a:pt x="94107" y="1323539"/>
                </a:lnTo>
                <a:lnTo>
                  <a:pt x="98240" y="1301284"/>
                </a:lnTo>
                <a:lnTo>
                  <a:pt x="100466" y="1298105"/>
                </a:lnTo>
                <a:lnTo>
                  <a:pt x="103539" y="1303933"/>
                </a:lnTo>
                <a:lnTo>
                  <a:pt x="112441" y="1306583"/>
                </a:lnTo>
                <a:lnTo>
                  <a:pt x="108626" y="1319406"/>
                </a:lnTo>
                <a:lnTo>
                  <a:pt x="109686" y="1326082"/>
                </a:lnTo>
                <a:close/>
                <a:moveTo>
                  <a:pt x="291223" y="10385"/>
                </a:moveTo>
                <a:lnTo>
                  <a:pt x="293131" y="18016"/>
                </a:lnTo>
                <a:lnTo>
                  <a:pt x="301397" y="7948"/>
                </a:lnTo>
                <a:lnTo>
                  <a:pt x="311994" y="3073"/>
                </a:lnTo>
                <a:lnTo>
                  <a:pt x="324076" y="18439"/>
                </a:lnTo>
                <a:lnTo>
                  <a:pt x="333402" y="25116"/>
                </a:lnTo>
                <a:lnTo>
                  <a:pt x="335839" y="34548"/>
                </a:lnTo>
                <a:lnTo>
                  <a:pt x="327679" y="55743"/>
                </a:lnTo>
                <a:lnTo>
                  <a:pt x="322804" y="81707"/>
                </a:lnTo>
                <a:lnTo>
                  <a:pt x="344529" y="96968"/>
                </a:lnTo>
                <a:lnTo>
                  <a:pt x="363817" y="92517"/>
                </a:lnTo>
                <a:lnTo>
                  <a:pt x="374309" y="85840"/>
                </a:lnTo>
                <a:lnTo>
                  <a:pt x="400697" y="88596"/>
                </a:lnTo>
                <a:lnTo>
                  <a:pt x="407691" y="98346"/>
                </a:lnTo>
                <a:lnTo>
                  <a:pt x="408327" y="127489"/>
                </a:lnTo>
                <a:lnTo>
                  <a:pt x="414580" y="152394"/>
                </a:lnTo>
                <a:lnTo>
                  <a:pt x="401862" y="190439"/>
                </a:lnTo>
                <a:lnTo>
                  <a:pt x="390629" y="205170"/>
                </a:lnTo>
                <a:lnTo>
                  <a:pt x="389675" y="212800"/>
                </a:lnTo>
                <a:lnTo>
                  <a:pt x="398895" y="225517"/>
                </a:lnTo>
                <a:lnTo>
                  <a:pt x="399531" y="240778"/>
                </a:lnTo>
                <a:lnTo>
                  <a:pt x="384164" y="277446"/>
                </a:lnTo>
                <a:lnTo>
                  <a:pt x="379607" y="304576"/>
                </a:lnTo>
                <a:lnTo>
                  <a:pt x="395398" y="311040"/>
                </a:lnTo>
                <a:lnTo>
                  <a:pt x="416063" y="295674"/>
                </a:lnTo>
                <a:lnTo>
                  <a:pt x="443087" y="275856"/>
                </a:lnTo>
                <a:lnTo>
                  <a:pt x="457182" y="267696"/>
                </a:lnTo>
                <a:lnTo>
                  <a:pt x="466402" y="252435"/>
                </a:lnTo>
                <a:lnTo>
                  <a:pt x="477000" y="251058"/>
                </a:lnTo>
                <a:lnTo>
                  <a:pt x="493956" y="237917"/>
                </a:lnTo>
                <a:lnTo>
                  <a:pt x="505931" y="234313"/>
                </a:lnTo>
                <a:lnTo>
                  <a:pt x="527550" y="251058"/>
                </a:lnTo>
                <a:lnTo>
                  <a:pt x="548852" y="259642"/>
                </a:lnTo>
                <a:lnTo>
                  <a:pt x="553409" y="269710"/>
                </a:lnTo>
                <a:lnTo>
                  <a:pt x="560297" y="275220"/>
                </a:lnTo>
                <a:lnTo>
                  <a:pt x="561781" y="271617"/>
                </a:lnTo>
                <a:lnTo>
                  <a:pt x="575770" y="261655"/>
                </a:lnTo>
                <a:lnTo>
                  <a:pt x="595269" y="257416"/>
                </a:lnTo>
                <a:lnTo>
                  <a:pt x="605867" y="241308"/>
                </a:lnTo>
                <a:lnTo>
                  <a:pt x="617418" y="228485"/>
                </a:lnTo>
                <a:lnTo>
                  <a:pt x="625897" y="223610"/>
                </a:lnTo>
                <a:lnTo>
                  <a:pt x="622929" y="216403"/>
                </a:lnTo>
                <a:lnTo>
                  <a:pt x="635117" y="211105"/>
                </a:lnTo>
                <a:lnTo>
                  <a:pt x="662988" y="215344"/>
                </a:lnTo>
                <a:lnTo>
                  <a:pt x="691496" y="224670"/>
                </a:lnTo>
                <a:lnTo>
                  <a:pt x="707392" y="232936"/>
                </a:lnTo>
                <a:lnTo>
                  <a:pt x="736430" y="275432"/>
                </a:lnTo>
                <a:lnTo>
                  <a:pt x="759321" y="297369"/>
                </a:lnTo>
                <a:lnTo>
                  <a:pt x="780622" y="312948"/>
                </a:lnTo>
                <a:lnTo>
                  <a:pt x="782636" y="353749"/>
                </a:lnTo>
                <a:lnTo>
                  <a:pt x="781788" y="399213"/>
                </a:lnTo>
                <a:lnTo>
                  <a:pt x="802877" y="431853"/>
                </a:lnTo>
                <a:lnTo>
                  <a:pt x="813157" y="450929"/>
                </a:lnTo>
                <a:lnTo>
                  <a:pt x="843254" y="463858"/>
                </a:lnTo>
                <a:lnTo>
                  <a:pt x="848023" y="474032"/>
                </a:lnTo>
                <a:lnTo>
                  <a:pt x="850461" y="485901"/>
                </a:lnTo>
                <a:lnTo>
                  <a:pt x="867735" y="495333"/>
                </a:lnTo>
                <a:lnTo>
                  <a:pt x="876107" y="504235"/>
                </a:lnTo>
                <a:lnTo>
                  <a:pt x="873457" y="522145"/>
                </a:lnTo>
                <a:lnTo>
                  <a:pt x="862542" y="535604"/>
                </a:lnTo>
                <a:lnTo>
                  <a:pt x="860104" y="546626"/>
                </a:lnTo>
                <a:lnTo>
                  <a:pt x="864661" y="569411"/>
                </a:lnTo>
                <a:lnTo>
                  <a:pt x="863602" y="590500"/>
                </a:lnTo>
                <a:lnTo>
                  <a:pt x="860846" y="617206"/>
                </a:lnTo>
                <a:lnTo>
                  <a:pt x="853004" y="629817"/>
                </a:lnTo>
                <a:lnTo>
                  <a:pt x="834034" y="640839"/>
                </a:lnTo>
                <a:lnTo>
                  <a:pt x="826086" y="644230"/>
                </a:lnTo>
                <a:lnTo>
                  <a:pt x="816018" y="655782"/>
                </a:lnTo>
                <a:lnTo>
                  <a:pt x="808494" y="652920"/>
                </a:lnTo>
                <a:lnTo>
                  <a:pt x="804997" y="641051"/>
                </a:lnTo>
                <a:lnTo>
                  <a:pt x="784755" y="634480"/>
                </a:lnTo>
                <a:lnTo>
                  <a:pt x="745862" y="640627"/>
                </a:lnTo>
                <a:lnTo>
                  <a:pt x="707922" y="641369"/>
                </a:lnTo>
                <a:lnTo>
                  <a:pt x="691496" y="641369"/>
                </a:lnTo>
                <a:lnTo>
                  <a:pt x="674858" y="640203"/>
                </a:lnTo>
                <a:lnTo>
                  <a:pt x="654086" y="635646"/>
                </a:lnTo>
                <a:lnTo>
                  <a:pt x="629394" y="642640"/>
                </a:lnTo>
                <a:lnTo>
                  <a:pt x="599508" y="653026"/>
                </a:lnTo>
                <a:lnTo>
                  <a:pt x="582764" y="674009"/>
                </a:lnTo>
                <a:lnTo>
                  <a:pt x="567504" y="696582"/>
                </a:lnTo>
                <a:lnTo>
                  <a:pt x="548004" y="715870"/>
                </a:lnTo>
                <a:lnTo>
                  <a:pt x="548216" y="723712"/>
                </a:lnTo>
                <a:lnTo>
                  <a:pt x="525855" y="726468"/>
                </a:lnTo>
                <a:lnTo>
                  <a:pt x="525325" y="755293"/>
                </a:lnTo>
                <a:lnTo>
                  <a:pt x="535075" y="777548"/>
                </a:lnTo>
                <a:lnTo>
                  <a:pt x="542281" y="804043"/>
                </a:lnTo>
                <a:lnTo>
                  <a:pt x="557012" y="831384"/>
                </a:lnTo>
                <a:lnTo>
                  <a:pt x="570365" y="846645"/>
                </a:lnTo>
                <a:lnTo>
                  <a:pt x="565066" y="864661"/>
                </a:lnTo>
                <a:lnTo>
                  <a:pt x="587533" y="920193"/>
                </a:lnTo>
                <a:lnTo>
                  <a:pt x="586897" y="923160"/>
                </a:lnTo>
                <a:lnTo>
                  <a:pt x="574180" y="903554"/>
                </a:lnTo>
                <a:lnTo>
                  <a:pt x="559661" y="876001"/>
                </a:lnTo>
                <a:lnTo>
                  <a:pt x="551183" y="875047"/>
                </a:lnTo>
                <a:lnTo>
                  <a:pt x="536241" y="872821"/>
                </a:lnTo>
                <a:lnTo>
                  <a:pt x="517695" y="850036"/>
                </a:lnTo>
                <a:lnTo>
                  <a:pt x="514621" y="856607"/>
                </a:lnTo>
                <a:lnTo>
                  <a:pt x="493850" y="835412"/>
                </a:lnTo>
                <a:lnTo>
                  <a:pt x="478483" y="828947"/>
                </a:lnTo>
                <a:lnTo>
                  <a:pt x="460997" y="818773"/>
                </a:lnTo>
                <a:lnTo>
                  <a:pt x="393808" y="820363"/>
                </a:lnTo>
                <a:lnTo>
                  <a:pt x="373461" y="822482"/>
                </a:lnTo>
                <a:lnTo>
                  <a:pt x="373249" y="805102"/>
                </a:lnTo>
                <a:lnTo>
                  <a:pt x="378548" y="765997"/>
                </a:lnTo>
                <a:lnTo>
                  <a:pt x="378654" y="747875"/>
                </a:lnTo>
                <a:lnTo>
                  <a:pt x="374415" y="736854"/>
                </a:lnTo>
                <a:lnTo>
                  <a:pt x="342198" y="725620"/>
                </a:lnTo>
                <a:lnTo>
                  <a:pt x="303304" y="734522"/>
                </a:lnTo>
                <a:lnTo>
                  <a:pt x="280096" y="748405"/>
                </a:lnTo>
                <a:lnTo>
                  <a:pt x="283699" y="767693"/>
                </a:lnTo>
                <a:lnTo>
                  <a:pt x="276386" y="810083"/>
                </a:lnTo>
                <a:lnTo>
                  <a:pt x="278930" y="854169"/>
                </a:lnTo>
                <a:lnTo>
                  <a:pt x="270876" y="886810"/>
                </a:lnTo>
                <a:lnTo>
                  <a:pt x="256993" y="918391"/>
                </a:lnTo>
                <a:lnTo>
                  <a:pt x="238765" y="948700"/>
                </a:lnTo>
                <a:lnTo>
                  <a:pt x="226789" y="987064"/>
                </a:lnTo>
                <a:lnTo>
                  <a:pt x="202521" y="1043443"/>
                </a:lnTo>
                <a:lnTo>
                  <a:pt x="189804" y="1069831"/>
                </a:lnTo>
                <a:lnTo>
                  <a:pt x="192983" y="1085198"/>
                </a:lnTo>
                <a:lnTo>
                  <a:pt x="189380" y="1131934"/>
                </a:lnTo>
                <a:lnTo>
                  <a:pt x="202839" y="1165740"/>
                </a:lnTo>
                <a:lnTo>
                  <a:pt x="199236" y="1181636"/>
                </a:lnTo>
                <a:lnTo>
                  <a:pt x="214072" y="1187041"/>
                </a:lnTo>
                <a:lnTo>
                  <a:pt x="260914" y="1179199"/>
                </a:lnTo>
                <a:lnTo>
                  <a:pt x="268226" y="1197745"/>
                </a:lnTo>
                <a:lnTo>
                  <a:pt x="277234" y="1253277"/>
                </a:lnTo>
                <a:lnTo>
                  <a:pt x="291965" y="1270339"/>
                </a:lnTo>
                <a:lnTo>
                  <a:pt x="295144" y="1265464"/>
                </a:lnTo>
                <a:lnTo>
                  <a:pt x="302563" y="1270657"/>
                </a:lnTo>
                <a:lnTo>
                  <a:pt x="326407" y="1374831"/>
                </a:lnTo>
                <a:lnTo>
                  <a:pt x="336051" y="1397616"/>
                </a:lnTo>
                <a:lnTo>
                  <a:pt x="321850" y="1372500"/>
                </a:lnTo>
                <a:lnTo>
                  <a:pt x="314644" y="1363068"/>
                </a:lnTo>
                <a:lnTo>
                  <a:pt x="307967" y="1359783"/>
                </a:lnTo>
                <a:lnTo>
                  <a:pt x="311888" y="1345794"/>
                </a:lnTo>
                <a:lnTo>
                  <a:pt x="295038" y="1344522"/>
                </a:lnTo>
                <a:lnTo>
                  <a:pt x="300019" y="1368579"/>
                </a:lnTo>
                <a:lnTo>
                  <a:pt x="323228" y="1401749"/>
                </a:lnTo>
                <a:lnTo>
                  <a:pt x="340396" y="1403021"/>
                </a:lnTo>
                <a:lnTo>
                  <a:pt x="362333" y="1422203"/>
                </a:lnTo>
                <a:lnTo>
                  <a:pt x="400591" y="1434920"/>
                </a:lnTo>
                <a:lnTo>
                  <a:pt x="426767" y="1432271"/>
                </a:lnTo>
                <a:lnTo>
                  <a:pt x="449340" y="1447743"/>
                </a:lnTo>
                <a:lnTo>
                  <a:pt x="500950" y="1502003"/>
                </a:lnTo>
                <a:lnTo>
                  <a:pt x="496075" y="1517370"/>
                </a:lnTo>
                <a:lnTo>
                  <a:pt x="481451" y="1537081"/>
                </a:lnTo>
                <a:lnTo>
                  <a:pt x="468098" y="1551070"/>
                </a:lnTo>
                <a:lnTo>
                  <a:pt x="456122" y="1551070"/>
                </a:lnTo>
                <a:lnTo>
                  <a:pt x="447962" y="1540685"/>
                </a:lnTo>
                <a:lnTo>
                  <a:pt x="443193" y="1537399"/>
                </a:lnTo>
                <a:lnTo>
                  <a:pt x="411506" y="1550010"/>
                </a:lnTo>
                <a:lnTo>
                  <a:pt x="404512" y="1562728"/>
                </a:lnTo>
                <a:lnTo>
                  <a:pt x="396352" y="1566119"/>
                </a:lnTo>
                <a:lnTo>
                  <a:pt x="386920" y="1556793"/>
                </a:lnTo>
                <a:lnTo>
                  <a:pt x="383529" y="1543970"/>
                </a:lnTo>
                <a:lnTo>
                  <a:pt x="393490" y="1524046"/>
                </a:lnTo>
                <a:lnTo>
                  <a:pt x="389993" y="1501897"/>
                </a:lnTo>
                <a:lnTo>
                  <a:pt x="383105" y="1500308"/>
                </a:lnTo>
                <a:lnTo>
                  <a:pt x="364877" y="1492465"/>
                </a:lnTo>
                <a:lnTo>
                  <a:pt x="358200" y="1478900"/>
                </a:lnTo>
                <a:lnTo>
                  <a:pt x="344953" y="1480172"/>
                </a:lnTo>
                <a:lnTo>
                  <a:pt x="314856" y="1469362"/>
                </a:lnTo>
                <a:lnTo>
                  <a:pt x="301291" y="1454844"/>
                </a:lnTo>
                <a:lnTo>
                  <a:pt x="295356" y="1459613"/>
                </a:lnTo>
                <a:lnTo>
                  <a:pt x="290905" y="1480808"/>
                </a:lnTo>
                <a:lnTo>
                  <a:pt x="246077" y="1434708"/>
                </a:lnTo>
                <a:lnTo>
                  <a:pt x="243110" y="1405671"/>
                </a:lnTo>
                <a:lnTo>
                  <a:pt x="230923" y="1398464"/>
                </a:lnTo>
                <a:lnTo>
                  <a:pt x="228379" y="1386807"/>
                </a:lnTo>
                <a:lnTo>
                  <a:pt x="210363" y="1382250"/>
                </a:lnTo>
                <a:lnTo>
                  <a:pt x="200295" y="1356074"/>
                </a:lnTo>
                <a:lnTo>
                  <a:pt x="180584" y="1345582"/>
                </a:lnTo>
                <a:lnTo>
                  <a:pt x="177722" y="1327566"/>
                </a:lnTo>
                <a:lnTo>
                  <a:pt x="158753" y="1313153"/>
                </a:lnTo>
                <a:lnTo>
                  <a:pt x="140949" y="1288461"/>
                </a:lnTo>
                <a:lnTo>
                  <a:pt x="127702" y="1279241"/>
                </a:lnTo>
                <a:lnTo>
                  <a:pt x="116574" y="1289520"/>
                </a:lnTo>
                <a:lnTo>
                  <a:pt x="104599" y="1295879"/>
                </a:lnTo>
                <a:lnTo>
                  <a:pt x="91564" y="1270869"/>
                </a:lnTo>
                <a:lnTo>
                  <a:pt x="91987" y="1234307"/>
                </a:lnTo>
                <a:lnTo>
                  <a:pt x="105658" y="1178881"/>
                </a:lnTo>
                <a:lnTo>
                  <a:pt x="118588" y="1150267"/>
                </a:lnTo>
                <a:lnTo>
                  <a:pt x="140843" y="1083608"/>
                </a:lnTo>
                <a:lnTo>
                  <a:pt x="145506" y="1066546"/>
                </a:lnTo>
                <a:lnTo>
                  <a:pt x="148473" y="1044715"/>
                </a:lnTo>
                <a:lnTo>
                  <a:pt x="146565" y="1033693"/>
                </a:lnTo>
                <a:lnTo>
                  <a:pt x="160342" y="1020234"/>
                </a:lnTo>
                <a:lnTo>
                  <a:pt x="192453" y="986640"/>
                </a:lnTo>
                <a:lnTo>
                  <a:pt x="219265" y="939056"/>
                </a:lnTo>
                <a:lnTo>
                  <a:pt x="226895" y="930896"/>
                </a:lnTo>
                <a:lnTo>
                  <a:pt x="237175" y="918285"/>
                </a:lnTo>
                <a:lnTo>
                  <a:pt x="227743" y="882253"/>
                </a:lnTo>
                <a:lnTo>
                  <a:pt x="218099" y="859044"/>
                </a:lnTo>
                <a:lnTo>
                  <a:pt x="214072" y="841558"/>
                </a:lnTo>
                <a:lnTo>
                  <a:pt x="211741" y="828841"/>
                </a:lnTo>
                <a:lnTo>
                  <a:pt x="195632" y="813368"/>
                </a:lnTo>
                <a:lnTo>
                  <a:pt x="190757" y="789948"/>
                </a:lnTo>
                <a:lnTo>
                  <a:pt x="183657" y="774793"/>
                </a:lnTo>
                <a:lnTo>
                  <a:pt x="190969" y="761122"/>
                </a:lnTo>
                <a:lnTo>
                  <a:pt x="188850" y="724772"/>
                </a:lnTo>
                <a:lnTo>
                  <a:pt x="181432" y="698596"/>
                </a:lnTo>
                <a:lnTo>
                  <a:pt x="165323" y="674539"/>
                </a:lnTo>
                <a:lnTo>
                  <a:pt x="126748" y="641687"/>
                </a:lnTo>
                <a:lnTo>
                  <a:pt x="108732" y="615934"/>
                </a:lnTo>
                <a:lnTo>
                  <a:pt x="92411" y="593467"/>
                </a:lnTo>
                <a:lnTo>
                  <a:pt x="85205" y="558283"/>
                </a:lnTo>
                <a:lnTo>
                  <a:pt x="90928" y="548321"/>
                </a:lnTo>
                <a:lnTo>
                  <a:pt x="101207" y="544294"/>
                </a:lnTo>
                <a:lnTo>
                  <a:pt x="123251" y="536664"/>
                </a:lnTo>
                <a:lnTo>
                  <a:pt x="126218" y="531047"/>
                </a:lnTo>
                <a:lnTo>
                  <a:pt x="125476" y="492366"/>
                </a:lnTo>
                <a:lnTo>
                  <a:pt x="129079" y="462481"/>
                </a:lnTo>
                <a:lnTo>
                  <a:pt x="158117" y="442769"/>
                </a:lnTo>
                <a:lnTo>
                  <a:pt x="160448" y="430582"/>
                </a:lnTo>
                <a:lnTo>
                  <a:pt x="154831" y="423587"/>
                </a:lnTo>
                <a:lnTo>
                  <a:pt x="136392" y="432913"/>
                </a:lnTo>
                <a:lnTo>
                  <a:pt x="126218" y="407373"/>
                </a:lnTo>
                <a:lnTo>
                  <a:pt x="116998" y="390311"/>
                </a:lnTo>
                <a:lnTo>
                  <a:pt x="112865" y="364452"/>
                </a:lnTo>
                <a:lnTo>
                  <a:pt x="84887" y="336475"/>
                </a:lnTo>
                <a:lnTo>
                  <a:pt x="58817" y="305424"/>
                </a:lnTo>
                <a:lnTo>
                  <a:pt x="37622" y="279671"/>
                </a:lnTo>
                <a:lnTo>
                  <a:pt x="34442" y="273525"/>
                </a:lnTo>
                <a:lnTo>
                  <a:pt x="36668" y="252011"/>
                </a:lnTo>
                <a:lnTo>
                  <a:pt x="26282" y="228591"/>
                </a:lnTo>
                <a:lnTo>
                  <a:pt x="23845" y="223822"/>
                </a:lnTo>
                <a:lnTo>
                  <a:pt x="8160" y="217781"/>
                </a:lnTo>
                <a:lnTo>
                  <a:pt x="0" y="201037"/>
                </a:lnTo>
                <a:lnTo>
                  <a:pt x="11763" y="203580"/>
                </a:lnTo>
                <a:lnTo>
                  <a:pt x="21513" y="199871"/>
                </a:lnTo>
                <a:lnTo>
                  <a:pt x="37516" y="195314"/>
                </a:lnTo>
                <a:lnTo>
                  <a:pt x="40271" y="190121"/>
                </a:lnTo>
                <a:lnTo>
                  <a:pt x="36032" y="150380"/>
                </a:lnTo>
                <a:lnTo>
                  <a:pt x="44510" y="121766"/>
                </a:lnTo>
                <a:lnTo>
                  <a:pt x="57439" y="87112"/>
                </a:lnTo>
                <a:lnTo>
                  <a:pt x="67931" y="70474"/>
                </a:lnTo>
                <a:lnTo>
                  <a:pt x="78105" y="69202"/>
                </a:lnTo>
                <a:lnTo>
                  <a:pt x="97498" y="77150"/>
                </a:lnTo>
                <a:lnTo>
                  <a:pt x="114560" y="76409"/>
                </a:lnTo>
                <a:lnTo>
                  <a:pt x="146989" y="68248"/>
                </a:lnTo>
                <a:lnTo>
                  <a:pt x="159177" y="68354"/>
                </a:lnTo>
                <a:lnTo>
                  <a:pt x="167867" y="64645"/>
                </a:lnTo>
                <a:lnTo>
                  <a:pt x="174543" y="39529"/>
                </a:lnTo>
                <a:lnTo>
                  <a:pt x="180160" y="33488"/>
                </a:lnTo>
                <a:lnTo>
                  <a:pt x="193195" y="31792"/>
                </a:lnTo>
                <a:lnTo>
                  <a:pt x="208138" y="35608"/>
                </a:lnTo>
                <a:lnTo>
                  <a:pt x="220219" y="31475"/>
                </a:lnTo>
                <a:lnTo>
                  <a:pt x="225518" y="24056"/>
                </a:lnTo>
                <a:lnTo>
                  <a:pt x="219795" y="6676"/>
                </a:lnTo>
                <a:lnTo>
                  <a:pt x="228697" y="7630"/>
                </a:lnTo>
                <a:lnTo>
                  <a:pt x="248621" y="9537"/>
                </a:lnTo>
                <a:lnTo>
                  <a:pt x="259748" y="3285"/>
                </a:lnTo>
                <a:lnTo>
                  <a:pt x="273419" y="0"/>
                </a:lnTo>
                <a:lnTo>
                  <a:pt x="291223" y="10385"/>
                </a:lnTo>
                <a:close/>
              </a:path>
            </a:pathLst>
          </a:custGeom>
          <a:solidFill>
            <a:srgbClr val="C5D9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ame:map-SGP"/>
          <p:cNvSpPr/>
          <p:nvPr/>
        </p:nvSpPr>
        <p:spPr>
          <a:xfrm>
            <a:off x="1435005" y="4642584"/>
            <a:ext cx="36668" cy="19288"/>
          </a:xfrm>
          <a:custGeom>
            <a:avLst/>
            <a:gdLst/>
            <a:ahLst/>
            <a:cxnLst/>
            <a:rect l="l" t="t" r="r" b="b"/>
            <a:pathLst>
              <a:path w="36668" h="19288">
                <a:moveTo>
                  <a:pt x="33912" y="12293"/>
                </a:moveTo>
                <a:lnTo>
                  <a:pt x="18016" y="19288"/>
                </a:lnTo>
                <a:lnTo>
                  <a:pt x="0" y="12823"/>
                </a:lnTo>
                <a:lnTo>
                  <a:pt x="5829" y="2543"/>
                </a:lnTo>
                <a:lnTo>
                  <a:pt x="17804" y="0"/>
                </a:lnTo>
                <a:lnTo>
                  <a:pt x="27448" y="3285"/>
                </a:lnTo>
                <a:lnTo>
                  <a:pt x="32959" y="5829"/>
                </a:lnTo>
                <a:lnTo>
                  <a:pt x="36668" y="8690"/>
                </a:lnTo>
                <a:lnTo>
                  <a:pt x="33912" y="12293"/>
                </a:lnTo>
                <a:close/>
              </a:path>
            </a:pathLst>
          </a:custGeom>
          <a:solidFill>
            <a:srgbClr val="C5D9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ame:map-PHL"/>
          <p:cNvSpPr/>
          <p:nvPr/>
        </p:nvSpPr>
        <p:spPr>
          <a:xfrm>
            <a:off x="2846611" y="2823181"/>
            <a:ext cx="1019810" cy="1436510"/>
          </a:xfrm>
          <a:custGeom>
            <a:avLst/>
            <a:gdLst/>
            <a:ahLst/>
            <a:cxnLst/>
            <a:rect l="l" t="t" r="r" b="b"/>
            <a:pathLst>
              <a:path w="1019810" h="1436510">
                <a:moveTo>
                  <a:pt x="437894" y="0"/>
                </a:moveTo>
                <a:lnTo>
                  <a:pt x="454002" y="5511"/>
                </a:lnTo>
                <a:lnTo>
                  <a:pt x="489928" y="25328"/>
                </a:lnTo>
                <a:lnTo>
                  <a:pt x="503070" y="30203"/>
                </a:lnTo>
                <a:lnTo>
                  <a:pt x="516741" y="33913"/>
                </a:lnTo>
                <a:lnTo>
                  <a:pt x="527550" y="34972"/>
                </a:lnTo>
                <a:lnTo>
                  <a:pt x="537088" y="30415"/>
                </a:lnTo>
                <a:lnTo>
                  <a:pt x="541221" y="25752"/>
                </a:lnTo>
                <a:lnTo>
                  <a:pt x="548639" y="13565"/>
                </a:lnTo>
                <a:lnTo>
                  <a:pt x="556482" y="12081"/>
                </a:lnTo>
                <a:lnTo>
                  <a:pt x="561251" y="16532"/>
                </a:lnTo>
                <a:lnTo>
                  <a:pt x="564854" y="22467"/>
                </a:lnTo>
                <a:lnTo>
                  <a:pt x="566443" y="31263"/>
                </a:lnTo>
                <a:lnTo>
                  <a:pt x="564218" y="40377"/>
                </a:lnTo>
                <a:lnTo>
                  <a:pt x="556694" y="48537"/>
                </a:lnTo>
                <a:lnTo>
                  <a:pt x="552031" y="58393"/>
                </a:lnTo>
                <a:lnTo>
                  <a:pt x="549063" y="91034"/>
                </a:lnTo>
                <a:lnTo>
                  <a:pt x="549169" y="100784"/>
                </a:lnTo>
                <a:lnTo>
                  <a:pt x="551607" y="110110"/>
                </a:lnTo>
                <a:lnTo>
                  <a:pt x="558177" y="125052"/>
                </a:lnTo>
                <a:lnTo>
                  <a:pt x="561569" y="129291"/>
                </a:lnTo>
                <a:lnTo>
                  <a:pt x="571424" y="134590"/>
                </a:lnTo>
                <a:lnTo>
                  <a:pt x="574180" y="138617"/>
                </a:lnTo>
                <a:lnTo>
                  <a:pt x="574710" y="145930"/>
                </a:lnTo>
                <a:lnTo>
                  <a:pt x="576299" y="152288"/>
                </a:lnTo>
                <a:lnTo>
                  <a:pt x="582658" y="154726"/>
                </a:lnTo>
                <a:lnTo>
                  <a:pt x="588063" y="157905"/>
                </a:lnTo>
                <a:lnTo>
                  <a:pt x="586049" y="165005"/>
                </a:lnTo>
                <a:lnTo>
                  <a:pt x="582658" y="172212"/>
                </a:lnTo>
                <a:lnTo>
                  <a:pt x="578207" y="189910"/>
                </a:lnTo>
                <a:lnTo>
                  <a:pt x="557012" y="231029"/>
                </a:lnTo>
                <a:lnTo>
                  <a:pt x="555740" y="239825"/>
                </a:lnTo>
                <a:lnTo>
                  <a:pt x="547368" y="257523"/>
                </a:lnTo>
                <a:lnTo>
                  <a:pt x="530411" y="260384"/>
                </a:lnTo>
                <a:lnTo>
                  <a:pt x="510700" y="268968"/>
                </a:lnTo>
                <a:lnTo>
                  <a:pt x="499678" y="275539"/>
                </a:lnTo>
                <a:lnTo>
                  <a:pt x="490140" y="284229"/>
                </a:lnTo>
                <a:lnTo>
                  <a:pt x="486537" y="295462"/>
                </a:lnTo>
                <a:lnTo>
                  <a:pt x="489611" y="300655"/>
                </a:lnTo>
                <a:lnTo>
                  <a:pt x="491624" y="306166"/>
                </a:lnTo>
                <a:lnTo>
                  <a:pt x="491412" y="312101"/>
                </a:lnTo>
                <a:lnTo>
                  <a:pt x="488445" y="317081"/>
                </a:lnTo>
                <a:lnTo>
                  <a:pt x="479013" y="329057"/>
                </a:lnTo>
                <a:lnTo>
                  <a:pt x="474986" y="338913"/>
                </a:lnTo>
                <a:lnTo>
                  <a:pt x="470747" y="343364"/>
                </a:lnTo>
                <a:lnTo>
                  <a:pt x="468627" y="348768"/>
                </a:lnTo>
                <a:lnTo>
                  <a:pt x="469369" y="354809"/>
                </a:lnTo>
                <a:lnTo>
                  <a:pt x="473184" y="360214"/>
                </a:lnTo>
                <a:lnTo>
                  <a:pt x="484736" y="383211"/>
                </a:lnTo>
                <a:lnTo>
                  <a:pt x="497135" y="405360"/>
                </a:lnTo>
                <a:lnTo>
                  <a:pt x="499784" y="408009"/>
                </a:lnTo>
                <a:lnTo>
                  <a:pt x="500738" y="410977"/>
                </a:lnTo>
                <a:lnTo>
                  <a:pt x="493532" y="416805"/>
                </a:lnTo>
                <a:lnTo>
                  <a:pt x="493638" y="427509"/>
                </a:lnTo>
                <a:lnTo>
                  <a:pt x="495863" y="438107"/>
                </a:lnTo>
                <a:lnTo>
                  <a:pt x="506779" y="464283"/>
                </a:lnTo>
                <a:lnTo>
                  <a:pt x="508368" y="471277"/>
                </a:lnTo>
                <a:lnTo>
                  <a:pt x="511866" y="477000"/>
                </a:lnTo>
                <a:lnTo>
                  <a:pt x="517482" y="482405"/>
                </a:lnTo>
                <a:lnTo>
                  <a:pt x="523735" y="486962"/>
                </a:lnTo>
                <a:lnTo>
                  <a:pt x="541539" y="494698"/>
                </a:lnTo>
                <a:lnTo>
                  <a:pt x="548321" y="496182"/>
                </a:lnTo>
                <a:lnTo>
                  <a:pt x="555528" y="496500"/>
                </a:lnTo>
                <a:lnTo>
                  <a:pt x="557223" y="491307"/>
                </a:lnTo>
                <a:lnTo>
                  <a:pt x="563476" y="489505"/>
                </a:lnTo>
                <a:lnTo>
                  <a:pt x="562098" y="484312"/>
                </a:lnTo>
                <a:lnTo>
                  <a:pt x="554574" y="477212"/>
                </a:lnTo>
                <a:lnTo>
                  <a:pt x="554256" y="473397"/>
                </a:lnTo>
                <a:lnTo>
                  <a:pt x="558177" y="470535"/>
                </a:lnTo>
                <a:lnTo>
                  <a:pt x="563052" y="468840"/>
                </a:lnTo>
                <a:lnTo>
                  <a:pt x="573756" y="461103"/>
                </a:lnTo>
                <a:lnTo>
                  <a:pt x="585095" y="454957"/>
                </a:lnTo>
                <a:lnTo>
                  <a:pt x="599508" y="455381"/>
                </a:lnTo>
                <a:lnTo>
                  <a:pt x="613709" y="458878"/>
                </a:lnTo>
                <a:lnTo>
                  <a:pt x="623777" y="462481"/>
                </a:lnTo>
                <a:lnTo>
                  <a:pt x="632043" y="469158"/>
                </a:lnTo>
                <a:lnTo>
                  <a:pt x="640627" y="480603"/>
                </a:lnTo>
                <a:lnTo>
                  <a:pt x="646562" y="493320"/>
                </a:lnTo>
                <a:lnTo>
                  <a:pt x="646562" y="499361"/>
                </a:lnTo>
                <a:lnTo>
                  <a:pt x="645078" y="505508"/>
                </a:lnTo>
                <a:lnTo>
                  <a:pt x="645396" y="511442"/>
                </a:lnTo>
                <a:lnTo>
                  <a:pt x="649847" y="515575"/>
                </a:lnTo>
                <a:lnTo>
                  <a:pt x="663518" y="515893"/>
                </a:lnTo>
                <a:lnTo>
                  <a:pt x="670512" y="506461"/>
                </a:lnTo>
                <a:lnTo>
                  <a:pt x="671360" y="495758"/>
                </a:lnTo>
                <a:lnTo>
                  <a:pt x="666485" y="491731"/>
                </a:lnTo>
                <a:lnTo>
                  <a:pt x="668711" y="486432"/>
                </a:lnTo>
                <a:lnTo>
                  <a:pt x="672950" y="482511"/>
                </a:lnTo>
                <a:lnTo>
                  <a:pt x="678990" y="486008"/>
                </a:lnTo>
                <a:lnTo>
                  <a:pt x="684819" y="492684"/>
                </a:lnTo>
                <a:lnTo>
                  <a:pt x="706120" y="499891"/>
                </a:lnTo>
                <a:lnTo>
                  <a:pt x="711525" y="499997"/>
                </a:lnTo>
                <a:lnTo>
                  <a:pt x="715976" y="501374"/>
                </a:lnTo>
                <a:lnTo>
                  <a:pt x="725514" y="506355"/>
                </a:lnTo>
                <a:lnTo>
                  <a:pt x="729965" y="510276"/>
                </a:lnTo>
                <a:lnTo>
                  <a:pt x="724454" y="518543"/>
                </a:lnTo>
                <a:lnTo>
                  <a:pt x="703365" y="520450"/>
                </a:lnTo>
                <a:lnTo>
                  <a:pt x="697324" y="526597"/>
                </a:lnTo>
                <a:lnTo>
                  <a:pt x="703471" y="539102"/>
                </a:lnTo>
                <a:lnTo>
                  <a:pt x="713645" y="549276"/>
                </a:lnTo>
                <a:lnTo>
                  <a:pt x="720109" y="557542"/>
                </a:lnTo>
                <a:lnTo>
                  <a:pt x="725832" y="566550"/>
                </a:lnTo>
                <a:lnTo>
                  <a:pt x="725620" y="574710"/>
                </a:lnTo>
                <a:lnTo>
                  <a:pt x="722229" y="583294"/>
                </a:lnTo>
                <a:lnTo>
                  <a:pt x="731555" y="582658"/>
                </a:lnTo>
                <a:lnTo>
                  <a:pt x="740245" y="584460"/>
                </a:lnTo>
                <a:lnTo>
                  <a:pt x="752326" y="591666"/>
                </a:lnTo>
                <a:lnTo>
                  <a:pt x="756141" y="592408"/>
                </a:lnTo>
                <a:lnTo>
                  <a:pt x="760168" y="591242"/>
                </a:lnTo>
                <a:lnTo>
                  <a:pt x="759532" y="617207"/>
                </a:lnTo>
                <a:lnTo>
                  <a:pt x="751372" y="640945"/>
                </a:lnTo>
                <a:lnTo>
                  <a:pt x="740987" y="637978"/>
                </a:lnTo>
                <a:lnTo>
                  <a:pt x="732085" y="627910"/>
                </a:lnTo>
                <a:lnTo>
                  <a:pt x="733886" y="615723"/>
                </a:lnTo>
                <a:lnTo>
                  <a:pt x="739609" y="603960"/>
                </a:lnTo>
                <a:lnTo>
                  <a:pt x="736324" y="601416"/>
                </a:lnTo>
                <a:lnTo>
                  <a:pt x="730601" y="602370"/>
                </a:lnTo>
                <a:lnTo>
                  <a:pt x="724030" y="605019"/>
                </a:lnTo>
                <a:lnTo>
                  <a:pt x="717036" y="605973"/>
                </a:lnTo>
                <a:lnTo>
                  <a:pt x="705484" y="604384"/>
                </a:lnTo>
                <a:lnTo>
                  <a:pt x="681640" y="591560"/>
                </a:lnTo>
                <a:lnTo>
                  <a:pt x="671996" y="590395"/>
                </a:lnTo>
                <a:lnTo>
                  <a:pt x="669770" y="584566"/>
                </a:lnTo>
                <a:lnTo>
                  <a:pt x="670406" y="572167"/>
                </a:lnTo>
                <a:lnTo>
                  <a:pt x="660868" y="557542"/>
                </a:lnTo>
                <a:lnTo>
                  <a:pt x="659385" y="552349"/>
                </a:lnTo>
                <a:lnTo>
                  <a:pt x="656311" y="548216"/>
                </a:lnTo>
                <a:lnTo>
                  <a:pt x="628016" y="532320"/>
                </a:lnTo>
                <a:lnTo>
                  <a:pt x="624519" y="529670"/>
                </a:lnTo>
                <a:lnTo>
                  <a:pt x="615828" y="516953"/>
                </a:lnTo>
                <a:lnTo>
                  <a:pt x="596117" y="498831"/>
                </a:lnTo>
                <a:lnTo>
                  <a:pt x="590606" y="497029"/>
                </a:lnTo>
                <a:lnTo>
                  <a:pt x="584565" y="496500"/>
                </a:lnTo>
                <a:lnTo>
                  <a:pt x="582658" y="501057"/>
                </a:lnTo>
                <a:lnTo>
                  <a:pt x="585413" y="508157"/>
                </a:lnTo>
                <a:lnTo>
                  <a:pt x="586473" y="514198"/>
                </a:lnTo>
                <a:lnTo>
                  <a:pt x="586049" y="520556"/>
                </a:lnTo>
                <a:lnTo>
                  <a:pt x="586897" y="525431"/>
                </a:lnTo>
                <a:lnTo>
                  <a:pt x="596223" y="535499"/>
                </a:lnTo>
                <a:lnTo>
                  <a:pt x="597600" y="540268"/>
                </a:lnTo>
                <a:lnTo>
                  <a:pt x="603853" y="553197"/>
                </a:lnTo>
                <a:lnTo>
                  <a:pt x="604595" y="568246"/>
                </a:lnTo>
                <a:lnTo>
                  <a:pt x="596647" y="574498"/>
                </a:lnTo>
                <a:lnTo>
                  <a:pt x="587639" y="567504"/>
                </a:lnTo>
                <a:lnTo>
                  <a:pt x="587427" y="561781"/>
                </a:lnTo>
                <a:lnTo>
                  <a:pt x="585837" y="556482"/>
                </a:lnTo>
                <a:lnTo>
                  <a:pt x="576193" y="542811"/>
                </a:lnTo>
                <a:lnTo>
                  <a:pt x="573014" y="539844"/>
                </a:lnTo>
                <a:lnTo>
                  <a:pt x="554786" y="526385"/>
                </a:lnTo>
                <a:lnTo>
                  <a:pt x="540797" y="511548"/>
                </a:lnTo>
                <a:lnTo>
                  <a:pt x="509534" y="495652"/>
                </a:lnTo>
                <a:lnTo>
                  <a:pt x="505825" y="494804"/>
                </a:lnTo>
                <a:lnTo>
                  <a:pt x="500420" y="495970"/>
                </a:lnTo>
                <a:lnTo>
                  <a:pt x="495227" y="497983"/>
                </a:lnTo>
                <a:lnTo>
                  <a:pt x="480179" y="505825"/>
                </a:lnTo>
                <a:lnTo>
                  <a:pt x="474880" y="511230"/>
                </a:lnTo>
                <a:lnTo>
                  <a:pt x="474350" y="519602"/>
                </a:lnTo>
                <a:lnTo>
                  <a:pt x="463540" y="526279"/>
                </a:lnTo>
                <a:lnTo>
                  <a:pt x="448704" y="527233"/>
                </a:lnTo>
                <a:lnTo>
                  <a:pt x="437258" y="523100"/>
                </a:lnTo>
                <a:lnTo>
                  <a:pt x="427720" y="514727"/>
                </a:lnTo>
                <a:lnTo>
                  <a:pt x="419878" y="514304"/>
                </a:lnTo>
                <a:lnTo>
                  <a:pt x="410234" y="501268"/>
                </a:lnTo>
                <a:lnTo>
                  <a:pt x="398365" y="499573"/>
                </a:lnTo>
                <a:lnTo>
                  <a:pt x="388615" y="509853"/>
                </a:lnTo>
                <a:lnTo>
                  <a:pt x="386495" y="489611"/>
                </a:lnTo>
                <a:lnTo>
                  <a:pt x="386495" y="469158"/>
                </a:lnTo>
                <a:lnTo>
                  <a:pt x="389251" y="463223"/>
                </a:lnTo>
                <a:lnTo>
                  <a:pt x="394020" y="458242"/>
                </a:lnTo>
                <a:lnTo>
                  <a:pt x="418818" y="436835"/>
                </a:lnTo>
                <a:lnTo>
                  <a:pt x="421998" y="429946"/>
                </a:lnTo>
                <a:lnTo>
                  <a:pt x="420832" y="420726"/>
                </a:lnTo>
                <a:lnTo>
                  <a:pt x="415215" y="413202"/>
                </a:lnTo>
                <a:lnTo>
                  <a:pt x="406313" y="408645"/>
                </a:lnTo>
                <a:lnTo>
                  <a:pt x="396139" y="406738"/>
                </a:lnTo>
                <a:lnTo>
                  <a:pt x="388721" y="402604"/>
                </a:lnTo>
                <a:lnTo>
                  <a:pt x="382998" y="395716"/>
                </a:lnTo>
                <a:lnTo>
                  <a:pt x="379077" y="407903"/>
                </a:lnTo>
                <a:lnTo>
                  <a:pt x="382892" y="426025"/>
                </a:lnTo>
                <a:lnTo>
                  <a:pt x="383528" y="437895"/>
                </a:lnTo>
                <a:lnTo>
                  <a:pt x="380031" y="442346"/>
                </a:lnTo>
                <a:lnTo>
                  <a:pt x="373672" y="442452"/>
                </a:lnTo>
                <a:lnTo>
                  <a:pt x="367632" y="441074"/>
                </a:lnTo>
                <a:lnTo>
                  <a:pt x="363075" y="436835"/>
                </a:lnTo>
                <a:lnTo>
                  <a:pt x="359789" y="424648"/>
                </a:lnTo>
                <a:lnTo>
                  <a:pt x="351205" y="416593"/>
                </a:lnTo>
                <a:lnTo>
                  <a:pt x="347708" y="405042"/>
                </a:lnTo>
                <a:lnTo>
                  <a:pt x="343787" y="403346"/>
                </a:lnTo>
                <a:lnTo>
                  <a:pt x="335733" y="404300"/>
                </a:lnTo>
                <a:lnTo>
                  <a:pt x="329798" y="398895"/>
                </a:lnTo>
                <a:lnTo>
                  <a:pt x="325877" y="385436"/>
                </a:lnTo>
                <a:lnTo>
                  <a:pt x="325029" y="370918"/>
                </a:lnTo>
                <a:lnTo>
                  <a:pt x="321638" y="358836"/>
                </a:lnTo>
                <a:lnTo>
                  <a:pt x="316763" y="347073"/>
                </a:lnTo>
                <a:lnTo>
                  <a:pt x="314008" y="337429"/>
                </a:lnTo>
                <a:lnTo>
                  <a:pt x="309663" y="294297"/>
                </a:lnTo>
                <a:lnTo>
                  <a:pt x="308497" y="290375"/>
                </a:lnTo>
                <a:lnTo>
                  <a:pt x="306271" y="287090"/>
                </a:lnTo>
                <a:lnTo>
                  <a:pt x="300761" y="282215"/>
                </a:lnTo>
                <a:lnTo>
                  <a:pt x="296628" y="276281"/>
                </a:lnTo>
                <a:lnTo>
                  <a:pt x="295886" y="271300"/>
                </a:lnTo>
                <a:lnTo>
                  <a:pt x="297051" y="250104"/>
                </a:lnTo>
                <a:lnTo>
                  <a:pt x="298853" y="245018"/>
                </a:lnTo>
                <a:lnTo>
                  <a:pt x="303198" y="242474"/>
                </a:lnTo>
                <a:lnTo>
                  <a:pt x="309027" y="246713"/>
                </a:lnTo>
                <a:lnTo>
                  <a:pt x="313690" y="251800"/>
                </a:lnTo>
                <a:lnTo>
                  <a:pt x="319518" y="254343"/>
                </a:lnTo>
                <a:lnTo>
                  <a:pt x="324605" y="257523"/>
                </a:lnTo>
                <a:lnTo>
                  <a:pt x="334249" y="270134"/>
                </a:lnTo>
                <a:lnTo>
                  <a:pt x="338064" y="272042"/>
                </a:lnTo>
                <a:lnTo>
                  <a:pt x="349828" y="271724"/>
                </a:lnTo>
                <a:lnTo>
                  <a:pt x="356822" y="270134"/>
                </a:lnTo>
                <a:lnTo>
                  <a:pt x="360213" y="265471"/>
                </a:lnTo>
                <a:lnTo>
                  <a:pt x="362333" y="260066"/>
                </a:lnTo>
                <a:lnTo>
                  <a:pt x="362333" y="253602"/>
                </a:lnTo>
                <a:lnTo>
                  <a:pt x="355550" y="234738"/>
                </a:lnTo>
                <a:lnTo>
                  <a:pt x="353431" y="221067"/>
                </a:lnTo>
                <a:lnTo>
                  <a:pt x="353325" y="208774"/>
                </a:lnTo>
                <a:lnTo>
                  <a:pt x="355126" y="196374"/>
                </a:lnTo>
                <a:lnTo>
                  <a:pt x="364452" y="175815"/>
                </a:lnTo>
                <a:lnTo>
                  <a:pt x="365618" y="161614"/>
                </a:lnTo>
                <a:lnTo>
                  <a:pt x="364770" y="142538"/>
                </a:lnTo>
                <a:lnTo>
                  <a:pt x="366360" y="131199"/>
                </a:lnTo>
                <a:lnTo>
                  <a:pt x="366148" y="124734"/>
                </a:lnTo>
                <a:lnTo>
                  <a:pt x="360531" y="114455"/>
                </a:lnTo>
                <a:lnTo>
                  <a:pt x="359048" y="103539"/>
                </a:lnTo>
                <a:lnTo>
                  <a:pt x="374626" y="47901"/>
                </a:lnTo>
                <a:lnTo>
                  <a:pt x="379501" y="37198"/>
                </a:lnTo>
                <a:lnTo>
                  <a:pt x="382998" y="26070"/>
                </a:lnTo>
                <a:lnTo>
                  <a:pt x="384694" y="11340"/>
                </a:lnTo>
                <a:lnTo>
                  <a:pt x="396245" y="7312"/>
                </a:lnTo>
                <a:lnTo>
                  <a:pt x="407373" y="1272"/>
                </a:lnTo>
                <a:lnTo>
                  <a:pt x="413096" y="1696"/>
                </a:lnTo>
                <a:lnTo>
                  <a:pt x="419136" y="3179"/>
                </a:lnTo>
                <a:lnTo>
                  <a:pt x="432489" y="106"/>
                </a:lnTo>
                <a:lnTo>
                  <a:pt x="437894" y="0"/>
                </a:lnTo>
                <a:close/>
                <a:moveTo>
                  <a:pt x="36138" y="1078310"/>
                </a:moveTo>
                <a:lnTo>
                  <a:pt x="26388" y="1086046"/>
                </a:lnTo>
                <a:lnTo>
                  <a:pt x="27447" y="1076508"/>
                </a:lnTo>
                <a:lnTo>
                  <a:pt x="30309" y="1067606"/>
                </a:lnTo>
                <a:lnTo>
                  <a:pt x="40271" y="1049272"/>
                </a:lnTo>
                <a:lnTo>
                  <a:pt x="47477" y="1043656"/>
                </a:lnTo>
                <a:lnTo>
                  <a:pt x="59346" y="1029243"/>
                </a:lnTo>
                <a:lnTo>
                  <a:pt x="66023" y="1022354"/>
                </a:lnTo>
                <a:lnTo>
                  <a:pt x="82131" y="1008578"/>
                </a:lnTo>
                <a:lnTo>
                  <a:pt x="96968" y="993423"/>
                </a:lnTo>
                <a:lnTo>
                  <a:pt x="101949" y="992363"/>
                </a:lnTo>
                <a:lnTo>
                  <a:pt x="107354" y="992151"/>
                </a:lnTo>
                <a:lnTo>
                  <a:pt x="111699" y="990350"/>
                </a:lnTo>
                <a:lnTo>
                  <a:pt x="121343" y="982189"/>
                </a:lnTo>
                <a:lnTo>
                  <a:pt x="145611" y="955059"/>
                </a:lnTo>
                <a:lnTo>
                  <a:pt x="165641" y="934818"/>
                </a:lnTo>
                <a:lnTo>
                  <a:pt x="186306" y="909278"/>
                </a:lnTo>
                <a:lnTo>
                  <a:pt x="196056" y="901859"/>
                </a:lnTo>
                <a:lnTo>
                  <a:pt x="198705" y="899104"/>
                </a:lnTo>
                <a:lnTo>
                  <a:pt x="217675" y="875471"/>
                </a:lnTo>
                <a:lnTo>
                  <a:pt x="223610" y="872080"/>
                </a:lnTo>
                <a:lnTo>
                  <a:pt x="230286" y="869642"/>
                </a:lnTo>
                <a:lnTo>
                  <a:pt x="234843" y="866463"/>
                </a:lnTo>
                <a:lnTo>
                  <a:pt x="238870" y="862436"/>
                </a:lnTo>
                <a:lnTo>
                  <a:pt x="245547" y="852156"/>
                </a:lnTo>
                <a:lnTo>
                  <a:pt x="248302" y="840181"/>
                </a:lnTo>
                <a:lnTo>
                  <a:pt x="246607" y="833399"/>
                </a:lnTo>
                <a:lnTo>
                  <a:pt x="242791" y="823437"/>
                </a:lnTo>
                <a:lnTo>
                  <a:pt x="247560" y="809766"/>
                </a:lnTo>
                <a:lnTo>
                  <a:pt x="251270" y="803513"/>
                </a:lnTo>
                <a:lnTo>
                  <a:pt x="264411" y="775853"/>
                </a:lnTo>
                <a:lnTo>
                  <a:pt x="268226" y="770343"/>
                </a:lnTo>
                <a:lnTo>
                  <a:pt x="273737" y="773734"/>
                </a:lnTo>
                <a:lnTo>
                  <a:pt x="274478" y="778715"/>
                </a:lnTo>
                <a:lnTo>
                  <a:pt x="271829" y="790372"/>
                </a:lnTo>
                <a:lnTo>
                  <a:pt x="271617" y="796201"/>
                </a:lnTo>
                <a:lnTo>
                  <a:pt x="274690" y="802135"/>
                </a:lnTo>
                <a:lnTo>
                  <a:pt x="270981" y="811991"/>
                </a:lnTo>
                <a:lnTo>
                  <a:pt x="280413" y="838061"/>
                </a:lnTo>
                <a:lnTo>
                  <a:pt x="287620" y="854488"/>
                </a:lnTo>
                <a:lnTo>
                  <a:pt x="287937" y="859999"/>
                </a:lnTo>
                <a:lnTo>
                  <a:pt x="278188" y="869854"/>
                </a:lnTo>
                <a:lnTo>
                  <a:pt x="272465" y="872822"/>
                </a:lnTo>
                <a:lnTo>
                  <a:pt x="259854" y="875471"/>
                </a:lnTo>
                <a:lnTo>
                  <a:pt x="254237" y="878333"/>
                </a:lnTo>
                <a:lnTo>
                  <a:pt x="245335" y="886281"/>
                </a:lnTo>
                <a:lnTo>
                  <a:pt x="239718" y="896878"/>
                </a:lnTo>
                <a:lnTo>
                  <a:pt x="238340" y="902283"/>
                </a:lnTo>
                <a:lnTo>
                  <a:pt x="235479" y="906522"/>
                </a:lnTo>
                <a:lnTo>
                  <a:pt x="209727" y="913729"/>
                </a:lnTo>
                <a:lnTo>
                  <a:pt x="197646" y="918392"/>
                </a:lnTo>
                <a:lnTo>
                  <a:pt x="192029" y="921889"/>
                </a:lnTo>
                <a:lnTo>
                  <a:pt x="189167" y="927612"/>
                </a:lnTo>
                <a:lnTo>
                  <a:pt x="191181" y="937679"/>
                </a:lnTo>
                <a:lnTo>
                  <a:pt x="169562" y="974135"/>
                </a:lnTo>
                <a:lnTo>
                  <a:pt x="162567" y="983673"/>
                </a:lnTo>
                <a:lnTo>
                  <a:pt x="155255" y="991833"/>
                </a:lnTo>
                <a:lnTo>
                  <a:pt x="146247" y="997662"/>
                </a:lnTo>
                <a:lnTo>
                  <a:pt x="133424" y="1001159"/>
                </a:lnTo>
                <a:lnTo>
                  <a:pt x="123356" y="1008260"/>
                </a:lnTo>
                <a:lnTo>
                  <a:pt x="116468" y="1020659"/>
                </a:lnTo>
                <a:lnTo>
                  <a:pt x="108095" y="1031998"/>
                </a:lnTo>
                <a:lnTo>
                  <a:pt x="97392" y="1040370"/>
                </a:lnTo>
                <a:lnTo>
                  <a:pt x="85840" y="1047683"/>
                </a:lnTo>
                <a:lnTo>
                  <a:pt x="75243" y="1053088"/>
                </a:lnTo>
                <a:lnTo>
                  <a:pt x="63797" y="1056903"/>
                </a:lnTo>
                <a:lnTo>
                  <a:pt x="60406" y="1061778"/>
                </a:lnTo>
                <a:lnTo>
                  <a:pt x="57969" y="1067924"/>
                </a:lnTo>
                <a:lnTo>
                  <a:pt x="52882" y="1070786"/>
                </a:lnTo>
                <a:lnTo>
                  <a:pt x="46841" y="1072375"/>
                </a:lnTo>
                <a:lnTo>
                  <a:pt x="36138" y="1078310"/>
                </a:lnTo>
                <a:close/>
                <a:moveTo>
                  <a:pt x="585625" y="741835"/>
                </a:moveTo>
                <a:lnTo>
                  <a:pt x="598024" y="747240"/>
                </a:lnTo>
                <a:lnTo>
                  <a:pt x="610000" y="742577"/>
                </a:lnTo>
                <a:lnTo>
                  <a:pt x="621869" y="743848"/>
                </a:lnTo>
                <a:lnTo>
                  <a:pt x="631725" y="750949"/>
                </a:lnTo>
                <a:lnTo>
                  <a:pt x="628546" y="755400"/>
                </a:lnTo>
                <a:lnTo>
                  <a:pt x="627910" y="760275"/>
                </a:lnTo>
                <a:lnTo>
                  <a:pt x="649953" y="749677"/>
                </a:lnTo>
                <a:lnTo>
                  <a:pt x="655782" y="750207"/>
                </a:lnTo>
                <a:lnTo>
                  <a:pt x="655570" y="760063"/>
                </a:lnTo>
                <a:lnTo>
                  <a:pt x="654298" y="768435"/>
                </a:lnTo>
                <a:lnTo>
                  <a:pt x="651754" y="776595"/>
                </a:lnTo>
                <a:lnTo>
                  <a:pt x="646986" y="786133"/>
                </a:lnTo>
                <a:lnTo>
                  <a:pt x="640839" y="794611"/>
                </a:lnTo>
                <a:lnTo>
                  <a:pt x="632573" y="800864"/>
                </a:lnTo>
                <a:lnTo>
                  <a:pt x="622823" y="804679"/>
                </a:lnTo>
                <a:lnTo>
                  <a:pt x="618160" y="808070"/>
                </a:lnTo>
                <a:lnTo>
                  <a:pt x="616676" y="813263"/>
                </a:lnTo>
                <a:lnTo>
                  <a:pt x="616888" y="819728"/>
                </a:lnTo>
                <a:lnTo>
                  <a:pt x="614663" y="825662"/>
                </a:lnTo>
                <a:lnTo>
                  <a:pt x="604383" y="828100"/>
                </a:lnTo>
                <a:lnTo>
                  <a:pt x="588381" y="839651"/>
                </a:lnTo>
                <a:lnTo>
                  <a:pt x="554044" y="846964"/>
                </a:lnTo>
                <a:lnTo>
                  <a:pt x="544612" y="851944"/>
                </a:lnTo>
                <a:lnTo>
                  <a:pt x="538572" y="858515"/>
                </a:lnTo>
                <a:lnTo>
                  <a:pt x="531789" y="864450"/>
                </a:lnTo>
                <a:lnTo>
                  <a:pt x="528186" y="865933"/>
                </a:lnTo>
                <a:lnTo>
                  <a:pt x="526490" y="863072"/>
                </a:lnTo>
                <a:lnTo>
                  <a:pt x="526066" y="860634"/>
                </a:lnTo>
                <a:lnTo>
                  <a:pt x="530941" y="845268"/>
                </a:lnTo>
                <a:lnTo>
                  <a:pt x="530094" y="838909"/>
                </a:lnTo>
                <a:lnTo>
                  <a:pt x="527762" y="832763"/>
                </a:lnTo>
                <a:lnTo>
                  <a:pt x="529246" y="820575"/>
                </a:lnTo>
                <a:lnTo>
                  <a:pt x="535286" y="809236"/>
                </a:lnTo>
                <a:lnTo>
                  <a:pt x="538466" y="796731"/>
                </a:lnTo>
                <a:lnTo>
                  <a:pt x="539419" y="772462"/>
                </a:lnTo>
                <a:lnTo>
                  <a:pt x="544082" y="738868"/>
                </a:lnTo>
                <a:lnTo>
                  <a:pt x="543764" y="734840"/>
                </a:lnTo>
                <a:lnTo>
                  <a:pt x="540161" y="730283"/>
                </a:lnTo>
                <a:lnTo>
                  <a:pt x="526808" y="726680"/>
                </a:lnTo>
                <a:lnTo>
                  <a:pt x="521509" y="723183"/>
                </a:lnTo>
                <a:lnTo>
                  <a:pt x="524159" y="716507"/>
                </a:lnTo>
                <a:lnTo>
                  <a:pt x="529246" y="711950"/>
                </a:lnTo>
                <a:lnTo>
                  <a:pt x="536134" y="712162"/>
                </a:lnTo>
                <a:lnTo>
                  <a:pt x="542281" y="716401"/>
                </a:lnTo>
                <a:lnTo>
                  <a:pt x="563900" y="725197"/>
                </a:lnTo>
                <a:lnTo>
                  <a:pt x="575345" y="732615"/>
                </a:lnTo>
                <a:lnTo>
                  <a:pt x="585625" y="741835"/>
                </a:lnTo>
                <a:close/>
                <a:moveTo>
                  <a:pt x="652920" y="1012181"/>
                </a:moveTo>
                <a:lnTo>
                  <a:pt x="645926" y="1013346"/>
                </a:lnTo>
                <a:lnTo>
                  <a:pt x="638507" y="1012711"/>
                </a:lnTo>
                <a:lnTo>
                  <a:pt x="633526" y="1007518"/>
                </a:lnTo>
                <a:lnTo>
                  <a:pt x="624942" y="985051"/>
                </a:lnTo>
                <a:lnTo>
                  <a:pt x="614875" y="979646"/>
                </a:lnTo>
                <a:lnTo>
                  <a:pt x="603535" y="975513"/>
                </a:lnTo>
                <a:lnTo>
                  <a:pt x="597706" y="972016"/>
                </a:lnTo>
                <a:lnTo>
                  <a:pt x="592620" y="967777"/>
                </a:lnTo>
                <a:lnTo>
                  <a:pt x="576617" y="945416"/>
                </a:lnTo>
                <a:lnTo>
                  <a:pt x="575451" y="931745"/>
                </a:lnTo>
                <a:lnTo>
                  <a:pt x="578207" y="924008"/>
                </a:lnTo>
                <a:lnTo>
                  <a:pt x="582976" y="917014"/>
                </a:lnTo>
                <a:lnTo>
                  <a:pt x="588487" y="915212"/>
                </a:lnTo>
                <a:lnTo>
                  <a:pt x="601734" y="914894"/>
                </a:lnTo>
                <a:lnTo>
                  <a:pt x="608622" y="914047"/>
                </a:lnTo>
                <a:lnTo>
                  <a:pt x="623777" y="903767"/>
                </a:lnTo>
                <a:lnTo>
                  <a:pt x="624836" y="899740"/>
                </a:lnTo>
                <a:lnTo>
                  <a:pt x="624942" y="882890"/>
                </a:lnTo>
                <a:lnTo>
                  <a:pt x="623353" y="871126"/>
                </a:lnTo>
                <a:lnTo>
                  <a:pt x="619644" y="859575"/>
                </a:lnTo>
                <a:lnTo>
                  <a:pt x="623777" y="854382"/>
                </a:lnTo>
                <a:lnTo>
                  <a:pt x="629075" y="849083"/>
                </a:lnTo>
                <a:lnTo>
                  <a:pt x="634586" y="839015"/>
                </a:lnTo>
                <a:lnTo>
                  <a:pt x="635752" y="831809"/>
                </a:lnTo>
                <a:lnTo>
                  <a:pt x="635858" y="824391"/>
                </a:lnTo>
                <a:lnTo>
                  <a:pt x="637236" y="818986"/>
                </a:lnTo>
                <a:lnTo>
                  <a:pt x="641581" y="816336"/>
                </a:lnTo>
                <a:lnTo>
                  <a:pt x="662564" y="808176"/>
                </a:lnTo>
                <a:lnTo>
                  <a:pt x="666273" y="807646"/>
                </a:lnTo>
                <a:lnTo>
                  <a:pt x="693191" y="815171"/>
                </a:lnTo>
                <a:lnTo>
                  <a:pt x="698596" y="826510"/>
                </a:lnTo>
                <a:lnTo>
                  <a:pt x="699232" y="830219"/>
                </a:lnTo>
                <a:lnTo>
                  <a:pt x="694993" y="842830"/>
                </a:lnTo>
                <a:lnTo>
                  <a:pt x="691284" y="851309"/>
                </a:lnTo>
                <a:lnTo>
                  <a:pt x="682170" y="864344"/>
                </a:lnTo>
                <a:lnTo>
                  <a:pt x="675493" y="878544"/>
                </a:lnTo>
                <a:lnTo>
                  <a:pt x="670406" y="899740"/>
                </a:lnTo>
                <a:lnTo>
                  <a:pt x="667227" y="906734"/>
                </a:lnTo>
                <a:lnTo>
                  <a:pt x="658855" y="920087"/>
                </a:lnTo>
                <a:lnTo>
                  <a:pt x="656205" y="927400"/>
                </a:lnTo>
                <a:lnTo>
                  <a:pt x="656311" y="943190"/>
                </a:lnTo>
                <a:lnTo>
                  <a:pt x="654828" y="949125"/>
                </a:lnTo>
                <a:lnTo>
                  <a:pt x="654934" y="954742"/>
                </a:lnTo>
                <a:lnTo>
                  <a:pt x="671678" y="981130"/>
                </a:lnTo>
                <a:lnTo>
                  <a:pt x="673162" y="985369"/>
                </a:lnTo>
                <a:lnTo>
                  <a:pt x="673056" y="990032"/>
                </a:lnTo>
                <a:lnTo>
                  <a:pt x="670088" y="995966"/>
                </a:lnTo>
                <a:lnTo>
                  <a:pt x="663306" y="1006140"/>
                </a:lnTo>
                <a:lnTo>
                  <a:pt x="659385" y="1009637"/>
                </a:lnTo>
                <a:lnTo>
                  <a:pt x="652920" y="1012181"/>
                </a:lnTo>
                <a:close/>
                <a:moveTo>
                  <a:pt x="805950" y="770661"/>
                </a:moveTo>
                <a:lnTo>
                  <a:pt x="813262" y="774370"/>
                </a:lnTo>
                <a:lnTo>
                  <a:pt x="821741" y="772886"/>
                </a:lnTo>
                <a:lnTo>
                  <a:pt x="832020" y="764514"/>
                </a:lnTo>
                <a:lnTo>
                  <a:pt x="843572" y="767481"/>
                </a:lnTo>
                <a:lnTo>
                  <a:pt x="850354" y="779880"/>
                </a:lnTo>
                <a:lnTo>
                  <a:pt x="853851" y="784543"/>
                </a:lnTo>
                <a:lnTo>
                  <a:pt x="855653" y="792704"/>
                </a:lnTo>
                <a:lnTo>
                  <a:pt x="855229" y="812097"/>
                </a:lnTo>
                <a:lnTo>
                  <a:pt x="852368" y="829689"/>
                </a:lnTo>
                <a:lnTo>
                  <a:pt x="854593" y="833399"/>
                </a:lnTo>
                <a:lnTo>
                  <a:pt x="859892" y="836472"/>
                </a:lnTo>
                <a:lnTo>
                  <a:pt x="864555" y="840393"/>
                </a:lnTo>
                <a:lnTo>
                  <a:pt x="868370" y="845480"/>
                </a:lnTo>
                <a:lnTo>
                  <a:pt x="870914" y="850991"/>
                </a:lnTo>
                <a:lnTo>
                  <a:pt x="871867" y="864556"/>
                </a:lnTo>
                <a:lnTo>
                  <a:pt x="878544" y="875895"/>
                </a:lnTo>
                <a:lnTo>
                  <a:pt x="879392" y="880346"/>
                </a:lnTo>
                <a:lnTo>
                  <a:pt x="877802" y="885009"/>
                </a:lnTo>
                <a:lnTo>
                  <a:pt x="866675" y="884161"/>
                </a:lnTo>
                <a:lnTo>
                  <a:pt x="865827" y="888082"/>
                </a:lnTo>
                <a:lnTo>
                  <a:pt x="866145" y="892957"/>
                </a:lnTo>
                <a:lnTo>
                  <a:pt x="862118" y="889884"/>
                </a:lnTo>
                <a:lnTo>
                  <a:pt x="855653" y="878756"/>
                </a:lnTo>
                <a:lnTo>
                  <a:pt x="849612" y="873987"/>
                </a:lnTo>
                <a:lnTo>
                  <a:pt x="851520" y="892109"/>
                </a:lnTo>
                <a:lnTo>
                  <a:pt x="853534" y="900800"/>
                </a:lnTo>
                <a:lnTo>
                  <a:pt x="853851" y="909490"/>
                </a:lnTo>
                <a:lnTo>
                  <a:pt x="843466" y="902813"/>
                </a:lnTo>
                <a:lnTo>
                  <a:pt x="831172" y="898680"/>
                </a:lnTo>
                <a:lnTo>
                  <a:pt x="827781" y="895183"/>
                </a:lnTo>
                <a:lnTo>
                  <a:pt x="828947" y="883843"/>
                </a:lnTo>
                <a:lnTo>
                  <a:pt x="828735" y="878227"/>
                </a:lnTo>
                <a:lnTo>
                  <a:pt x="823224" y="866357"/>
                </a:lnTo>
                <a:lnTo>
                  <a:pt x="829689" y="840711"/>
                </a:lnTo>
                <a:lnTo>
                  <a:pt x="829477" y="835412"/>
                </a:lnTo>
                <a:lnTo>
                  <a:pt x="828417" y="830219"/>
                </a:lnTo>
                <a:lnTo>
                  <a:pt x="823330" y="819728"/>
                </a:lnTo>
                <a:lnTo>
                  <a:pt x="815276" y="811038"/>
                </a:lnTo>
                <a:lnTo>
                  <a:pt x="810295" y="811038"/>
                </a:lnTo>
                <a:lnTo>
                  <a:pt x="798320" y="817184"/>
                </a:lnTo>
                <a:lnTo>
                  <a:pt x="792279" y="815065"/>
                </a:lnTo>
                <a:lnTo>
                  <a:pt x="788676" y="791114"/>
                </a:lnTo>
                <a:lnTo>
                  <a:pt x="783801" y="767693"/>
                </a:lnTo>
                <a:lnTo>
                  <a:pt x="780092" y="761758"/>
                </a:lnTo>
                <a:lnTo>
                  <a:pt x="777654" y="755506"/>
                </a:lnTo>
                <a:lnTo>
                  <a:pt x="780092" y="750313"/>
                </a:lnTo>
                <a:lnTo>
                  <a:pt x="784649" y="752433"/>
                </a:lnTo>
                <a:lnTo>
                  <a:pt x="791219" y="758579"/>
                </a:lnTo>
                <a:lnTo>
                  <a:pt x="799168" y="762076"/>
                </a:lnTo>
                <a:lnTo>
                  <a:pt x="803089" y="765150"/>
                </a:lnTo>
                <a:lnTo>
                  <a:pt x="805950" y="770661"/>
                </a:lnTo>
                <a:close/>
                <a:moveTo>
                  <a:pt x="876424" y="645078"/>
                </a:moveTo>
                <a:lnTo>
                  <a:pt x="883843" y="653769"/>
                </a:lnTo>
                <a:lnTo>
                  <a:pt x="885750" y="660021"/>
                </a:lnTo>
                <a:lnTo>
                  <a:pt x="884903" y="666910"/>
                </a:lnTo>
                <a:lnTo>
                  <a:pt x="888294" y="669983"/>
                </a:lnTo>
                <a:lnTo>
                  <a:pt x="894334" y="670831"/>
                </a:lnTo>
                <a:lnTo>
                  <a:pt x="901965" y="674328"/>
                </a:lnTo>
                <a:lnTo>
                  <a:pt x="907793" y="680793"/>
                </a:lnTo>
                <a:lnTo>
                  <a:pt x="904296" y="686621"/>
                </a:lnTo>
                <a:lnTo>
                  <a:pt x="905356" y="695205"/>
                </a:lnTo>
                <a:lnTo>
                  <a:pt x="899421" y="706015"/>
                </a:lnTo>
                <a:lnTo>
                  <a:pt x="900163" y="725197"/>
                </a:lnTo>
                <a:lnTo>
                  <a:pt x="903660" y="731343"/>
                </a:lnTo>
                <a:lnTo>
                  <a:pt x="903978" y="737596"/>
                </a:lnTo>
                <a:lnTo>
                  <a:pt x="903130" y="744060"/>
                </a:lnTo>
                <a:lnTo>
                  <a:pt x="904614" y="749359"/>
                </a:lnTo>
                <a:lnTo>
                  <a:pt x="913834" y="766951"/>
                </a:lnTo>
                <a:lnTo>
                  <a:pt x="915530" y="772780"/>
                </a:lnTo>
                <a:lnTo>
                  <a:pt x="912668" y="777443"/>
                </a:lnTo>
                <a:lnTo>
                  <a:pt x="911821" y="781788"/>
                </a:lnTo>
                <a:lnTo>
                  <a:pt x="917437" y="782212"/>
                </a:lnTo>
                <a:lnTo>
                  <a:pt x="925597" y="789524"/>
                </a:lnTo>
                <a:lnTo>
                  <a:pt x="930366" y="799168"/>
                </a:lnTo>
                <a:lnTo>
                  <a:pt x="928989" y="801712"/>
                </a:lnTo>
                <a:lnTo>
                  <a:pt x="922418" y="794187"/>
                </a:lnTo>
                <a:lnTo>
                  <a:pt x="917543" y="793022"/>
                </a:lnTo>
                <a:lnTo>
                  <a:pt x="896772" y="795035"/>
                </a:lnTo>
                <a:lnTo>
                  <a:pt x="884055" y="791962"/>
                </a:lnTo>
                <a:lnTo>
                  <a:pt x="875683" y="791644"/>
                </a:lnTo>
                <a:lnTo>
                  <a:pt x="867522" y="778715"/>
                </a:lnTo>
                <a:lnTo>
                  <a:pt x="860316" y="776595"/>
                </a:lnTo>
                <a:lnTo>
                  <a:pt x="854593" y="770872"/>
                </a:lnTo>
                <a:lnTo>
                  <a:pt x="845161" y="756248"/>
                </a:lnTo>
                <a:lnTo>
                  <a:pt x="842194" y="747876"/>
                </a:lnTo>
                <a:lnTo>
                  <a:pt x="848765" y="739397"/>
                </a:lnTo>
                <a:lnTo>
                  <a:pt x="850778" y="732615"/>
                </a:lnTo>
                <a:lnTo>
                  <a:pt x="850460" y="725938"/>
                </a:lnTo>
                <a:lnTo>
                  <a:pt x="844208" y="726998"/>
                </a:lnTo>
                <a:lnTo>
                  <a:pt x="838697" y="724879"/>
                </a:lnTo>
                <a:lnTo>
                  <a:pt x="832020" y="716719"/>
                </a:lnTo>
                <a:lnTo>
                  <a:pt x="829371" y="712056"/>
                </a:lnTo>
                <a:lnTo>
                  <a:pt x="824496" y="708134"/>
                </a:lnTo>
                <a:lnTo>
                  <a:pt x="816760" y="698809"/>
                </a:lnTo>
                <a:lnTo>
                  <a:pt x="805632" y="695205"/>
                </a:lnTo>
                <a:lnTo>
                  <a:pt x="801075" y="692662"/>
                </a:lnTo>
                <a:lnTo>
                  <a:pt x="792279" y="684820"/>
                </a:lnTo>
                <a:lnTo>
                  <a:pt x="785815" y="675176"/>
                </a:lnTo>
                <a:lnTo>
                  <a:pt x="779562" y="658220"/>
                </a:lnTo>
                <a:lnTo>
                  <a:pt x="776277" y="640733"/>
                </a:lnTo>
                <a:lnTo>
                  <a:pt x="804996" y="645290"/>
                </a:lnTo>
                <a:lnTo>
                  <a:pt x="834034" y="644337"/>
                </a:lnTo>
                <a:lnTo>
                  <a:pt x="866887" y="640310"/>
                </a:lnTo>
                <a:lnTo>
                  <a:pt x="876424" y="645078"/>
                </a:lnTo>
                <a:close/>
                <a:moveTo>
                  <a:pt x="395715" y="544295"/>
                </a:moveTo>
                <a:lnTo>
                  <a:pt x="401120" y="545143"/>
                </a:lnTo>
                <a:lnTo>
                  <a:pt x="418076" y="541963"/>
                </a:lnTo>
                <a:lnTo>
                  <a:pt x="425071" y="543553"/>
                </a:lnTo>
                <a:lnTo>
                  <a:pt x="429734" y="549594"/>
                </a:lnTo>
                <a:lnTo>
                  <a:pt x="435457" y="551501"/>
                </a:lnTo>
                <a:lnTo>
                  <a:pt x="440014" y="554681"/>
                </a:lnTo>
                <a:lnTo>
                  <a:pt x="448598" y="549276"/>
                </a:lnTo>
                <a:lnTo>
                  <a:pt x="457182" y="555422"/>
                </a:lnTo>
                <a:lnTo>
                  <a:pt x="464918" y="566974"/>
                </a:lnTo>
                <a:lnTo>
                  <a:pt x="473926" y="575134"/>
                </a:lnTo>
                <a:lnTo>
                  <a:pt x="482510" y="581175"/>
                </a:lnTo>
                <a:lnTo>
                  <a:pt x="484206" y="585626"/>
                </a:lnTo>
                <a:lnTo>
                  <a:pt x="479013" y="592938"/>
                </a:lnTo>
                <a:lnTo>
                  <a:pt x="477423" y="602264"/>
                </a:lnTo>
                <a:lnTo>
                  <a:pt x="477953" y="612332"/>
                </a:lnTo>
                <a:lnTo>
                  <a:pt x="484418" y="633421"/>
                </a:lnTo>
                <a:lnTo>
                  <a:pt x="482086" y="639144"/>
                </a:lnTo>
                <a:lnTo>
                  <a:pt x="475622" y="647198"/>
                </a:lnTo>
                <a:lnTo>
                  <a:pt x="470747" y="656206"/>
                </a:lnTo>
                <a:lnTo>
                  <a:pt x="471383" y="659809"/>
                </a:lnTo>
                <a:lnTo>
                  <a:pt x="469475" y="662777"/>
                </a:lnTo>
                <a:lnTo>
                  <a:pt x="468839" y="669135"/>
                </a:lnTo>
                <a:lnTo>
                  <a:pt x="464918" y="667863"/>
                </a:lnTo>
                <a:lnTo>
                  <a:pt x="461209" y="668817"/>
                </a:lnTo>
                <a:lnTo>
                  <a:pt x="457712" y="671679"/>
                </a:lnTo>
                <a:lnTo>
                  <a:pt x="452201" y="677825"/>
                </a:lnTo>
                <a:lnTo>
                  <a:pt x="443511" y="676024"/>
                </a:lnTo>
                <a:lnTo>
                  <a:pt x="439484" y="674222"/>
                </a:lnTo>
                <a:lnTo>
                  <a:pt x="438530" y="668817"/>
                </a:lnTo>
                <a:lnTo>
                  <a:pt x="435881" y="665108"/>
                </a:lnTo>
                <a:lnTo>
                  <a:pt x="432277" y="662883"/>
                </a:lnTo>
                <a:lnTo>
                  <a:pt x="423163" y="653663"/>
                </a:lnTo>
                <a:lnTo>
                  <a:pt x="418818" y="646774"/>
                </a:lnTo>
                <a:lnTo>
                  <a:pt x="418712" y="639462"/>
                </a:lnTo>
                <a:lnTo>
                  <a:pt x="416381" y="632573"/>
                </a:lnTo>
                <a:lnTo>
                  <a:pt x="411718" y="626427"/>
                </a:lnTo>
                <a:lnTo>
                  <a:pt x="405465" y="621764"/>
                </a:lnTo>
                <a:lnTo>
                  <a:pt x="403346" y="617207"/>
                </a:lnTo>
                <a:lnTo>
                  <a:pt x="402604" y="611908"/>
                </a:lnTo>
                <a:lnTo>
                  <a:pt x="402074" y="598237"/>
                </a:lnTo>
                <a:lnTo>
                  <a:pt x="393172" y="581175"/>
                </a:lnTo>
                <a:lnTo>
                  <a:pt x="390099" y="577148"/>
                </a:lnTo>
                <a:lnTo>
                  <a:pt x="381833" y="572909"/>
                </a:lnTo>
                <a:lnTo>
                  <a:pt x="374944" y="567504"/>
                </a:lnTo>
                <a:lnTo>
                  <a:pt x="372083" y="562099"/>
                </a:lnTo>
                <a:lnTo>
                  <a:pt x="369327" y="553303"/>
                </a:lnTo>
                <a:lnTo>
                  <a:pt x="367526" y="552137"/>
                </a:lnTo>
                <a:lnTo>
                  <a:pt x="362227" y="552455"/>
                </a:lnTo>
                <a:lnTo>
                  <a:pt x="356928" y="551395"/>
                </a:lnTo>
                <a:lnTo>
                  <a:pt x="358518" y="544931"/>
                </a:lnTo>
                <a:lnTo>
                  <a:pt x="363605" y="540268"/>
                </a:lnTo>
                <a:lnTo>
                  <a:pt x="370705" y="539738"/>
                </a:lnTo>
                <a:lnTo>
                  <a:pt x="390311" y="542281"/>
                </a:lnTo>
                <a:lnTo>
                  <a:pt x="395715" y="544295"/>
                </a:lnTo>
                <a:close/>
                <a:moveTo>
                  <a:pt x="957602" y="984945"/>
                </a:moveTo>
                <a:lnTo>
                  <a:pt x="966292" y="991303"/>
                </a:lnTo>
                <a:lnTo>
                  <a:pt x="977420" y="989608"/>
                </a:lnTo>
                <a:lnTo>
                  <a:pt x="977314" y="1005716"/>
                </a:lnTo>
                <a:lnTo>
                  <a:pt x="979116" y="1010379"/>
                </a:lnTo>
                <a:lnTo>
                  <a:pt x="989289" y="1024050"/>
                </a:lnTo>
                <a:lnTo>
                  <a:pt x="990879" y="1035390"/>
                </a:lnTo>
                <a:lnTo>
                  <a:pt x="984838" y="1046093"/>
                </a:lnTo>
                <a:lnTo>
                  <a:pt x="980281" y="1051180"/>
                </a:lnTo>
                <a:lnTo>
                  <a:pt x="972015" y="1058492"/>
                </a:lnTo>
                <a:lnTo>
                  <a:pt x="971803" y="1061778"/>
                </a:lnTo>
                <a:lnTo>
                  <a:pt x="975300" y="1065593"/>
                </a:lnTo>
                <a:lnTo>
                  <a:pt x="986852" y="1067818"/>
                </a:lnTo>
                <a:lnTo>
                  <a:pt x="995648" y="1073647"/>
                </a:lnTo>
                <a:lnTo>
                  <a:pt x="997238" y="1090285"/>
                </a:lnTo>
                <a:lnTo>
                  <a:pt x="1005610" y="1103426"/>
                </a:lnTo>
                <a:lnTo>
                  <a:pt x="1005398" y="1109149"/>
                </a:lnTo>
                <a:lnTo>
                  <a:pt x="1002006" y="1132676"/>
                </a:lnTo>
                <a:lnTo>
                  <a:pt x="1003066" y="1142638"/>
                </a:lnTo>
                <a:lnTo>
                  <a:pt x="1009319" y="1150692"/>
                </a:lnTo>
                <a:lnTo>
                  <a:pt x="1014618" y="1154083"/>
                </a:lnTo>
                <a:lnTo>
                  <a:pt x="1017373" y="1159170"/>
                </a:lnTo>
                <a:lnTo>
                  <a:pt x="1019810" y="1172947"/>
                </a:lnTo>
                <a:lnTo>
                  <a:pt x="1019387" y="1196474"/>
                </a:lnTo>
                <a:lnTo>
                  <a:pt x="1018645" y="1204634"/>
                </a:lnTo>
                <a:lnTo>
                  <a:pt x="1014936" y="1212264"/>
                </a:lnTo>
                <a:lnTo>
                  <a:pt x="1003490" y="1229644"/>
                </a:lnTo>
                <a:lnTo>
                  <a:pt x="988124" y="1243421"/>
                </a:lnTo>
                <a:lnTo>
                  <a:pt x="979963" y="1242467"/>
                </a:lnTo>
                <a:lnTo>
                  <a:pt x="977314" y="1246495"/>
                </a:lnTo>
                <a:lnTo>
                  <a:pt x="982401" y="1259106"/>
                </a:lnTo>
                <a:lnTo>
                  <a:pt x="980387" y="1285706"/>
                </a:lnTo>
                <a:lnTo>
                  <a:pt x="976996" y="1304040"/>
                </a:lnTo>
                <a:lnTo>
                  <a:pt x="972015" y="1294714"/>
                </a:lnTo>
                <a:lnTo>
                  <a:pt x="968624" y="1284964"/>
                </a:lnTo>
                <a:lnTo>
                  <a:pt x="965445" y="1259212"/>
                </a:lnTo>
                <a:lnTo>
                  <a:pt x="961523" y="1247554"/>
                </a:lnTo>
                <a:lnTo>
                  <a:pt x="955377" y="1236851"/>
                </a:lnTo>
                <a:lnTo>
                  <a:pt x="952939" y="1227419"/>
                </a:lnTo>
                <a:lnTo>
                  <a:pt x="946475" y="1218517"/>
                </a:lnTo>
                <a:lnTo>
                  <a:pt x="938315" y="1195626"/>
                </a:lnTo>
                <a:lnTo>
                  <a:pt x="933016" y="1196792"/>
                </a:lnTo>
                <a:lnTo>
                  <a:pt x="924008" y="1203044"/>
                </a:lnTo>
                <a:lnTo>
                  <a:pt x="921994" y="1207389"/>
                </a:lnTo>
                <a:lnTo>
                  <a:pt x="920935" y="1213854"/>
                </a:lnTo>
                <a:lnTo>
                  <a:pt x="918921" y="1219789"/>
                </a:lnTo>
                <a:lnTo>
                  <a:pt x="908429" y="1229114"/>
                </a:lnTo>
                <a:lnTo>
                  <a:pt x="900269" y="1240348"/>
                </a:lnTo>
                <a:lnTo>
                  <a:pt x="893487" y="1252535"/>
                </a:lnTo>
                <a:lnTo>
                  <a:pt x="891367" y="1263769"/>
                </a:lnTo>
                <a:lnTo>
                  <a:pt x="896878" y="1272565"/>
                </a:lnTo>
                <a:lnTo>
                  <a:pt x="902601" y="1276062"/>
                </a:lnTo>
                <a:lnTo>
                  <a:pt x="910867" y="1283904"/>
                </a:lnTo>
                <a:lnTo>
                  <a:pt x="913304" y="1287507"/>
                </a:lnTo>
                <a:lnTo>
                  <a:pt x="922100" y="1313048"/>
                </a:lnTo>
                <a:lnTo>
                  <a:pt x="921782" y="1339118"/>
                </a:lnTo>
                <a:lnTo>
                  <a:pt x="915424" y="1350669"/>
                </a:lnTo>
                <a:lnTo>
                  <a:pt x="899315" y="1372501"/>
                </a:lnTo>
                <a:lnTo>
                  <a:pt x="887658" y="1379389"/>
                </a:lnTo>
                <a:lnTo>
                  <a:pt x="881511" y="1375892"/>
                </a:lnTo>
                <a:lnTo>
                  <a:pt x="876530" y="1362645"/>
                </a:lnTo>
                <a:lnTo>
                  <a:pt x="875683" y="1357240"/>
                </a:lnTo>
                <a:lnTo>
                  <a:pt x="879074" y="1344735"/>
                </a:lnTo>
                <a:lnTo>
                  <a:pt x="879392" y="1333395"/>
                </a:lnTo>
                <a:lnTo>
                  <a:pt x="875577" y="1329474"/>
                </a:lnTo>
                <a:lnTo>
                  <a:pt x="871232" y="1330322"/>
                </a:lnTo>
                <a:lnTo>
                  <a:pt x="869430" y="1331912"/>
                </a:lnTo>
                <a:lnTo>
                  <a:pt x="859044" y="1346854"/>
                </a:lnTo>
                <a:lnTo>
                  <a:pt x="854699" y="1350563"/>
                </a:lnTo>
                <a:lnTo>
                  <a:pt x="848341" y="1351093"/>
                </a:lnTo>
                <a:lnTo>
                  <a:pt x="843254" y="1350139"/>
                </a:lnTo>
                <a:lnTo>
                  <a:pt x="812415" y="1337104"/>
                </a:lnTo>
                <a:lnTo>
                  <a:pt x="787298" y="1324175"/>
                </a:lnTo>
                <a:lnTo>
                  <a:pt x="767587" y="1312200"/>
                </a:lnTo>
                <a:lnTo>
                  <a:pt x="753280" y="1294078"/>
                </a:lnTo>
                <a:lnTo>
                  <a:pt x="750312" y="1280407"/>
                </a:lnTo>
                <a:lnTo>
                  <a:pt x="750101" y="1266206"/>
                </a:lnTo>
                <a:lnTo>
                  <a:pt x="743742" y="1245435"/>
                </a:lnTo>
                <a:lnTo>
                  <a:pt x="743000" y="1238334"/>
                </a:lnTo>
                <a:lnTo>
                  <a:pt x="743424" y="1231552"/>
                </a:lnTo>
                <a:lnTo>
                  <a:pt x="749783" y="1218835"/>
                </a:lnTo>
                <a:lnTo>
                  <a:pt x="757519" y="1212370"/>
                </a:lnTo>
                <a:lnTo>
                  <a:pt x="761758" y="1207707"/>
                </a:lnTo>
                <a:lnTo>
                  <a:pt x="765255" y="1202620"/>
                </a:lnTo>
                <a:lnTo>
                  <a:pt x="767587" y="1195732"/>
                </a:lnTo>
                <a:lnTo>
                  <a:pt x="766951" y="1188949"/>
                </a:lnTo>
                <a:lnTo>
                  <a:pt x="764301" y="1184604"/>
                </a:lnTo>
                <a:lnTo>
                  <a:pt x="752220" y="1169662"/>
                </a:lnTo>
                <a:lnTo>
                  <a:pt x="741622" y="1160442"/>
                </a:lnTo>
                <a:lnTo>
                  <a:pt x="720109" y="1152176"/>
                </a:lnTo>
                <a:lnTo>
                  <a:pt x="715022" y="1147725"/>
                </a:lnTo>
                <a:lnTo>
                  <a:pt x="709618" y="1144227"/>
                </a:lnTo>
                <a:lnTo>
                  <a:pt x="703577" y="1142744"/>
                </a:lnTo>
                <a:lnTo>
                  <a:pt x="697642" y="1142744"/>
                </a:lnTo>
                <a:lnTo>
                  <a:pt x="691284" y="1145287"/>
                </a:lnTo>
                <a:lnTo>
                  <a:pt x="689588" y="1150798"/>
                </a:lnTo>
                <a:lnTo>
                  <a:pt x="690118" y="1155673"/>
                </a:lnTo>
                <a:lnTo>
                  <a:pt x="689482" y="1160442"/>
                </a:lnTo>
                <a:lnTo>
                  <a:pt x="680474" y="1187678"/>
                </a:lnTo>
                <a:lnTo>
                  <a:pt x="668923" y="1181743"/>
                </a:lnTo>
                <a:lnTo>
                  <a:pt x="657901" y="1174855"/>
                </a:lnTo>
                <a:lnTo>
                  <a:pt x="655040" y="1169980"/>
                </a:lnTo>
                <a:lnTo>
                  <a:pt x="653768" y="1164151"/>
                </a:lnTo>
                <a:lnTo>
                  <a:pt x="651860" y="1160230"/>
                </a:lnTo>
                <a:lnTo>
                  <a:pt x="649317" y="1156733"/>
                </a:lnTo>
                <a:lnTo>
                  <a:pt x="644230" y="1165847"/>
                </a:lnTo>
                <a:lnTo>
                  <a:pt x="637978" y="1173053"/>
                </a:lnTo>
                <a:lnTo>
                  <a:pt x="630241" y="1174643"/>
                </a:lnTo>
                <a:lnTo>
                  <a:pt x="622399" y="1174855"/>
                </a:lnTo>
                <a:lnTo>
                  <a:pt x="619856" y="1171781"/>
                </a:lnTo>
                <a:lnTo>
                  <a:pt x="616994" y="1154401"/>
                </a:lnTo>
                <a:lnTo>
                  <a:pt x="608728" y="1148890"/>
                </a:lnTo>
                <a:lnTo>
                  <a:pt x="598342" y="1150056"/>
                </a:lnTo>
                <a:lnTo>
                  <a:pt x="585837" y="1159594"/>
                </a:lnTo>
                <a:lnTo>
                  <a:pt x="583294" y="1163197"/>
                </a:lnTo>
                <a:lnTo>
                  <a:pt x="580644" y="1171463"/>
                </a:lnTo>
                <a:lnTo>
                  <a:pt x="566973" y="1194884"/>
                </a:lnTo>
                <a:lnTo>
                  <a:pt x="559661" y="1212900"/>
                </a:lnTo>
                <a:lnTo>
                  <a:pt x="551713" y="1230492"/>
                </a:lnTo>
                <a:lnTo>
                  <a:pt x="548110" y="1236215"/>
                </a:lnTo>
                <a:lnTo>
                  <a:pt x="543447" y="1240030"/>
                </a:lnTo>
                <a:lnTo>
                  <a:pt x="536028" y="1238440"/>
                </a:lnTo>
                <a:lnTo>
                  <a:pt x="529246" y="1234307"/>
                </a:lnTo>
                <a:lnTo>
                  <a:pt x="522887" y="1222968"/>
                </a:lnTo>
                <a:lnTo>
                  <a:pt x="525113" y="1209721"/>
                </a:lnTo>
                <a:lnTo>
                  <a:pt x="532107" y="1201349"/>
                </a:lnTo>
                <a:lnTo>
                  <a:pt x="538042" y="1192341"/>
                </a:lnTo>
                <a:lnTo>
                  <a:pt x="545248" y="1160972"/>
                </a:lnTo>
                <a:lnTo>
                  <a:pt x="545778" y="1149844"/>
                </a:lnTo>
                <a:lnTo>
                  <a:pt x="547050" y="1145075"/>
                </a:lnTo>
                <a:lnTo>
                  <a:pt x="558813" y="1130768"/>
                </a:lnTo>
                <a:lnTo>
                  <a:pt x="568775" y="1121972"/>
                </a:lnTo>
                <a:lnTo>
                  <a:pt x="574074" y="1120065"/>
                </a:lnTo>
                <a:lnTo>
                  <a:pt x="595481" y="1115084"/>
                </a:lnTo>
                <a:lnTo>
                  <a:pt x="604383" y="1110845"/>
                </a:lnTo>
                <a:lnTo>
                  <a:pt x="618266" y="1110739"/>
                </a:lnTo>
                <a:lnTo>
                  <a:pt x="629605" y="1108407"/>
                </a:lnTo>
                <a:lnTo>
                  <a:pt x="638613" y="1101519"/>
                </a:lnTo>
                <a:lnTo>
                  <a:pt x="639355" y="1094524"/>
                </a:lnTo>
                <a:lnTo>
                  <a:pt x="638931" y="1087212"/>
                </a:lnTo>
                <a:lnTo>
                  <a:pt x="640945" y="1082761"/>
                </a:lnTo>
                <a:lnTo>
                  <a:pt x="644442" y="1078946"/>
                </a:lnTo>
                <a:lnTo>
                  <a:pt x="649211" y="1073965"/>
                </a:lnTo>
                <a:lnTo>
                  <a:pt x="654616" y="1070256"/>
                </a:lnTo>
                <a:lnTo>
                  <a:pt x="670088" y="1067606"/>
                </a:lnTo>
                <a:lnTo>
                  <a:pt x="675175" y="1064533"/>
                </a:lnTo>
                <a:lnTo>
                  <a:pt x="679308" y="1059658"/>
                </a:lnTo>
                <a:lnTo>
                  <a:pt x="685137" y="1050438"/>
                </a:lnTo>
                <a:lnTo>
                  <a:pt x="691919" y="1052664"/>
                </a:lnTo>
                <a:lnTo>
                  <a:pt x="698808" y="1056373"/>
                </a:lnTo>
                <a:lnTo>
                  <a:pt x="711101" y="1059128"/>
                </a:lnTo>
                <a:lnTo>
                  <a:pt x="722017" y="1066865"/>
                </a:lnTo>
                <a:lnTo>
                  <a:pt x="729011" y="1079052"/>
                </a:lnTo>
                <a:lnTo>
                  <a:pt x="730283" y="1085092"/>
                </a:lnTo>
                <a:lnTo>
                  <a:pt x="731979" y="1104910"/>
                </a:lnTo>
                <a:lnTo>
                  <a:pt x="729435" y="1109573"/>
                </a:lnTo>
                <a:lnTo>
                  <a:pt x="718838" y="1118793"/>
                </a:lnTo>
                <a:lnTo>
                  <a:pt x="723712" y="1119747"/>
                </a:lnTo>
                <a:lnTo>
                  <a:pt x="737701" y="1111375"/>
                </a:lnTo>
                <a:lnTo>
                  <a:pt x="744696" y="1108089"/>
                </a:lnTo>
                <a:lnTo>
                  <a:pt x="761864" y="1103638"/>
                </a:lnTo>
                <a:lnTo>
                  <a:pt x="765997" y="1100565"/>
                </a:lnTo>
                <a:lnTo>
                  <a:pt x="768964" y="1096220"/>
                </a:lnTo>
                <a:lnTo>
                  <a:pt x="775005" y="1084033"/>
                </a:lnTo>
                <a:lnTo>
                  <a:pt x="779456" y="1071104"/>
                </a:lnTo>
                <a:lnTo>
                  <a:pt x="782953" y="1065699"/>
                </a:lnTo>
                <a:lnTo>
                  <a:pt x="787934" y="1061354"/>
                </a:lnTo>
                <a:lnTo>
                  <a:pt x="792809" y="1060718"/>
                </a:lnTo>
                <a:lnTo>
                  <a:pt x="810931" y="1069514"/>
                </a:lnTo>
                <a:lnTo>
                  <a:pt x="822482" y="1065275"/>
                </a:lnTo>
                <a:lnTo>
                  <a:pt x="825768" y="1051816"/>
                </a:lnTo>
                <a:lnTo>
                  <a:pt x="828417" y="1032316"/>
                </a:lnTo>
                <a:lnTo>
                  <a:pt x="830431" y="1027017"/>
                </a:lnTo>
                <a:lnTo>
                  <a:pt x="837107" y="1021931"/>
                </a:lnTo>
                <a:lnTo>
                  <a:pt x="845055" y="1023520"/>
                </a:lnTo>
                <a:lnTo>
                  <a:pt x="855865" y="1030515"/>
                </a:lnTo>
                <a:lnTo>
                  <a:pt x="865933" y="1032846"/>
                </a:lnTo>
                <a:lnTo>
                  <a:pt x="869642" y="1027229"/>
                </a:lnTo>
                <a:lnTo>
                  <a:pt x="873245" y="1016102"/>
                </a:lnTo>
                <a:lnTo>
                  <a:pt x="877272" y="1016102"/>
                </a:lnTo>
                <a:lnTo>
                  <a:pt x="890837" y="1019811"/>
                </a:lnTo>
                <a:lnTo>
                  <a:pt x="903872" y="1017374"/>
                </a:lnTo>
                <a:lnTo>
                  <a:pt x="907476" y="1004021"/>
                </a:lnTo>
                <a:lnTo>
                  <a:pt x="905038" y="989714"/>
                </a:lnTo>
                <a:lnTo>
                  <a:pt x="894864" y="948065"/>
                </a:lnTo>
                <a:lnTo>
                  <a:pt x="900905" y="938739"/>
                </a:lnTo>
                <a:lnTo>
                  <a:pt x="906204" y="938527"/>
                </a:lnTo>
                <a:lnTo>
                  <a:pt x="919027" y="949655"/>
                </a:lnTo>
                <a:lnTo>
                  <a:pt x="943931" y="964597"/>
                </a:lnTo>
                <a:lnTo>
                  <a:pt x="952198" y="973711"/>
                </a:lnTo>
                <a:lnTo>
                  <a:pt x="957602" y="984945"/>
                </a:lnTo>
                <a:close/>
                <a:moveTo>
                  <a:pt x="678249" y="971274"/>
                </a:moveTo>
                <a:lnTo>
                  <a:pt x="674221" y="974135"/>
                </a:lnTo>
                <a:lnTo>
                  <a:pt x="672526" y="967141"/>
                </a:lnTo>
                <a:lnTo>
                  <a:pt x="673692" y="957709"/>
                </a:lnTo>
                <a:lnTo>
                  <a:pt x="681852" y="924750"/>
                </a:lnTo>
                <a:lnTo>
                  <a:pt x="679944" y="916484"/>
                </a:lnTo>
                <a:lnTo>
                  <a:pt x="693509" y="898150"/>
                </a:lnTo>
                <a:lnTo>
                  <a:pt x="701881" y="880876"/>
                </a:lnTo>
                <a:lnTo>
                  <a:pt x="714386" y="862754"/>
                </a:lnTo>
                <a:lnTo>
                  <a:pt x="715976" y="853428"/>
                </a:lnTo>
                <a:lnTo>
                  <a:pt x="727210" y="835518"/>
                </a:lnTo>
                <a:lnTo>
                  <a:pt x="737595" y="810826"/>
                </a:lnTo>
                <a:lnTo>
                  <a:pt x="737065" y="802665"/>
                </a:lnTo>
                <a:lnTo>
                  <a:pt x="739715" y="798638"/>
                </a:lnTo>
                <a:lnTo>
                  <a:pt x="741199" y="792492"/>
                </a:lnTo>
                <a:lnTo>
                  <a:pt x="741516" y="787193"/>
                </a:lnTo>
                <a:lnTo>
                  <a:pt x="749147" y="777973"/>
                </a:lnTo>
                <a:lnTo>
                  <a:pt x="751160" y="784014"/>
                </a:lnTo>
                <a:lnTo>
                  <a:pt x="748935" y="795671"/>
                </a:lnTo>
                <a:lnTo>
                  <a:pt x="749253" y="801288"/>
                </a:lnTo>
                <a:lnTo>
                  <a:pt x="750630" y="803937"/>
                </a:lnTo>
                <a:lnTo>
                  <a:pt x="750630" y="814853"/>
                </a:lnTo>
                <a:lnTo>
                  <a:pt x="747981" y="831597"/>
                </a:lnTo>
                <a:lnTo>
                  <a:pt x="750418" y="850885"/>
                </a:lnTo>
                <a:lnTo>
                  <a:pt x="745544" y="870596"/>
                </a:lnTo>
                <a:lnTo>
                  <a:pt x="739927" y="879392"/>
                </a:lnTo>
                <a:lnTo>
                  <a:pt x="731661" y="885645"/>
                </a:lnTo>
                <a:lnTo>
                  <a:pt x="722653" y="889566"/>
                </a:lnTo>
                <a:lnTo>
                  <a:pt x="713221" y="899422"/>
                </a:lnTo>
                <a:lnTo>
                  <a:pt x="707180" y="910867"/>
                </a:lnTo>
                <a:lnTo>
                  <a:pt x="706226" y="921253"/>
                </a:lnTo>
                <a:lnTo>
                  <a:pt x="691390" y="956543"/>
                </a:lnTo>
                <a:lnTo>
                  <a:pt x="678249" y="971274"/>
                </a:lnTo>
                <a:close/>
                <a:moveTo>
                  <a:pt x="443935" y="1328838"/>
                </a:moveTo>
                <a:lnTo>
                  <a:pt x="449763" y="1336469"/>
                </a:lnTo>
                <a:lnTo>
                  <a:pt x="457076" y="1334561"/>
                </a:lnTo>
                <a:lnTo>
                  <a:pt x="468627" y="1336680"/>
                </a:lnTo>
                <a:lnTo>
                  <a:pt x="471065" y="1340602"/>
                </a:lnTo>
                <a:lnTo>
                  <a:pt x="470641" y="1343251"/>
                </a:lnTo>
                <a:lnTo>
                  <a:pt x="458242" y="1350669"/>
                </a:lnTo>
                <a:lnTo>
                  <a:pt x="450187" y="1342933"/>
                </a:lnTo>
                <a:lnTo>
                  <a:pt x="435881" y="1348232"/>
                </a:lnTo>
                <a:lnTo>
                  <a:pt x="429098" y="1345053"/>
                </a:lnTo>
                <a:lnTo>
                  <a:pt x="419772" y="1347914"/>
                </a:lnTo>
                <a:lnTo>
                  <a:pt x="413943" y="1341873"/>
                </a:lnTo>
                <a:lnTo>
                  <a:pt x="416275" y="1336151"/>
                </a:lnTo>
                <a:lnTo>
                  <a:pt x="431112" y="1326719"/>
                </a:lnTo>
                <a:lnTo>
                  <a:pt x="443935" y="1328838"/>
                </a:lnTo>
                <a:close/>
                <a:moveTo>
                  <a:pt x="11657" y="1137339"/>
                </a:moveTo>
                <a:lnTo>
                  <a:pt x="6146" y="1145287"/>
                </a:lnTo>
                <a:lnTo>
                  <a:pt x="0" y="1136067"/>
                </a:lnTo>
                <a:lnTo>
                  <a:pt x="635" y="1123138"/>
                </a:lnTo>
                <a:lnTo>
                  <a:pt x="2543" y="1119535"/>
                </a:lnTo>
                <a:lnTo>
                  <a:pt x="11339" y="1117627"/>
                </a:lnTo>
                <a:lnTo>
                  <a:pt x="11657" y="1137339"/>
                </a:lnTo>
                <a:close/>
                <a:moveTo>
                  <a:pt x="312206" y="861482"/>
                </a:moveTo>
                <a:lnTo>
                  <a:pt x="299171" y="864768"/>
                </a:lnTo>
                <a:lnTo>
                  <a:pt x="296098" y="854488"/>
                </a:lnTo>
                <a:lnTo>
                  <a:pt x="305424" y="845162"/>
                </a:lnTo>
                <a:lnTo>
                  <a:pt x="315809" y="848871"/>
                </a:lnTo>
                <a:lnTo>
                  <a:pt x="321956" y="852580"/>
                </a:lnTo>
                <a:lnTo>
                  <a:pt x="319095" y="855866"/>
                </a:lnTo>
                <a:lnTo>
                  <a:pt x="312206" y="861482"/>
                </a:lnTo>
                <a:close/>
                <a:moveTo>
                  <a:pt x="331706" y="683230"/>
                </a:moveTo>
                <a:lnTo>
                  <a:pt x="337534" y="684926"/>
                </a:lnTo>
                <a:lnTo>
                  <a:pt x="341667" y="683336"/>
                </a:lnTo>
                <a:lnTo>
                  <a:pt x="345271" y="677719"/>
                </a:lnTo>
                <a:lnTo>
                  <a:pt x="348768" y="685985"/>
                </a:lnTo>
                <a:lnTo>
                  <a:pt x="357246" y="692874"/>
                </a:lnTo>
                <a:lnTo>
                  <a:pt x="354491" y="699762"/>
                </a:lnTo>
                <a:lnTo>
                  <a:pt x="346860" y="700504"/>
                </a:lnTo>
                <a:lnTo>
                  <a:pt x="339548" y="698914"/>
                </a:lnTo>
                <a:lnTo>
                  <a:pt x="331706" y="701670"/>
                </a:lnTo>
                <a:lnTo>
                  <a:pt x="322274" y="700186"/>
                </a:lnTo>
                <a:lnTo>
                  <a:pt x="316551" y="693722"/>
                </a:lnTo>
                <a:lnTo>
                  <a:pt x="310087" y="682064"/>
                </a:lnTo>
                <a:lnTo>
                  <a:pt x="306907" y="679945"/>
                </a:lnTo>
                <a:lnTo>
                  <a:pt x="307331" y="675176"/>
                </a:lnTo>
                <a:lnTo>
                  <a:pt x="309663" y="672102"/>
                </a:lnTo>
                <a:lnTo>
                  <a:pt x="308391" y="671361"/>
                </a:lnTo>
                <a:lnTo>
                  <a:pt x="309027" y="669241"/>
                </a:lnTo>
                <a:lnTo>
                  <a:pt x="310192" y="667863"/>
                </a:lnTo>
                <a:lnTo>
                  <a:pt x="312206" y="667228"/>
                </a:lnTo>
                <a:lnTo>
                  <a:pt x="317293" y="672420"/>
                </a:lnTo>
                <a:lnTo>
                  <a:pt x="329374" y="680051"/>
                </a:lnTo>
                <a:lnTo>
                  <a:pt x="331706" y="683230"/>
                </a:lnTo>
                <a:close/>
                <a:moveTo>
                  <a:pt x="325241" y="732509"/>
                </a:moveTo>
                <a:lnTo>
                  <a:pt x="317293" y="736112"/>
                </a:lnTo>
                <a:lnTo>
                  <a:pt x="315279" y="733781"/>
                </a:lnTo>
                <a:lnTo>
                  <a:pt x="313902" y="728588"/>
                </a:lnTo>
                <a:lnTo>
                  <a:pt x="314008" y="724985"/>
                </a:lnTo>
                <a:lnTo>
                  <a:pt x="306377" y="705909"/>
                </a:lnTo>
                <a:lnTo>
                  <a:pt x="312206" y="703048"/>
                </a:lnTo>
                <a:lnTo>
                  <a:pt x="316551" y="705273"/>
                </a:lnTo>
                <a:lnTo>
                  <a:pt x="320896" y="708240"/>
                </a:lnTo>
                <a:lnTo>
                  <a:pt x="324923" y="709830"/>
                </a:lnTo>
                <a:lnTo>
                  <a:pt x="328632" y="715765"/>
                </a:lnTo>
                <a:lnTo>
                  <a:pt x="327679" y="720004"/>
                </a:lnTo>
                <a:lnTo>
                  <a:pt x="328844" y="724031"/>
                </a:lnTo>
                <a:lnTo>
                  <a:pt x="325241" y="732509"/>
                </a:lnTo>
                <a:close/>
                <a:moveTo>
                  <a:pt x="601946" y="862860"/>
                </a:moveTo>
                <a:lnTo>
                  <a:pt x="598978" y="864344"/>
                </a:lnTo>
                <a:lnTo>
                  <a:pt x="596329" y="864132"/>
                </a:lnTo>
                <a:lnTo>
                  <a:pt x="590076" y="867947"/>
                </a:lnTo>
                <a:lnTo>
                  <a:pt x="587851" y="860740"/>
                </a:lnTo>
                <a:lnTo>
                  <a:pt x="589970" y="848553"/>
                </a:lnTo>
                <a:lnTo>
                  <a:pt x="599402" y="839333"/>
                </a:lnTo>
                <a:lnTo>
                  <a:pt x="601734" y="836366"/>
                </a:lnTo>
                <a:lnTo>
                  <a:pt x="604383" y="834670"/>
                </a:lnTo>
                <a:lnTo>
                  <a:pt x="607350" y="834458"/>
                </a:lnTo>
                <a:lnTo>
                  <a:pt x="610318" y="838167"/>
                </a:lnTo>
                <a:lnTo>
                  <a:pt x="611165" y="843572"/>
                </a:lnTo>
                <a:lnTo>
                  <a:pt x="605231" y="860211"/>
                </a:lnTo>
                <a:lnTo>
                  <a:pt x="601946" y="862860"/>
                </a:lnTo>
                <a:close/>
                <a:moveTo>
                  <a:pt x="807964" y="935560"/>
                </a:moveTo>
                <a:lnTo>
                  <a:pt x="806904" y="939481"/>
                </a:lnTo>
                <a:lnTo>
                  <a:pt x="798638" y="939057"/>
                </a:lnTo>
                <a:lnTo>
                  <a:pt x="795670" y="939693"/>
                </a:lnTo>
                <a:lnTo>
                  <a:pt x="787722" y="949655"/>
                </a:lnTo>
                <a:lnTo>
                  <a:pt x="783165" y="952198"/>
                </a:lnTo>
                <a:lnTo>
                  <a:pt x="757943" y="955483"/>
                </a:lnTo>
                <a:lnTo>
                  <a:pt x="738231" y="952834"/>
                </a:lnTo>
                <a:lnTo>
                  <a:pt x="731449" y="947323"/>
                </a:lnTo>
                <a:lnTo>
                  <a:pt x="726998" y="938315"/>
                </a:lnTo>
                <a:lnTo>
                  <a:pt x="725620" y="932380"/>
                </a:lnTo>
                <a:lnTo>
                  <a:pt x="730601" y="925810"/>
                </a:lnTo>
                <a:lnTo>
                  <a:pt x="735370" y="921465"/>
                </a:lnTo>
                <a:lnTo>
                  <a:pt x="751372" y="912987"/>
                </a:lnTo>
                <a:lnTo>
                  <a:pt x="754975" y="906522"/>
                </a:lnTo>
                <a:lnTo>
                  <a:pt x="763348" y="898680"/>
                </a:lnTo>
                <a:lnTo>
                  <a:pt x="780622" y="896031"/>
                </a:lnTo>
                <a:lnTo>
                  <a:pt x="782317" y="898044"/>
                </a:lnTo>
                <a:lnTo>
                  <a:pt x="784543" y="899210"/>
                </a:lnTo>
                <a:lnTo>
                  <a:pt x="788040" y="899634"/>
                </a:lnTo>
                <a:lnTo>
                  <a:pt x="796518" y="906098"/>
                </a:lnTo>
                <a:lnTo>
                  <a:pt x="806162" y="910125"/>
                </a:lnTo>
                <a:lnTo>
                  <a:pt x="803831" y="925810"/>
                </a:lnTo>
                <a:lnTo>
                  <a:pt x="806692" y="931003"/>
                </a:lnTo>
                <a:lnTo>
                  <a:pt x="807964" y="935560"/>
                </a:lnTo>
                <a:close/>
                <a:moveTo>
                  <a:pt x="347602" y="1415633"/>
                </a:moveTo>
                <a:lnTo>
                  <a:pt x="344741" y="1422097"/>
                </a:lnTo>
                <a:lnTo>
                  <a:pt x="341456" y="1425065"/>
                </a:lnTo>
                <a:lnTo>
                  <a:pt x="337005" y="1423369"/>
                </a:lnTo>
                <a:lnTo>
                  <a:pt x="333613" y="1420084"/>
                </a:lnTo>
                <a:lnTo>
                  <a:pt x="331812" y="1424959"/>
                </a:lnTo>
                <a:lnTo>
                  <a:pt x="322486" y="1426866"/>
                </a:lnTo>
                <a:lnTo>
                  <a:pt x="316657" y="1434391"/>
                </a:lnTo>
                <a:lnTo>
                  <a:pt x="308179" y="1436510"/>
                </a:lnTo>
                <a:lnTo>
                  <a:pt x="302138" y="1435450"/>
                </a:lnTo>
                <a:lnTo>
                  <a:pt x="302774" y="1428774"/>
                </a:lnTo>
                <a:lnTo>
                  <a:pt x="319306" y="1418706"/>
                </a:lnTo>
                <a:lnTo>
                  <a:pt x="329586" y="1414891"/>
                </a:lnTo>
                <a:lnTo>
                  <a:pt x="338594" y="1407685"/>
                </a:lnTo>
                <a:lnTo>
                  <a:pt x="343151" y="1406837"/>
                </a:lnTo>
                <a:lnTo>
                  <a:pt x="345377" y="1412772"/>
                </a:lnTo>
                <a:lnTo>
                  <a:pt x="347602" y="1415633"/>
                </a:lnTo>
                <a:close/>
                <a:moveTo>
                  <a:pt x="542917" y="1291535"/>
                </a:moveTo>
                <a:lnTo>
                  <a:pt x="532107" y="1292912"/>
                </a:lnTo>
                <a:lnTo>
                  <a:pt x="528716" y="1292806"/>
                </a:lnTo>
                <a:lnTo>
                  <a:pt x="520344" y="1281997"/>
                </a:lnTo>
                <a:lnTo>
                  <a:pt x="519496" y="1277228"/>
                </a:lnTo>
                <a:lnTo>
                  <a:pt x="512819" y="1271823"/>
                </a:lnTo>
                <a:lnTo>
                  <a:pt x="515257" y="1266524"/>
                </a:lnTo>
                <a:lnTo>
                  <a:pt x="524053" y="1265252"/>
                </a:lnTo>
                <a:lnTo>
                  <a:pt x="539207" y="1258364"/>
                </a:lnTo>
                <a:lnTo>
                  <a:pt x="563582" y="1269174"/>
                </a:lnTo>
                <a:lnTo>
                  <a:pt x="567397" y="1273095"/>
                </a:lnTo>
                <a:lnTo>
                  <a:pt x="559767" y="1275426"/>
                </a:lnTo>
                <a:lnTo>
                  <a:pt x="554362" y="1285706"/>
                </a:lnTo>
                <a:lnTo>
                  <a:pt x="542917" y="1291535"/>
                </a:lnTo>
                <a:close/>
                <a:moveTo>
                  <a:pt x="963219" y="937785"/>
                </a:moveTo>
                <a:lnTo>
                  <a:pt x="961947" y="938315"/>
                </a:lnTo>
                <a:lnTo>
                  <a:pt x="956013" y="930049"/>
                </a:lnTo>
                <a:lnTo>
                  <a:pt x="956861" y="920723"/>
                </a:lnTo>
                <a:lnTo>
                  <a:pt x="964809" y="906734"/>
                </a:lnTo>
                <a:lnTo>
                  <a:pt x="970637" y="918921"/>
                </a:lnTo>
                <a:lnTo>
                  <a:pt x="970637" y="924538"/>
                </a:lnTo>
                <a:lnTo>
                  <a:pt x="969790" y="927294"/>
                </a:lnTo>
                <a:lnTo>
                  <a:pt x="975300" y="934182"/>
                </a:lnTo>
                <a:lnTo>
                  <a:pt x="971485" y="937573"/>
                </a:lnTo>
                <a:lnTo>
                  <a:pt x="963219" y="937785"/>
                </a:lnTo>
                <a:close/>
                <a:moveTo>
                  <a:pt x="924114" y="922101"/>
                </a:moveTo>
                <a:lnTo>
                  <a:pt x="922312" y="925068"/>
                </a:lnTo>
                <a:lnTo>
                  <a:pt x="919769" y="918921"/>
                </a:lnTo>
                <a:lnTo>
                  <a:pt x="913622" y="913199"/>
                </a:lnTo>
                <a:lnTo>
                  <a:pt x="907581" y="903449"/>
                </a:lnTo>
                <a:lnTo>
                  <a:pt x="903448" y="900376"/>
                </a:lnTo>
                <a:lnTo>
                  <a:pt x="906310" y="892639"/>
                </a:lnTo>
                <a:lnTo>
                  <a:pt x="906628" y="880134"/>
                </a:lnTo>
                <a:lnTo>
                  <a:pt x="912456" y="874411"/>
                </a:lnTo>
                <a:lnTo>
                  <a:pt x="915212" y="872716"/>
                </a:lnTo>
                <a:lnTo>
                  <a:pt x="919663" y="866675"/>
                </a:lnTo>
                <a:lnTo>
                  <a:pt x="921676" y="866357"/>
                </a:lnTo>
                <a:lnTo>
                  <a:pt x="923584" y="871444"/>
                </a:lnTo>
                <a:lnTo>
                  <a:pt x="919557" y="887023"/>
                </a:lnTo>
                <a:lnTo>
                  <a:pt x="925491" y="905357"/>
                </a:lnTo>
                <a:lnTo>
                  <a:pt x="923478" y="916908"/>
                </a:lnTo>
                <a:lnTo>
                  <a:pt x="924326" y="919451"/>
                </a:lnTo>
                <a:lnTo>
                  <a:pt x="924114" y="922101"/>
                </a:lnTo>
                <a:close/>
                <a:moveTo>
                  <a:pt x="524053" y="537830"/>
                </a:moveTo>
                <a:lnTo>
                  <a:pt x="530623" y="538148"/>
                </a:lnTo>
                <a:lnTo>
                  <a:pt x="532637" y="537089"/>
                </a:lnTo>
                <a:lnTo>
                  <a:pt x="545248" y="545991"/>
                </a:lnTo>
                <a:lnTo>
                  <a:pt x="544400" y="550442"/>
                </a:lnTo>
                <a:lnTo>
                  <a:pt x="545990" y="556376"/>
                </a:lnTo>
                <a:lnTo>
                  <a:pt x="538890" y="566550"/>
                </a:lnTo>
                <a:lnTo>
                  <a:pt x="537512" y="570047"/>
                </a:lnTo>
                <a:lnTo>
                  <a:pt x="533591" y="573332"/>
                </a:lnTo>
                <a:lnTo>
                  <a:pt x="519920" y="565172"/>
                </a:lnTo>
                <a:lnTo>
                  <a:pt x="514939" y="560191"/>
                </a:lnTo>
                <a:lnTo>
                  <a:pt x="513455" y="550124"/>
                </a:lnTo>
                <a:lnTo>
                  <a:pt x="518860" y="535075"/>
                </a:lnTo>
                <a:lnTo>
                  <a:pt x="524053" y="537830"/>
                </a:lnTo>
                <a:close/>
                <a:moveTo>
                  <a:pt x="543023" y="663412"/>
                </a:moveTo>
                <a:lnTo>
                  <a:pt x="534545" y="689801"/>
                </a:lnTo>
                <a:lnTo>
                  <a:pt x="528822" y="680793"/>
                </a:lnTo>
                <a:lnTo>
                  <a:pt x="531153" y="675070"/>
                </a:lnTo>
                <a:lnTo>
                  <a:pt x="526278" y="670301"/>
                </a:lnTo>
                <a:lnTo>
                  <a:pt x="524901" y="665956"/>
                </a:lnTo>
                <a:lnTo>
                  <a:pt x="526808" y="660233"/>
                </a:lnTo>
                <a:lnTo>
                  <a:pt x="531895" y="654934"/>
                </a:lnTo>
                <a:lnTo>
                  <a:pt x="533273" y="637554"/>
                </a:lnTo>
                <a:lnTo>
                  <a:pt x="544082" y="632043"/>
                </a:lnTo>
                <a:lnTo>
                  <a:pt x="548427" y="631831"/>
                </a:lnTo>
                <a:lnTo>
                  <a:pt x="546838" y="636070"/>
                </a:lnTo>
                <a:lnTo>
                  <a:pt x="547050" y="644019"/>
                </a:lnTo>
                <a:lnTo>
                  <a:pt x="543023" y="663412"/>
                </a:lnTo>
                <a:close/>
                <a:moveTo>
                  <a:pt x="602369" y="668287"/>
                </a:moveTo>
                <a:lnTo>
                  <a:pt x="596965" y="670725"/>
                </a:lnTo>
                <a:lnTo>
                  <a:pt x="585943" y="660339"/>
                </a:lnTo>
                <a:lnTo>
                  <a:pt x="579585" y="655570"/>
                </a:lnTo>
                <a:lnTo>
                  <a:pt x="577889" y="652815"/>
                </a:lnTo>
                <a:lnTo>
                  <a:pt x="583082" y="648894"/>
                </a:lnTo>
                <a:lnTo>
                  <a:pt x="597071" y="648894"/>
                </a:lnTo>
                <a:lnTo>
                  <a:pt x="604489" y="656100"/>
                </a:lnTo>
                <a:lnTo>
                  <a:pt x="605443" y="660551"/>
                </a:lnTo>
                <a:lnTo>
                  <a:pt x="602369" y="668287"/>
                </a:lnTo>
                <a:close/>
                <a:moveTo>
                  <a:pt x="668923" y="610636"/>
                </a:moveTo>
                <a:lnTo>
                  <a:pt x="677931" y="626745"/>
                </a:lnTo>
                <a:lnTo>
                  <a:pt x="668075" y="615723"/>
                </a:lnTo>
                <a:lnTo>
                  <a:pt x="656629" y="608199"/>
                </a:lnTo>
                <a:lnTo>
                  <a:pt x="644760" y="595799"/>
                </a:lnTo>
                <a:lnTo>
                  <a:pt x="636176" y="591348"/>
                </a:lnTo>
                <a:lnTo>
                  <a:pt x="633632" y="588805"/>
                </a:lnTo>
                <a:lnTo>
                  <a:pt x="634586" y="583718"/>
                </a:lnTo>
                <a:lnTo>
                  <a:pt x="640839" y="582764"/>
                </a:lnTo>
                <a:lnTo>
                  <a:pt x="643700" y="583082"/>
                </a:lnTo>
                <a:lnTo>
                  <a:pt x="660868" y="605125"/>
                </a:lnTo>
                <a:lnTo>
                  <a:pt x="668923" y="610636"/>
                </a:lnTo>
                <a:close/>
                <a:moveTo>
                  <a:pt x="721169" y="652921"/>
                </a:moveTo>
                <a:lnTo>
                  <a:pt x="721593" y="662247"/>
                </a:lnTo>
                <a:lnTo>
                  <a:pt x="717672" y="658749"/>
                </a:lnTo>
                <a:lnTo>
                  <a:pt x="704849" y="640521"/>
                </a:lnTo>
                <a:lnTo>
                  <a:pt x="701245" y="633951"/>
                </a:lnTo>
                <a:lnTo>
                  <a:pt x="704849" y="629500"/>
                </a:lnTo>
                <a:lnTo>
                  <a:pt x="714175" y="636282"/>
                </a:lnTo>
                <a:lnTo>
                  <a:pt x="721169" y="652921"/>
                </a:lnTo>
                <a:close/>
                <a:moveTo>
                  <a:pt x="715022" y="670619"/>
                </a:moveTo>
                <a:lnTo>
                  <a:pt x="735264" y="683124"/>
                </a:lnTo>
                <a:lnTo>
                  <a:pt x="749253" y="704531"/>
                </a:lnTo>
                <a:lnTo>
                  <a:pt x="750948" y="720958"/>
                </a:lnTo>
                <a:lnTo>
                  <a:pt x="749889" y="727316"/>
                </a:lnTo>
                <a:lnTo>
                  <a:pt x="743212" y="720216"/>
                </a:lnTo>
                <a:lnTo>
                  <a:pt x="728905" y="710148"/>
                </a:lnTo>
                <a:lnTo>
                  <a:pt x="718943" y="708028"/>
                </a:lnTo>
                <a:lnTo>
                  <a:pt x="715870" y="706121"/>
                </a:lnTo>
                <a:lnTo>
                  <a:pt x="717036" y="700716"/>
                </a:lnTo>
                <a:lnTo>
                  <a:pt x="710571" y="695735"/>
                </a:lnTo>
                <a:lnTo>
                  <a:pt x="709830" y="693722"/>
                </a:lnTo>
                <a:lnTo>
                  <a:pt x="703895" y="691496"/>
                </a:lnTo>
                <a:lnTo>
                  <a:pt x="695311" y="680157"/>
                </a:lnTo>
                <a:lnTo>
                  <a:pt x="689270" y="678037"/>
                </a:lnTo>
                <a:lnTo>
                  <a:pt x="683441" y="680475"/>
                </a:lnTo>
                <a:lnTo>
                  <a:pt x="670088" y="697219"/>
                </a:lnTo>
                <a:lnTo>
                  <a:pt x="655782" y="708876"/>
                </a:lnTo>
                <a:lnTo>
                  <a:pt x="655570" y="704425"/>
                </a:lnTo>
                <a:lnTo>
                  <a:pt x="661398" y="689695"/>
                </a:lnTo>
                <a:lnTo>
                  <a:pt x="665001" y="666274"/>
                </a:lnTo>
                <a:lnTo>
                  <a:pt x="667333" y="659173"/>
                </a:lnTo>
                <a:lnTo>
                  <a:pt x="664472" y="648576"/>
                </a:lnTo>
                <a:lnTo>
                  <a:pt x="664048" y="639250"/>
                </a:lnTo>
                <a:lnTo>
                  <a:pt x="674751" y="643595"/>
                </a:lnTo>
                <a:lnTo>
                  <a:pt x="688104" y="647940"/>
                </a:lnTo>
                <a:lnTo>
                  <a:pt x="698278" y="653875"/>
                </a:lnTo>
                <a:lnTo>
                  <a:pt x="699974" y="657902"/>
                </a:lnTo>
                <a:lnTo>
                  <a:pt x="715022" y="670619"/>
                </a:lnTo>
                <a:close/>
                <a:moveTo>
                  <a:pt x="782529" y="528081"/>
                </a:moveTo>
                <a:lnTo>
                  <a:pt x="779668" y="534969"/>
                </a:lnTo>
                <a:lnTo>
                  <a:pt x="776277" y="532532"/>
                </a:lnTo>
                <a:lnTo>
                  <a:pt x="771296" y="532849"/>
                </a:lnTo>
                <a:lnTo>
                  <a:pt x="763560" y="538678"/>
                </a:lnTo>
                <a:lnTo>
                  <a:pt x="751054" y="530836"/>
                </a:lnTo>
                <a:lnTo>
                  <a:pt x="749147" y="524795"/>
                </a:lnTo>
                <a:lnTo>
                  <a:pt x="758155" y="511336"/>
                </a:lnTo>
                <a:lnTo>
                  <a:pt x="758049" y="491201"/>
                </a:lnTo>
                <a:lnTo>
                  <a:pt x="761334" y="486326"/>
                </a:lnTo>
                <a:lnTo>
                  <a:pt x="764725" y="482723"/>
                </a:lnTo>
                <a:lnTo>
                  <a:pt x="768858" y="480815"/>
                </a:lnTo>
                <a:lnTo>
                  <a:pt x="777654" y="494698"/>
                </a:lnTo>
                <a:lnTo>
                  <a:pt x="780728" y="496394"/>
                </a:lnTo>
                <a:lnTo>
                  <a:pt x="789206" y="502752"/>
                </a:lnTo>
                <a:lnTo>
                  <a:pt x="786980" y="515575"/>
                </a:lnTo>
                <a:lnTo>
                  <a:pt x="787828" y="523100"/>
                </a:lnTo>
                <a:lnTo>
                  <a:pt x="782529" y="528081"/>
                </a:lnTo>
                <a:close/>
                <a:moveTo>
                  <a:pt x="536558" y="382575"/>
                </a:moveTo>
                <a:lnTo>
                  <a:pt x="538572" y="386284"/>
                </a:lnTo>
                <a:lnTo>
                  <a:pt x="536452" y="386072"/>
                </a:lnTo>
                <a:lnTo>
                  <a:pt x="534862" y="386814"/>
                </a:lnTo>
                <a:lnTo>
                  <a:pt x="529882" y="394444"/>
                </a:lnTo>
                <a:lnTo>
                  <a:pt x="535392" y="408645"/>
                </a:lnTo>
                <a:lnTo>
                  <a:pt x="532001" y="418925"/>
                </a:lnTo>
                <a:lnTo>
                  <a:pt x="525960" y="419561"/>
                </a:lnTo>
                <a:lnTo>
                  <a:pt x="523629" y="418395"/>
                </a:lnTo>
                <a:lnTo>
                  <a:pt x="524795" y="413308"/>
                </a:lnTo>
                <a:lnTo>
                  <a:pt x="526172" y="410977"/>
                </a:lnTo>
                <a:lnTo>
                  <a:pt x="524901" y="404300"/>
                </a:lnTo>
                <a:lnTo>
                  <a:pt x="521297" y="400061"/>
                </a:lnTo>
                <a:lnTo>
                  <a:pt x="518436" y="391901"/>
                </a:lnTo>
                <a:lnTo>
                  <a:pt x="513985" y="386920"/>
                </a:lnTo>
                <a:lnTo>
                  <a:pt x="516105" y="379078"/>
                </a:lnTo>
                <a:lnTo>
                  <a:pt x="530094" y="378230"/>
                </a:lnTo>
                <a:lnTo>
                  <a:pt x="536558" y="382575"/>
                </a:lnTo>
                <a:close/>
                <a:moveTo>
                  <a:pt x="809447" y="754870"/>
                </a:moveTo>
                <a:lnTo>
                  <a:pt x="796200" y="755506"/>
                </a:lnTo>
                <a:lnTo>
                  <a:pt x="790478" y="750631"/>
                </a:lnTo>
                <a:lnTo>
                  <a:pt x="783165" y="736430"/>
                </a:lnTo>
                <a:lnTo>
                  <a:pt x="791325" y="733357"/>
                </a:lnTo>
                <a:lnTo>
                  <a:pt x="799168" y="734205"/>
                </a:lnTo>
                <a:lnTo>
                  <a:pt x="804890" y="739186"/>
                </a:lnTo>
                <a:lnTo>
                  <a:pt x="810931" y="748723"/>
                </a:lnTo>
                <a:lnTo>
                  <a:pt x="809447" y="754870"/>
                </a:lnTo>
                <a:close/>
                <a:moveTo>
                  <a:pt x="713009" y="993847"/>
                </a:moveTo>
                <a:lnTo>
                  <a:pt x="713857" y="1004762"/>
                </a:lnTo>
                <a:lnTo>
                  <a:pt x="704107" y="1008048"/>
                </a:lnTo>
                <a:lnTo>
                  <a:pt x="696371" y="1005186"/>
                </a:lnTo>
                <a:lnTo>
                  <a:pt x="691284" y="998616"/>
                </a:lnTo>
                <a:lnTo>
                  <a:pt x="691390" y="996072"/>
                </a:lnTo>
                <a:lnTo>
                  <a:pt x="695735" y="996284"/>
                </a:lnTo>
                <a:lnTo>
                  <a:pt x="705378" y="990562"/>
                </a:lnTo>
                <a:lnTo>
                  <a:pt x="708452" y="989396"/>
                </a:lnTo>
                <a:lnTo>
                  <a:pt x="713009" y="993847"/>
                </a:lnTo>
                <a:close/>
              </a:path>
            </a:pathLst>
          </a:custGeom>
          <a:solidFill>
            <a:srgbClr val="C5D9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ame:map-MYS"/>
          <p:cNvSpPr/>
          <p:nvPr/>
        </p:nvSpPr>
        <p:spPr>
          <a:xfrm>
            <a:off x="1010675" y="4016793"/>
            <a:ext cx="2079257" cy="687787"/>
          </a:xfrm>
          <a:custGeom>
            <a:avLst/>
            <a:gdLst/>
            <a:ahLst/>
            <a:cxnLst/>
            <a:rect l="l" t="t" r="r" b="b"/>
            <a:pathLst>
              <a:path w="2079257" h="687787">
                <a:moveTo>
                  <a:pt x="50127" y="96439"/>
                </a:moveTo>
                <a:lnTo>
                  <a:pt x="52141" y="91458"/>
                </a:lnTo>
                <a:lnTo>
                  <a:pt x="54578" y="75244"/>
                </a:lnTo>
                <a:lnTo>
                  <a:pt x="56274" y="72064"/>
                </a:lnTo>
                <a:lnTo>
                  <a:pt x="60513" y="70475"/>
                </a:lnTo>
                <a:lnTo>
                  <a:pt x="65176" y="70899"/>
                </a:lnTo>
                <a:lnTo>
                  <a:pt x="74078" y="84993"/>
                </a:lnTo>
                <a:lnTo>
                  <a:pt x="97287" y="93683"/>
                </a:lnTo>
                <a:lnTo>
                  <a:pt x="104175" y="95803"/>
                </a:lnTo>
                <a:lnTo>
                  <a:pt x="113395" y="92306"/>
                </a:lnTo>
                <a:lnTo>
                  <a:pt x="117422" y="94531"/>
                </a:lnTo>
                <a:lnTo>
                  <a:pt x="121661" y="98134"/>
                </a:lnTo>
                <a:lnTo>
                  <a:pt x="124099" y="108096"/>
                </a:lnTo>
                <a:lnTo>
                  <a:pt x="130139" y="117316"/>
                </a:lnTo>
                <a:lnTo>
                  <a:pt x="142327" y="115939"/>
                </a:lnTo>
                <a:lnTo>
                  <a:pt x="146566" y="117316"/>
                </a:lnTo>
                <a:lnTo>
                  <a:pt x="149215" y="117528"/>
                </a:lnTo>
                <a:lnTo>
                  <a:pt x="151547" y="125688"/>
                </a:lnTo>
                <a:lnTo>
                  <a:pt x="152712" y="139677"/>
                </a:lnTo>
                <a:lnTo>
                  <a:pt x="151547" y="147943"/>
                </a:lnTo>
                <a:lnTo>
                  <a:pt x="142751" y="159601"/>
                </a:lnTo>
                <a:lnTo>
                  <a:pt x="141585" y="167549"/>
                </a:lnTo>
                <a:lnTo>
                  <a:pt x="146142" y="172424"/>
                </a:lnTo>
                <a:lnTo>
                  <a:pt x="152182" y="177723"/>
                </a:lnTo>
                <a:lnTo>
                  <a:pt x="155574" y="181750"/>
                </a:lnTo>
                <a:lnTo>
                  <a:pt x="159177" y="181114"/>
                </a:lnTo>
                <a:lnTo>
                  <a:pt x="163734" y="178359"/>
                </a:lnTo>
                <a:lnTo>
                  <a:pt x="167867" y="171470"/>
                </a:lnTo>
                <a:lnTo>
                  <a:pt x="170728" y="165641"/>
                </a:lnTo>
                <a:lnTo>
                  <a:pt x="186307" y="158965"/>
                </a:lnTo>
                <a:lnTo>
                  <a:pt x="202415" y="153030"/>
                </a:lnTo>
                <a:lnTo>
                  <a:pt x="204641" y="153666"/>
                </a:lnTo>
                <a:lnTo>
                  <a:pt x="207184" y="156316"/>
                </a:lnTo>
                <a:lnTo>
                  <a:pt x="212377" y="164900"/>
                </a:lnTo>
                <a:lnTo>
                  <a:pt x="215344" y="166701"/>
                </a:lnTo>
                <a:lnTo>
                  <a:pt x="219795" y="167549"/>
                </a:lnTo>
                <a:lnTo>
                  <a:pt x="227320" y="166701"/>
                </a:lnTo>
                <a:lnTo>
                  <a:pt x="236116" y="161826"/>
                </a:lnTo>
                <a:lnTo>
                  <a:pt x="240673" y="152712"/>
                </a:lnTo>
                <a:lnTo>
                  <a:pt x="242686" y="145506"/>
                </a:lnTo>
                <a:lnTo>
                  <a:pt x="255297" y="133001"/>
                </a:lnTo>
                <a:lnTo>
                  <a:pt x="256675" y="123675"/>
                </a:lnTo>
                <a:lnTo>
                  <a:pt x="260172" y="117634"/>
                </a:lnTo>
                <a:lnTo>
                  <a:pt x="278506" y="121767"/>
                </a:lnTo>
                <a:lnTo>
                  <a:pt x="285501" y="125052"/>
                </a:lnTo>
                <a:lnTo>
                  <a:pt x="306060" y="157799"/>
                </a:lnTo>
                <a:lnTo>
                  <a:pt x="333190" y="180902"/>
                </a:lnTo>
                <a:lnTo>
                  <a:pt x="344742" y="189486"/>
                </a:lnTo>
                <a:lnTo>
                  <a:pt x="353538" y="193619"/>
                </a:lnTo>
                <a:lnTo>
                  <a:pt x="365725" y="206018"/>
                </a:lnTo>
                <a:lnTo>
                  <a:pt x="376323" y="221491"/>
                </a:lnTo>
                <a:lnTo>
                  <a:pt x="399531" y="265153"/>
                </a:lnTo>
                <a:lnTo>
                  <a:pt x="403558" y="284335"/>
                </a:lnTo>
                <a:lnTo>
                  <a:pt x="405148" y="313585"/>
                </a:lnTo>
                <a:lnTo>
                  <a:pt x="400061" y="357671"/>
                </a:lnTo>
                <a:lnTo>
                  <a:pt x="393809" y="379714"/>
                </a:lnTo>
                <a:lnTo>
                  <a:pt x="394974" y="390099"/>
                </a:lnTo>
                <a:lnTo>
                  <a:pt x="403558" y="405996"/>
                </a:lnTo>
                <a:lnTo>
                  <a:pt x="400909" y="421045"/>
                </a:lnTo>
                <a:lnTo>
                  <a:pt x="402605" y="433550"/>
                </a:lnTo>
                <a:lnTo>
                  <a:pt x="401969" y="468310"/>
                </a:lnTo>
                <a:lnTo>
                  <a:pt x="406844" y="478484"/>
                </a:lnTo>
                <a:lnTo>
                  <a:pt x="412355" y="485054"/>
                </a:lnTo>
                <a:lnTo>
                  <a:pt x="441498" y="505720"/>
                </a:lnTo>
                <a:lnTo>
                  <a:pt x="443618" y="513350"/>
                </a:lnTo>
                <a:lnTo>
                  <a:pt x="458030" y="539526"/>
                </a:lnTo>
                <a:lnTo>
                  <a:pt x="484630" y="596542"/>
                </a:lnTo>
                <a:lnTo>
                  <a:pt x="491943" y="622188"/>
                </a:lnTo>
                <a:lnTo>
                  <a:pt x="491095" y="629076"/>
                </a:lnTo>
                <a:lnTo>
                  <a:pt x="487916" y="631938"/>
                </a:lnTo>
                <a:lnTo>
                  <a:pt x="480073" y="634481"/>
                </a:lnTo>
                <a:lnTo>
                  <a:pt x="473609" y="629500"/>
                </a:lnTo>
                <a:lnTo>
                  <a:pt x="471383" y="625897"/>
                </a:lnTo>
                <a:lnTo>
                  <a:pt x="472125" y="621446"/>
                </a:lnTo>
                <a:lnTo>
                  <a:pt x="469476" y="616995"/>
                </a:lnTo>
                <a:lnTo>
                  <a:pt x="463117" y="611802"/>
                </a:lnTo>
                <a:lnTo>
                  <a:pt x="459408" y="607033"/>
                </a:lnTo>
                <a:lnTo>
                  <a:pt x="460468" y="614875"/>
                </a:lnTo>
                <a:lnTo>
                  <a:pt x="460574" y="624943"/>
                </a:lnTo>
                <a:lnTo>
                  <a:pt x="452414" y="625791"/>
                </a:lnTo>
                <a:lnTo>
                  <a:pt x="442028" y="622612"/>
                </a:lnTo>
                <a:lnTo>
                  <a:pt x="429099" y="625473"/>
                </a:lnTo>
                <a:lnTo>
                  <a:pt x="413732" y="637872"/>
                </a:lnTo>
                <a:lnTo>
                  <a:pt x="406314" y="638296"/>
                </a:lnTo>
                <a:lnTo>
                  <a:pt x="400697" y="627593"/>
                </a:lnTo>
                <a:lnTo>
                  <a:pt x="397836" y="620386"/>
                </a:lnTo>
                <a:lnTo>
                  <a:pt x="393279" y="615299"/>
                </a:lnTo>
                <a:lnTo>
                  <a:pt x="344530" y="589229"/>
                </a:lnTo>
                <a:lnTo>
                  <a:pt x="326514" y="582447"/>
                </a:lnTo>
                <a:lnTo>
                  <a:pt x="307544" y="562735"/>
                </a:lnTo>
                <a:lnTo>
                  <a:pt x="264941" y="540904"/>
                </a:lnTo>
                <a:lnTo>
                  <a:pt x="237811" y="519603"/>
                </a:lnTo>
                <a:lnTo>
                  <a:pt x="226260" y="506356"/>
                </a:lnTo>
                <a:lnTo>
                  <a:pt x="198600" y="494698"/>
                </a:lnTo>
                <a:lnTo>
                  <a:pt x="186625" y="481027"/>
                </a:lnTo>
                <a:lnTo>
                  <a:pt x="180690" y="478272"/>
                </a:lnTo>
                <a:lnTo>
                  <a:pt x="174861" y="473397"/>
                </a:lnTo>
                <a:lnTo>
                  <a:pt x="181008" y="460044"/>
                </a:lnTo>
                <a:lnTo>
                  <a:pt x="178465" y="446161"/>
                </a:lnTo>
                <a:lnTo>
                  <a:pt x="175285" y="434398"/>
                </a:lnTo>
                <a:lnTo>
                  <a:pt x="155680" y="411189"/>
                </a:lnTo>
                <a:lnTo>
                  <a:pt x="146142" y="394974"/>
                </a:lnTo>
                <a:lnTo>
                  <a:pt x="127702" y="378866"/>
                </a:lnTo>
                <a:lnTo>
                  <a:pt x="120390" y="369646"/>
                </a:lnTo>
                <a:lnTo>
                  <a:pt x="113289" y="358836"/>
                </a:lnTo>
                <a:lnTo>
                  <a:pt x="117740" y="355021"/>
                </a:lnTo>
                <a:lnTo>
                  <a:pt x="121873" y="352796"/>
                </a:lnTo>
                <a:lnTo>
                  <a:pt x="118058" y="344954"/>
                </a:lnTo>
                <a:lnTo>
                  <a:pt x="107566" y="331283"/>
                </a:lnTo>
                <a:lnTo>
                  <a:pt x="102691" y="315704"/>
                </a:lnTo>
                <a:lnTo>
                  <a:pt x="102691" y="286137"/>
                </a:lnTo>
                <a:lnTo>
                  <a:pt x="87643" y="244594"/>
                </a:lnTo>
                <a:lnTo>
                  <a:pt x="74926" y="186943"/>
                </a:lnTo>
                <a:lnTo>
                  <a:pt x="77151" y="166807"/>
                </a:lnTo>
                <a:lnTo>
                  <a:pt x="73866" y="144976"/>
                </a:lnTo>
                <a:lnTo>
                  <a:pt x="65388" y="123887"/>
                </a:lnTo>
                <a:lnTo>
                  <a:pt x="54260" y="108944"/>
                </a:lnTo>
                <a:lnTo>
                  <a:pt x="50127" y="96439"/>
                </a:lnTo>
                <a:close/>
                <a:moveTo>
                  <a:pt x="1899945" y="337111"/>
                </a:moveTo>
                <a:lnTo>
                  <a:pt x="1896024" y="337111"/>
                </a:lnTo>
                <a:lnTo>
                  <a:pt x="1886910" y="334780"/>
                </a:lnTo>
                <a:lnTo>
                  <a:pt x="1868576" y="323546"/>
                </a:lnTo>
                <a:lnTo>
                  <a:pt x="1849818" y="319519"/>
                </a:lnTo>
                <a:lnTo>
                  <a:pt x="1822583" y="319201"/>
                </a:lnTo>
                <a:lnTo>
                  <a:pt x="1807110" y="317612"/>
                </a:lnTo>
                <a:lnTo>
                  <a:pt x="1800857" y="319307"/>
                </a:lnTo>
                <a:lnTo>
                  <a:pt x="1795559" y="319413"/>
                </a:lnTo>
                <a:lnTo>
                  <a:pt x="1791743" y="317082"/>
                </a:lnTo>
                <a:lnTo>
                  <a:pt x="1787716" y="315916"/>
                </a:lnTo>
                <a:lnTo>
                  <a:pt x="1777119" y="322593"/>
                </a:lnTo>
                <a:lnTo>
                  <a:pt x="1772138" y="320579"/>
                </a:lnTo>
                <a:lnTo>
                  <a:pt x="1767051" y="317718"/>
                </a:lnTo>
                <a:lnTo>
                  <a:pt x="1758149" y="316764"/>
                </a:lnTo>
                <a:lnTo>
                  <a:pt x="1747339" y="317612"/>
                </a:lnTo>
                <a:lnTo>
                  <a:pt x="1735470" y="324394"/>
                </a:lnTo>
                <a:lnTo>
                  <a:pt x="1722117" y="318247"/>
                </a:lnTo>
                <a:lnTo>
                  <a:pt x="1718408" y="318353"/>
                </a:lnTo>
                <a:lnTo>
                  <a:pt x="1715864" y="319943"/>
                </a:lnTo>
                <a:lnTo>
                  <a:pt x="1710036" y="328315"/>
                </a:lnTo>
                <a:lnTo>
                  <a:pt x="1699120" y="334780"/>
                </a:lnTo>
                <a:lnTo>
                  <a:pt x="1693715" y="346543"/>
                </a:lnTo>
                <a:lnTo>
                  <a:pt x="1690324" y="357777"/>
                </a:lnTo>
                <a:lnTo>
                  <a:pt x="1687357" y="361698"/>
                </a:lnTo>
                <a:lnTo>
                  <a:pt x="1686615" y="383529"/>
                </a:lnTo>
                <a:lnTo>
                  <a:pt x="1684919" y="394021"/>
                </a:lnTo>
                <a:lnTo>
                  <a:pt x="1687675" y="408009"/>
                </a:lnTo>
                <a:lnTo>
                  <a:pt x="1687145" y="413944"/>
                </a:lnTo>
                <a:lnTo>
                  <a:pt x="1682270" y="422846"/>
                </a:lnTo>
                <a:lnTo>
                  <a:pt x="1681634" y="424966"/>
                </a:lnTo>
                <a:lnTo>
                  <a:pt x="1679090" y="439061"/>
                </a:lnTo>
                <a:lnTo>
                  <a:pt x="1680044" y="442876"/>
                </a:lnTo>
                <a:lnTo>
                  <a:pt x="1679408" y="447645"/>
                </a:lnTo>
                <a:lnTo>
                  <a:pt x="1675275" y="457606"/>
                </a:lnTo>
                <a:lnTo>
                  <a:pt x="1667857" y="460256"/>
                </a:lnTo>
                <a:lnTo>
                  <a:pt x="1660015" y="461846"/>
                </a:lnTo>
                <a:lnTo>
                  <a:pt x="1653338" y="458454"/>
                </a:lnTo>
                <a:lnTo>
                  <a:pt x="1647298" y="463965"/>
                </a:lnTo>
                <a:lnTo>
                  <a:pt x="1639667" y="472337"/>
                </a:lnTo>
                <a:lnTo>
                  <a:pt x="1636276" y="478060"/>
                </a:lnTo>
                <a:lnTo>
                  <a:pt x="1636382" y="483359"/>
                </a:lnTo>
                <a:lnTo>
                  <a:pt x="1637124" y="486856"/>
                </a:lnTo>
                <a:lnTo>
                  <a:pt x="1635534" y="490565"/>
                </a:lnTo>
                <a:lnTo>
                  <a:pt x="1635322" y="494380"/>
                </a:lnTo>
                <a:lnTo>
                  <a:pt x="1635746" y="499997"/>
                </a:lnTo>
                <a:lnTo>
                  <a:pt x="1640939" y="502328"/>
                </a:lnTo>
                <a:lnTo>
                  <a:pt x="1646344" y="507097"/>
                </a:lnTo>
                <a:lnTo>
                  <a:pt x="1646132" y="511760"/>
                </a:lnTo>
                <a:lnTo>
                  <a:pt x="1643164" y="514940"/>
                </a:lnTo>
                <a:lnTo>
                  <a:pt x="1636382" y="519921"/>
                </a:lnTo>
                <a:lnTo>
                  <a:pt x="1623877" y="529988"/>
                </a:lnTo>
                <a:lnTo>
                  <a:pt x="1609782" y="538678"/>
                </a:lnTo>
                <a:lnTo>
                  <a:pt x="1604483" y="540692"/>
                </a:lnTo>
                <a:lnTo>
                  <a:pt x="1602576" y="544613"/>
                </a:lnTo>
                <a:lnTo>
                  <a:pt x="1601622" y="550018"/>
                </a:lnTo>
                <a:lnTo>
                  <a:pt x="1604695" y="561675"/>
                </a:lnTo>
                <a:lnTo>
                  <a:pt x="1607662" y="565172"/>
                </a:lnTo>
                <a:lnTo>
                  <a:pt x="1609252" y="569306"/>
                </a:lnTo>
                <a:lnTo>
                  <a:pt x="1607344" y="574180"/>
                </a:lnTo>
                <a:lnTo>
                  <a:pt x="1605967" y="578420"/>
                </a:lnTo>
                <a:lnTo>
                  <a:pt x="1600774" y="581069"/>
                </a:lnTo>
                <a:lnTo>
                  <a:pt x="1595793" y="582977"/>
                </a:lnTo>
                <a:lnTo>
                  <a:pt x="1593885" y="586368"/>
                </a:lnTo>
                <a:lnTo>
                  <a:pt x="1591236" y="600463"/>
                </a:lnTo>
                <a:lnTo>
                  <a:pt x="1588163" y="607775"/>
                </a:lnTo>
                <a:lnTo>
                  <a:pt x="1581274" y="618691"/>
                </a:lnTo>
                <a:lnTo>
                  <a:pt x="1579049" y="623671"/>
                </a:lnTo>
                <a:lnTo>
                  <a:pt x="1575552" y="625261"/>
                </a:lnTo>
                <a:lnTo>
                  <a:pt x="1562199" y="620174"/>
                </a:lnTo>
                <a:lnTo>
                  <a:pt x="1550329" y="623248"/>
                </a:lnTo>
                <a:lnTo>
                  <a:pt x="1534539" y="625261"/>
                </a:lnTo>
                <a:lnTo>
                  <a:pt x="1521186" y="624943"/>
                </a:lnTo>
                <a:lnTo>
                  <a:pt x="1510800" y="627169"/>
                </a:lnTo>
                <a:lnTo>
                  <a:pt x="1503700" y="632891"/>
                </a:lnTo>
                <a:lnTo>
                  <a:pt x="1495751" y="640204"/>
                </a:lnTo>
                <a:lnTo>
                  <a:pt x="1487485" y="645503"/>
                </a:lnTo>
                <a:lnTo>
                  <a:pt x="1481127" y="648152"/>
                </a:lnTo>
                <a:lnTo>
                  <a:pt x="1469575" y="640522"/>
                </a:lnTo>
                <a:lnTo>
                  <a:pt x="1463746" y="641158"/>
                </a:lnTo>
                <a:lnTo>
                  <a:pt x="1453255" y="638508"/>
                </a:lnTo>
                <a:lnTo>
                  <a:pt x="1428562" y="629924"/>
                </a:lnTo>
                <a:lnTo>
                  <a:pt x="1422522" y="627381"/>
                </a:lnTo>
                <a:lnTo>
                  <a:pt x="1415951" y="627169"/>
                </a:lnTo>
                <a:lnTo>
                  <a:pt x="1413938" y="624731"/>
                </a:lnTo>
                <a:lnTo>
                  <a:pt x="1414997" y="620598"/>
                </a:lnTo>
                <a:lnTo>
                  <a:pt x="1413938" y="615087"/>
                </a:lnTo>
                <a:lnTo>
                  <a:pt x="1409169" y="613074"/>
                </a:lnTo>
                <a:lnTo>
                  <a:pt x="1359678" y="613922"/>
                </a:lnTo>
                <a:lnTo>
                  <a:pt x="1345477" y="618585"/>
                </a:lnTo>
                <a:lnTo>
                  <a:pt x="1335833" y="622294"/>
                </a:lnTo>
                <a:lnTo>
                  <a:pt x="1328944" y="626639"/>
                </a:lnTo>
                <a:lnTo>
                  <a:pt x="1326931" y="637342"/>
                </a:lnTo>
                <a:lnTo>
                  <a:pt x="1322904" y="647304"/>
                </a:lnTo>
                <a:lnTo>
                  <a:pt x="1317605" y="658008"/>
                </a:lnTo>
                <a:lnTo>
                  <a:pt x="1301073" y="661187"/>
                </a:lnTo>
                <a:lnTo>
                  <a:pt x="1288991" y="671891"/>
                </a:lnTo>
                <a:lnTo>
                  <a:pt x="1284858" y="673268"/>
                </a:lnTo>
                <a:lnTo>
                  <a:pt x="1276486" y="671679"/>
                </a:lnTo>
                <a:lnTo>
                  <a:pt x="1267584" y="670725"/>
                </a:lnTo>
                <a:lnTo>
                  <a:pt x="1261226" y="673798"/>
                </a:lnTo>
                <a:lnTo>
                  <a:pt x="1254443" y="673586"/>
                </a:lnTo>
                <a:lnTo>
                  <a:pt x="1233672" y="668605"/>
                </a:lnTo>
                <a:lnTo>
                  <a:pt x="1213960" y="667758"/>
                </a:lnTo>
                <a:lnTo>
                  <a:pt x="1202833" y="670407"/>
                </a:lnTo>
                <a:lnTo>
                  <a:pt x="1196686" y="671361"/>
                </a:lnTo>
                <a:lnTo>
                  <a:pt x="1162456" y="686092"/>
                </a:lnTo>
                <a:lnTo>
                  <a:pt x="1150904" y="687787"/>
                </a:lnTo>
                <a:lnTo>
                  <a:pt x="1146135" y="685668"/>
                </a:lnTo>
                <a:lnTo>
                  <a:pt x="1139565" y="679627"/>
                </a:lnTo>
                <a:lnTo>
                  <a:pt x="1130663" y="673586"/>
                </a:lnTo>
                <a:lnTo>
                  <a:pt x="1109467" y="653027"/>
                </a:lnTo>
                <a:lnTo>
                  <a:pt x="1101625" y="648152"/>
                </a:lnTo>
                <a:lnTo>
                  <a:pt x="1096432" y="643171"/>
                </a:lnTo>
                <a:lnTo>
                  <a:pt x="1091451" y="637342"/>
                </a:lnTo>
                <a:lnTo>
                  <a:pt x="1084457" y="630984"/>
                </a:lnTo>
                <a:lnTo>
                  <a:pt x="1077992" y="626639"/>
                </a:lnTo>
                <a:lnTo>
                  <a:pt x="1069302" y="617737"/>
                </a:lnTo>
                <a:lnTo>
                  <a:pt x="1060612" y="607987"/>
                </a:lnTo>
                <a:lnTo>
                  <a:pt x="1058705" y="590819"/>
                </a:lnTo>
                <a:lnTo>
                  <a:pt x="1051816" y="587745"/>
                </a:lnTo>
                <a:lnTo>
                  <a:pt x="1049485" y="583294"/>
                </a:lnTo>
                <a:lnTo>
                  <a:pt x="1048425" y="578208"/>
                </a:lnTo>
                <a:lnTo>
                  <a:pt x="1057963" y="564219"/>
                </a:lnTo>
                <a:lnTo>
                  <a:pt x="1064851" y="578949"/>
                </a:lnTo>
                <a:lnTo>
                  <a:pt x="1067607" y="582235"/>
                </a:lnTo>
                <a:lnTo>
                  <a:pt x="1082973" y="592196"/>
                </a:lnTo>
                <a:lnTo>
                  <a:pt x="1095690" y="597071"/>
                </a:lnTo>
                <a:lnTo>
                  <a:pt x="1109361" y="599085"/>
                </a:lnTo>
                <a:lnTo>
                  <a:pt x="1123350" y="599509"/>
                </a:lnTo>
                <a:lnTo>
                  <a:pt x="1128861" y="598873"/>
                </a:lnTo>
                <a:lnTo>
                  <a:pt x="1134266" y="596859"/>
                </a:lnTo>
                <a:lnTo>
                  <a:pt x="1139671" y="598979"/>
                </a:lnTo>
                <a:lnTo>
                  <a:pt x="1168814" y="615087"/>
                </a:lnTo>
                <a:lnTo>
                  <a:pt x="1180154" y="617949"/>
                </a:lnTo>
                <a:lnTo>
                  <a:pt x="1192129" y="616783"/>
                </a:lnTo>
                <a:lnTo>
                  <a:pt x="1196898" y="618373"/>
                </a:lnTo>
                <a:lnTo>
                  <a:pt x="1213642" y="630666"/>
                </a:lnTo>
                <a:lnTo>
                  <a:pt x="1218623" y="632150"/>
                </a:lnTo>
                <a:lnTo>
                  <a:pt x="1226889" y="631196"/>
                </a:lnTo>
                <a:lnTo>
                  <a:pt x="1216292" y="625579"/>
                </a:lnTo>
                <a:lnTo>
                  <a:pt x="1209403" y="621552"/>
                </a:lnTo>
                <a:lnTo>
                  <a:pt x="1206330" y="614028"/>
                </a:lnTo>
                <a:lnTo>
                  <a:pt x="1208237" y="605973"/>
                </a:lnTo>
                <a:lnTo>
                  <a:pt x="1214914" y="600675"/>
                </a:lnTo>
                <a:lnTo>
                  <a:pt x="1219577" y="594846"/>
                </a:lnTo>
                <a:lnTo>
                  <a:pt x="1221272" y="577572"/>
                </a:lnTo>
                <a:lnTo>
                  <a:pt x="1224240" y="568776"/>
                </a:lnTo>
                <a:lnTo>
                  <a:pt x="1229857" y="560404"/>
                </a:lnTo>
                <a:lnTo>
                  <a:pt x="1231658" y="552349"/>
                </a:lnTo>
                <a:lnTo>
                  <a:pt x="1225405" y="546203"/>
                </a:lnTo>
                <a:lnTo>
                  <a:pt x="1224028" y="535711"/>
                </a:lnTo>
                <a:lnTo>
                  <a:pt x="1225405" y="526915"/>
                </a:lnTo>
                <a:lnTo>
                  <a:pt x="1228903" y="520980"/>
                </a:lnTo>
                <a:lnTo>
                  <a:pt x="1234625" y="524901"/>
                </a:lnTo>
                <a:lnTo>
                  <a:pt x="1240454" y="528611"/>
                </a:lnTo>
                <a:lnTo>
                  <a:pt x="1246283" y="528187"/>
                </a:lnTo>
                <a:lnTo>
                  <a:pt x="1250310" y="526703"/>
                </a:lnTo>
                <a:lnTo>
                  <a:pt x="1251052" y="522252"/>
                </a:lnTo>
                <a:lnTo>
                  <a:pt x="1249886" y="514410"/>
                </a:lnTo>
                <a:lnTo>
                  <a:pt x="1250204" y="499997"/>
                </a:lnTo>
                <a:lnTo>
                  <a:pt x="1257622" y="488446"/>
                </a:lnTo>
                <a:lnTo>
                  <a:pt x="1269280" y="480497"/>
                </a:lnTo>
                <a:lnTo>
                  <a:pt x="1280407" y="476682"/>
                </a:lnTo>
                <a:lnTo>
                  <a:pt x="1321844" y="470218"/>
                </a:lnTo>
                <a:lnTo>
                  <a:pt x="1387337" y="453791"/>
                </a:lnTo>
                <a:lnTo>
                  <a:pt x="1406837" y="447327"/>
                </a:lnTo>
                <a:lnTo>
                  <a:pt x="1413938" y="444041"/>
                </a:lnTo>
                <a:lnTo>
                  <a:pt x="1419978" y="439484"/>
                </a:lnTo>
                <a:lnTo>
                  <a:pt x="1430046" y="424754"/>
                </a:lnTo>
                <a:lnTo>
                  <a:pt x="1449122" y="401757"/>
                </a:lnTo>
                <a:lnTo>
                  <a:pt x="1462475" y="382681"/>
                </a:lnTo>
                <a:lnTo>
                  <a:pt x="1490664" y="355127"/>
                </a:lnTo>
                <a:lnTo>
                  <a:pt x="1513131" y="329481"/>
                </a:lnTo>
                <a:lnTo>
                  <a:pt x="1516205" y="324606"/>
                </a:lnTo>
                <a:lnTo>
                  <a:pt x="1519914" y="310617"/>
                </a:lnTo>
                <a:lnTo>
                  <a:pt x="1520126" y="304047"/>
                </a:lnTo>
                <a:lnTo>
                  <a:pt x="1519490" y="297370"/>
                </a:lnTo>
                <a:lnTo>
                  <a:pt x="1522563" y="294297"/>
                </a:lnTo>
                <a:lnTo>
                  <a:pt x="1526908" y="292389"/>
                </a:lnTo>
                <a:lnTo>
                  <a:pt x="1527968" y="292389"/>
                </a:lnTo>
                <a:lnTo>
                  <a:pt x="1531253" y="295357"/>
                </a:lnTo>
                <a:lnTo>
                  <a:pt x="1539096" y="299384"/>
                </a:lnTo>
                <a:lnTo>
                  <a:pt x="1544924" y="304577"/>
                </a:lnTo>
                <a:lnTo>
                  <a:pt x="1548845" y="311359"/>
                </a:lnTo>
                <a:lnTo>
                  <a:pt x="1551707" y="317612"/>
                </a:lnTo>
                <a:lnTo>
                  <a:pt x="1551919" y="323016"/>
                </a:lnTo>
                <a:lnTo>
                  <a:pt x="1555416" y="327361"/>
                </a:lnTo>
                <a:lnTo>
                  <a:pt x="1565378" y="328103"/>
                </a:lnTo>
                <a:lnTo>
                  <a:pt x="1568557" y="333614"/>
                </a:lnTo>
                <a:lnTo>
                  <a:pt x="1575446" y="343152"/>
                </a:lnTo>
                <a:lnTo>
                  <a:pt x="1581804" y="350040"/>
                </a:lnTo>
                <a:lnTo>
                  <a:pt x="1585619" y="352690"/>
                </a:lnTo>
                <a:lnTo>
                  <a:pt x="1590494" y="351206"/>
                </a:lnTo>
                <a:lnTo>
                  <a:pt x="1598019" y="344954"/>
                </a:lnTo>
                <a:lnTo>
                  <a:pt x="1603423" y="337323"/>
                </a:lnTo>
                <a:lnTo>
                  <a:pt x="1607027" y="326938"/>
                </a:lnTo>
                <a:lnTo>
                  <a:pt x="1604165" y="325454"/>
                </a:lnTo>
                <a:lnTo>
                  <a:pt x="1609252" y="317718"/>
                </a:lnTo>
                <a:lnTo>
                  <a:pt x="1610206" y="313585"/>
                </a:lnTo>
                <a:lnTo>
                  <a:pt x="1607874" y="309769"/>
                </a:lnTo>
                <a:lnTo>
                  <a:pt x="1604907" y="306060"/>
                </a:lnTo>
                <a:lnTo>
                  <a:pt x="1603741" y="296628"/>
                </a:lnTo>
                <a:lnTo>
                  <a:pt x="1601728" y="284547"/>
                </a:lnTo>
                <a:lnTo>
                  <a:pt x="1600350" y="279142"/>
                </a:lnTo>
                <a:lnTo>
                  <a:pt x="1604271" y="275221"/>
                </a:lnTo>
                <a:lnTo>
                  <a:pt x="1612855" y="270240"/>
                </a:lnTo>
                <a:lnTo>
                  <a:pt x="1621333" y="264517"/>
                </a:lnTo>
                <a:lnTo>
                  <a:pt x="1630023" y="259854"/>
                </a:lnTo>
                <a:lnTo>
                  <a:pt x="1630235" y="268227"/>
                </a:lnTo>
                <a:lnTo>
                  <a:pt x="1630023" y="282004"/>
                </a:lnTo>
                <a:lnTo>
                  <a:pt x="1632673" y="293449"/>
                </a:lnTo>
                <a:lnTo>
                  <a:pt x="1638502" y="313902"/>
                </a:lnTo>
                <a:lnTo>
                  <a:pt x="1645284" y="316658"/>
                </a:lnTo>
                <a:lnTo>
                  <a:pt x="1653338" y="318459"/>
                </a:lnTo>
                <a:lnTo>
                  <a:pt x="1658001" y="317824"/>
                </a:lnTo>
                <a:lnTo>
                  <a:pt x="1660969" y="316552"/>
                </a:lnTo>
                <a:lnTo>
                  <a:pt x="1661816" y="314856"/>
                </a:lnTo>
                <a:lnTo>
                  <a:pt x="1656729" y="306908"/>
                </a:lnTo>
                <a:lnTo>
                  <a:pt x="1655458" y="288044"/>
                </a:lnTo>
                <a:lnTo>
                  <a:pt x="1651325" y="275645"/>
                </a:lnTo>
                <a:lnTo>
                  <a:pt x="1644966" y="263352"/>
                </a:lnTo>
                <a:lnTo>
                  <a:pt x="1641999" y="259854"/>
                </a:lnTo>
                <a:lnTo>
                  <a:pt x="1666903" y="256357"/>
                </a:lnTo>
                <a:lnTo>
                  <a:pt x="1672520" y="252542"/>
                </a:lnTo>
                <a:lnTo>
                  <a:pt x="1682270" y="244064"/>
                </a:lnTo>
                <a:lnTo>
                  <a:pt x="1685873" y="239295"/>
                </a:lnTo>
                <a:lnTo>
                  <a:pt x="1688840" y="228697"/>
                </a:lnTo>
                <a:lnTo>
                  <a:pt x="1676653" y="222339"/>
                </a:lnTo>
                <a:lnTo>
                  <a:pt x="1671884" y="214179"/>
                </a:lnTo>
                <a:lnTo>
                  <a:pt x="1671566" y="205489"/>
                </a:lnTo>
                <a:lnTo>
                  <a:pt x="1686085" y="189168"/>
                </a:lnTo>
                <a:lnTo>
                  <a:pt x="1691172" y="185353"/>
                </a:lnTo>
                <a:lnTo>
                  <a:pt x="1693397" y="191076"/>
                </a:lnTo>
                <a:lnTo>
                  <a:pt x="1699756" y="192559"/>
                </a:lnTo>
                <a:lnTo>
                  <a:pt x="1705691" y="192771"/>
                </a:lnTo>
                <a:lnTo>
                  <a:pt x="1711625" y="192453"/>
                </a:lnTo>
                <a:lnTo>
                  <a:pt x="1720103" y="184187"/>
                </a:lnTo>
                <a:lnTo>
                  <a:pt x="1724448" y="172424"/>
                </a:lnTo>
                <a:lnTo>
                  <a:pt x="1739497" y="155786"/>
                </a:lnTo>
                <a:lnTo>
                  <a:pt x="1744796" y="142963"/>
                </a:lnTo>
                <a:lnTo>
                  <a:pt x="1747763" y="129503"/>
                </a:lnTo>
                <a:lnTo>
                  <a:pt x="1785597" y="87961"/>
                </a:lnTo>
                <a:lnTo>
                  <a:pt x="1790154" y="81496"/>
                </a:lnTo>
                <a:lnTo>
                  <a:pt x="1812621" y="39741"/>
                </a:lnTo>
                <a:lnTo>
                  <a:pt x="1815376" y="38364"/>
                </a:lnTo>
                <a:lnTo>
                  <a:pt x="1821417" y="42391"/>
                </a:lnTo>
                <a:lnTo>
                  <a:pt x="1823218" y="55638"/>
                </a:lnTo>
                <a:lnTo>
                  <a:pt x="1822371" y="61467"/>
                </a:lnTo>
                <a:lnTo>
                  <a:pt x="1818767" y="70051"/>
                </a:lnTo>
                <a:lnTo>
                  <a:pt x="1816648" y="79059"/>
                </a:lnTo>
                <a:lnTo>
                  <a:pt x="1819191" y="78847"/>
                </a:lnTo>
                <a:lnTo>
                  <a:pt x="1829895" y="73336"/>
                </a:lnTo>
                <a:lnTo>
                  <a:pt x="1841128" y="58817"/>
                </a:lnTo>
                <a:lnTo>
                  <a:pt x="1847381" y="46100"/>
                </a:lnTo>
                <a:lnTo>
                  <a:pt x="1852786" y="40589"/>
                </a:lnTo>
                <a:lnTo>
                  <a:pt x="1863489" y="43663"/>
                </a:lnTo>
                <a:lnTo>
                  <a:pt x="1865821" y="45888"/>
                </a:lnTo>
                <a:lnTo>
                  <a:pt x="1865079" y="55002"/>
                </a:lnTo>
                <a:lnTo>
                  <a:pt x="1866139" y="60301"/>
                </a:lnTo>
                <a:lnTo>
                  <a:pt x="1870272" y="71534"/>
                </a:lnTo>
                <a:lnTo>
                  <a:pt x="1879386" y="78423"/>
                </a:lnTo>
                <a:lnTo>
                  <a:pt x="1891997" y="82768"/>
                </a:lnTo>
                <a:lnTo>
                  <a:pt x="1903760" y="88915"/>
                </a:lnTo>
                <a:lnTo>
                  <a:pt x="1907576" y="93048"/>
                </a:lnTo>
                <a:lnTo>
                  <a:pt x="1910119" y="98029"/>
                </a:lnTo>
                <a:lnTo>
                  <a:pt x="1912662" y="106189"/>
                </a:lnTo>
                <a:lnTo>
                  <a:pt x="1912874" y="114455"/>
                </a:lnTo>
                <a:lnTo>
                  <a:pt x="1904396" y="122403"/>
                </a:lnTo>
                <a:lnTo>
                  <a:pt x="1908000" y="135438"/>
                </a:lnTo>
                <a:lnTo>
                  <a:pt x="1907470" y="143068"/>
                </a:lnTo>
                <a:lnTo>
                  <a:pt x="1904502" y="149533"/>
                </a:lnTo>
                <a:lnTo>
                  <a:pt x="1892209" y="155468"/>
                </a:lnTo>
                <a:lnTo>
                  <a:pt x="1925804" y="149639"/>
                </a:lnTo>
                <a:lnTo>
                  <a:pt x="1934070" y="146248"/>
                </a:lnTo>
                <a:lnTo>
                  <a:pt x="1945515" y="137664"/>
                </a:lnTo>
                <a:lnTo>
                  <a:pt x="1951662" y="145082"/>
                </a:lnTo>
                <a:lnTo>
                  <a:pt x="1957385" y="157905"/>
                </a:lnTo>
                <a:lnTo>
                  <a:pt x="1952722" y="161084"/>
                </a:lnTo>
                <a:lnTo>
                  <a:pt x="1938203" y="165853"/>
                </a:lnTo>
                <a:lnTo>
                  <a:pt x="1937461" y="167761"/>
                </a:lnTo>
                <a:lnTo>
                  <a:pt x="1942336" y="174437"/>
                </a:lnTo>
                <a:lnTo>
                  <a:pt x="1948377" y="173802"/>
                </a:lnTo>
                <a:lnTo>
                  <a:pt x="1960458" y="169351"/>
                </a:lnTo>
                <a:lnTo>
                  <a:pt x="1971479" y="162250"/>
                </a:lnTo>
                <a:lnTo>
                  <a:pt x="1976884" y="162356"/>
                </a:lnTo>
                <a:lnTo>
                  <a:pt x="1982501" y="163840"/>
                </a:lnTo>
                <a:lnTo>
                  <a:pt x="1993416" y="168397"/>
                </a:lnTo>
                <a:lnTo>
                  <a:pt x="1999563" y="172000"/>
                </a:lnTo>
                <a:lnTo>
                  <a:pt x="2004756" y="176663"/>
                </a:lnTo>
                <a:lnTo>
                  <a:pt x="2008147" y="186519"/>
                </a:lnTo>
                <a:lnTo>
                  <a:pt x="2020758" y="190016"/>
                </a:lnTo>
                <a:lnTo>
                  <a:pt x="2046511" y="203793"/>
                </a:lnTo>
                <a:lnTo>
                  <a:pt x="2051386" y="204959"/>
                </a:lnTo>
                <a:lnTo>
                  <a:pt x="2056366" y="205277"/>
                </a:lnTo>
                <a:lnTo>
                  <a:pt x="2069931" y="203581"/>
                </a:lnTo>
                <a:lnTo>
                  <a:pt x="2074700" y="205489"/>
                </a:lnTo>
                <a:lnTo>
                  <a:pt x="2078198" y="210469"/>
                </a:lnTo>
                <a:lnTo>
                  <a:pt x="2079257" y="216616"/>
                </a:lnTo>
                <a:lnTo>
                  <a:pt x="2078939" y="223187"/>
                </a:lnTo>
                <a:lnTo>
                  <a:pt x="2077562" y="228168"/>
                </a:lnTo>
                <a:lnTo>
                  <a:pt x="2074382" y="232301"/>
                </a:lnTo>
                <a:lnTo>
                  <a:pt x="2065057" y="238659"/>
                </a:lnTo>
                <a:lnTo>
                  <a:pt x="2041742" y="246819"/>
                </a:lnTo>
                <a:lnTo>
                  <a:pt x="2016307" y="253072"/>
                </a:lnTo>
                <a:lnTo>
                  <a:pt x="2003484" y="252648"/>
                </a:lnTo>
                <a:lnTo>
                  <a:pt x="1985574" y="247243"/>
                </a:lnTo>
                <a:lnTo>
                  <a:pt x="1979004" y="247985"/>
                </a:lnTo>
                <a:lnTo>
                  <a:pt x="1972751" y="250423"/>
                </a:lnTo>
                <a:lnTo>
                  <a:pt x="1964697" y="267379"/>
                </a:lnTo>
                <a:lnTo>
                  <a:pt x="1979428" y="284335"/>
                </a:lnTo>
                <a:lnTo>
                  <a:pt x="2004650" y="302033"/>
                </a:lnTo>
                <a:lnTo>
                  <a:pt x="2008147" y="306378"/>
                </a:lnTo>
                <a:lnTo>
                  <a:pt x="2007193" y="311783"/>
                </a:lnTo>
                <a:lnTo>
                  <a:pt x="2003166" y="315068"/>
                </a:lnTo>
                <a:lnTo>
                  <a:pt x="1997867" y="316870"/>
                </a:lnTo>
                <a:lnTo>
                  <a:pt x="1983667" y="319625"/>
                </a:lnTo>
                <a:lnTo>
                  <a:pt x="1969360" y="321745"/>
                </a:lnTo>
                <a:lnTo>
                  <a:pt x="1957490" y="324712"/>
                </a:lnTo>
                <a:lnTo>
                  <a:pt x="1945939" y="328739"/>
                </a:lnTo>
                <a:lnTo>
                  <a:pt x="1934070" y="327361"/>
                </a:lnTo>
                <a:lnTo>
                  <a:pt x="1917643" y="319413"/>
                </a:lnTo>
                <a:lnTo>
                  <a:pt x="1912874" y="318883"/>
                </a:lnTo>
                <a:lnTo>
                  <a:pt x="1908000" y="323016"/>
                </a:lnTo>
                <a:lnTo>
                  <a:pt x="1903125" y="334038"/>
                </a:lnTo>
                <a:lnTo>
                  <a:pt x="1899945" y="337111"/>
                </a:lnTo>
                <a:close/>
                <a:moveTo>
                  <a:pt x="68143" y="217994"/>
                </a:moveTo>
                <a:lnTo>
                  <a:pt x="65494" y="220961"/>
                </a:lnTo>
                <a:lnTo>
                  <a:pt x="57757" y="219266"/>
                </a:lnTo>
                <a:lnTo>
                  <a:pt x="59135" y="201885"/>
                </a:lnTo>
                <a:lnTo>
                  <a:pt x="63586" y="199660"/>
                </a:lnTo>
                <a:lnTo>
                  <a:pt x="70369" y="202839"/>
                </a:lnTo>
                <a:lnTo>
                  <a:pt x="73442" y="205807"/>
                </a:lnTo>
                <a:lnTo>
                  <a:pt x="68143" y="217994"/>
                </a:lnTo>
                <a:close/>
                <a:moveTo>
                  <a:pt x="21408" y="93895"/>
                </a:moveTo>
                <a:lnTo>
                  <a:pt x="28932" y="105235"/>
                </a:lnTo>
                <a:lnTo>
                  <a:pt x="25117" y="110322"/>
                </a:lnTo>
                <a:lnTo>
                  <a:pt x="23315" y="111805"/>
                </a:lnTo>
                <a:lnTo>
                  <a:pt x="18758" y="110110"/>
                </a:lnTo>
                <a:lnTo>
                  <a:pt x="14519" y="114455"/>
                </a:lnTo>
                <a:lnTo>
                  <a:pt x="10386" y="115409"/>
                </a:lnTo>
                <a:lnTo>
                  <a:pt x="6253" y="107460"/>
                </a:lnTo>
                <a:lnTo>
                  <a:pt x="1166" y="104387"/>
                </a:lnTo>
                <a:lnTo>
                  <a:pt x="0" y="98982"/>
                </a:lnTo>
                <a:lnTo>
                  <a:pt x="6889" y="98029"/>
                </a:lnTo>
                <a:lnTo>
                  <a:pt x="10916" y="99830"/>
                </a:lnTo>
                <a:lnTo>
                  <a:pt x="18652" y="96121"/>
                </a:lnTo>
                <a:lnTo>
                  <a:pt x="21408" y="93895"/>
                </a:lnTo>
                <a:close/>
                <a:moveTo>
                  <a:pt x="1854163" y="19500"/>
                </a:moveTo>
                <a:lnTo>
                  <a:pt x="1847699" y="25117"/>
                </a:lnTo>
                <a:lnTo>
                  <a:pt x="1845473" y="18334"/>
                </a:lnTo>
                <a:lnTo>
                  <a:pt x="1845897" y="9644"/>
                </a:lnTo>
                <a:lnTo>
                  <a:pt x="1854693" y="1590"/>
                </a:lnTo>
                <a:lnTo>
                  <a:pt x="1867093" y="0"/>
                </a:lnTo>
                <a:lnTo>
                  <a:pt x="1868894" y="6465"/>
                </a:lnTo>
                <a:lnTo>
                  <a:pt x="1867411" y="13883"/>
                </a:lnTo>
                <a:lnTo>
                  <a:pt x="1864443" y="17698"/>
                </a:lnTo>
                <a:lnTo>
                  <a:pt x="1854163" y="19500"/>
                </a:lnTo>
                <a:close/>
                <a:moveTo>
                  <a:pt x="1244481" y="523206"/>
                </a:moveTo>
                <a:lnTo>
                  <a:pt x="1241302" y="524584"/>
                </a:lnTo>
                <a:lnTo>
                  <a:pt x="1236321" y="520768"/>
                </a:lnTo>
                <a:lnTo>
                  <a:pt x="1235049" y="488658"/>
                </a:lnTo>
                <a:lnTo>
                  <a:pt x="1238547" y="485796"/>
                </a:lnTo>
                <a:lnTo>
                  <a:pt x="1240878" y="486220"/>
                </a:lnTo>
                <a:lnTo>
                  <a:pt x="1243316" y="492049"/>
                </a:lnTo>
                <a:lnTo>
                  <a:pt x="1243104" y="506144"/>
                </a:lnTo>
                <a:lnTo>
                  <a:pt x="1243527" y="518543"/>
                </a:lnTo>
                <a:lnTo>
                  <a:pt x="1244481" y="523206"/>
                </a:lnTo>
                <a:close/>
              </a:path>
            </a:pathLst>
          </a:custGeom>
          <a:solidFill>
            <a:srgbClr val="C5D9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ame:map-LAO"/>
          <p:cNvSpPr/>
          <p:nvPr/>
        </p:nvSpPr>
        <p:spPr>
          <a:xfrm>
            <a:off x="1060378" y="2411993"/>
            <a:ext cx="798850" cy="908641"/>
          </a:xfrm>
          <a:custGeom>
            <a:avLst/>
            <a:gdLst/>
            <a:ahLst/>
            <a:cxnLst/>
            <a:rect l="l" t="t" r="r" b="b"/>
            <a:pathLst>
              <a:path w="798850" h="908641">
                <a:moveTo>
                  <a:pt x="213225" y="12293"/>
                </a:moveTo>
                <a:lnTo>
                  <a:pt x="219159" y="22361"/>
                </a:lnTo>
                <a:lnTo>
                  <a:pt x="231665" y="33594"/>
                </a:lnTo>
                <a:lnTo>
                  <a:pt x="246713" y="49597"/>
                </a:lnTo>
                <a:lnTo>
                  <a:pt x="251376" y="56909"/>
                </a:lnTo>
                <a:lnTo>
                  <a:pt x="261550" y="62632"/>
                </a:lnTo>
                <a:lnTo>
                  <a:pt x="264411" y="68142"/>
                </a:lnTo>
                <a:lnTo>
                  <a:pt x="266637" y="76727"/>
                </a:lnTo>
                <a:lnTo>
                  <a:pt x="267697" y="83085"/>
                </a:lnTo>
                <a:lnTo>
                  <a:pt x="269922" y="86794"/>
                </a:lnTo>
                <a:lnTo>
                  <a:pt x="273419" y="88278"/>
                </a:lnTo>
                <a:lnTo>
                  <a:pt x="278082" y="86582"/>
                </a:lnTo>
                <a:lnTo>
                  <a:pt x="281474" y="83191"/>
                </a:lnTo>
                <a:lnTo>
                  <a:pt x="284335" y="73865"/>
                </a:lnTo>
                <a:lnTo>
                  <a:pt x="286243" y="72911"/>
                </a:lnTo>
                <a:lnTo>
                  <a:pt x="289316" y="80542"/>
                </a:lnTo>
                <a:lnTo>
                  <a:pt x="292601" y="81919"/>
                </a:lnTo>
                <a:lnTo>
                  <a:pt x="297052" y="82873"/>
                </a:lnTo>
                <a:lnTo>
                  <a:pt x="300443" y="86264"/>
                </a:lnTo>
                <a:lnTo>
                  <a:pt x="301397" y="92093"/>
                </a:lnTo>
                <a:lnTo>
                  <a:pt x="300337" y="98028"/>
                </a:lnTo>
                <a:lnTo>
                  <a:pt x="296204" y="104810"/>
                </a:lnTo>
                <a:lnTo>
                  <a:pt x="293873" y="111805"/>
                </a:lnTo>
                <a:lnTo>
                  <a:pt x="292177" y="122720"/>
                </a:lnTo>
                <a:lnTo>
                  <a:pt x="289952" y="130245"/>
                </a:lnTo>
                <a:lnTo>
                  <a:pt x="293449" y="136921"/>
                </a:lnTo>
                <a:lnTo>
                  <a:pt x="316764" y="169880"/>
                </a:lnTo>
                <a:lnTo>
                  <a:pt x="328103" y="175285"/>
                </a:lnTo>
                <a:lnTo>
                  <a:pt x="354915" y="181749"/>
                </a:lnTo>
                <a:lnTo>
                  <a:pt x="364559" y="186200"/>
                </a:lnTo>
                <a:lnTo>
                  <a:pt x="373037" y="190545"/>
                </a:lnTo>
                <a:lnTo>
                  <a:pt x="381409" y="188426"/>
                </a:lnTo>
                <a:lnTo>
                  <a:pt x="389570" y="178570"/>
                </a:lnTo>
                <a:lnTo>
                  <a:pt x="399213" y="173165"/>
                </a:lnTo>
                <a:lnTo>
                  <a:pt x="417229" y="164687"/>
                </a:lnTo>
                <a:lnTo>
                  <a:pt x="422422" y="164157"/>
                </a:lnTo>
                <a:lnTo>
                  <a:pt x="432384" y="167548"/>
                </a:lnTo>
                <a:lnTo>
                  <a:pt x="448810" y="177404"/>
                </a:lnTo>
                <a:lnTo>
                  <a:pt x="460574" y="186624"/>
                </a:lnTo>
                <a:lnTo>
                  <a:pt x="467886" y="191499"/>
                </a:lnTo>
                <a:lnTo>
                  <a:pt x="473503" y="195844"/>
                </a:lnTo>
                <a:lnTo>
                  <a:pt x="472655" y="200825"/>
                </a:lnTo>
                <a:lnTo>
                  <a:pt x="468204" y="205594"/>
                </a:lnTo>
                <a:lnTo>
                  <a:pt x="462481" y="208243"/>
                </a:lnTo>
                <a:lnTo>
                  <a:pt x="454957" y="212906"/>
                </a:lnTo>
                <a:lnTo>
                  <a:pt x="450718" y="217675"/>
                </a:lnTo>
                <a:lnTo>
                  <a:pt x="453261" y="219371"/>
                </a:lnTo>
                <a:lnTo>
                  <a:pt x="464283" y="220537"/>
                </a:lnTo>
                <a:lnTo>
                  <a:pt x="477318" y="224670"/>
                </a:lnTo>
                <a:lnTo>
                  <a:pt x="481239" y="229545"/>
                </a:lnTo>
                <a:lnTo>
                  <a:pt x="481875" y="233784"/>
                </a:lnTo>
                <a:lnTo>
                  <a:pt x="483465" y="240566"/>
                </a:lnTo>
                <a:lnTo>
                  <a:pt x="485796" y="242686"/>
                </a:lnTo>
                <a:lnTo>
                  <a:pt x="497877" y="241414"/>
                </a:lnTo>
                <a:lnTo>
                  <a:pt x="501587" y="243004"/>
                </a:lnTo>
                <a:lnTo>
                  <a:pt x="505932" y="246501"/>
                </a:lnTo>
                <a:lnTo>
                  <a:pt x="510171" y="255615"/>
                </a:lnTo>
                <a:lnTo>
                  <a:pt x="510065" y="262503"/>
                </a:lnTo>
                <a:lnTo>
                  <a:pt x="501375" y="270028"/>
                </a:lnTo>
                <a:lnTo>
                  <a:pt x="498089" y="274585"/>
                </a:lnTo>
                <a:lnTo>
                  <a:pt x="496712" y="281791"/>
                </a:lnTo>
                <a:lnTo>
                  <a:pt x="490459" y="290375"/>
                </a:lnTo>
                <a:lnTo>
                  <a:pt x="474033" y="304788"/>
                </a:lnTo>
                <a:lnTo>
                  <a:pt x="469582" y="305636"/>
                </a:lnTo>
                <a:lnTo>
                  <a:pt x="439272" y="297793"/>
                </a:lnTo>
                <a:lnTo>
                  <a:pt x="425178" y="298217"/>
                </a:lnTo>
                <a:lnTo>
                  <a:pt x="418395" y="298535"/>
                </a:lnTo>
                <a:lnTo>
                  <a:pt x="415110" y="298853"/>
                </a:lnTo>
                <a:lnTo>
                  <a:pt x="413096" y="301926"/>
                </a:lnTo>
                <a:lnTo>
                  <a:pt x="417229" y="310616"/>
                </a:lnTo>
                <a:lnTo>
                  <a:pt x="418395" y="319201"/>
                </a:lnTo>
                <a:lnTo>
                  <a:pt x="414686" y="325877"/>
                </a:lnTo>
                <a:lnTo>
                  <a:pt x="404512" y="331600"/>
                </a:lnTo>
                <a:lnTo>
                  <a:pt x="400697" y="334355"/>
                </a:lnTo>
                <a:lnTo>
                  <a:pt x="400273" y="338064"/>
                </a:lnTo>
                <a:lnTo>
                  <a:pt x="403029" y="341880"/>
                </a:lnTo>
                <a:lnTo>
                  <a:pt x="412354" y="345907"/>
                </a:lnTo>
                <a:lnTo>
                  <a:pt x="423270" y="349616"/>
                </a:lnTo>
                <a:lnTo>
                  <a:pt x="458984" y="372083"/>
                </a:lnTo>
                <a:lnTo>
                  <a:pt x="466614" y="377382"/>
                </a:lnTo>
                <a:lnTo>
                  <a:pt x="476682" y="385118"/>
                </a:lnTo>
                <a:lnTo>
                  <a:pt x="487704" y="391265"/>
                </a:lnTo>
                <a:lnTo>
                  <a:pt x="516953" y="399213"/>
                </a:lnTo>
                <a:lnTo>
                  <a:pt x="529882" y="404406"/>
                </a:lnTo>
                <a:lnTo>
                  <a:pt x="533168" y="407373"/>
                </a:lnTo>
                <a:lnTo>
                  <a:pt x="533062" y="410976"/>
                </a:lnTo>
                <a:lnTo>
                  <a:pt x="529670" y="415639"/>
                </a:lnTo>
                <a:lnTo>
                  <a:pt x="526915" y="423799"/>
                </a:lnTo>
                <a:lnTo>
                  <a:pt x="526809" y="428674"/>
                </a:lnTo>
                <a:lnTo>
                  <a:pt x="529882" y="433443"/>
                </a:lnTo>
                <a:lnTo>
                  <a:pt x="534969" y="440438"/>
                </a:lnTo>
                <a:lnTo>
                  <a:pt x="546627" y="451459"/>
                </a:lnTo>
                <a:lnTo>
                  <a:pt x="552985" y="456228"/>
                </a:lnTo>
                <a:lnTo>
                  <a:pt x="560086" y="457394"/>
                </a:lnTo>
                <a:lnTo>
                  <a:pt x="566232" y="460043"/>
                </a:lnTo>
                <a:lnTo>
                  <a:pt x="572697" y="468203"/>
                </a:lnTo>
                <a:lnTo>
                  <a:pt x="580009" y="478059"/>
                </a:lnTo>
                <a:lnTo>
                  <a:pt x="581069" y="485054"/>
                </a:lnTo>
                <a:lnTo>
                  <a:pt x="584142" y="493956"/>
                </a:lnTo>
                <a:lnTo>
                  <a:pt x="590925" y="504129"/>
                </a:lnTo>
                <a:lnTo>
                  <a:pt x="600251" y="514091"/>
                </a:lnTo>
                <a:lnTo>
                  <a:pt x="613392" y="526278"/>
                </a:lnTo>
                <a:lnTo>
                  <a:pt x="620916" y="534969"/>
                </a:lnTo>
                <a:lnTo>
                  <a:pt x="624307" y="538360"/>
                </a:lnTo>
                <a:lnTo>
                  <a:pt x="652285" y="559343"/>
                </a:lnTo>
                <a:lnTo>
                  <a:pt x="658962" y="567079"/>
                </a:lnTo>
                <a:lnTo>
                  <a:pt x="668817" y="582022"/>
                </a:lnTo>
                <a:lnTo>
                  <a:pt x="672950" y="584248"/>
                </a:lnTo>
                <a:lnTo>
                  <a:pt x="676872" y="587215"/>
                </a:lnTo>
                <a:lnTo>
                  <a:pt x="679415" y="595375"/>
                </a:lnTo>
                <a:lnTo>
                  <a:pt x="680263" y="601310"/>
                </a:lnTo>
                <a:lnTo>
                  <a:pt x="681535" y="619326"/>
                </a:lnTo>
                <a:lnTo>
                  <a:pt x="686621" y="624731"/>
                </a:lnTo>
                <a:lnTo>
                  <a:pt x="691284" y="631301"/>
                </a:lnTo>
                <a:lnTo>
                  <a:pt x="693192" y="636070"/>
                </a:lnTo>
                <a:lnTo>
                  <a:pt x="697431" y="639673"/>
                </a:lnTo>
                <a:lnTo>
                  <a:pt x="702094" y="640309"/>
                </a:lnTo>
                <a:lnTo>
                  <a:pt x="707605" y="636388"/>
                </a:lnTo>
                <a:lnTo>
                  <a:pt x="711844" y="632573"/>
                </a:lnTo>
                <a:lnTo>
                  <a:pt x="713857" y="633633"/>
                </a:lnTo>
                <a:lnTo>
                  <a:pt x="718308" y="646244"/>
                </a:lnTo>
                <a:lnTo>
                  <a:pt x="722335" y="650907"/>
                </a:lnTo>
                <a:lnTo>
                  <a:pt x="729860" y="655252"/>
                </a:lnTo>
                <a:lnTo>
                  <a:pt x="737066" y="658643"/>
                </a:lnTo>
                <a:lnTo>
                  <a:pt x="752645" y="673904"/>
                </a:lnTo>
                <a:lnTo>
                  <a:pt x="761017" y="679414"/>
                </a:lnTo>
                <a:lnTo>
                  <a:pt x="766740" y="681216"/>
                </a:lnTo>
                <a:lnTo>
                  <a:pt x="771614" y="683759"/>
                </a:lnTo>
                <a:lnTo>
                  <a:pt x="773098" y="688528"/>
                </a:lnTo>
                <a:lnTo>
                  <a:pt x="771191" y="693403"/>
                </a:lnTo>
                <a:lnTo>
                  <a:pt x="767905" y="696583"/>
                </a:lnTo>
                <a:lnTo>
                  <a:pt x="749677" y="705379"/>
                </a:lnTo>
                <a:lnTo>
                  <a:pt x="747240" y="709300"/>
                </a:lnTo>
                <a:lnTo>
                  <a:pt x="749783" y="715128"/>
                </a:lnTo>
                <a:lnTo>
                  <a:pt x="754340" y="722441"/>
                </a:lnTo>
                <a:lnTo>
                  <a:pt x="759215" y="728693"/>
                </a:lnTo>
                <a:lnTo>
                  <a:pt x="765574" y="734946"/>
                </a:lnTo>
                <a:lnTo>
                  <a:pt x="778397" y="744908"/>
                </a:lnTo>
                <a:lnTo>
                  <a:pt x="789418" y="752750"/>
                </a:lnTo>
                <a:lnTo>
                  <a:pt x="795565" y="761440"/>
                </a:lnTo>
                <a:lnTo>
                  <a:pt x="798850" y="767269"/>
                </a:lnTo>
                <a:lnTo>
                  <a:pt x="796837" y="774157"/>
                </a:lnTo>
                <a:lnTo>
                  <a:pt x="792174" y="781788"/>
                </a:lnTo>
                <a:lnTo>
                  <a:pt x="788465" y="788252"/>
                </a:lnTo>
                <a:lnTo>
                  <a:pt x="782212" y="792067"/>
                </a:lnTo>
                <a:lnTo>
                  <a:pt x="780516" y="796412"/>
                </a:lnTo>
                <a:lnTo>
                  <a:pt x="783166" y="803195"/>
                </a:lnTo>
                <a:lnTo>
                  <a:pt x="785285" y="807858"/>
                </a:lnTo>
                <a:lnTo>
                  <a:pt x="784120" y="813686"/>
                </a:lnTo>
                <a:lnTo>
                  <a:pt x="784650" y="825556"/>
                </a:lnTo>
                <a:lnTo>
                  <a:pt x="778927" y="829795"/>
                </a:lnTo>
                <a:lnTo>
                  <a:pt x="773628" y="840604"/>
                </a:lnTo>
                <a:lnTo>
                  <a:pt x="769919" y="841452"/>
                </a:lnTo>
                <a:lnTo>
                  <a:pt x="760699" y="837531"/>
                </a:lnTo>
                <a:lnTo>
                  <a:pt x="757414" y="839651"/>
                </a:lnTo>
                <a:lnTo>
                  <a:pt x="751585" y="847493"/>
                </a:lnTo>
                <a:lnTo>
                  <a:pt x="741199" y="856077"/>
                </a:lnTo>
                <a:lnTo>
                  <a:pt x="736218" y="856183"/>
                </a:lnTo>
                <a:lnTo>
                  <a:pt x="732827" y="855123"/>
                </a:lnTo>
                <a:lnTo>
                  <a:pt x="728800" y="858832"/>
                </a:lnTo>
                <a:lnTo>
                  <a:pt x="723077" y="865615"/>
                </a:lnTo>
                <a:lnTo>
                  <a:pt x="720428" y="865403"/>
                </a:lnTo>
                <a:lnTo>
                  <a:pt x="710572" y="866887"/>
                </a:lnTo>
                <a:lnTo>
                  <a:pt x="706651" y="864767"/>
                </a:lnTo>
                <a:lnTo>
                  <a:pt x="701882" y="859150"/>
                </a:lnTo>
                <a:lnTo>
                  <a:pt x="694146" y="853534"/>
                </a:lnTo>
                <a:lnTo>
                  <a:pt x="687151" y="849507"/>
                </a:lnTo>
                <a:lnTo>
                  <a:pt x="683442" y="846751"/>
                </a:lnTo>
                <a:lnTo>
                  <a:pt x="679945" y="842088"/>
                </a:lnTo>
                <a:lnTo>
                  <a:pt x="676766" y="839015"/>
                </a:lnTo>
                <a:lnTo>
                  <a:pt x="671043" y="845691"/>
                </a:lnTo>
                <a:lnTo>
                  <a:pt x="661293" y="852050"/>
                </a:lnTo>
                <a:lnTo>
                  <a:pt x="652073" y="850884"/>
                </a:lnTo>
                <a:lnTo>
                  <a:pt x="647516" y="849824"/>
                </a:lnTo>
                <a:lnTo>
                  <a:pt x="643913" y="859150"/>
                </a:lnTo>
                <a:lnTo>
                  <a:pt x="641158" y="860846"/>
                </a:lnTo>
                <a:lnTo>
                  <a:pt x="624519" y="862436"/>
                </a:lnTo>
                <a:lnTo>
                  <a:pt x="621446" y="863919"/>
                </a:lnTo>
                <a:lnTo>
                  <a:pt x="624095" y="872397"/>
                </a:lnTo>
                <a:lnTo>
                  <a:pt x="633951" y="886810"/>
                </a:lnTo>
                <a:lnTo>
                  <a:pt x="636918" y="895076"/>
                </a:lnTo>
                <a:lnTo>
                  <a:pt x="630772" y="908641"/>
                </a:lnTo>
                <a:lnTo>
                  <a:pt x="613498" y="908217"/>
                </a:lnTo>
                <a:lnTo>
                  <a:pt x="605761" y="902707"/>
                </a:lnTo>
                <a:lnTo>
                  <a:pt x="598661" y="895076"/>
                </a:lnTo>
                <a:lnTo>
                  <a:pt x="596118" y="891261"/>
                </a:lnTo>
                <a:lnTo>
                  <a:pt x="574074" y="883737"/>
                </a:lnTo>
                <a:lnTo>
                  <a:pt x="559344" y="888930"/>
                </a:lnTo>
                <a:lnTo>
                  <a:pt x="554787" y="888612"/>
                </a:lnTo>
                <a:lnTo>
                  <a:pt x="547898" y="883207"/>
                </a:lnTo>
                <a:lnTo>
                  <a:pt x="543765" y="878968"/>
                </a:lnTo>
                <a:lnTo>
                  <a:pt x="539632" y="872821"/>
                </a:lnTo>
                <a:lnTo>
                  <a:pt x="537407" y="866463"/>
                </a:lnTo>
                <a:lnTo>
                  <a:pt x="537089" y="863601"/>
                </a:lnTo>
                <a:lnTo>
                  <a:pt x="543553" y="861270"/>
                </a:lnTo>
                <a:lnTo>
                  <a:pt x="553939" y="856077"/>
                </a:lnTo>
                <a:lnTo>
                  <a:pt x="562523" y="850248"/>
                </a:lnTo>
                <a:lnTo>
                  <a:pt x="568140" y="844102"/>
                </a:lnTo>
                <a:lnTo>
                  <a:pt x="570365" y="837637"/>
                </a:lnTo>
                <a:lnTo>
                  <a:pt x="570683" y="830219"/>
                </a:lnTo>
                <a:lnTo>
                  <a:pt x="573121" y="810931"/>
                </a:lnTo>
                <a:lnTo>
                  <a:pt x="575664" y="801499"/>
                </a:lnTo>
                <a:lnTo>
                  <a:pt x="574180" y="789842"/>
                </a:lnTo>
                <a:lnTo>
                  <a:pt x="569623" y="780728"/>
                </a:lnTo>
                <a:lnTo>
                  <a:pt x="569623" y="767057"/>
                </a:lnTo>
                <a:lnTo>
                  <a:pt x="571319" y="760380"/>
                </a:lnTo>
                <a:lnTo>
                  <a:pt x="572061" y="756035"/>
                </a:lnTo>
                <a:lnTo>
                  <a:pt x="578525" y="750525"/>
                </a:lnTo>
                <a:lnTo>
                  <a:pt x="582976" y="742576"/>
                </a:lnTo>
                <a:lnTo>
                  <a:pt x="585414" y="732191"/>
                </a:lnTo>
                <a:lnTo>
                  <a:pt x="585626" y="724666"/>
                </a:lnTo>
                <a:lnTo>
                  <a:pt x="583612" y="720109"/>
                </a:lnTo>
                <a:lnTo>
                  <a:pt x="577254" y="715764"/>
                </a:lnTo>
                <a:lnTo>
                  <a:pt x="566656" y="711631"/>
                </a:lnTo>
                <a:lnTo>
                  <a:pt x="559980" y="706332"/>
                </a:lnTo>
                <a:lnTo>
                  <a:pt x="557224" y="699974"/>
                </a:lnTo>
                <a:lnTo>
                  <a:pt x="557542" y="694463"/>
                </a:lnTo>
                <a:lnTo>
                  <a:pt x="560721" y="689694"/>
                </a:lnTo>
                <a:lnTo>
                  <a:pt x="552773" y="684289"/>
                </a:lnTo>
                <a:lnTo>
                  <a:pt x="533485" y="678355"/>
                </a:lnTo>
                <a:lnTo>
                  <a:pt x="522676" y="671360"/>
                </a:lnTo>
                <a:lnTo>
                  <a:pt x="520450" y="663094"/>
                </a:lnTo>
                <a:lnTo>
                  <a:pt x="512396" y="652284"/>
                </a:lnTo>
                <a:lnTo>
                  <a:pt x="498513" y="638931"/>
                </a:lnTo>
                <a:lnTo>
                  <a:pt x="491307" y="619644"/>
                </a:lnTo>
                <a:lnTo>
                  <a:pt x="490565" y="594633"/>
                </a:lnTo>
                <a:lnTo>
                  <a:pt x="492155" y="574180"/>
                </a:lnTo>
                <a:lnTo>
                  <a:pt x="498195" y="550547"/>
                </a:lnTo>
                <a:lnTo>
                  <a:pt x="490141" y="533379"/>
                </a:lnTo>
                <a:lnTo>
                  <a:pt x="481239" y="524371"/>
                </a:lnTo>
                <a:lnTo>
                  <a:pt x="468840" y="517800"/>
                </a:lnTo>
                <a:lnTo>
                  <a:pt x="457076" y="508262"/>
                </a:lnTo>
                <a:lnTo>
                  <a:pt x="445949" y="495863"/>
                </a:lnTo>
                <a:lnTo>
                  <a:pt x="432490" y="477635"/>
                </a:lnTo>
                <a:lnTo>
                  <a:pt x="416911" y="453367"/>
                </a:lnTo>
                <a:lnTo>
                  <a:pt x="406420" y="442557"/>
                </a:lnTo>
                <a:lnTo>
                  <a:pt x="401015" y="445101"/>
                </a:lnTo>
                <a:lnTo>
                  <a:pt x="389676" y="442769"/>
                </a:lnTo>
                <a:lnTo>
                  <a:pt x="372507" y="435775"/>
                </a:lnTo>
                <a:lnTo>
                  <a:pt x="357459" y="432065"/>
                </a:lnTo>
                <a:lnTo>
                  <a:pt x="344636" y="431536"/>
                </a:lnTo>
                <a:lnTo>
                  <a:pt x="336263" y="433125"/>
                </a:lnTo>
                <a:lnTo>
                  <a:pt x="332448" y="436834"/>
                </a:lnTo>
                <a:lnTo>
                  <a:pt x="332130" y="440438"/>
                </a:lnTo>
                <a:lnTo>
                  <a:pt x="335416" y="444041"/>
                </a:lnTo>
                <a:lnTo>
                  <a:pt x="333614" y="446902"/>
                </a:lnTo>
                <a:lnTo>
                  <a:pt x="326937" y="448916"/>
                </a:lnTo>
                <a:lnTo>
                  <a:pt x="321533" y="452837"/>
                </a:lnTo>
                <a:lnTo>
                  <a:pt x="315386" y="461739"/>
                </a:lnTo>
                <a:lnTo>
                  <a:pt x="311147" y="473290"/>
                </a:lnTo>
                <a:lnTo>
                  <a:pt x="304788" y="477847"/>
                </a:lnTo>
                <a:lnTo>
                  <a:pt x="295039" y="478801"/>
                </a:lnTo>
                <a:lnTo>
                  <a:pt x="285289" y="482086"/>
                </a:lnTo>
                <a:lnTo>
                  <a:pt x="275857" y="487809"/>
                </a:lnTo>
                <a:lnTo>
                  <a:pt x="271300" y="492048"/>
                </a:lnTo>
                <a:lnTo>
                  <a:pt x="271830" y="495015"/>
                </a:lnTo>
                <a:lnTo>
                  <a:pt x="269816" y="495651"/>
                </a:lnTo>
                <a:lnTo>
                  <a:pt x="265153" y="494062"/>
                </a:lnTo>
                <a:lnTo>
                  <a:pt x="262928" y="490141"/>
                </a:lnTo>
                <a:lnTo>
                  <a:pt x="263140" y="484100"/>
                </a:lnTo>
                <a:lnTo>
                  <a:pt x="258371" y="480073"/>
                </a:lnTo>
                <a:lnTo>
                  <a:pt x="248409" y="477953"/>
                </a:lnTo>
                <a:lnTo>
                  <a:pt x="237069" y="471489"/>
                </a:lnTo>
                <a:lnTo>
                  <a:pt x="224352" y="460573"/>
                </a:lnTo>
                <a:lnTo>
                  <a:pt x="215450" y="454744"/>
                </a:lnTo>
                <a:lnTo>
                  <a:pt x="210469" y="454003"/>
                </a:lnTo>
                <a:lnTo>
                  <a:pt x="203475" y="458348"/>
                </a:lnTo>
                <a:lnTo>
                  <a:pt x="194149" y="467779"/>
                </a:lnTo>
                <a:lnTo>
                  <a:pt x="186519" y="471489"/>
                </a:lnTo>
                <a:lnTo>
                  <a:pt x="180584" y="469475"/>
                </a:lnTo>
                <a:lnTo>
                  <a:pt x="175921" y="472866"/>
                </a:lnTo>
                <a:lnTo>
                  <a:pt x="172636" y="481344"/>
                </a:lnTo>
                <a:lnTo>
                  <a:pt x="166701" y="488127"/>
                </a:lnTo>
                <a:lnTo>
                  <a:pt x="153560" y="495333"/>
                </a:lnTo>
                <a:lnTo>
                  <a:pt x="152606" y="496287"/>
                </a:lnTo>
                <a:lnTo>
                  <a:pt x="137664" y="506143"/>
                </a:lnTo>
                <a:lnTo>
                  <a:pt x="125582" y="516105"/>
                </a:lnTo>
                <a:lnTo>
                  <a:pt x="111487" y="529458"/>
                </a:lnTo>
                <a:lnTo>
                  <a:pt x="104917" y="531471"/>
                </a:lnTo>
                <a:lnTo>
                  <a:pt x="98664" y="528292"/>
                </a:lnTo>
                <a:lnTo>
                  <a:pt x="89126" y="525007"/>
                </a:lnTo>
                <a:lnTo>
                  <a:pt x="84040" y="520450"/>
                </a:lnTo>
                <a:lnTo>
                  <a:pt x="93683" y="497877"/>
                </a:lnTo>
                <a:lnTo>
                  <a:pt x="105765" y="472760"/>
                </a:lnTo>
                <a:lnTo>
                  <a:pt x="109050" y="461209"/>
                </a:lnTo>
                <a:lnTo>
                  <a:pt x="109580" y="452837"/>
                </a:lnTo>
                <a:lnTo>
                  <a:pt x="108414" y="445948"/>
                </a:lnTo>
                <a:lnTo>
                  <a:pt x="103645" y="438742"/>
                </a:lnTo>
                <a:lnTo>
                  <a:pt x="99194" y="433231"/>
                </a:lnTo>
                <a:lnTo>
                  <a:pt x="98770" y="429522"/>
                </a:lnTo>
                <a:lnTo>
                  <a:pt x="100148" y="425601"/>
                </a:lnTo>
                <a:lnTo>
                  <a:pt x="105023" y="419772"/>
                </a:lnTo>
                <a:lnTo>
                  <a:pt x="111381" y="410870"/>
                </a:lnTo>
                <a:lnTo>
                  <a:pt x="117210" y="392324"/>
                </a:lnTo>
                <a:lnTo>
                  <a:pt x="124099" y="372825"/>
                </a:lnTo>
                <a:lnTo>
                  <a:pt x="123463" y="360955"/>
                </a:lnTo>
                <a:lnTo>
                  <a:pt x="117846" y="347920"/>
                </a:lnTo>
                <a:lnTo>
                  <a:pt x="114773" y="335627"/>
                </a:lnTo>
                <a:lnTo>
                  <a:pt x="117210" y="318777"/>
                </a:lnTo>
                <a:lnTo>
                  <a:pt x="116256" y="312312"/>
                </a:lnTo>
                <a:lnTo>
                  <a:pt x="110216" y="309027"/>
                </a:lnTo>
                <a:lnTo>
                  <a:pt x="90292" y="305636"/>
                </a:lnTo>
                <a:lnTo>
                  <a:pt x="83828" y="306271"/>
                </a:lnTo>
                <a:lnTo>
                  <a:pt x="78741" y="308391"/>
                </a:lnTo>
                <a:lnTo>
                  <a:pt x="73336" y="312948"/>
                </a:lnTo>
                <a:lnTo>
                  <a:pt x="66659" y="315809"/>
                </a:lnTo>
                <a:lnTo>
                  <a:pt x="54048" y="317399"/>
                </a:lnTo>
                <a:lnTo>
                  <a:pt x="42285" y="311782"/>
                </a:lnTo>
                <a:lnTo>
                  <a:pt x="32323" y="302138"/>
                </a:lnTo>
                <a:lnTo>
                  <a:pt x="29992" y="290269"/>
                </a:lnTo>
                <a:lnTo>
                  <a:pt x="37198" y="276174"/>
                </a:lnTo>
                <a:lnTo>
                  <a:pt x="42391" y="264835"/>
                </a:lnTo>
                <a:lnTo>
                  <a:pt x="45358" y="254979"/>
                </a:lnTo>
                <a:lnTo>
                  <a:pt x="45040" y="250422"/>
                </a:lnTo>
                <a:lnTo>
                  <a:pt x="42921" y="245547"/>
                </a:lnTo>
                <a:lnTo>
                  <a:pt x="39953" y="244911"/>
                </a:lnTo>
                <a:lnTo>
                  <a:pt x="33595" y="238870"/>
                </a:lnTo>
                <a:lnTo>
                  <a:pt x="27342" y="228379"/>
                </a:lnTo>
                <a:lnTo>
                  <a:pt x="21513" y="223504"/>
                </a:lnTo>
                <a:lnTo>
                  <a:pt x="16003" y="224458"/>
                </a:lnTo>
                <a:lnTo>
                  <a:pt x="10916" y="228379"/>
                </a:lnTo>
                <a:lnTo>
                  <a:pt x="6253" y="235479"/>
                </a:lnTo>
                <a:lnTo>
                  <a:pt x="2650" y="238447"/>
                </a:lnTo>
                <a:lnTo>
                  <a:pt x="0" y="237069"/>
                </a:lnTo>
                <a:lnTo>
                  <a:pt x="742" y="230816"/>
                </a:lnTo>
                <a:lnTo>
                  <a:pt x="1590" y="224988"/>
                </a:lnTo>
                <a:lnTo>
                  <a:pt x="7313" y="201991"/>
                </a:lnTo>
                <a:lnTo>
                  <a:pt x="14201" y="187048"/>
                </a:lnTo>
                <a:lnTo>
                  <a:pt x="22361" y="180054"/>
                </a:lnTo>
                <a:lnTo>
                  <a:pt x="30945" y="177192"/>
                </a:lnTo>
                <a:lnTo>
                  <a:pt x="40059" y="178252"/>
                </a:lnTo>
                <a:lnTo>
                  <a:pt x="47690" y="176980"/>
                </a:lnTo>
                <a:lnTo>
                  <a:pt x="53836" y="173271"/>
                </a:lnTo>
                <a:lnTo>
                  <a:pt x="53306" y="171258"/>
                </a:lnTo>
                <a:lnTo>
                  <a:pt x="45994" y="170728"/>
                </a:lnTo>
                <a:lnTo>
                  <a:pt x="43133" y="166701"/>
                </a:lnTo>
                <a:lnTo>
                  <a:pt x="44616" y="159282"/>
                </a:lnTo>
                <a:lnTo>
                  <a:pt x="47902" y="154407"/>
                </a:lnTo>
                <a:lnTo>
                  <a:pt x="52882" y="152182"/>
                </a:lnTo>
                <a:lnTo>
                  <a:pt x="57651" y="144657"/>
                </a:lnTo>
                <a:lnTo>
                  <a:pt x="62314" y="131834"/>
                </a:lnTo>
                <a:lnTo>
                  <a:pt x="68037" y="125264"/>
                </a:lnTo>
                <a:lnTo>
                  <a:pt x="74714" y="125158"/>
                </a:lnTo>
                <a:lnTo>
                  <a:pt x="86159" y="119647"/>
                </a:lnTo>
                <a:lnTo>
                  <a:pt x="102267" y="108731"/>
                </a:lnTo>
                <a:lnTo>
                  <a:pt x="108520" y="98346"/>
                </a:lnTo>
                <a:lnTo>
                  <a:pt x="114667" y="103115"/>
                </a:lnTo>
                <a:lnTo>
                  <a:pt x="112335" y="115196"/>
                </a:lnTo>
                <a:lnTo>
                  <a:pt x="115621" y="117845"/>
                </a:lnTo>
                <a:lnTo>
                  <a:pt x="117104" y="122190"/>
                </a:lnTo>
                <a:lnTo>
                  <a:pt x="116256" y="128973"/>
                </a:lnTo>
                <a:lnTo>
                  <a:pt x="117528" y="134696"/>
                </a:lnTo>
                <a:lnTo>
                  <a:pt x="120072" y="137557"/>
                </a:lnTo>
                <a:lnTo>
                  <a:pt x="123569" y="138935"/>
                </a:lnTo>
                <a:lnTo>
                  <a:pt x="140843" y="133954"/>
                </a:lnTo>
                <a:lnTo>
                  <a:pt x="151229" y="133636"/>
                </a:lnTo>
                <a:lnTo>
                  <a:pt x="155680" y="136815"/>
                </a:lnTo>
                <a:lnTo>
                  <a:pt x="159707" y="138935"/>
                </a:lnTo>
                <a:lnTo>
                  <a:pt x="164688" y="140418"/>
                </a:lnTo>
                <a:lnTo>
                  <a:pt x="168503" y="142538"/>
                </a:lnTo>
                <a:lnTo>
                  <a:pt x="170940" y="141902"/>
                </a:lnTo>
                <a:lnTo>
                  <a:pt x="176769" y="136815"/>
                </a:lnTo>
                <a:lnTo>
                  <a:pt x="178676" y="135861"/>
                </a:lnTo>
                <a:lnTo>
                  <a:pt x="178782" y="133424"/>
                </a:lnTo>
                <a:lnTo>
                  <a:pt x="174649" y="128867"/>
                </a:lnTo>
                <a:lnTo>
                  <a:pt x="170410" y="125052"/>
                </a:lnTo>
                <a:lnTo>
                  <a:pt x="170516" y="116574"/>
                </a:lnTo>
                <a:lnTo>
                  <a:pt x="172530" y="101843"/>
                </a:lnTo>
                <a:lnTo>
                  <a:pt x="172954" y="94213"/>
                </a:lnTo>
                <a:lnTo>
                  <a:pt x="172636" y="75985"/>
                </a:lnTo>
                <a:lnTo>
                  <a:pt x="171894" y="70792"/>
                </a:lnTo>
                <a:lnTo>
                  <a:pt x="167973" y="64963"/>
                </a:lnTo>
                <a:lnTo>
                  <a:pt x="157693" y="53518"/>
                </a:lnTo>
                <a:lnTo>
                  <a:pt x="154832" y="46629"/>
                </a:lnTo>
                <a:lnTo>
                  <a:pt x="153136" y="39635"/>
                </a:lnTo>
                <a:lnTo>
                  <a:pt x="153348" y="35290"/>
                </a:lnTo>
                <a:lnTo>
                  <a:pt x="150699" y="30203"/>
                </a:lnTo>
                <a:lnTo>
                  <a:pt x="149427" y="25540"/>
                </a:lnTo>
                <a:lnTo>
                  <a:pt x="153984" y="23208"/>
                </a:lnTo>
                <a:lnTo>
                  <a:pt x="159495" y="17804"/>
                </a:lnTo>
                <a:lnTo>
                  <a:pt x="162250" y="9538"/>
                </a:lnTo>
                <a:lnTo>
                  <a:pt x="164900" y="3497"/>
                </a:lnTo>
                <a:lnTo>
                  <a:pt x="168821" y="847"/>
                </a:lnTo>
                <a:lnTo>
                  <a:pt x="172106" y="0"/>
                </a:lnTo>
                <a:lnTo>
                  <a:pt x="174331" y="530"/>
                </a:lnTo>
                <a:lnTo>
                  <a:pt x="183022" y="11339"/>
                </a:lnTo>
                <a:lnTo>
                  <a:pt x="193937" y="5934"/>
                </a:lnTo>
                <a:lnTo>
                  <a:pt x="202309" y="5934"/>
                </a:lnTo>
                <a:lnTo>
                  <a:pt x="209516" y="8796"/>
                </a:lnTo>
                <a:lnTo>
                  <a:pt x="213225" y="12293"/>
                </a:lnTo>
                <a:close/>
              </a:path>
            </a:pathLst>
          </a:custGeom>
          <a:solidFill>
            <a:srgbClr val="E6EEF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ame:map-IDN"/>
          <p:cNvSpPr/>
          <p:nvPr/>
        </p:nvSpPr>
        <p:spPr>
          <a:xfrm>
            <a:off x="540246" y="4199391"/>
            <a:ext cx="4850434" cy="1752743"/>
          </a:xfrm>
          <a:custGeom>
            <a:avLst/>
            <a:gdLst/>
            <a:ahLst/>
            <a:cxnLst/>
            <a:rect l="l" t="t" r="r" b="b"/>
            <a:pathLst>
              <a:path w="4850434" h="1752743">
                <a:moveTo>
                  <a:pt x="241096" y="441285"/>
                </a:moveTo>
                <a:lnTo>
                  <a:pt x="263987" y="471065"/>
                </a:lnTo>
                <a:lnTo>
                  <a:pt x="273313" y="475092"/>
                </a:lnTo>
                <a:lnTo>
                  <a:pt x="285712" y="488657"/>
                </a:lnTo>
                <a:lnTo>
                  <a:pt x="288786" y="493320"/>
                </a:lnTo>
                <a:lnTo>
                  <a:pt x="285606" y="502858"/>
                </a:lnTo>
                <a:lnTo>
                  <a:pt x="282851" y="529988"/>
                </a:lnTo>
                <a:lnTo>
                  <a:pt x="276916" y="536770"/>
                </a:lnTo>
                <a:lnTo>
                  <a:pt x="262504" y="533379"/>
                </a:lnTo>
                <a:lnTo>
                  <a:pt x="262398" y="528610"/>
                </a:lnTo>
                <a:lnTo>
                  <a:pt x="254026" y="508157"/>
                </a:lnTo>
                <a:lnTo>
                  <a:pt x="238871" y="496817"/>
                </a:lnTo>
                <a:lnTo>
                  <a:pt x="232936" y="496181"/>
                </a:lnTo>
                <a:lnTo>
                  <a:pt x="229121" y="484524"/>
                </a:lnTo>
                <a:lnTo>
                  <a:pt x="221491" y="470747"/>
                </a:lnTo>
                <a:lnTo>
                  <a:pt x="198388" y="445524"/>
                </a:lnTo>
                <a:lnTo>
                  <a:pt x="215874" y="445630"/>
                </a:lnTo>
                <a:lnTo>
                  <a:pt x="224352" y="439484"/>
                </a:lnTo>
                <a:lnTo>
                  <a:pt x="226366" y="434609"/>
                </a:lnTo>
                <a:lnTo>
                  <a:pt x="227743" y="433337"/>
                </a:lnTo>
                <a:lnTo>
                  <a:pt x="241096" y="441285"/>
                </a:lnTo>
                <a:close/>
                <a:moveTo>
                  <a:pt x="419349" y="784967"/>
                </a:moveTo>
                <a:lnTo>
                  <a:pt x="409599" y="785497"/>
                </a:lnTo>
                <a:lnTo>
                  <a:pt x="388616" y="772886"/>
                </a:lnTo>
                <a:lnTo>
                  <a:pt x="383741" y="767163"/>
                </a:lnTo>
                <a:lnTo>
                  <a:pt x="382469" y="759533"/>
                </a:lnTo>
                <a:lnTo>
                  <a:pt x="362439" y="730177"/>
                </a:lnTo>
                <a:lnTo>
                  <a:pt x="359790" y="723501"/>
                </a:lnTo>
                <a:lnTo>
                  <a:pt x="367632" y="699444"/>
                </a:lnTo>
                <a:lnTo>
                  <a:pt x="388086" y="693615"/>
                </a:lnTo>
                <a:lnTo>
                  <a:pt x="394868" y="697642"/>
                </a:lnTo>
                <a:lnTo>
                  <a:pt x="397200" y="708452"/>
                </a:lnTo>
                <a:lnTo>
                  <a:pt x="408857" y="728058"/>
                </a:lnTo>
                <a:lnTo>
                  <a:pt x="412672" y="738549"/>
                </a:lnTo>
                <a:lnTo>
                  <a:pt x="415640" y="743212"/>
                </a:lnTo>
                <a:lnTo>
                  <a:pt x="416805" y="746815"/>
                </a:lnTo>
                <a:lnTo>
                  <a:pt x="415851" y="749359"/>
                </a:lnTo>
                <a:lnTo>
                  <a:pt x="424224" y="761758"/>
                </a:lnTo>
                <a:lnTo>
                  <a:pt x="430264" y="769070"/>
                </a:lnTo>
                <a:lnTo>
                  <a:pt x="430688" y="780728"/>
                </a:lnTo>
                <a:lnTo>
                  <a:pt x="419349" y="784967"/>
                </a:lnTo>
                <a:close/>
                <a:moveTo>
                  <a:pt x="2271498" y="1509422"/>
                </a:moveTo>
                <a:lnTo>
                  <a:pt x="2258039" y="1531359"/>
                </a:lnTo>
                <a:lnTo>
                  <a:pt x="2262808" y="1534856"/>
                </a:lnTo>
                <a:lnTo>
                  <a:pt x="2265776" y="1538247"/>
                </a:lnTo>
                <a:lnTo>
                  <a:pt x="2243521" y="1542804"/>
                </a:lnTo>
                <a:lnTo>
                  <a:pt x="2234301" y="1540367"/>
                </a:lnTo>
                <a:lnTo>
                  <a:pt x="2228896" y="1541003"/>
                </a:lnTo>
                <a:lnTo>
                  <a:pt x="2206429" y="1536869"/>
                </a:lnTo>
                <a:lnTo>
                  <a:pt x="2190320" y="1531889"/>
                </a:lnTo>
                <a:lnTo>
                  <a:pt x="2188413" y="1527861"/>
                </a:lnTo>
                <a:lnTo>
                  <a:pt x="2189685" y="1523093"/>
                </a:lnTo>
                <a:lnTo>
                  <a:pt x="2194453" y="1524682"/>
                </a:lnTo>
                <a:lnTo>
                  <a:pt x="2206959" y="1525424"/>
                </a:lnTo>
                <a:lnTo>
                  <a:pt x="2211622" y="1523305"/>
                </a:lnTo>
                <a:lnTo>
                  <a:pt x="2211834" y="1509104"/>
                </a:lnTo>
                <a:lnTo>
                  <a:pt x="2210032" y="1490664"/>
                </a:lnTo>
                <a:lnTo>
                  <a:pt x="2226882" y="1475615"/>
                </a:lnTo>
                <a:lnTo>
                  <a:pt x="2235784" y="1469574"/>
                </a:lnTo>
                <a:lnTo>
                  <a:pt x="2246170" y="1465971"/>
                </a:lnTo>
                <a:lnTo>
                  <a:pt x="2272134" y="1474343"/>
                </a:lnTo>
                <a:lnTo>
                  <a:pt x="2276479" y="1476569"/>
                </a:lnTo>
                <a:lnTo>
                  <a:pt x="2279764" y="1479960"/>
                </a:lnTo>
                <a:lnTo>
                  <a:pt x="2281354" y="1485365"/>
                </a:lnTo>
                <a:lnTo>
                  <a:pt x="2271498" y="1509422"/>
                </a:lnTo>
                <a:close/>
                <a:moveTo>
                  <a:pt x="2145068" y="1460778"/>
                </a:moveTo>
                <a:lnTo>
                  <a:pt x="2155772" y="1466395"/>
                </a:lnTo>
                <a:lnTo>
                  <a:pt x="2170821" y="1482927"/>
                </a:lnTo>
                <a:lnTo>
                  <a:pt x="2172198" y="1487484"/>
                </a:lnTo>
                <a:lnTo>
                  <a:pt x="2167641" y="1491830"/>
                </a:lnTo>
                <a:lnTo>
                  <a:pt x="2156938" y="1498824"/>
                </a:lnTo>
                <a:lnTo>
                  <a:pt x="2132987" y="1509634"/>
                </a:lnTo>
                <a:lnTo>
                  <a:pt x="2128854" y="1514720"/>
                </a:lnTo>
                <a:lnTo>
                  <a:pt x="2123767" y="1524682"/>
                </a:lnTo>
                <a:lnTo>
                  <a:pt x="2122601" y="1528921"/>
                </a:lnTo>
                <a:lnTo>
                  <a:pt x="2120906" y="1531253"/>
                </a:lnTo>
                <a:lnTo>
                  <a:pt x="2118150" y="1532842"/>
                </a:lnTo>
                <a:lnTo>
                  <a:pt x="2112958" y="1534326"/>
                </a:lnTo>
                <a:lnTo>
                  <a:pt x="2107341" y="1532207"/>
                </a:lnTo>
                <a:lnTo>
                  <a:pt x="2112428" y="1525848"/>
                </a:lnTo>
                <a:lnTo>
                  <a:pt x="2112640" y="1518218"/>
                </a:lnTo>
                <a:lnTo>
                  <a:pt x="2108825" y="1511011"/>
                </a:lnTo>
                <a:lnTo>
                  <a:pt x="2103420" y="1505077"/>
                </a:lnTo>
                <a:lnTo>
                  <a:pt x="2092504" y="1496916"/>
                </a:lnTo>
                <a:lnTo>
                  <a:pt x="2080847" y="1489816"/>
                </a:lnTo>
                <a:lnTo>
                  <a:pt x="2069083" y="1486107"/>
                </a:lnTo>
                <a:lnTo>
                  <a:pt x="2056578" y="1484411"/>
                </a:lnTo>
                <a:lnTo>
                  <a:pt x="2052127" y="1480914"/>
                </a:lnTo>
                <a:lnTo>
                  <a:pt x="2044815" y="1472012"/>
                </a:lnTo>
                <a:lnTo>
                  <a:pt x="2042377" y="1467137"/>
                </a:lnTo>
                <a:lnTo>
                  <a:pt x="2041212" y="1461944"/>
                </a:lnTo>
                <a:lnTo>
                  <a:pt x="2041953" y="1456963"/>
                </a:lnTo>
                <a:lnTo>
                  <a:pt x="2045027" y="1456751"/>
                </a:lnTo>
                <a:lnTo>
                  <a:pt x="2057320" y="1457917"/>
                </a:lnTo>
                <a:lnTo>
                  <a:pt x="2079893" y="1463746"/>
                </a:lnTo>
                <a:lnTo>
                  <a:pt x="2091021" y="1464170"/>
                </a:lnTo>
                <a:lnTo>
                  <a:pt x="2097379" y="1462792"/>
                </a:lnTo>
                <a:lnTo>
                  <a:pt x="2113911" y="1451347"/>
                </a:lnTo>
                <a:lnTo>
                  <a:pt x="2117833" y="1451453"/>
                </a:lnTo>
                <a:lnTo>
                  <a:pt x="2133623" y="1456539"/>
                </a:lnTo>
                <a:lnTo>
                  <a:pt x="2145068" y="1460778"/>
                </a:lnTo>
                <a:close/>
                <a:moveTo>
                  <a:pt x="1148678" y="773415"/>
                </a:moveTo>
                <a:lnTo>
                  <a:pt x="1152282" y="780728"/>
                </a:lnTo>
                <a:lnTo>
                  <a:pt x="1157262" y="787298"/>
                </a:lnTo>
                <a:lnTo>
                  <a:pt x="1160972" y="794399"/>
                </a:lnTo>
                <a:lnTo>
                  <a:pt x="1165952" y="828523"/>
                </a:lnTo>
                <a:lnTo>
                  <a:pt x="1182591" y="857773"/>
                </a:lnTo>
                <a:lnTo>
                  <a:pt x="1230492" y="869218"/>
                </a:lnTo>
                <a:lnTo>
                  <a:pt x="1222650" y="873987"/>
                </a:lnTo>
                <a:lnTo>
                  <a:pt x="1218729" y="878226"/>
                </a:lnTo>
                <a:lnTo>
                  <a:pt x="1215761" y="883101"/>
                </a:lnTo>
                <a:lnTo>
                  <a:pt x="1208661" y="903449"/>
                </a:lnTo>
                <a:lnTo>
                  <a:pt x="1209403" y="907688"/>
                </a:lnTo>
                <a:lnTo>
                  <a:pt x="1213536" y="914576"/>
                </a:lnTo>
                <a:lnTo>
                  <a:pt x="1214490" y="922100"/>
                </a:lnTo>
                <a:lnTo>
                  <a:pt x="1208555" y="921994"/>
                </a:lnTo>
                <a:lnTo>
                  <a:pt x="1201772" y="920405"/>
                </a:lnTo>
                <a:lnTo>
                  <a:pt x="1196368" y="917543"/>
                </a:lnTo>
                <a:lnTo>
                  <a:pt x="1191387" y="913834"/>
                </a:lnTo>
                <a:lnTo>
                  <a:pt x="1185876" y="910973"/>
                </a:lnTo>
                <a:lnTo>
                  <a:pt x="1180047" y="909065"/>
                </a:lnTo>
                <a:lnTo>
                  <a:pt x="1170298" y="903237"/>
                </a:lnTo>
                <a:lnTo>
                  <a:pt x="1157156" y="899103"/>
                </a:lnTo>
                <a:lnTo>
                  <a:pt x="1143697" y="895924"/>
                </a:lnTo>
                <a:lnTo>
                  <a:pt x="1137127" y="887340"/>
                </a:lnTo>
                <a:lnTo>
                  <a:pt x="1134054" y="876636"/>
                </a:lnTo>
                <a:lnTo>
                  <a:pt x="1137339" y="860740"/>
                </a:lnTo>
                <a:lnTo>
                  <a:pt x="1134054" y="856395"/>
                </a:lnTo>
                <a:lnTo>
                  <a:pt x="1129179" y="852474"/>
                </a:lnTo>
                <a:lnTo>
                  <a:pt x="1123350" y="841028"/>
                </a:lnTo>
                <a:lnTo>
                  <a:pt x="1121124" y="827675"/>
                </a:lnTo>
                <a:lnTo>
                  <a:pt x="1112540" y="822589"/>
                </a:lnTo>
                <a:lnTo>
                  <a:pt x="1101307" y="819409"/>
                </a:lnTo>
                <a:lnTo>
                  <a:pt x="1096432" y="816866"/>
                </a:lnTo>
                <a:lnTo>
                  <a:pt x="1074177" y="821741"/>
                </a:lnTo>
                <a:lnTo>
                  <a:pt x="1068878" y="820575"/>
                </a:lnTo>
                <a:lnTo>
                  <a:pt x="1064109" y="816866"/>
                </a:lnTo>
                <a:lnTo>
                  <a:pt x="1051922" y="813051"/>
                </a:lnTo>
                <a:lnTo>
                  <a:pt x="1052452" y="805632"/>
                </a:lnTo>
                <a:lnTo>
                  <a:pt x="1058068" y="799698"/>
                </a:lnTo>
                <a:lnTo>
                  <a:pt x="1071316" y="793763"/>
                </a:lnTo>
                <a:lnTo>
                  <a:pt x="1077568" y="788676"/>
                </a:lnTo>
                <a:lnTo>
                  <a:pt x="1078840" y="782106"/>
                </a:lnTo>
                <a:lnTo>
                  <a:pt x="1076402" y="777231"/>
                </a:lnTo>
                <a:lnTo>
                  <a:pt x="1077356" y="772144"/>
                </a:lnTo>
                <a:lnTo>
                  <a:pt x="1081595" y="767269"/>
                </a:lnTo>
                <a:lnTo>
                  <a:pt x="1086576" y="763454"/>
                </a:lnTo>
                <a:lnTo>
                  <a:pt x="1099823" y="758367"/>
                </a:lnTo>
                <a:lnTo>
                  <a:pt x="1105652" y="767163"/>
                </a:lnTo>
                <a:lnTo>
                  <a:pt x="1108619" y="774581"/>
                </a:lnTo>
                <a:lnTo>
                  <a:pt x="1112116" y="779986"/>
                </a:lnTo>
                <a:lnTo>
                  <a:pt x="1117733" y="772356"/>
                </a:lnTo>
                <a:lnTo>
                  <a:pt x="1114130" y="759109"/>
                </a:lnTo>
                <a:lnTo>
                  <a:pt x="1124304" y="756141"/>
                </a:lnTo>
                <a:lnTo>
                  <a:pt x="1134266" y="756035"/>
                </a:lnTo>
                <a:lnTo>
                  <a:pt x="1141790" y="759639"/>
                </a:lnTo>
                <a:lnTo>
                  <a:pt x="1146665" y="765361"/>
                </a:lnTo>
                <a:lnTo>
                  <a:pt x="1148678" y="773415"/>
                </a:lnTo>
                <a:close/>
                <a:moveTo>
                  <a:pt x="2964478" y="1078839"/>
                </a:moveTo>
                <a:lnTo>
                  <a:pt x="2966915" y="1101624"/>
                </a:lnTo>
                <a:lnTo>
                  <a:pt x="2966174" y="1107665"/>
                </a:lnTo>
                <a:lnTo>
                  <a:pt x="2960133" y="1098869"/>
                </a:lnTo>
                <a:lnTo>
                  <a:pt x="2958013" y="1097067"/>
                </a:lnTo>
                <a:lnTo>
                  <a:pt x="2956424" y="1098869"/>
                </a:lnTo>
                <a:lnTo>
                  <a:pt x="2954304" y="1099823"/>
                </a:lnTo>
                <a:lnTo>
                  <a:pt x="2951231" y="1099717"/>
                </a:lnTo>
                <a:lnTo>
                  <a:pt x="2947310" y="1108619"/>
                </a:lnTo>
                <a:lnTo>
                  <a:pt x="2946992" y="1116885"/>
                </a:lnTo>
                <a:lnTo>
                  <a:pt x="2944025" y="1122502"/>
                </a:lnTo>
                <a:lnTo>
                  <a:pt x="2942435" y="1141048"/>
                </a:lnTo>
                <a:lnTo>
                  <a:pt x="2943389" y="1146134"/>
                </a:lnTo>
                <a:lnTo>
                  <a:pt x="2948052" y="1143591"/>
                </a:lnTo>
                <a:lnTo>
                  <a:pt x="2950807" y="1142955"/>
                </a:lnTo>
                <a:lnTo>
                  <a:pt x="2961299" y="1150162"/>
                </a:lnTo>
                <a:lnTo>
                  <a:pt x="2966810" y="1155354"/>
                </a:lnTo>
                <a:lnTo>
                  <a:pt x="2965220" y="1161713"/>
                </a:lnTo>
                <a:lnTo>
                  <a:pt x="2958225" y="1168072"/>
                </a:lnTo>
                <a:lnTo>
                  <a:pt x="2949959" y="1170827"/>
                </a:lnTo>
                <a:lnTo>
                  <a:pt x="2943919" y="1168178"/>
                </a:lnTo>
                <a:lnTo>
                  <a:pt x="2942117" y="1169449"/>
                </a:lnTo>
                <a:lnTo>
                  <a:pt x="2938514" y="1172735"/>
                </a:lnTo>
                <a:lnTo>
                  <a:pt x="2935758" y="1176974"/>
                </a:lnTo>
                <a:lnTo>
                  <a:pt x="2936500" y="1181425"/>
                </a:lnTo>
                <a:lnTo>
                  <a:pt x="2929506" y="1194036"/>
                </a:lnTo>
                <a:lnTo>
                  <a:pt x="2925479" y="1197533"/>
                </a:lnTo>
                <a:lnTo>
                  <a:pt x="2917107" y="1193718"/>
                </a:lnTo>
                <a:lnTo>
                  <a:pt x="2911914" y="1197003"/>
                </a:lnTo>
                <a:lnTo>
                  <a:pt x="2907781" y="1196685"/>
                </a:lnTo>
                <a:lnTo>
                  <a:pt x="2901422" y="1184180"/>
                </a:lnTo>
                <a:lnTo>
                  <a:pt x="2901528" y="1178245"/>
                </a:lnTo>
                <a:lnTo>
                  <a:pt x="2907463" y="1171569"/>
                </a:lnTo>
                <a:lnTo>
                  <a:pt x="2907569" y="1166800"/>
                </a:lnTo>
                <a:lnTo>
                  <a:pt x="2910430" y="1161501"/>
                </a:lnTo>
                <a:lnTo>
                  <a:pt x="2916895" y="1154189"/>
                </a:lnTo>
                <a:lnTo>
                  <a:pt x="2920710" y="1148678"/>
                </a:lnTo>
                <a:lnTo>
                  <a:pt x="2920816" y="1145181"/>
                </a:lnTo>
                <a:lnTo>
                  <a:pt x="2923571" y="1131934"/>
                </a:lnTo>
                <a:lnTo>
                  <a:pt x="2924631" y="1126423"/>
                </a:lnTo>
                <a:lnTo>
                  <a:pt x="2926432" y="1120488"/>
                </a:lnTo>
                <a:lnTo>
                  <a:pt x="2929400" y="1108513"/>
                </a:lnTo>
                <a:lnTo>
                  <a:pt x="2929824" y="1085940"/>
                </a:lnTo>
                <a:lnTo>
                  <a:pt x="2939786" y="1067394"/>
                </a:lnTo>
                <a:lnTo>
                  <a:pt x="2949429" y="1062307"/>
                </a:lnTo>
                <a:lnTo>
                  <a:pt x="2953351" y="1061459"/>
                </a:lnTo>
                <a:lnTo>
                  <a:pt x="2952715" y="1066440"/>
                </a:lnTo>
                <a:lnTo>
                  <a:pt x="2964478" y="1078839"/>
                </a:lnTo>
                <a:close/>
                <a:moveTo>
                  <a:pt x="2907781" y="1154931"/>
                </a:moveTo>
                <a:lnTo>
                  <a:pt x="2905025" y="1162031"/>
                </a:lnTo>
                <a:lnTo>
                  <a:pt x="2899197" y="1167542"/>
                </a:lnTo>
                <a:lnTo>
                  <a:pt x="2894534" y="1167860"/>
                </a:lnTo>
                <a:lnTo>
                  <a:pt x="2889659" y="1166800"/>
                </a:lnTo>
                <a:lnTo>
                  <a:pt x="2880969" y="1161925"/>
                </a:lnTo>
                <a:lnTo>
                  <a:pt x="2878743" y="1167012"/>
                </a:lnTo>
                <a:lnTo>
                  <a:pt x="2871961" y="1166800"/>
                </a:lnTo>
                <a:lnTo>
                  <a:pt x="2869417" y="1160335"/>
                </a:lnTo>
                <a:lnTo>
                  <a:pt x="2874292" y="1141048"/>
                </a:lnTo>
                <a:lnTo>
                  <a:pt x="2881393" y="1133841"/>
                </a:lnTo>
                <a:lnTo>
                  <a:pt x="2880757" y="1126317"/>
                </a:lnTo>
                <a:lnTo>
                  <a:pt x="2874822" y="1110208"/>
                </a:lnTo>
                <a:lnTo>
                  <a:pt x="2878531" y="1101730"/>
                </a:lnTo>
                <a:lnTo>
                  <a:pt x="2894958" y="1095372"/>
                </a:lnTo>
                <a:lnTo>
                  <a:pt x="2909370" y="1087636"/>
                </a:lnTo>
                <a:lnTo>
                  <a:pt x="2913821" y="1086046"/>
                </a:lnTo>
                <a:lnTo>
                  <a:pt x="2917848" y="1091981"/>
                </a:lnTo>
                <a:lnTo>
                  <a:pt x="2919968" y="1119428"/>
                </a:lnTo>
                <a:lnTo>
                  <a:pt x="2904495" y="1141154"/>
                </a:lnTo>
                <a:lnTo>
                  <a:pt x="2907781" y="1154931"/>
                </a:lnTo>
                <a:close/>
                <a:moveTo>
                  <a:pt x="1389245" y="205488"/>
                </a:moveTo>
                <a:lnTo>
                  <a:pt x="1374832" y="209409"/>
                </a:lnTo>
                <a:lnTo>
                  <a:pt x="1366354" y="203898"/>
                </a:lnTo>
                <a:lnTo>
                  <a:pt x="1375468" y="197222"/>
                </a:lnTo>
                <a:lnTo>
                  <a:pt x="1378647" y="196798"/>
                </a:lnTo>
                <a:lnTo>
                  <a:pt x="1380767" y="195420"/>
                </a:lnTo>
                <a:lnTo>
                  <a:pt x="1381508" y="192771"/>
                </a:lnTo>
                <a:lnTo>
                  <a:pt x="1365082" y="188320"/>
                </a:lnTo>
                <a:lnTo>
                  <a:pt x="1360525" y="184399"/>
                </a:lnTo>
                <a:lnTo>
                  <a:pt x="1355968" y="174437"/>
                </a:lnTo>
                <a:lnTo>
                  <a:pt x="1356180" y="168078"/>
                </a:lnTo>
                <a:lnTo>
                  <a:pt x="1377163" y="151440"/>
                </a:lnTo>
                <a:lnTo>
                  <a:pt x="1382038" y="149638"/>
                </a:lnTo>
                <a:lnTo>
                  <a:pt x="1382886" y="156527"/>
                </a:lnTo>
                <a:lnTo>
                  <a:pt x="1397405" y="174119"/>
                </a:lnTo>
                <a:lnTo>
                  <a:pt x="1398041" y="185776"/>
                </a:lnTo>
                <a:lnTo>
                  <a:pt x="1397511" y="190015"/>
                </a:lnTo>
                <a:lnTo>
                  <a:pt x="1389245" y="205488"/>
                </a:lnTo>
                <a:close/>
                <a:moveTo>
                  <a:pt x="1377693" y="914258"/>
                </a:moveTo>
                <a:lnTo>
                  <a:pt x="1376104" y="925386"/>
                </a:lnTo>
                <a:lnTo>
                  <a:pt x="1373454" y="929625"/>
                </a:lnTo>
                <a:lnTo>
                  <a:pt x="1364658" y="935135"/>
                </a:lnTo>
                <a:lnTo>
                  <a:pt x="1361585" y="938527"/>
                </a:lnTo>
                <a:lnTo>
                  <a:pt x="1353319" y="937997"/>
                </a:lnTo>
                <a:lnTo>
                  <a:pt x="1352259" y="932168"/>
                </a:lnTo>
                <a:lnTo>
                  <a:pt x="1349504" y="928141"/>
                </a:lnTo>
                <a:lnTo>
                  <a:pt x="1340708" y="923584"/>
                </a:lnTo>
                <a:lnTo>
                  <a:pt x="1338482" y="924750"/>
                </a:lnTo>
                <a:lnTo>
                  <a:pt x="1336892" y="931532"/>
                </a:lnTo>
                <a:lnTo>
                  <a:pt x="1319724" y="936301"/>
                </a:lnTo>
                <a:lnTo>
                  <a:pt x="1314849" y="936619"/>
                </a:lnTo>
                <a:lnTo>
                  <a:pt x="1317287" y="927717"/>
                </a:lnTo>
                <a:lnTo>
                  <a:pt x="1312836" y="920617"/>
                </a:lnTo>
                <a:lnTo>
                  <a:pt x="1312518" y="912033"/>
                </a:lnTo>
                <a:lnTo>
                  <a:pt x="1311670" y="908217"/>
                </a:lnTo>
                <a:lnTo>
                  <a:pt x="1309445" y="905992"/>
                </a:lnTo>
                <a:lnTo>
                  <a:pt x="1313896" y="899951"/>
                </a:lnTo>
                <a:lnTo>
                  <a:pt x="1313154" y="893275"/>
                </a:lnTo>
                <a:lnTo>
                  <a:pt x="1317817" y="886068"/>
                </a:lnTo>
                <a:lnTo>
                  <a:pt x="1320360" y="868476"/>
                </a:lnTo>
                <a:lnTo>
                  <a:pt x="1338588" y="864661"/>
                </a:lnTo>
                <a:lnTo>
                  <a:pt x="1342509" y="867840"/>
                </a:lnTo>
                <a:lnTo>
                  <a:pt x="1363598" y="871762"/>
                </a:lnTo>
                <a:lnTo>
                  <a:pt x="1378541" y="882359"/>
                </a:lnTo>
                <a:lnTo>
                  <a:pt x="1386595" y="896454"/>
                </a:lnTo>
                <a:lnTo>
                  <a:pt x="1377693" y="914258"/>
                </a:lnTo>
                <a:close/>
                <a:moveTo>
                  <a:pt x="4257708" y="665531"/>
                </a:moveTo>
                <a:lnTo>
                  <a:pt x="4280281" y="669665"/>
                </a:lnTo>
                <a:lnTo>
                  <a:pt x="4288441" y="669453"/>
                </a:lnTo>
                <a:lnTo>
                  <a:pt x="4296495" y="674222"/>
                </a:lnTo>
                <a:lnTo>
                  <a:pt x="4306245" y="671996"/>
                </a:lnTo>
                <a:lnTo>
                  <a:pt x="4311862" y="673480"/>
                </a:lnTo>
                <a:lnTo>
                  <a:pt x="4330408" y="689588"/>
                </a:lnTo>
                <a:lnTo>
                  <a:pt x="4339522" y="700186"/>
                </a:lnTo>
                <a:lnTo>
                  <a:pt x="4353087" y="709406"/>
                </a:lnTo>
                <a:lnTo>
                  <a:pt x="4362837" y="712479"/>
                </a:lnTo>
                <a:lnTo>
                  <a:pt x="4355418" y="720851"/>
                </a:lnTo>
                <a:lnTo>
                  <a:pt x="4340582" y="725302"/>
                </a:lnTo>
                <a:lnTo>
                  <a:pt x="4334753" y="725514"/>
                </a:lnTo>
                <a:lnTo>
                  <a:pt x="4323413" y="720533"/>
                </a:lnTo>
                <a:lnTo>
                  <a:pt x="4314088" y="721381"/>
                </a:lnTo>
                <a:lnTo>
                  <a:pt x="4306033" y="715128"/>
                </a:lnTo>
                <a:lnTo>
                  <a:pt x="4304656" y="705485"/>
                </a:lnTo>
                <a:lnTo>
                  <a:pt x="4296283" y="683759"/>
                </a:lnTo>
                <a:lnTo>
                  <a:pt x="4285580" y="690012"/>
                </a:lnTo>
                <a:lnTo>
                  <a:pt x="4272651" y="679944"/>
                </a:lnTo>
                <a:lnTo>
                  <a:pt x="4269154" y="679732"/>
                </a:lnTo>
                <a:lnTo>
                  <a:pt x="4268306" y="681428"/>
                </a:lnTo>
                <a:lnTo>
                  <a:pt x="4262901" y="678037"/>
                </a:lnTo>
                <a:lnTo>
                  <a:pt x="4258238" y="671254"/>
                </a:lnTo>
                <a:lnTo>
                  <a:pt x="4257708" y="665531"/>
                </a:lnTo>
                <a:close/>
                <a:moveTo>
                  <a:pt x="4267352" y="765255"/>
                </a:moveTo>
                <a:lnTo>
                  <a:pt x="4309213" y="770554"/>
                </a:lnTo>
                <a:lnTo>
                  <a:pt x="4320552" y="769918"/>
                </a:lnTo>
                <a:lnTo>
                  <a:pt x="4344503" y="771932"/>
                </a:lnTo>
                <a:lnTo>
                  <a:pt x="4364426" y="779032"/>
                </a:lnTo>
                <a:lnTo>
                  <a:pt x="4399293" y="780304"/>
                </a:lnTo>
                <a:lnTo>
                  <a:pt x="4409678" y="782423"/>
                </a:lnTo>
                <a:lnTo>
                  <a:pt x="4417732" y="787298"/>
                </a:lnTo>
                <a:lnTo>
                  <a:pt x="4398233" y="791325"/>
                </a:lnTo>
                <a:lnTo>
                  <a:pt x="4389013" y="795035"/>
                </a:lnTo>
                <a:lnTo>
                  <a:pt x="4371951" y="796836"/>
                </a:lnTo>
                <a:lnTo>
                  <a:pt x="4357644" y="794929"/>
                </a:lnTo>
                <a:lnTo>
                  <a:pt x="4347258" y="797260"/>
                </a:lnTo>
                <a:lnTo>
                  <a:pt x="4343549" y="793551"/>
                </a:lnTo>
                <a:lnTo>
                  <a:pt x="4328288" y="789842"/>
                </a:lnTo>
                <a:lnTo>
                  <a:pt x="4308895" y="782212"/>
                </a:lnTo>
                <a:lnTo>
                  <a:pt x="4268836" y="773309"/>
                </a:lnTo>
                <a:lnTo>
                  <a:pt x="4266928" y="767799"/>
                </a:lnTo>
                <a:lnTo>
                  <a:pt x="4267352" y="765255"/>
                </a:lnTo>
                <a:close/>
                <a:moveTo>
                  <a:pt x="3773396" y="596965"/>
                </a:moveTo>
                <a:lnTo>
                  <a:pt x="3791836" y="601522"/>
                </a:lnTo>
                <a:lnTo>
                  <a:pt x="3795969" y="600780"/>
                </a:lnTo>
                <a:lnTo>
                  <a:pt x="3822569" y="612437"/>
                </a:lnTo>
                <a:lnTo>
                  <a:pt x="3826808" y="618160"/>
                </a:lnTo>
                <a:lnTo>
                  <a:pt x="3825324" y="622081"/>
                </a:lnTo>
                <a:lnTo>
                  <a:pt x="3829245" y="627274"/>
                </a:lnTo>
                <a:lnTo>
                  <a:pt x="3820555" y="635328"/>
                </a:lnTo>
                <a:lnTo>
                  <a:pt x="3816316" y="636176"/>
                </a:lnTo>
                <a:lnTo>
                  <a:pt x="3812077" y="633209"/>
                </a:lnTo>
                <a:lnTo>
                  <a:pt x="3803599" y="631513"/>
                </a:lnTo>
                <a:lnTo>
                  <a:pt x="3793743" y="634798"/>
                </a:lnTo>
                <a:lnTo>
                  <a:pt x="3787491" y="632361"/>
                </a:lnTo>
                <a:lnTo>
                  <a:pt x="3782298" y="624943"/>
                </a:lnTo>
                <a:lnTo>
                  <a:pt x="3772866" y="620492"/>
                </a:lnTo>
                <a:lnTo>
                  <a:pt x="3759619" y="605125"/>
                </a:lnTo>
                <a:lnTo>
                  <a:pt x="3753154" y="605655"/>
                </a:lnTo>
                <a:lnTo>
                  <a:pt x="3754850" y="611695"/>
                </a:lnTo>
                <a:lnTo>
                  <a:pt x="3760467" y="615723"/>
                </a:lnTo>
                <a:lnTo>
                  <a:pt x="3767885" y="627380"/>
                </a:lnTo>
                <a:lnTo>
                  <a:pt x="3772230" y="628546"/>
                </a:lnTo>
                <a:lnTo>
                  <a:pt x="3776575" y="628122"/>
                </a:lnTo>
                <a:lnTo>
                  <a:pt x="3782510" y="632997"/>
                </a:lnTo>
                <a:lnTo>
                  <a:pt x="3782192" y="640627"/>
                </a:lnTo>
                <a:lnTo>
                  <a:pt x="3766719" y="643594"/>
                </a:lnTo>
                <a:lnTo>
                  <a:pt x="3761421" y="638084"/>
                </a:lnTo>
                <a:lnTo>
                  <a:pt x="3760255" y="628016"/>
                </a:lnTo>
                <a:lnTo>
                  <a:pt x="3751565" y="631407"/>
                </a:lnTo>
                <a:lnTo>
                  <a:pt x="3748174" y="634904"/>
                </a:lnTo>
                <a:lnTo>
                  <a:pt x="3745630" y="635328"/>
                </a:lnTo>
                <a:lnTo>
                  <a:pt x="3739801" y="624837"/>
                </a:lnTo>
                <a:lnTo>
                  <a:pt x="3723375" y="624307"/>
                </a:lnTo>
                <a:lnTo>
                  <a:pt x="3712354" y="618796"/>
                </a:lnTo>
                <a:lnTo>
                  <a:pt x="3717758" y="612967"/>
                </a:lnTo>
                <a:lnTo>
                  <a:pt x="3718500" y="607244"/>
                </a:lnTo>
                <a:lnTo>
                  <a:pt x="3725707" y="604277"/>
                </a:lnTo>
                <a:lnTo>
                  <a:pt x="3732913" y="606927"/>
                </a:lnTo>
                <a:lnTo>
                  <a:pt x="3740225" y="602899"/>
                </a:lnTo>
                <a:lnTo>
                  <a:pt x="3745312" y="603959"/>
                </a:lnTo>
                <a:lnTo>
                  <a:pt x="3749127" y="601310"/>
                </a:lnTo>
                <a:lnTo>
                  <a:pt x="3763752" y="599720"/>
                </a:lnTo>
                <a:lnTo>
                  <a:pt x="3773396" y="596965"/>
                </a:lnTo>
                <a:close/>
                <a:moveTo>
                  <a:pt x="3523398" y="379077"/>
                </a:moveTo>
                <a:lnTo>
                  <a:pt x="3506653" y="380879"/>
                </a:lnTo>
                <a:lnTo>
                  <a:pt x="3502838" y="375792"/>
                </a:lnTo>
                <a:lnTo>
                  <a:pt x="3498387" y="353113"/>
                </a:lnTo>
                <a:lnTo>
                  <a:pt x="3510257" y="334885"/>
                </a:lnTo>
                <a:lnTo>
                  <a:pt x="3525305" y="324076"/>
                </a:lnTo>
                <a:lnTo>
                  <a:pt x="3535585" y="321426"/>
                </a:lnTo>
                <a:lnTo>
                  <a:pt x="3539082" y="321214"/>
                </a:lnTo>
                <a:lnTo>
                  <a:pt x="3548196" y="334355"/>
                </a:lnTo>
                <a:lnTo>
                  <a:pt x="3541308" y="360849"/>
                </a:lnTo>
                <a:lnTo>
                  <a:pt x="3533359" y="374308"/>
                </a:lnTo>
                <a:lnTo>
                  <a:pt x="3523398" y="379077"/>
                </a:lnTo>
                <a:close/>
                <a:moveTo>
                  <a:pt x="3491499" y="772568"/>
                </a:moveTo>
                <a:lnTo>
                  <a:pt x="3485034" y="776807"/>
                </a:lnTo>
                <a:lnTo>
                  <a:pt x="3481749" y="777972"/>
                </a:lnTo>
                <a:lnTo>
                  <a:pt x="3466170" y="775111"/>
                </a:lnTo>
                <a:lnTo>
                  <a:pt x="3447836" y="775747"/>
                </a:lnTo>
                <a:lnTo>
                  <a:pt x="3428867" y="779774"/>
                </a:lnTo>
                <a:lnTo>
                  <a:pt x="3417845" y="776383"/>
                </a:lnTo>
                <a:lnTo>
                  <a:pt x="3410851" y="770872"/>
                </a:lnTo>
                <a:lnTo>
                  <a:pt x="3411169" y="765043"/>
                </a:lnTo>
                <a:lnTo>
                  <a:pt x="3417739" y="750631"/>
                </a:lnTo>
                <a:lnTo>
                  <a:pt x="3432046" y="739715"/>
                </a:lnTo>
                <a:lnTo>
                  <a:pt x="3437875" y="737701"/>
                </a:lnTo>
                <a:lnTo>
                  <a:pt x="3448048" y="740669"/>
                </a:lnTo>
                <a:lnTo>
                  <a:pt x="3465217" y="749041"/>
                </a:lnTo>
                <a:lnTo>
                  <a:pt x="3478782" y="758897"/>
                </a:lnTo>
                <a:lnTo>
                  <a:pt x="3491075" y="766527"/>
                </a:lnTo>
                <a:lnTo>
                  <a:pt x="3491499" y="772568"/>
                </a:lnTo>
                <a:close/>
                <a:moveTo>
                  <a:pt x="3269160" y="856289"/>
                </a:moveTo>
                <a:lnTo>
                  <a:pt x="3267359" y="858197"/>
                </a:lnTo>
                <a:lnTo>
                  <a:pt x="3261000" y="852474"/>
                </a:lnTo>
                <a:lnTo>
                  <a:pt x="3256761" y="836365"/>
                </a:lnTo>
                <a:lnTo>
                  <a:pt x="3253052" y="832020"/>
                </a:lnTo>
                <a:lnTo>
                  <a:pt x="3248813" y="816654"/>
                </a:lnTo>
                <a:lnTo>
                  <a:pt x="3249872" y="812309"/>
                </a:lnTo>
                <a:lnTo>
                  <a:pt x="3255171" y="805844"/>
                </a:lnTo>
                <a:lnTo>
                  <a:pt x="3259410" y="805950"/>
                </a:lnTo>
                <a:lnTo>
                  <a:pt x="3262590" y="809765"/>
                </a:lnTo>
                <a:lnTo>
                  <a:pt x="3260788" y="826298"/>
                </a:lnTo>
                <a:lnTo>
                  <a:pt x="3270326" y="847281"/>
                </a:lnTo>
                <a:lnTo>
                  <a:pt x="3269160" y="856289"/>
                </a:lnTo>
                <a:close/>
                <a:moveTo>
                  <a:pt x="3265875" y="786239"/>
                </a:moveTo>
                <a:lnTo>
                  <a:pt x="3298516" y="789736"/>
                </a:lnTo>
                <a:lnTo>
                  <a:pt x="3293853" y="793551"/>
                </a:lnTo>
                <a:lnTo>
                  <a:pt x="3258669" y="799698"/>
                </a:lnTo>
                <a:lnTo>
                  <a:pt x="3246269" y="798532"/>
                </a:lnTo>
                <a:lnTo>
                  <a:pt x="3208118" y="802135"/>
                </a:lnTo>
                <a:lnTo>
                  <a:pt x="3203243" y="801923"/>
                </a:lnTo>
                <a:lnTo>
                  <a:pt x="3202501" y="795988"/>
                </a:lnTo>
                <a:lnTo>
                  <a:pt x="3198368" y="791855"/>
                </a:lnTo>
                <a:lnTo>
                  <a:pt x="3204515" y="788252"/>
                </a:lnTo>
                <a:lnTo>
                  <a:pt x="3212569" y="787404"/>
                </a:lnTo>
                <a:lnTo>
                  <a:pt x="3233658" y="788782"/>
                </a:lnTo>
                <a:lnTo>
                  <a:pt x="3265875" y="786239"/>
                </a:lnTo>
                <a:close/>
                <a:moveTo>
                  <a:pt x="3154176" y="777231"/>
                </a:moveTo>
                <a:lnTo>
                  <a:pt x="3164032" y="781046"/>
                </a:lnTo>
                <a:lnTo>
                  <a:pt x="3167529" y="781046"/>
                </a:lnTo>
                <a:lnTo>
                  <a:pt x="3170814" y="776595"/>
                </a:lnTo>
                <a:lnTo>
                  <a:pt x="3172828" y="775959"/>
                </a:lnTo>
                <a:lnTo>
                  <a:pt x="3177279" y="778078"/>
                </a:lnTo>
                <a:lnTo>
                  <a:pt x="3178338" y="785179"/>
                </a:lnTo>
                <a:lnTo>
                  <a:pt x="3184697" y="784225"/>
                </a:lnTo>
                <a:lnTo>
                  <a:pt x="3189678" y="786663"/>
                </a:lnTo>
                <a:lnTo>
                  <a:pt x="3191268" y="788358"/>
                </a:lnTo>
                <a:lnTo>
                  <a:pt x="3190632" y="795459"/>
                </a:lnTo>
                <a:lnTo>
                  <a:pt x="3171662" y="796730"/>
                </a:lnTo>
                <a:lnTo>
                  <a:pt x="3158097" y="802453"/>
                </a:lnTo>
                <a:lnTo>
                  <a:pt x="3139763" y="797260"/>
                </a:lnTo>
                <a:lnTo>
                  <a:pt x="3119098" y="806162"/>
                </a:lnTo>
                <a:lnTo>
                  <a:pt x="3106592" y="809235"/>
                </a:lnTo>
                <a:lnTo>
                  <a:pt x="3095677" y="809024"/>
                </a:lnTo>
                <a:lnTo>
                  <a:pt x="3086351" y="793551"/>
                </a:lnTo>
                <a:lnTo>
                  <a:pt x="3091756" y="775429"/>
                </a:lnTo>
                <a:lnTo>
                  <a:pt x="3095677" y="772356"/>
                </a:lnTo>
                <a:lnTo>
                  <a:pt x="3102565" y="770766"/>
                </a:lnTo>
                <a:lnTo>
                  <a:pt x="3121747" y="769918"/>
                </a:lnTo>
                <a:lnTo>
                  <a:pt x="3154176" y="777231"/>
                </a:lnTo>
                <a:close/>
                <a:moveTo>
                  <a:pt x="3827762" y="1444352"/>
                </a:moveTo>
                <a:lnTo>
                  <a:pt x="3825960" y="1445518"/>
                </a:lnTo>
                <a:lnTo>
                  <a:pt x="3812819" y="1444140"/>
                </a:lnTo>
                <a:lnTo>
                  <a:pt x="3805295" y="1444034"/>
                </a:lnTo>
                <a:lnTo>
                  <a:pt x="3806249" y="1436086"/>
                </a:lnTo>
                <a:lnTo>
                  <a:pt x="3802433" y="1430045"/>
                </a:lnTo>
                <a:lnTo>
                  <a:pt x="3807732" y="1421249"/>
                </a:lnTo>
                <a:lnTo>
                  <a:pt x="3807838" y="1410970"/>
                </a:lnTo>
                <a:lnTo>
                  <a:pt x="3813349" y="1409592"/>
                </a:lnTo>
                <a:lnTo>
                  <a:pt x="3814091" y="1403763"/>
                </a:lnTo>
                <a:lnTo>
                  <a:pt x="3820767" y="1388291"/>
                </a:lnTo>
                <a:lnTo>
                  <a:pt x="3824688" y="1384793"/>
                </a:lnTo>
                <a:lnTo>
                  <a:pt x="3830199" y="1383416"/>
                </a:lnTo>
                <a:lnTo>
                  <a:pt x="3836770" y="1374408"/>
                </a:lnTo>
                <a:lnTo>
                  <a:pt x="3840479" y="1371758"/>
                </a:lnTo>
                <a:lnTo>
                  <a:pt x="3844400" y="1364976"/>
                </a:lnTo>
                <a:lnTo>
                  <a:pt x="3849911" y="1361796"/>
                </a:lnTo>
                <a:lnTo>
                  <a:pt x="3849487" y="1355862"/>
                </a:lnTo>
                <a:lnTo>
                  <a:pt x="3852666" y="1352788"/>
                </a:lnTo>
                <a:lnTo>
                  <a:pt x="3861356" y="1350351"/>
                </a:lnTo>
                <a:lnTo>
                  <a:pt x="3867503" y="1353212"/>
                </a:lnTo>
                <a:lnTo>
                  <a:pt x="3871212" y="1359253"/>
                </a:lnTo>
                <a:lnTo>
                  <a:pt x="3861462" y="1366671"/>
                </a:lnTo>
                <a:lnTo>
                  <a:pt x="3866443" y="1384899"/>
                </a:lnTo>
                <a:lnTo>
                  <a:pt x="3859343" y="1404717"/>
                </a:lnTo>
                <a:lnTo>
                  <a:pt x="3854680" y="1410652"/>
                </a:lnTo>
                <a:lnTo>
                  <a:pt x="3845990" y="1415844"/>
                </a:lnTo>
                <a:lnTo>
                  <a:pt x="3843446" y="1420719"/>
                </a:lnTo>
                <a:lnTo>
                  <a:pt x="3833167" y="1430469"/>
                </a:lnTo>
                <a:lnTo>
                  <a:pt x="3830093" y="1438841"/>
                </a:lnTo>
                <a:lnTo>
                  <a:pt x="3829563" y="1442339"/>
                </a:lnTo>
                <a:lnTo>
                  <a:pt x="3827762" y="1444352"/>
                </a:lnTo>
                <a:close/>
                <a:moveTo>
                  <a:pt x="3348219" y="1409168"/>
                </a:moveTo>
                <a:lnTo>
                  <a:pt x="3349596" y="1414361"/>
                </a:lnTo>
                <a:lnTo>
                  <a:pt x="3349490" y="1416586"/>
                </a:lnTo>
                <a:lnTo>
                  <a:pt x="3336773" y="1418282"/>
                </a:lnTo>
                <a:lnTo>
                  <a:pt x="3324480" y="1424005"/>
                </a:lnTo>
                <a:lnTo>
                  <a:pt x="3318227" y="1430575"/>
                </a:lnTo>
                <a:lnTo>
                  <a:pt x="3313352" y="1439053"/>
                </a:lnTo>
                <a:lnTo>
                  <a:pt x="3296502" y="1435662"/>
                </a:lnTo>
                <a:lnTo>
                  <a:pt x="3281453" y="1435026"/>
                </a:lnTo>
                <a:lnTo>
                  <a:pt x="3274777" y="1432059"/>
                </a:lnTo>
                <a:lnTo>
                  <a:pt x="3267571" y="1432271"/>
                </a:lnTo>
                <a:lnTo>
                  <a:pt x="3258245" y="1434920"/>
                </a:lnTo>
                <a:lnTo>
                  <a:pt x="3244892" y="1442127"/>
                </a:lnTo>
                <a:lnTo>
                  <a:pt x="3241924" y="1442762"/>
                </a:lnTo>
                <a:lnTo>
                  <a:pt x="3242984" y="1431741"/>
                </a:lnTo>
                <a:lnTo>
                  <a:pt x="3246693" y="1424958"/>
                </a:lnTo>
                <a:lnTo>
                  <a:pt x="3260682" y="1408638"/>
                </a:lnTo>
                <a:lnTo>
                  <a:pt x="3272339" y="1412241"/>
                </a:lnTo>
                <a:lnTo>
                  <a:pt x="3286010" y="1413301"/>
                </a:lnTo>
                <a:lnTo>
                  <a:pt x="3301377" y="1410122"/>
                </a:lnTo>
                <a:lnTo>
                  <a:pt x="3312399" y="1402809"/>
                </a:lnTo>
                <a:lnTo>
                  <a:pt x="3327977" y="1398994"/>
                </a:lnTo>
                <a:lnTo>
                  <a:pt x="3340270" y="1408532"/>
                </a:lnTo>
                <a:lnTo>
                  <a:pt x="3348219" y="1409168"/>
                </a:lnTo>
                <a:close/>
                <a:moveTo>
                  <a:pt x="3112421" y="1459295"/>
                </a:moveTo>
                <a:lnTo>
                  <a:pt x="3114965" y="1465759"/>
                </a:lnTo>
                <a:lnTo>
                  <a:pt x="3123125" y="1462156"/>
                </a:lnTo>
                <a:lnTo>
                  <a:pt x="3131073" y="1461308"/>
                </a:lnTo>
                <a:lnTo>
                  <a:pt x="3149301" y="1461944"/>
                </a:lnTo>
                <a:lnTo>
                  <a:pt x="3162654" y="1463428"/>
                </a:lnTo>
                <a:lnTo>
                  <a:pt x="3170602" y="1466077"/>
                </a:lnTo>
                <a:lnTo>
                  <a:pt x="3171344" y="1478900"/>
                </a:lnTo>
                <a:lnTo>
                  <a:pt x="3167635" y="1481762"/>
                </a:lnTo>
                <a:lnTo>
                  <a:pt x="3098432" y="1491512"/>
                </a:lnTo>
                <a:lnTo>
                  <a:pt x="3091756" y="1488332"/>
                </a:lnTo>
                <a:lnTo>
                  <a:pt x="3089106" y="1485259"/>
                </a:lnTo>
                <a:lnTo>
                  <a:pt x="3096525" y="1475721"/>
                </a:lnTo>
                <a:lnTo>
                  <a:pt x="3093133" y="1471164"/>
                </a:lnTo>
                <a:lnTo>
                  <a:pt x="3097055" y="1463746"/>
                </a:lnTo>
                <a:lnTo>
                  <a:pt x="3105321" y="1458659"/>
                </a:lnTo>
                <a:lnTo>
                  <a:pt x="3112421" y="1459295"/>
                </a:lnTo>
                <a:close/>
                <a:moveTo>
                  <a:pt x="3793425" y="736006"/>
                </a:moveTo>
                <a:lnTo>
                  <a:pt x="3789716" y="738867"/>
                </a:lnTo>
                <a:lnTo>
                  <a:pt x="3776787" y="736112"/>
                </a:lnTo>
                <a:lnTo>
                  <a:pt x="3770111" y="729541"/>
                </a:lnTo>
                <a:lnTo>
                  <a:pt x="3765554" y="720851"/>
                </a:lnTo>
                <a:lnTo>
                  <a:pt x="3762692" y="713539"/>
                </a:lnTo>
                <a:lnTo>
                  <a:pt x="3761844" y="707816"/>
                </a:lnTo>
                <a:lnTo>
                  <a:pt x="3758029" y="700822"/>
                </a:lnTo>
                <a:lnTo>
                  <a:pt x="3758559" y="698278"/>
                </a:lnTo>
                <a:lnTo>
                  <a:pt x="3782298" y="690860"/>
                </a:lnTo>
                <a:lnTo>
                  <a:pt x="3786749" y="693509"/>
                </a:lnTo>
                <a:lnTo>
                  <a:pt x="3796711" y="693827"/>
                </a:lnTo>
                <a:lnTo>
                  <a:pt x="3801056" y="699126"/>
                </a:lnTo>
                <a:lnTo>
                  <a:pt x="3798088" y="722441"/>
                </a:lnTo>
                <a:lnTo>
                  <a:pt x="3793425" y="736006"/>
                </a:lnTo>
                <a:close/>
                <a:moveTo>
                  <a:pt x="136286" y="42390"/>
                </a:moveTo>
                <a:lnTo>
                  <a:pt x="149215" y="43344"/>
                </a:lnTo>
                <a:lnTo>
                  <a:pt x="173377" y="37621"/>
                </a:lnTo>
                <a:lnTo>
                  <a:pt x="186625" y="38151"/>
                </a:lnTo>
                <a:lnTo>
                  <a:pt x="199130" y="42284"/>
                </a:lnTo>
                <a:lnTo>
                  <a:pt x="210151" y="44722"/>
                </a:lnTo>
                <a:lnTo>
                  <a:pt x="237811" y="41648"/>
                </a:lnTo>
                <a:lnTo>
                  <a:pt x="243004" y="42496"/>
                </a:lnTo>
                <a:lnTo>
                  <a:pt x="247985" y="44828"/>
                </a:lnTo>
                <a:lnTo>
                  <a:pt x="252330" y="48643"/>
                </a:lnTo>
                <a:lnTo>
                  <a:pt x="264941" y="62420"/>
                </a:lnTo>
                <a:lnTo>
                  <a:pt x="286242" y="79376"/>
                </a:lnTo>
                <a:lnTo>
                  <a:pt x="292495" y="90292"/>
                </a:lnTo>
                <a:lnTo>
                  <a:pt x="295992" y="102479"/>
                </a:lnTo>
                <a:lnTo>
                  <a:pt x="298218" y="105340"/>
                </a:lnTo>
                <a:lnTo>
                  <a:pt x="322274" y="128655"/>
                </a:lnTo>
                <a:lnTo>
                  <a:pt x="324924" y="138511"/>
                </a:lnTo>
                <a:lnTo>
                  <a:pt x="321532" y="151970"/>
                </a:lnTo>
                <a:lnTo>
                  <a:pt x="328527" y="162779"/>
                </a:lnTo>
                <a:lnTo>
                  <a:pt x="351948" y="172847"/>
                </a:lnTo>
                <a:lnTo>
                  <a:pt x="365831" y="180266"/>
                </a:lnTo>
                <a:lnTo>
                  <a:pt x="368798" y="184717"/>
                </a:lnTo>
                <a:lnTo>
                  <a:pt x="370812" y="190121"/>
                </a:lnTo>
                <a:lnTo>
                  <a:pt x="378442" y="198176"/>
                </a:lnTo>
                <a:lnTo>
                  <a:pt x="388086" y="203368"/>
                </a:lnTo>
                <a:lnTo>
                  <a:pt x="417971" y="217039"/>
                </a:lnTo>
                <a:lnTo>
                  <a:pt x="457182" y="245653"/>
                </a:lnTo>
                <a:lnTo>
                  <a:pt x="479543" y="259218"/>
                </a:lnTo>
                <a:lnTo>
                  <a:pt x="498089" y="279883"/>
                </a:lnTo>
                <a:lnTo>
                  <a:pt x="504660" y="289739"/>
                </a:lnTo>
                <a:lnTo>
                  <a:pt x="510170" y="300443"/>
                </a:lnTo>
                <a:lnTo>
                  <a:pt x="521404" y="315915"/>
                </a:lnTo>
                <a:lnTo>
                  <a:pt x="540480" y="335097"/>
                </a:lnTo>
                <a:lnTo>
                  <a:pt x="545355" y="341032"/>
                </a:lnTo>
                <a:lnTo>
                  <a:pt x="550442" y="349404"/>
                </a:lnTo>
                <a:lnTo>
                  <a:pt x="556376" y="357352"/>
                </a:lnTo>
                <a:lnTo>
                  <a:pt x="563477" y="364559"/>
                </a:lnTo>
                <a:lnTo>
                  <a:pt x="571955" y="370069"/>
                </a:lnTo>
                <a:lnTo>
                  <a:pt x="580539" y="371871"/>
                </a:lnTo>
                <a:lnTo>
                  <a:pt x="594528" y="385754"/>
                </a:lnTo>
                <a:lnTo>
                  <a:pt x="602052" y="390099"/>
                </a:lnTo>
                <a:lnTo>
                  <a:pt x="600886" y="379183"/>
                </a:lnTo>
                <a:lnTo>
                  <a:pt x="594528" y="369751"/>
                </a:lnTo>
                <a:lnTo>
                  <a:pt x="594634" y="364029"/>
                </a:lnTo>
                <a:lnTo>
                  <a:pt x="595693" y="358836"/>
                </a:lnTo>
                <a:lnTo>
                  <a:pt x="600886" y="354597"/>
                </a:lnTo>
                <a:lnTo>
                  <a:pt x="607139" y="353325"/>
                </a:lnTo>
                <a:lnTo>
                  <a:pt x="618796" y="357352"/>
                </a:lnTo>
                <a:lnTo>
                  <a:pt x="637766" y="373778"/>
                </a:lnTo>
                <a:lnTo>
                  <a:pt x="645820" y="383316"/>
                </a:lnTo>
                <a:lnTo>
                  <a:pt x="651861" y="396563"/>
                </a:lnTo>
                <a:lnTo>
                  <a:pt x="656842" y="410340"/>
                </a:lnTo>
                <a:lnTo>
                  <a:pt x="664472" y="417123"/>
                </a:lnTo>
                <a:lnTo>
                  <a:pt x="674858" y="419454"/>
                </a:lnTo>
                <a:lnTo>
                  <a:pt x="686409" y="420514"/>
                </a:lnTo>
                <a:lnTo>
                  <a:pt x="697113" y="424753"/>
                </a:lnTo>
                <a:lnTo>
                  <a:pt x="722017" y="443723"/>
                </a:lnTo>
                <a:lnTo>
                  <a:pt x="730283" y="452625"/>
                </a:lnTo>
                <a:lnTo>
                  <a:pt x="736536" y="463117"/>
                </a:lnTo>
                <a:lnTo>
                  <a:pt x="740881" y="475516"/>
                </a:lnTo>
                <a:lnTo>
                  <a:pt x="743531" y="488551"/>
                </a:lnTo>
                <a:lnTo>
                  <a:pt x="745226" y="491624"/>
                </a:lnTo>
                <a:lnTo>
                  <a:pt x="761229" y="507309"/>
                </a:lnTo>
                <a:lnTo>
                  <a:pt x="769601" y="513985"/>
                </a:lnTo>
                <a:lnTo>
                  <a:pt x="779880" y="517165"/>
                </a:lnTo>
                <a:lnTo>
                  <a:pt x="809872" y="520768"/>
                </a:lnTo>
                <a:lnTo>
                  <a:pt x="820469" y="526173"/>
                </a:lnTo>
                <a:lnTo>
                  <a:pt x="829265" y="535181"/>
                </a:lnTo>
                <a:lnTo>
                  <a:pt x="832975" y="544400"/>
                </a:lnTo>
                <a:lnTo>
                  <a:pt x="826722" y="552561"/>
                </a:lnTo>
                <a:lnTo>
                  <a:pt x="803195" y="564960"/>
                </a:lnTo>
                <a:lnTo>
                  <a:pt x="778185" y="573650"/>
                </a:lnTo>
                <a:lnTo>
                  <a:pt x="802559" y="570683"/>
                </a:lnTo>
                <a:lnTo>
                  <a:pt x="814853" y="566973"/>
                </a:lnTo>
                <a:lnTo>
                  <a:pt x="826192" y="561357"/>
                </a:lnTo>
                <a:lnTo>
                  <a:pt x="837426" y="554150"/>
                </a:lnTo>
                <a:lnTo>
                  <a:pt x="855230" y="544083"/>
                </a:lnTo>
                <a:lnTo>
                  <a:pt x="861800" y="542069"/>
                </a:lnTo>
                <a:lnTo>
                  <a:pt x="869536" y="542811"/>
                </a:lnTo>
                <a:lnTo>
                  <a:pt x="876637" y="545672"/>
                </a:lnTo>
                <a:lnTo>
                  <a:pt x="887235" y="555528"/>
                </a:lnTo>
                <a:lnTo>
                  <a:pt x="897196" y="565914"/>
                </a:lnTo>
                <a:lnTo>
                  <a:pt x="904615" y="578101"/>
                </a:lnTo>
                <a:lnTo>
                  <a:pt x="909278" y="591560"/>
                </a:lnTo>
                <a:lnTo>
                  <a:pt x="900694" y="598660"/>
                </a:lnTo>
                <a:lnTo>
                  <a:pt x="888294" y="603853"/>
                </a:lnTo>
                <a:lnTo>
                  <a:pt x="871338" y="616888"/>
                </a:lnTo>
                <a:lnTo>
                  <a:pt x="869536" y="621975"/>
                </a:lnTo>
                <a:lnTo>
                  <a:pt x="872928" y="625366"/>
                </a:lnTo>
                <a:lnTo>
                  <a:pt x="868795" y="634904"/>
                </a:lnTo>
                <a:lnTo>
                  <a:pt x="878333" y="640839"/>
                </a:lnTo>
                <a:lnTo>
                  <a:pt x="879816" y="645926"/>
                </a:lnTo>
                <a:lnTo>
                  <a:pt x="871550" y="653132"/>
                </a:lnTo>
                <a:lnTo>
                  <a:pt x="872398" y="657583"/>
                </a:lnTo>
                <a:lnTo>
                  <a:pt x="882360" y="676553"/>
                </a:lnTo>
                <a:lnTo>
                  <a:pt x="887129" y="680898"/>
                </a:lnTo>
                <a:lnTo>
                  <a:pt x="902283" y="690542"/>
                </a:lnTo>
                <a:lnTo>
                  <a:pt x="925492" y="700292"/>
                </a:lnTo>
                <a:lnTo>
                  <a:pt x="938315" y="704743"/>
                </a:lnTo>
                <a:lnTo>
                  <a:pt x="952940" y="708240"/>
                </a:lnTo>
                <a:lnTo>
                  <a:pt x="959193" y="708134"/>
                </a:lnTo>
                <a:lnTo>
                  <a:pt x="970108" y="706544"/>
                </a:lnTo>
                <a:lnTo>
                  <a:pt x="972228" y="710360"/>
                </a:lnTo>
                <a:lnTo>
                  <a:pt x="976997" y="729117"/>
                </a:lnTo>
                <a:lnTo>
                  <a:pt x="979222" y="740881"/>
                </a:lnTo>
                <a:lnTo>
                  <a:pt x="982507" y="766103"/>
                </a:lnTo>
                <a:lnTo>
                  <a:pt x="986852" y="776595"/>
                </a:lnTo>
                <a:lnTo>
                  <a:pt x="986534" y="789312"/>
                </a:lnTo>
                <a:lnTo>
                  <a:pt x="992151" y="800228"/>
                </a:lnTo>
                <a:lnTo>
                  <a:pt x="1003491" y="807116"/>
                </a:lnTo>
                <a:lnTo>
                  <a:pt x="1015678" y="812839"/>
                </a:lnTo>
                <a:lnTo>
                  <a:pt x="1021401" y="818349"/>
                </a:lnTo>
                <a:lnTo>
                  <a:pt x="1021401" y="826722"/>
                </a:lnTo>
                <a:lnTo>
                  <a:pt x="1019387" y="833292"/>
                </a:lnTo>
                <a:lnTo>
                  <a:pt x="1015254" y="838485"/>
                </a:lnTo>
                <a:lnTo>
                  <a:pt x="1002643" y="849401"/>
                </a:lnTo>
                <a:lnTo>
                  <a:pt x="1000417" y="854064"/>
                </a:lnTo>
                <a:lnTo>
                  <a:pt x="998722" y="866039"/>
                </a:lnTo>
                <a:lnTo>
                  <a:pt x="1000841" y="871550"/>
                </a:lnTo>
                <a:lnTo>
                  <a:pt x="1005822" y="871868"/>
                </a:lnTo>
                <a:lnTo>
                  <a:pt x="1009849" y="869006"/>
                </a:lnTo>
                <a:lnTo>
                  <a:pt x="1024898" y="852898"/>
                </a:lnTo>
                <a:lnTo>
                  <a:pt x="1029031" y="850036"/>
                </a:lnTo>
                <a:lnTo>
                  <a:pt x="1034754" y="847811"/>
                </a:lnTo>
                <a:lnTo>
                  <a:pt x="1040582" y="846433"/>
                </a:lnTo>
                <a:lnTo>
                  <a:pt x="1068242" y="846221"/>
                </a:lnTo>
                <a:lnTo>
                  <a:pt x="1079900" y="848765"/>
                </a:lnTo>
                <a:lnTo>
                  <a:pt x="1090285" y="854064"/>
                </a:lnTo>
                <a:lnTo>
                  <a:pt x="1099505" y="860634"/>
                </a:lnTo>
                <a:lnTo>
                  <a:pt x="1133100" y="902601"/>
                </a:lnTo>
                <a:lnTo>
                  <a:pt x="1148466" y="925704"/>
                </a:lnTo>
                <a:lnTo>
                  <a:pt x="1149738" y="931532"/>
                </a:lnTo>
                <a:lnTo>
                  <a:pt x="1149950" y="937467"/>
                </a:lnTo>
                <a:lnTo>
                  <a:pt x="1147407" y="942130"/>
                </a:lnTo>
                <a:lnTo>
                  <a:pt x="1133312" y="957920"/>
                </a:lnTo>
                <a:lnTo>
                  <a:pt x="1131616" y="962265"/>
                </a:lnTo>
                <a:lnTo>
                  <a:pt x="1127271" y="979540"/>
                </a:lnTo>
                <a:lnTo>
                  <a:pt x="1128119" y="991939"/>
                </a:lnTo>
                <a:lnTo>
                  <a:pt x="1132782" y="997132"/>
                </a:lnTo>
                <a:lnTo>
                  <a:pt x="1136385" y="1002748"/>
                </a:lnTo>
                <a:lnTo>
                  <a:pt x="1136173" y="1007835"/>
                </a:lnTo>
                <a:lnTo>
                  <a:pt x="1126953" y="1033376"/>
                </a:lnTo>
                <a:lnTo>
                  <a:pt x="1125893" y="1037721"/>
                </a:lnTo>
                <a:lnTo>
                  <a:pt x="1131828" y="1079157"/>
                </a:lnTo>
                <a:lnTo>
                  <a:pt x="1132252" y="1090391"/>
                </a:lnTo>
                <a:lnTo>
                  <a:pt x="1130980" y="1104592"/>
                </a:lnTo>
                <a:lnTo>
                  <a:pt x="1131828" y="1127483"/>
                </a:lnTo>
                <a:lnTo>
                  <a:pt x="1124304" y="1198169"/>
                </a:lnTo>
                <a:lnTo>
                  <a:pt x="1122926" y="1202302"/>
                </a:lnTo>
                <a:lnTo>
                  <a:pt x="1117097" y="1213112"/>
                </a:lnTo>
                <a:lnTo>
                  <a:pt x="1109573" y="1213112"/>
                </a:lnTo>
                <a:lnTo>
                  <a:pt x="1103426" y="1211204"/>
                </a:lnTo>
                <a:lnTo>
                  <a:pt x="1099081" y="1207071"/>
                </a:lnTo>
                <a:lnTo>
                  <a:pt x="1096750" y="1201878"/>
                </a:lnTo>
                <a:lnTo>
                  <a:pt x="1093253" y="1197745"/>
                </a:lnTo>
                <a:lnTo>
                  <a:pt x="1074813" y="1184710"/>
                </a:lnTo>
                <a:lnTo>
                  <a:pt x="1070044" y="1186829"/>
                </a:lnTo>
                <a:lnTo>
                  <a:pt x="1051392" y="1203044"/>
                </a:lnTo>
                <a:lnTo>
                  <a:pt x="1046411" y="1205481"/>
                </a:lnTo>
                <a:lnTo>
                  <a:pt x="1040264" y="1203468"/>
                </a:lnTo>
                <a:lnTo>
                  <a:pt x="1030409" y="1198593"/>
                </a:lnTo>
                <a:lnTo>
                  <a:pt x="999675" y="1181531"/>
                </a:lnTo>
                <a:lnTo>
                  <a:pt x="997768" y="1187041"/>
                </a:lnTo>
                <a:lnTo>
                  <a:pt x="997344" y="1194460"/>
                </a:lnTo>
                <a:lnTo>
                  <a:pt x="1003491" y="1212900"/>
                </a:lnTo>
                <a:lnTo>
                  <a:pt x="1004338" y="1221060"/>
                </a:lnTo>
                <a:lnTo>
                  <a:pt x="998722" y="1222649"/>
                </a:lnTo>
                <a:lnTo>
                  <a:pt x="995648" y="1222332"/>
                </a:lnTo>
                <a:lnTo>
                  <a:pt x="982825" y="1211522"/>
                </a:lnTo>
                <a:lnTo>
                  <a:pt x="971062" y="1199653"/>
                </a:lnTo>
                <a:lnTo>
                  <a:pt x="957603" y="1183544"/>
                </a:lnTo>
                <a:lnTo>
                  <a:pt x="947747" y="1175914"/>
                </a:lnTo>
                <a:lnTo>
                  <a:pt x="938951" y="1167330"/>
                </a:lnTo>
                <a:lnTo>
                  <a:pt x="913941" y="1134901"/>
                </a:lnTo>
                <a:lnTo>
                  <a:pt x="907476" y="1129920"/>
                </a:lnTo>
                <a:lnTo>
                  <a:pt x="868901" y="1106923"/>
                </a:lnTo>
                <a:lnTo>
                  <a:pt x="861058" y="1101518"/>
                </a:lnTo>
                <a:lnTo>
                  <a:pt x="851203" y="1092087"/>
                </a:lnTo>
                <a:lnTo>
                  <a:pt x="840605" y="1083608"/>
                </a:lnTo>
                <a:lnTo>
                  <a:pt x="817290" y="1070361"/>
                </a:lnTo>
                <a:lnTo>
                  <a:pt x="776913" y="1036555"/>
                </a:lnTo>
                <a:lnTo>
                  <a:pt x="759321" y="1017161"/>
                </a:lnTo>
                <a:lnTo>
                  <a:pt x="739821" y="986004"/>
                </a:lnTo>
                <a:lnTo>
                  <a:pt x="733463" y="977950"/>
                </a:lnTo>
                <a:lnTo>
                  <a:pt x="700610" y="954529"/>
                </a:lnTo>
                <a:lnTo>
                  <a:pt x="682700" y="940328"/>
                </a:lnTo>
                <a:lnTo>
                  <a:pt x="675282" y="932168"/>
                </a:lnTo>
                <a:lnTo>
                  <a:pt x="657796" y="903766"/>
                </a:lnTo>
                <a:lnTo>
                  <a:pt x="652709" y="894123"/>
                </a:lnTo>
                <a:lnTo>
                  <a:pt x="646350" y="885750"/>
                </a:lnTo>
                <a:lnTo>
                  <a:pt x="635753" y="878862"/>
                </a:lnTo>
                <a:lnTo>
                  <a:pt x="626533" y="870808"/>
                </a:lnTo>
                <a:lnTo>
                  <a:pt x="607987" y="845056"/>
                </a:lnTo>
                <a:lnTo>
                  <a:pt x="602264" y="834882"/>
                </a:lnTo>
                <a:lnTo>
                  <a:pt x="597813" y="823754"/>
                </a:lnTo>
                <a:lnTo>
                  <a:pt x="598555" y="801499"/>
                </a:lnTo>
                <a:lnTo>
                  <a:pt x="559555" y="734204"/>
                </a:lnTo>
                <a:lnTo>
                  <a:pt x="549700" y="713221"/>
                </a:lnTo>
                <a:lnTo>
                  <a:pt x="540586" y="684183"/>
                </a:lnTo>
                <a:lnTo>
                  <a:pt x="538572" y="681216"/>
                </a:lnTo>
                <a:lnTo>
                  <a:pt x="517271" y="655146"/>
                </a:lnTo>
                <a:lnTo>
                  <a:pt x="509747" y="646774"/>
                </a:lnTo>
                <a:lnTo>
                  <a:pt x="500633" y="638931"/>
                </a:lnTo>
                <a:lnTo>
                  <a:pt x="493108" y="629817"/>
                </a:lnTo>
                <a:lnTo>
                  <a:pt x="478378" y="600038"/>
                </a:lnTo>
                <a:lnTo>
                  <a:pt x="472973" y="591772"/>
                </a:lnTo>
                <a:lnTo>
                  <a:pt x="465342" y="585731"/>
                </a:lnTo>
                <a:lnTo>
                  <a:pt x="437471" y="574392"/>
                </a:lnTo>
                <a:lnTo>
                  <a:pt x="426979" y="568139"/>
                </a:lnTo>
                <a:lnTo>
                  <a:pt x="418819" y="559237"/>
                </a:lnTo>
                <a:lnTo>
                  <a:pt x="413838" y="547898"/>
                </a:lnTo>
                <a:lnTo>
                  <a:pt x="408327" y="523841"/>
                </a:lnTo>
                <a:lnTo>
                  <a:pt x="395186" y="487173"/>
                </a:lnTo>
                <a:lnTo>
                  <a:pt x="380349" y="438106"/>
                </a:lnTo>
                <a:lnTo>
                  <a:pt x="370494" y="416169"/>
                </a:lnTo>
                <a:lnTo>
                  <a:pt x="359048" y="398895"/>
                </a:lnTo>
                <a:lnTo>
                  <a:pt x="355763" y="394974"/>
                </a:lnTo>
                <a:lnTo>
                  <a:pt x="305212" y="363923"/>
                </a:lnTo>
                <a:lnTo>
                  <a:pt x="296522" y="359366"/>
                </a:lnTo>
                <a:lnTo>
                  <a:pt x="287408" y="356610"/>
                </a:lnTo>
                <a:lnTo>
                  <a:pt x="274267" y="354597"/>
                </a:lnTo>
                <a:lnTo>
                  <a:pt x="264305" y="346543"/>
                </a:lnTo>
                <a:lnTo>
                  <a:pt x="260172" y="332236"/>
                </a:lnTo>
                <a:lnTo>
                  <a:pt x="257947" y="312948"/>
                </a:lnTo>
                <a:lnTo>
                  <a:pt x="255403" y="301397"/>
                </a:lnTo>
                <a:lnTo>
                  <a:pt x="252648" y="294826"/>
                </a:lnTo>
                <a:lnTo>
                  <a:pt x="231453" y="281261"/>
                </a:lnTo>
                <a:lnTo>
                  <a:pt x="223186" y="270451"/>
                </a:lnTo>
                <a:lnTo>
                  <a:pt x="216298" y="258582"/>
                </a:lnTo>
                <a:lnTo>
                  <a:pt x="209939" y="249362"/>
                </a:lnTo>
                <a:lnTo>
                  <a:pt x="186730" y="217675"/>
                </a:lnTo>
                <a:lnTo>
                  <a:pt x="178782" y="209303"/>
                </a:lnTo>
                <a:lnTo>
                  <a:pt x="168926" y="203474"/>
                </a:lnTo>
                <a:lnTo>
                  <a:pt x="139677" y="197328"/>
                </a:lnTo>
                <a:lnTo>
                  <a:pt x="131199" y="192135"/>
                </a:lnTo>
                <a:lnTo>
                  <a:pt x="116998" y="174119"/>
                </a:lnTo>
                <a:lnTo>
                  <a:pt x="108414" y="164899"/>
                </a:lnTo>
                <a:lnTo>
                  <a:pt x="82768" y="144763"/>
                </a:lnTo>
                <a:lnTo>
                  <a:pt x="39423" y="102479"/>
                </a:lnTo>
                <a:lnTo>
                  <a:pt x="30521" y="91987"/>
                </a:lnTo>
                <a:lnTo>
                  <a:pt x="23845" y="80966"/>
                </a:lnTo>
                <a:lnTo>
                  <a:pt x="18440" y="69202"/>
                </a:lnTo>
                <a:lnTo>
                  <a:pt x="0" y="36562"/>
                </a:lnTo>
                <a:lnTo>
                  <a:pt x="1484" y="29991"/>
                </a:lnTo>
                <a:lnTo>
                  <a:pt x="4239" y="23103"/>
                </a:lnTo>
                <a:lnTo>
                  <a:pt x="3815" y="17486"/>
                </a:lnTo>
                <a:lnTo>
                  <a:pt x="1802" y="11869"/>
                </a:lnTo>
                <a:lnTo>
                  <a:pt x="2226" y="6782"/>
                </a:lnTo>
                <a:lnTo>
                  <a:pt x="7736" y="3815"/>
                </a:lnTo>
                <a:lnTo>
                  <a:pt x="20030" y="0"/>
                </a:lnTo>
                <a:lnTo>
                  <a:pt x="32853" y="424"/>
                </a:lnTo>
                <a:lnTo>
                  <a:pt x="44722" y="2119"/>
                </a:lnTo>
                <a:lnTo>
                  <a:pt x="56168" y="5298"/>
                </a:lnTo>
                <a:lnTo>
                  <a:pt x="67189" y="12081"/>
                </a:lnTo>
                <a:lnTo>
                  <a:pt x="86901" y="29461"/>
                </a:lnTo>
                <a:lnTo>
                  <a:pt x="98134" y="35502"/>
                </a:lnTo>
                <a:lnTo>
                  <a:pt x="110639" y="38363"/>
                </a:lnTo>
                <a:lnTo>
                  <a:pt x="136286" y="42390"/>
                </a:lnTo>
                <a:close/>
                <a:moveTo>
                  <a:pt x="2922405" y="1509210"/>
                </a:moveTo>
                <a:lnTo>
                  <a:pt x="2907463" y="1512919"/>
                </a:lnTo>
                <a:lnTo>
                  <a:pt x="2898137" y="1516522"/>
                </a:lnTo>
                <a:lnTo>
                  <a:pt x="2889235" y="1521185"/>
                </a:lnTo>
                <a:lnTo>
                  <a:pt x="2883618" y="1522245"/>
                </a:lnTo>
                <a:lnTo>
                  <a:pt x="2873444" y="1522563"/>
                </a:lnTo>
                <a:lnTo>
                  <a:pt x="2859137" y="1521715"/>
                </a:lnTo>
                <a:lnTo>
                  <a:pt x="2849388" y="1523305"/>
                </a:lnTo>
                <a:lnTo>
                  <a:pt x="2822364" y="1535492"/>
                </a:lnTo>
                <a:lnTo>
                  <a:pt x="2811660" y="1536552"/>
                </a:lnTo>
                <a:lnTo>
                  <a:pt x="2802440" y="1539625"/>
                </a:lnTo>
                <a:lnTo>
                  <a:pt x="2799261" y="1534856"/>
                </a:lnTo>
                <a:lnTo>
                  <a:pt x="2795446" y="1531359"/>
                </a:lnTo>
                <a:lnTo>
                  <a:pt x="2786438" y="1530405"/>
                </a:lnTo>
                <a:lnTo>
                  <a:pt x="2777430" y="1530723"/>
                </a:lnTo>
                <a:lnTo>
                  <a:pt x="2768210" y="1541532"/>
                </a:lnTo>
                <a:lnTo>
                  <a:pt x="2753691" y="1539307"/>
                </a:lnTo>
                <a:lnTo>
                  <a:pt x="2748074" y="1540155"/>
                </a:lnTo>
                <a:lnTo>
                  <a:pt x="2742563" y="1542486"/>
                </a:lnTo>
                <a:lnTo>
                  <a:pt x="2737159" y="1543440"/>
                </a:lnTo>
                <a:lnTo>
                  <a:pt x="2731542" y="1542698"/>
                </a:lnTo>
                <a:lnTo>
                  <a:pt x="2710241" y="1534326"/>
                </a:lnTo>
                <a:lnTo>
                  <a:pt x="2685760" y="1529345"/>
                </a:lnTo>
                <a:lnTo>
                  <a:pt x="2661386" y="1531253"/>
                </a:lnTo>
                <a:lnTo>
                  <a:pt x="2640296" y="1526696"/>
                </a:lnTo>
                <a:lnTo>
                  <a:pt x="2628745" y="1530193"/>
                </a:lnTo>
                <a:lnTo>
                  <a:pt x="2617829" y="1535280"/>
                </a:lnTo>
                <a:lnTo>
                  <a:pt x="2614650" y="1529981"/>
                </a:lnTo>
                <a:lnTo>
                  <a:pt x="2610623" y="1525318"/>
                </a:lnTo>
                <a:lnTo>
                  <a:pt x="2607126" y="1518324"/>
                </a:lnTo>
                <a:lnTo>
                  <a:pt x="2607020" y="1510375"/>
                </a:lnTo>
                <a:lnTo>
                  <a:pt x="2608185" y="1504865"/>
                </a:lnTo>
                <a:lnTo>
                  <a:pt x="2611365" y="1499778"/>
                </a:lnTo>
                <a:lnTo>
                  <a:pt x="2613272" y="1494479"/>
                </a:lnTo>
                <a:lnTo>
                  <a:pt x="2614226" y="1488862"/>
                </a:lnTo>
                <a:lnTo>
                  <a:pt x="2618783" y="1491512"/>
                </a:lnTo>
                <a:lnTo>
                  <a:pt x="2623658" y="1490558"/>
                </a:lnTo>
                <a:lnTo>
                  <a:pt x="2637965" y="1484411"/>
                </a:lnTo>
                <a:lnTo>
                  <a:pt x="2651954" y="1475085"/>
                </a:lnTo>
                <a:lnTo>
                  <a:pt x="2664989" y="1471694"/>
                </a:lnTo>
                <a:lnTo>
                  <a:pt x="2672513" y="1470740"/>
                </a:lnTo>
                <a:lnTo>
                  <a:pt x="2678978" y="1472542"/>
                </a:lnTo>
                <a:lnTo>
                  <a:pt x="2685442" y="1471906"/>
                </a:lnTo>
                <a:lnTo>
                  <a:pt x="2692119" y="1469786"/>
                </a:lnTo>
                <a:lnTo>
                  <a:pt x="2702716" y="1476993"/>
                </a:lnTo>
                <a:lnTo>
                  <a:pt x="2707061" y="1478371"/>
                </a:lnTo>
                <a:lnTo>
                  <a:pt x="2721368" y="1479006"/>
                </a:lnTo>
                <a:lnTo>
                  <a:pt x="2734403" y="1483139"/>
                </a:lnTo>
                <a:lnTo>
                  <a:pt x="2745955" y="1489286"/>
                </a:lnTo>
                <a:lnTo>
                  <a:pt x="2762805" y="1495009"/>
                </a:lnTo>
                <a:lnTo>
                  <a:pt x="2772873" y="1502745"/>
                </a:lnTo>
                <a:lnTo>
                  <a:pt x="2780609" y="1505606"/>
                </a:lnTo>
                <a:lnTo>
                  <a:pt x="2786226" y="1506348"/>
                </a:lnTo>
                <a:lnTo>
                  <a:pt x="2791525" y="1505289"/>
                </a:lnTo>
                <a:lnTo>
                  <a:pt x="2798095" y="1500096"/>
                </a:lnTo>
                <a:lnTo>
                  <a:pt x="2805831" y="1497976"/>
                </a:lnTo>
                <a:lnTo>
                  <a:pt x="2812614" y="1498082"/>
                </a:lnTo>
                <a:lnTo>
                  <a:pt x="2824907" y="1496704"/>
                </a:lnTo>
                <a:lnTo>
                  <a:pt x="2830100" y="1495433"/>
                </a:lnTo>
                <a:lnTo>
                  <a:pt x="2835929" y="1492571"/>
                </a:lnTo>
                <a:lnTo>
                  <a:pt x="2841545" y="1494373"/>
                </a:lnTo>
                <a:lnTo>
                  <a:pt x="2846526" y="1497022"/>
                </a:lnTo>
                <a:lnTo>
                  <a:pt x="2867298" y="1510587"/>
                </a:lnTo>
                <a:lnTo>
                  <a:pt x="2873656" y="1510905"/>
                </a:lnTo>
                <a:lnTo>
                  <a:pt x="2885314" y="1508044"/>
                </a:lnTo>
                <a:lnTo>
                  <a:pt x="2888917" y="1504335"/>
                </a:lnTo>
                <a:lnTo>
                  <a:pt x="2890718" y="1498824"/>
                </a:lnTo>
                <a:lnTo>
                  <a:pt x="2893898" y="1494161"/>
                </a:lnTo>
                <a:lnTo>
                  <a:pt x="2898349" y="1490134"/>
                </a:lnTo>
                <a:lnTo>
                  <a:pt x="2903436" y="1486955"/>
                </a:lnTo>
                <a:lnTo>
                  <a:pt x="2918908" y="1481762"/>
                </a:lnTo>
                <a:lnTo>
                  <a:pt x="2929506" y="1476569"/>
                </a:lnTo>
                <a:lnTo>
                  <a:pt x="2936818" y="1467879"/>
                </a:lnTo>
                <a:lnTo>
                  <a:pt x="2919862" y="1464064"/>
                </a:lnTo>
                <a:lnTo>
                  <a:pt x="2923359" y="1457811"/>
                </a:lnTo>
                <a:lnTo>
                  <a:pt x="2929082" y="1454208"/>
                </a:lnTo>
                <a:lnTo>
                  <a:pt x="2936606" y="1455586"/>
                </a:lnTo>
                <a:lnTo>
                  <a:pt x="2943071" y="1460461"/>
                </a:lnTo>
                <a:lnTo>
                  <a:pt x="2946038" y="1479218"/>
                </a:lnTo>
                <a:lnTo>
                  <a:pt x="2940633" y="1481868"/>
                </a:lnTo>
                <a:lnTo>
                  <a:pt x="2937348" y="1484729"/>
                </a:lnTo>
                <a:lnTo>
                  <a:pt x="2935017" y="1488438"/>
                </a:lnTo>
                <a:lnTo>
                  <a:pt x="2925373" y="1495327"/>
                </a:lnTo>
                <a:lnTo>
                  <a:pt x="2929188" y="1503911"/>
                </a:lnTo>
                <a:lnTo>
                  <a:pt x="2926327" y="1507514"/>
                </a:lnTo>
                <a:lnTo>
                  <a:pt x="2922405" y="1509210"/>
                </a:lnTo>
                <a:close/>
                <a:moveTo>
                  <a:pt x="2628851" y="1590070"/>
                </a:moveTo>
                <a:lnTo>
                  <a:pt x="2633620" y="1594839"/>
                </a:lnTo>
                <a:lnTo>
                  <a:pt x="2650894" y="1603953"/>
                </a:lnTo>
                <a:lnTo>
                  <a:pt x="2653755" y="1607874"/>
                </a:lnTo>
                <a:lnTo>
                  <a:pt x="2654815" y="1614232"/>
                </a:lnTo>
                <a:lnTo>
                  <a:pt x="2658312" y="1619001"/>
                </a:lnTo>
                <a:lnTo>
                  <a:pt x="2666154" y="1619743"/>
                </a:lnTo>
                <a:lnTo>
                  <a:pt x="2674527" y="1618789"/>
                </a:lnTo>
                <a:lnTo>
                  <a:pt x="2680885" y="1621757"/>
                </a:lnTo>
                <a:lnTo>
                  <a:pt x="2686396" y="1626526"/>
                </a:lnTo>
                <a:lnTo>
                  <a:pt x="2694556" y="1635745"/>
                </a:lnTo>
                <a:lnTo>
                  <a:pt x="2701657" y="1646025"/>
                </a:lnTo>
                <a:lnTo>
                  <a:pt x="2710559" y="1651748"/>
                </a:lnTo>
                <a:lnTo>
                  <a:pt x="2715751" y="1660226"/>
                </a:lnTo>
                <a:lnTo>
                  <a:pt x="2712678" y="1667750"/>
                </a:lnTo>
                <a:lnTo>
                  <a:pt x="2701445" y="1678242"/>
                </a:lnTo>
                <a:lnTo>
                  <a:pt x="2695298" y="1680468"/>
                </a:lnTo>
                <a:lnTo>
                  <a:pt x="2687032" y="1681315"/>
                </a:lnTo>
                <a:lnTo>
                  <a:pt x="2673997" y="1687462"/>
                </a:lnTo>
                <a:lnTo>
                  <a:pt x="2669334" y="1684177"/>
                </a:lnTo>
                <a:lnTo>
                  <a:pt x="2654497" y="1681951"/>
                </a:lnTo>
                <a:lnTo>
                  <a:pt x="2642840" y="1677500"/>
                </a:lnTo>
                <a:lnTo>
                  <a:pt x="2632984" y="1669340"/>
                </a:lnTo>
                <a:lnTo>
                  <a:pt x="2627261" y="1660544"/>
                </a:lnTo>
                <a:lnTo>
                  <a:pt x="2620161" y="1652808"/>
                </a:lnTo>
                <a:lnTo>
                  <a:pt x="2607655" y="1647509"/>
                </a:lnTo>
                <a:lnTo>
                  <a:pt x="2585188" y="1632354"/>
                </a:lnTo>
                <a:lnTo>
                  <a:pt x="2571306" y="1630977"/>
                </a:lnTo>
                <a:lnTo>
                  <a:pt x="2565689" y="1632036"/>
                </a:lnTo>
                <a:lnTo>
                  <a:pt x="2559966" y="1632142"/>
                </a:lnTo>
                <a:lnTo>
                  <a:pt x="2530505" y="1625254"/>
                </a:lnTo>
                <a:lnTo>
                  <a:pt x="2525948" y="1621227"/>
                </a:lnTo>
                <a:lnTo>
                  <a:pt x="2522344" y="1616140"/>
                </a:lnTo>
                <a:lnTo>
                  <a:pt x="2519059" y="1611053"/>
                </a:lnTo>
                <a:lnTo>
                  <a:pt x="2517152" y="1605330"/>
                </a:lnTo>
                <a:lnTo>
                  <a:pt x="2520861" y="1600349"/>
                </a:lnTo>
                <a:lnTo>
                  <a:pt x="2524782" y="1596958"/>
                </a:lnTo>
                <a:lnTo>
                  <a:pt x="2541208" y="1591023"/>
                </a:lnTo>
                <a:lnTo>
                  <a:pt x="2552866" y="1589222"/>
                </a:lnTo>
                <a:lnTo>
                  <a:pt x="2566431" y="1589540"/>
                </a:lnTo>
                <a:lnTo>
                  <a:pt x="2586672" y="1587632"/>
                </a:lnTo>
                <a:lnTo>
                  <a:pt x="2605748" y="1590600"/>
                </a:lnTo>
                <a:lnTo>
                  <a:pt x="2611683" y="1588480"/>
                </a:lnTo>
                <a:lnTo>
                  <a:pt x="2621326" y="1582227"/>
                </a:lnTo>
                <a:lnTo>
                  <a:pt x="2624718" y="1584453"/>
                </a:lnTo>
                <a:lnTo>
                  <a:pt x="2628851" y="1590070"/>
                </a:lnTo>
                <a:close/>
                <a:moveTo>
                  <a:pt x="2441167" y="1478053"/>
                </a:moveTo>
                <a:lnTo>
                  <a:pt x="2446465" y="1482186"/>
                </a:lnTo>
                <a:lnTo>
                  <a:pt x="2451340" y="1481868"/>
                </a:lnTo>
                <a:lnTo>
                  <a:pt x="2461408" y="1475403"/>
                </a:lnTo>
                <a:lnTo>
                  <a:pt x="2467555" y="1473072"/>
                </a:lnTo>
                <a:lnTo>
                  <a:pt x="2474019" y="1472966"/>
                </a:lnTo>
                <a:lnTo>
                  <a:pt x="2480378" y="1474131"/>
                </a:lnTo>
                <a:lnTo>
                  <a:pt x="2486630" y="1478582"/>
                </a:lnTo>
                <a:lnTo>
                  <a:pt x="2488856" y="1486001"/>
                </a:lnTo>
                <a:lnTo>
                  <a:pt x="2491187" y="1488332"/>
                </a:lnTo>
                <a:lnTo>
                  <a:pt x="2494791" y="1479430"/>
                </a:lnTo>
                <a:lnTo>
                  <a:pt x="2499666" y="1476781"/>
                </a:lnTo>
                <a:lnTo>
                  <a:pt x="2505176" y="1475403"/>
                </a:lnTo>
                <a:lnTo>
                  <a:pt x="2513654" y="1475933"/>
                </a:lnTo>
                <a:lnTo>
                  <a:pt x="2520225" y="1480172"/>
                </a:lnTo>
                <a:lnTo>
                  <a:pt x="2526160" y="1492783"/>
                </a:lnTo>
                <a:lnTo>
                  <a:pt x="2525948" y="1503805"/>
                </a:lnTo>
                <a:lnTo>
                  <a:pt x="2528067" y="1507938"/>
                </a:lnTo>
                <a:lnTo>
                  <a:pt x="2532200" y="1510905"/>
                </a:lnTo>
                <a:lnTo>
                  <a:pt x="2535274" y="1515144"/>
                </a:lnTo>
                <a:lnTo>
                  <a:pt x="2532518" y="1519595"/>
                </a:lnTo>
                <a:lnTo>
                  <a:pt x="2529869" y="1521715"/>
                </a:lnTo>
                <a:lnTo>
                  <a:pt x="2522133" y="1523834"/>
                </a:lnTo>
                <a:lnTo>
                  <a:pt x="2518423" y="1522881"/>
                </a:lnTo>
                <a:lnTo>
                  <a:pt x="2515032" y="1519913"/>
                </a:lnTo>
                <a:lnTo>
                  <a:pt x="2511217" y="1518853"/>
                </a:lnTo>
                <a:lnTo>
                  <a:pt x="2502527" y="1519807"/>
                </a:lnTo>
                <a:lnTo>
                  <a:pt x="2494579" y="1522245"/>
                </a:lnTo>
                <a:lnTo>
                  <a:pt x="2495638" y="1526378"/>
                </a:lnTo>
                <a:lnTo>
                  <a:pt x="2502209" y="1528179"/>
                </a:lnTo>
                <a:lnTo>
                  <a:pt x="2504223" y="1530087"/>
                </a:lnTo>
                <a:lnTo>
                  <a:pt x="2503799" y="1532630"/>
                </a:lnTo>
                <a:lnTo>
                  <a:pt x="2501149" y="1533160"/>
                </a:lnTo>
                <a:lnTo>
                  <a:pt x="2492671" y="1529663"/>
                </a:lnTo>
                <a:lnTo>
                  <a:pt x="2486948" y="1530405"/>
                </a:lnTo>
                <a:lnTo>
                  <a:pt x="2466283" y="1535068"/>
                </a:lnTo>
                <a:lnTo>
                  <a:pt x="2460772" y="1534962"/>
                </a:lnTo>
                <a:lnTo>
                  <a:pt x="2457699" y="1530511"/>
                </a:lnTo>
                <a:lnTo>
                  <a:pt x="2457911" y="1518959"/>
                </a:lnTo>
                <a:lnTo>
                  <a:pt x="2455685" y="1515886"/>
                </a:lnTo>
                <a:lnTo>
                  <a:pt x="2440319" y="1529981"/>
                </a:lnTo>
                <a:lnTo>
                  <a:pt x="2435656" y="1533478"/>
                </a:lnTo>
                <a:lnTo>
                  <a:pt x="2429509" y="1535068"/>
                </a:lnTo>
                <a:lnTo>
                  <a:pt x="2423045" y="1534538"/>
                </a:lnTo>
                <a:lnTo>
                  <a:pt x="2400790" y="1543016"/>
                </a:lnTo>
                <a:lnTo>
                  <a:pt x="2393795" y="1541850"/>
                </a:lnTo>
                <a:lnTo>
                  <a:pt x="2387119" y="1541850"/>
                </a:lnTo>
                <a:lnTo>
                  <a:pt x="2363380" y="1551176"/>
                </a:lnTo>
                <a:lnTo>
                  <a:pt x="2350663" y="1553720"/>
                </a:lnTo>
                <a:lnTo>
                  <a:pt x="2344092" y="1553932"/>
                </a:lnTo>
                <a:lnTo>
                  <a:pt x="2337628" y="1553084"/>
                </a:lnTo>
                <a:lnTo>
                  <a:pt x="2331799" y="1553932"/>
                </a:lnTo>
                <a:lnTo>
                  <a:pt x="2326606" y="1557641"/>
                </a:lnTo>
                <a:lnTo>
                  <a:pt x="2316008" y="1560820"/>
                </a:lnTo>
                <a:lnTo>
                  <a:pt x="2305093" y="1558383"/>
                </a:lnTo>
                <a:lnTo>
                  <a:pt x="2295873" y="1555203"/>
                </a:lnTo>
                <a:lnTo>
                  <a:pt x="2287077" y="1550964"/>
                </a:lnTo>
                <a:lnTo>
                  <a:pt x="2284957" y="1545560"/>
                </a:lnTo>
                <a:lnTo>
                  <a:pt x="2285381" y="1539095"/>
                </a:lnTo>
                <a:lnTo>
                  <a:pt x="2289090" y="1530299"/>
                </a:lnTo>
                <a:lnTo>
                  <a:pt x="2286547" y="1514826"/>
                </a:lnTo>
                <a:lnTo>
                  <a:pt x="2288455" y="1507726"/>
                </a:lnTo>
                <a:lnTo>
                  <a:pt x="2292058" y="1500732"/>
                </a:lnTo>
                <a:lnTo>
                  <a:pt x="2297463" y="1498188"/>
                </a:lnTo>
                <a:lnTo>
                  <a:pt x="2304563" y="1497658"/>
                </a:lnTo>
                <a:lnTo>
                  <a:pt x="2316326" y="1491406"/>
                </a:lnTo>
                <a:lnTo>
                  <a:pt x="2327030" y="1483245"/>
                </a:lnTo>
                <a:lnTo>
                  <a:pt x="2333283" y="1484093"/>
                </a:lnTo>
                <a:lnTo>
                  <a:pt x="2347377" y="1489816"/>
                </a:lnTo>
                <a:lnTo>
                  <a:pt x="2355644" y="1490452"/>
                </a:lnTo>
                <a:lnTo>
                  <a:pt x="2369632" y="1489498"/>
                </a:lnTo>
                <a:lnTo>
                  <a:pt x="2375461" y="1493101"/>
                </a:lnTo>
                <a:lnTo>
                  <a:pt x="2377687" y="1501155"/>
                </a:lnTo>
                <a:lnTo>
                  <a:pt x="2380866" y="1504017"/>
                </a:lnTo>
                <a:lnTo>
                  <a:pt x="2384999" y="1506136"/>
                </a:lnTo>
                <a:lnTo>
                  <a:pt x="2394961" y="1519701"/>
                </a:lnTo>
                <a:lnTo>
                  <a:pt x="2404181" y="1518959"/>
                </a:lnTo>
                <a:lnTo>
                  <a:pt x="2412341" y="1521503"/>
                </a:lnTo>
                <a:lnTo>
                  <a:pt x="2426542" y="1513237"/>
                </a:lnTo>
                <a:lnTo>
                  <a:pt x="2437351" y="1513449"/>
                </a:lnTo>
                <a:lnTo>
                  <a:pt x="2440425" y="1507090"/>
                </a:lnTo>
                <a:lnTo>
                  <a:pt x="2433960" y="1500308"/>
                </a:lnTo>
                <a:lnTo>
                  <a:pt x="2426118" y="1494691"/>
                </a:lnTo>
                <a:lnTo>
                  <a:pt x="2421985" y="1493525"/>
                </a:lnTo>
                <a:lnTo>
                  <a:pt x="2417428" y="1493843"/>
                </a:lnTo>
                <a:lnTo>
                  <a:pt x="2413295" y="1492995"/>
                </a:lnTo>
                <a:lnTo>
                  <a:pt x="2395915" y="1480596"/>
                </a:lnTo>
                <a:lnTo>
                  <a:pt x="2390722" y="1473920"/>
                </a:lnTo>
                <a:lnTo>
                  <a:pt x="2387754" y="1466077"/>
                </a:lnTo>
                <a:lnTo>
                  <a:pt x="2389556" y="1460249"/>
                </a:lnTo>
                <a:lnTo>
                  <a:pt x="2401531" y="1455056"/>
                </a:lnTo>
                <a:lnTo>
                  <a:pt x="2407148" y="1453784"/>
                </a:lnTo>
                <a:lnTo>
                  <a:pt x="2427919" y="1457281"/>
                </a:lnTo>
                <a:lnTo>
                  <a:pt x="2431523" y="1460249"/>
                </a:lnTo>
                <a:lnTo>
                  <a:pt x="2437033" y="1472648"/>
                </a:lnTo>
                <a:lnTo>
                  <a:pt x="2441167" y="1478053"/>
                </a:lnTo>
                <a:close/>
                <a:moveTo>
                  <a:pt x="3145592" y="491094"/>
                </a:moveTo>
                <a:lnTo>
                  <a:pt x="3125350" y="509004"/>
                </a:lnTo>
                <a:lnTo>
                  <a:pt x="3119204" y="517694"/>
                </a:lnTo>
                <a:lnTo>
                  <a:pt x="3113799" y="527126"/>
                </a:lnTo>
                <a:lnTo>
                  <a:pt x="3105851" y="537512"/>
                </a:lnTo>
                <a:lnTo>
                  <a:pt x="3096737" y="546626"/>
                </a:lnTo>
                <a:lnTo>
                  <a:pt x="3092074" y="549381"/>
                </a:lnTo>
                <a:lnTo>
                  <a:pt x="3080840" y="554362"/>
                </a:lnTo>
                <a:lnTo>
                  <a:pt x="3074376" y="556270"/>
                </a:lnTo>
                <a:lnTo>
                  <a:pt x="3062082" y="556800"/>
                </a:lnTo>
                <a:lnTo>
                  <a:pt x="3025308" y="564112"/>
                </a:lnTo>
                <a:lnTo>
                  <a:pt x="3013227" y="565066"/>
                </a:lnTo>
                <a:lnTo>
                  <a:pt x="3001146" y="564748"/>
                </a:lnTo>
                <a:lnTo>
                  <a:pt x="2978255" y="562840"/>
                </a:lnTo>
                <a:lnTo>
                  <a:pt x="2973486" y="561887"/>
                </a:lnTo>
                <a:lnTo>
                  <a:pt x="2964372" y="552455"/>
                </a:lnTo>
                <a:lnTo>
                  <a:pt x="2954198" y="545036"/>
                </a:lnTo>
                <a:lnTo>
                  <a:pt x="2945084" y="544189"/>
                </a:lnTo>
                <a:lnTo>
                  <a:pt x="2935864" y="545036"/>
                </a:lnTo>
                <a:lnTo>
                  <a:pt x="2869205" y="545566"/>
                </a:lnTo>
                <a:lnTo>
                  <a:pt x="2845890" y="546944"/>
                </a:lnTo>
                <a:lnTo>
                  <a:pt x="2822682" y="550229"/>
                </a:lnTo>
                <a:lnTo>
                  <a:pt x="2810070" y="548745"/>
                </a:lnTo>
                <a:lnTo>
                  <a:pt x="2797565" y="545036"/>
                </a:lnTo>
                <a:lnTo>
                  <a:pt x="2788133" y="543765"/>
                </a:lnTo>
                <a:lnTo>
                  <a:pt x="2778595" y="544083"/>
                </a:lnTo>
                <a:lnTo>
                  <a:pt x="2734827" y="549699"/>
                </a:lnTo>
                <a:lnTo>
                  <a:pt x="2723806" y="549169"/>
                </a:lnTo>
                <a:lnTo>
                  <a:pt x="2701657" y="541963"/>
                </a:lnTo>
                <a:lnTo>
                  <a:pt x="2688833" y="540585"/>
                </a:lnTo>
                <a:lnTo>
                  <a:pt x="2676222" y="542493"/>
                </a:lnTo>
                <a:lnTo>
                  <a:pt x="2664459" y="548957"/>
                </a:lnTo>
                <a:lnTo>
                  <a:pt x="2660008" y="553302"/>
                </a:lnTo>
                <a:lnTo>
                  <a:pt x="2647821" y="568033"/>
                </a:lnTo>
                <a:lnTo>
                  <a:pt x="2640932" y="578843"/>
                </a:lnTo>
                <a:lnTo>
                  <a:pt x="2635739" y="592302"/>
                </a:lnTo>
                <a:lnTo>
                  <a:pt x="2631288" y="606079"/>
                </a:lnTo>
                <a:lnTo>
                  <a:pt x="2628851" y="617312"/>
                </a:lnTo>
                <a:lnTo>
                  <a:pt x="2628745" y="629076"/>
                </a:lnTo>
                <a:lnTo>
                  <a:pt x="2630864" y="642323"/>
                </a:lnTo>
                <a:lnTo>
                  <a:pt x="2634150" y="655464"/>
                </a:lnTo>
                <a:lnTo>
                  <a:pt x="2637753" y="665426"/>
                </a:lnTo>
                <a:lnTo>
                  <a:pt x="2653013" y="688528"/>
                </a:lnTo>
                <a:lnTo>
                  <a:pt x="2656087" y="691814"/>
                </a:lnTo>
                <a:lnTo>
                  <a:pt x="2672513" y="698384"/>
                </a:lnTo>
                <a:lnTo>
                  <a:pt x="2682369" y="706650"/>
                </a:lnTo>
                <a:lnTo>
                  <a:pt x="2691589" y="729859"/>
                </a:lnTo>
                <a:lnTo>
                  <a:pt x="2698159" y="741729"/>
                </a:lnTo>
                <a:lnTo>
                  <a:pt x="2704730" y="741835"/>
                </a:lnTo>
                <a:lnTo>
                  <a:pt x="2711936" y="741093"/>
                </a:lnTo>
                <a:lnTo>
                  <a:pt x="2724547" y="742576"/>
                </a:lnTo>
                <a:lnTo>
                  <a:pt x="2737053" y="745650"/>
                </a:lnTo>
                <a:lnTo>
                  <a:pt x="2749240" y="738443"/>
                </a:lnTo>
                <a:lnTo>
                  <a:pt x="2756022" y="724984"/>
                </a:lnTo>
                <a:lnTo>
                  <a:pt x="2762805" y="715022"/>
                </a:lnTo>
                <a:lnTo>
                  <a:pt x="2779125" y="696053"/>
                </a:lnTo>
                <a:lnTo>
                  <a:pt x="2788451" y="687257"/>
                </a:lnTo>
                <a:lnTo>
                  <a:pt x="2794492" y="684395"/>
                </a:lnTo>
                <a:lnTo>
                  <a:pt x="2800533" y="685561"/>
                </a:lnTo>
                <a:lnTo>
                  <a:pt x="2805619" y="690648"/>
                </a:lnTo>
                <a:lnTo>
                  <a:pt x="2811660" y="694675"/>
                </a:lnTo>
                <a:lnTo>
                  <a:pt x="2823847" y="696795"/>
                </a:lnTo>
                <a:lnTo>
                  <a:pt x="2836247" y="695417"/>
                </a:lnTo>
                <a:lnTo>
                  <a:pt x="2849388" y="689270"/>
                </a:lnTo>
                <a:lnTo>
                  <a:pt x="2854051" y="685455"/>
                </a:lnTo>
                <a:lnTo>
                  <a:pt x="2857972" y="680686"/>
                </a:lnTo>
                <a:lnTo>
                  <a:pt x="2869099" y="676765"/>
                </a:lnTo>
                <a:lnTo>
                  <a:pt x="2895593" y="676765"/>
                </a:lnTo>
                <a:lnTo>
                  <a:pt x="2909264" y="678143"/>
                </a:lnTo>
                <a:lnTo>
                  <a:pt x="2933639" y="676553"/>
                </a:lnTo>
                <a:lnTo>
                  <a:pt x="2933321" y="673056"/>
                </a:lnTo>
                <a:lnTo>
                  <a:pt x="2928552" y="669347"/>
                </a:lnTo>
                <a:lnTo>
                  <a:pt x="2927280" y="666379"/>
                </a:lnTo>
                <a:lnTo>
                  <a:pt x="2931837" y="664472"/>
                </a:lnTo>
                <a:lnTo>
                  <a:pt x="2947522" y="660127"/>
                </a:lnTo>
                <a:lnTo>
                  <a:pt x="2963524" y="657053"/>
                </a:lnTo>
                <a:lnTo>
                  <a:pt x="2975182" y="659279"/>
                </a:lnTo>
                <a:lnTo>
                  <a:pt x="2985673" y="665320"/>
                </a:lnTo>
                <a:lnTo>
                  <a:pt x="2989594" y="671466"/>
                </a:lnTo>
                <a:lnTo>
                  <a:pt x="2991396" y="678990"/>
                </a:lnTo>
                <a:lnTo>
                  <a:pt x="2987369" y="698490"/>
                </a:lnTo>
                <a:lnTo>
                  <a:pt x="2985461" y="702941"/>
                </a:lnTo>
                <a:lnTo>
                  <a:pt x="2977195" y="705273"/>
                </a:lnTo>
                <a:lnTo>
                  <a:pt x="2969353" y="702729"/>
                </a:lnTo>
                <a:lnTo>
                  <a:pt x="2961617" y="692661"/>
                </a:lnTo>
                <a:lnTo>
                  <a:pt x="2950595" y="688952"/>
                </a:lnTo>
                <a:lnTo>
                  <a:pt x="2935123" y="692026"/>
                </a:lnTo>
                <a:lnTo>
                  <a:pt x="2929824" y="694887"/>
                </a:lnTo>
                <a:lnTo>
                  <a:pt x="2924949" y="698914"/>
                </a:lnTo>
                <a:lnTo>
                  <a:pt x="2916259" y="709300"/>
                </a:lnTo>
                <a:lnTo>
                  <a:pt x="2908946" y="721063"/>
                </a:lnTo>
                <a:lnTo>
                  <a:pt x="2893156" y="739397"/>
                </a:lnTo>
                <a:lnTo>
                  <a:pt x="2874822" y="755294"/>
                </a:lnTo>
                <a:lnTo>
                  <a:pt x="2866026" y="761334"/>
                </a:lnTo>
                <a:lnTo>
                  <a:pt x="2856170" y="765467"/>
                </a:lnTo>
                <a:lnTo>
                  <a:pt x="2824483" y="775959"/>
                </a:lnTo>
                <a:lnTo>
                  <a:pt x="2816111" y="783801"/>
                </a:lnTo>
                <a:lnTo>
                  <a:pt x="2809646" y="793975"/>
                </a:lnTo>
                <a:lnTo>
                  <a:pt x="2802440" y="797366"/>
                </a:lnTo>
                <a:lnTo>
                  <a:pt x="2794174" y="798532"/>
                </a:lnTo>
                <a:lnTo>
                  <a:pt x="2787921" y="796624"/>
                </a:lnTo>
                <a:lnTo>
                  <a:pt x="2775310" y="790902"/>
                </a:lnTo>
                <a:lnTo>
                  <a:pt x="2771071" y="795565"/>
                </a:lnTo>
                <a:lnTo>
                  <a:pt x="2770435" y="802771"/>
                </a:lnTo>
                <a:lnTo>
                  <a:pt x="2776688" y="805314"/>
                </a:lnTo>
                <a:lnTo>
                  <a:pt x="2786650" y="813263"/>
                </a:lnTo>
                <a:lnTo>
                  <a:pt x="2794386" y="824496"/>
                </a:lnTo>
                <a:lnTo>
                  <a:pt x="2799367" y="826934"/>
                </a:lnTo>
                <a:lnTo>
                  <a:pt x="2810388" y="830537"/>
                </a:lnTo>
                <a:lnTo>
                  <a:pt x="2815051" y="834034"/>
                </a:lnTo>
                <a:lnTo>
                  <a:pt x="2823317" y="843678"/>
                </a:lnTo>
                <a:lnTo>
                  <a:pt x="2836459" y="865933"/>
                </a:lnTo>
                <a:lnTo>
                  <a:pt x="2840910" y="878014"/>
                </a:lnTo>
                <a:lnTo>
                  <a:pt x="2848222" y="887976"/>
                </a:lnTo>
                <a:lnTo>
                  <a:pt x="2870371" y="904720"/>
                </a:lnTo>
                <a:lnTo>
                  <a:pt x="2871537" y="909383"/>
                </a:lnTo>
                <a:lnTo>
                  <a:pt x="2870159" y="914894"/>
                </a:lnTo>
                <a:lnTo>
                  <a:pt x="2871961" y="919981"/>
                </a:lnTo>
                <a:lnTo>
                  <a:pt x="2879803" y="929519"/>
                </a:lnTo>
                <a:lnTo>
                  <a:pt x="2881710" y="935771"/>
                </a:lnTo>
                <a:lnTo>
                  <a:pt x="2873020" y="943614"/>
                </a:lnTo>
                <a:lnTo>
                  <a:pt x="2872596" y="955059"/>
                </a:lnTo>
                <a:lnTo>
                  <a:pt x="2867298" y="970320"/>
                </a:lnTo>
                <a:lnTo>
                  <a:pt x="2866026" y="975512"/>
                </a:lnTo>
                <a:lnTo>
                  <a:pt x="2866238" y="980175"/>
                </a:lnTo>
                <a:lnTo>
                  <a:pt x="2869947" y="984626"/>
                </a:lnTo>
                <a:lnTo>
                  <a:pt x="2874292" y="988018"/>
                </a:lnTo>
                <a:lnTo>
                  <a:pt x="2880227" y="989819"/>
                </a:lnTo>
                <a:lnTo>
                  <a:pt x="2885526" y="992893"/>
                </a:lnTo>
                <a:lnTo>
                  <a:pt x="2895487" y="1004868"/>
                </a:lnTo>
                <a:lnTo>
                  <a:pt x="2900786" y="1007941"/>
                </a:lnTo>
                <a:lnTo>
                  <a:pt x="2904071" y="1012286"/>
                </a:lnTo>
                <a:lnTo>
                  <a:pt x="2903754" y="1018857"/>
                </a:lnTo>
                <a:lnTo>
                  <a:pt x="2908311" y="1022672"/>
                </a:lnTo>
                <a:lnTo>
                  <a:pt x="2912550" y="1029348"/>
                </a:lnTo>
                <a:lnTo>
                  <a:pt x="2918908" y="1031044"/>
                </a:lnTo>
                <a:lnTo>
                  <a:pt x="2921981" y="1029137"/>
                </a:lnTo>
                <a:lnTo>
                  <a:pt x="2923995" y="1026169"/>
                </a:lnTo>
                <a:lnTo>
                  <a:pt x="2929294" y="1027335"/>
                </a:lnTo>
                <a:lnTo>
                  <a:pt x="2932367" y="1031998"/>
                </a:lnTo>
                <a:lnTo>
                  <a:pt x="2934169" y="1038039"/>
                </a:lnTo>
                <a:lnTo>
                  <a:pt x="2934805" y="1044715"/>
                </a:lnTo>
                <a:lnTo>
                  <a:pt x="2934487" y="1057432"/>
                </a:lnTo>
                <a:lnTo>
                  <a:pt x="2931837" y="1061989"/>
                </a:lnTo>
                <a:lnTo>
                  <a:pt x="2926115" y="1061777"/>
                </a:lnTo>
                <a:lnTo>
                  <a:pt x="2915729" y="1056584"/>
                </a:lnTo>
                <a:lnTo>
                  <a:pt x="2915199" y="1060294"/>
                </a:lnTo>
                <a:lnTo>
                  <a:pt x="2915941" y="1064003"/>
                </a:lnTo>
                <a:lnTo>
                  <a:pt x="2910642" y="1065169"/>
                </a:lnTo>
                <a:lnTo>
                  <a:pt x="2904601" y="1064639"/>
                </a:lnTo>
                <a:lnTo>
                  <a:pt x="2889341" y="1065169"/>
                </a:lnTo>
                <a:lnTo>
                  <a:pt x="2861363" y="1073011"/>
                </a:lnTo>
                <a:lnTo>
                  <a:pt x="2851507" y="1077674"/>
                </a:lnTo>
                <a:lnTo>
                  <a:pt x="2845149" y="1086152"/>
                </a:lnTo>
                <a:lnTo>
                  <a:pt x="2844725" y="1091981"/>
                </a:lnTo>
                <a:lnTo>
                  <a:pt x="2847162" y="1104380"/>
                </a:lnTo>
                <a:lnTo>
                  <a:pt x="2843453" y="1108619"/>
                </a:lnTo>
                <a:lnTo>
                  <a:pt x="2830630" y="1110314"/>
                </a:lnTo>
                <a:lnTo>
                  <a:pt x="2812720" y="1107029"/>
                </a:lnTo>
                <a:lnTo>
                  <a:pt x="2801910" y="1103744"/>
                </a:lnTo>
                <a:lnTo>
                  <a:pt x="2795870" y="1100989"/>
                </a:lnTo>
                <a:lnTo>
                  <a:pt x="2787921" y="1092616"/>
                </a:lnTo>
                <a:lnTo>
                  <a:pt x="2785060" y="1082019"/>
                </a:lnTo>
                <a:lnTo>
                  <a:pt x="2790783" y="1050438"/>
                </a:lnTo>
                <a:lnTo>
                  <a:pt x="2792478" y="1046411"/>
                </a:lnTo>
                <a:lnTo>
                  <a:pt x="2795234" y="1042807"/>
                </a:lnTo>
                <a:lnTo>
                  <a:pt x="2798307" y="1036979"/>
                </a:lnTo>
                <a:lnTo>
                  <a:pt x="2798943" y="1030302"/>
                </a:lnTo>
                <a:lnTo>
                  <a:pt x="2790359" y="1022036"/>
                </a:lnTo>
                <a:lnTo>
                  <a:pt x="2777536" y="1018751"/>
                </a:lnTo>
                <a:lnTo>
                  <a:pt x="2766620" y="1011862"/>
                </a:lnTo>
                <a:lnTo>
                  <a:pt x="2724335" y="973393"/>
                </a:lnTo>
                <a:lnTo>
                  <a:pt x="2722004" y="969684"/>
                </a:lnTo>
                <a:lnTo>
                  <a:pt x="2721898" y="963219"/>
                </a:lnTo>
                <a:lnTo>
                  <a:pt x="2723594" y="957285"/>
                </a:lnTo>
                <a:lnTo>
                  <a:pt x="2737477" y="936195"/>
                </a:lnTo>
                <a:lnTo>
                  <a:pt x="2739172" y="932168"/>
                </a:lnTo>
                <a:lnTo>
                  <a:pt x="2740868" y="915530"/>
                </a:lnTo>
                <a:lnTo>
                  <a:pt x="2740550" y="901859"/>
                </a:lnTo>
                <a:lnTo>
                  <a:pt x="2738960" y="888188"/>
                </a:lnTo>
                <a:lnTo>
                  <a:pt x="2732390" y="879498"/>
                </a:lnTo>
                <a:lnTo>
                  <a:pt x="2720626" y="876954"/>
                </a:lnTo>
                <a:lnTo>
                  <a:pt x="2708545" y="876531"/>
                </a:lnTo>
                <a:lnTo>
                  <a:pt x="2696782" y="879286"/>
                </a:lnTo>
                <a:lnTo>
                  <a:pt x="2685124" y="886174"/>
                </a:lnTo>
                <a:lnTo>
                  <a:pt x="2663611" y="900693"/>
                </a:lnTo>
                <a:lnTo>
                  <a:pt x="2655133" y="909065"/>
                </a:lnTo>
                <a:lnTo>
                  <a:pt x="2654391" y="920087"/>
                </a:lnTo>
                <a:lnTo>
                  <a:pt x="2659266" y="930790"/>
                </a:lnTo>
                <a:lnTo>
                  <a:pt x="2665625" y="940646"/>
                </a:lnTo>
                <a:lnTo>
                  <a:pt x="2669016" y="951350"/>
                </a:lnTo>
                <a:lnTo>
                  <a:pt x="2673785" y="989395"/>
                </a:lnTo>
                <a:lnTo>
                  <a:pt x="2673573" y="993740"/>
                </a:lnTo>
                <a:lnTo>
                  <a:pt x="2668062" y="1004762"/>
                </a:lnTo>
                <a:lnTo>
                  <a:pt x="2665837" y="1029560"/>
                </a:lnTo>
                <a:lnTo>
                  <a:pt x="2668274" y="1064427"/>
                </a:lnTo>
                <a:lnTo>
                  <a:pt x="2671983" y="1085834"/>
                </a:lnTo>
                <a:lnTo>
                  <a:pt x="2670394" y="1097491"/>
                </a:lnTo>
                <a:lnTo>
                  <a:pt x="2660326" y="1122502"/>
                </a:lnTo>
                <a:lnTo>
                  <a:pt x="2657252" y="1136279"/>
                </a:lnTo>
                <a:lnTo>
                  <a:pt x="2657040" y="1141895"/>
                </a:lnTo>
                <a:lnTo>
                  <a:pt x="2668910" y="1168072"/>
                </a:lnTo>
                <a:lnTo>
                  <a:pt x="2671665" y="1178351"/>
                </a:lnTo>
                <a:lnTo>
                  <a:pt x="2673043" y="1189055"/>
                </a:lnTo>
                <a:lnTo>
                  <a:pt x="2660538" y="1183862"/>
                </a:lnTo>
                <a:lnTo>
                  <a:pt x="2654603" y="1184074"/>
                </a:lnTo>
                <a:lnTo>
                  <a:pt x="2648774" y="1185664"/>
                </a:lnTo>
                <a:lnTo>
                  <a:pt x="2635633" y="1187359"/>
                </a:lnTo>
                <a:lnTo>
                  <a:pt x="2622386" y="1187677"/>
                </a:lnTo>
                <a:lnTo>
                  <a:pt x="2617723" y="1189585"/>
                </a:lnTo>
                <a:lnTo>
                  <a:pt x="2608185" y="1196579"/>
                </a:lnTo>
                <a:lnTo>
                  <a:pt x="2602463" y="1199335"/>
                </a:lnTo>
                <a:lnTo>
                  <a:pt x="2597482" y="1199865"/>
                </a:lnTo>
                <a:lnTo>
                  <a:pt x="2580526" y="1191174"/>
                </a:lnTo>
                <a:lnTo>
                  <a:pt x="2570564" y="1181743"/>
                </a:lnTo>
                <a:lnTo>
                  <a:pt x="2561344" y="1171463"/>
                </a:lnTo>
                <a:lnTo>
                  <a:pt x="2559648" y="1159699"/>
                </a:lnTo>
                <a:lnTo>
                  <a:pt x="2562933" y="1147724"/>
                </a:lnTo>
                <a:lnTo>
                  <a:pt x="2567490" y="1134795"/>
                </a:lnTo>
                <a:lnTo>
                  <a:pt x="2576604" y="1113388"/>
                </a:lnTo>
                <a:lnTo>
                  <a:pt x="2576180" y="1099081"/>
                </a:lnTo>
                <a:lnTo>
                  <a:pt x="2579254" y="1087318"/>
                </a:lnTo>
                <a:lnTo>
                  <a:pt x="2584447" y="1075872"/>
                </a:lnTo>
                <a:lnTo>
                  <a:pt x="2586354" y="1065380"/>
                </a:lnTo>
                <a:lnTo>
                  <a:pt x="2587626" y="1024050"/>
                </a:lnTo>
                <a:lnTo>
                  <a:pt x="2586248" y="1020446"/>
                </a:lnTo>
                <a:lnTo>
                  <a:pt x="2573849" y="995966"/>
                </a:lnTo>
                <a:lnTo>
                  <a:pt x="2572365" y="991833"/>
                </a:lnTo>
                <a:lnTo>
                  <a:pt x="2572259" y="985156"/>
                </a:lnTo>
                <a:lnTo>
                  <a:pt x="2573637" y="978904"/>
                </a:lnTo>
                <a:lnTo>
                  <a:pt x="2573955" y="973181"/>
                </a:lnTo>
                <a:lnTo>
                  <a:pt x="2570988" y="968836"/>
                </a:lnTo>
                <a:lnTo>
                  <a:pt x="2566007" y="964809"/>
                </a:lnTo>
                <a:lnTo>
                  <a:pt x="2559860" y="963113"/>
                </a:lnTo>
                <a:lnTo>
                  <a:pt x="2546931" y="964809"/>
                </a:lnTo>
                <a:lnTo>
                  <a:pt x="2520967" y="971485"/>
                </a:lnTo>
                <a:lnTo>
                  <a:pt x="2513230" y="965657"/>
                </a:lnTo>
                <a:lnTo>
                  <a:pt x="2507508" y="956649"/>
                </a:lnTo>
                <a:lnTo>
                  <a:pt x="2503799" y="944143"/>
                </a:lnTo>
                <a:lnTo>
                  <a:pt x="2501573" y="931108"/>
                </a:lnTo>
                <a:lnTo>
                  <a:pt x="2502633" y="918815"/>
                </a:lnTo>
                <a:lnTo>
                  <a:pt x="2506448" y="906946"/>
                </a:lnTo>
                <a:lnTo>
                  <a:pt x="2503375" y="898574"/>
                </a:lnTo>
                <a:lnTo>
                  <a:pt x="2498606" y="889566"/>
                </a:lnTo>
                <a:lnTo>
                  <a:pt x="2498500" y="884903"/>
                </a:lnTo>
                <a:lnTo>
                  <a:pt x="2501255" y="880770"/>
                </a:lnTo>
                <a:lnTo>
                  <a:pt x="2505918" y="877378"/>
                </a:lnTo>
                <a:lnTo>
                  <a:pt x="2511747" y="875365"/>
                </a:lnTo>
                <a:lnTo>
                  <a:pt x="2517046" y="871762"/>
                </a:lnTo>
                <a:lnTo>
                  <a:pt x="2531246" y="859680"/>
                </a:lnTo>
                <a:lnTo>
                  <a:pt x="2535803" y="848977"/>
                </a:lnTo>
                <a:lnTo>
                  <a:pt x="2536121" y="835836"/>
                </a:lnTo>
                <a:lnTo>
                  <a:pt x="2539725" y="823330"/>
                </a:lnTo>
                <a:lnTo>
                  <a:pt x="2547037" y="811779"/>
                </a:lnTo>
                <a:lnTo>
                  <a:pt x="2555621" y="801075"/>
                </a:lnTo>
                <a:lnTo>
                  <a:pt x="2558376" y="789948"/>
                </a:lnTo>
                <a:lnTo>
                  <a:pt x="2554137" y="772462"/>
                </a:lnTo>
                <a:lnTo>
                  <a:pt x="2555833" y="764407"/>
                </a:lnTo>
                <a:lnTo>
                  <a:pt x="2554349" y="755082"/>
                </a:lnTo>
                <a:lnTo>
                  <a:pt x="2554243" y="745756"/>
                </a:lnTo>
                <a:lnTo>
                  <a:pt x="2559542" y="728270"/>
                </a:lnTo>
                <a:lnTo>
                  <a:pt x="2575333" y="692661"/>
                </a:lnTo>
                <a:lnTo>
                  <a:pt x="2590805" y="673692"/>
                </a:lnTo>
                <a:lnTo>
                  <a:pt x="2596846" y="668711"/>
                </a:lnTo>
                <a:lnTo>
                  <a:pt x="2604900" y="677507"/>
                </a:lnTo>
                <a:lnTo>
                  <a:pt x="2610941" y="687893"/>
                </a:lnTo>
                <a:lnTo>
                  <a:pt x="2611047" y="678461"/>
                </a:lnTo>
                <a:lnTo>
                  <a:pt x="2609457" y="669241"/>
                </a:lnTo>
                <a:lnTo>
                  <a:pt x="2603310" y="647833"/>
                </a:lnTo>
                <a:lnTo>
                  <a:pt x="2598012" y="605867"/>
                </a:lnTo>
                <a:lnTo>
                  <a:pt x="2599495" y="601946"/>
                </a:lnTo>
                <a:lnTo>
                  <a:pt x="2604900" y="602582"/>
                </a:lnTo>
                <a:lnTo>
                  <a:pt x="2610305" y="598872"/>
                </a:lnTo>
                <a:lnTo>
                  <a:pt x="2613272" y="592302"/>
                </a:lnTo>
                <a:lnTo>
                  <a:pt x="2607549" y="576723"/>
                </a:lnTo>
                <a:lnTo>
                  <a:pt x="2607232" y="571212"/>
                </a:lnTo>
                <a:lnTo>
                  <a:pt x="2618253" y="549381"/>
                </a:lnTo>
                <a:lnTo>
                  <a:pt x="2627261" y="541433"/>
                </a:lnTo>
                <a:lnTo>
                  <a:pt x="2631182" y="536452"/>
                </a:lnTo>
                <a:lnTo>
                  <a:pt x="2633408" y="523099"/>
                </a:lnTo>
                <a:lnTo>
                  <a:pt x="2638177" y="518118"/>
                </a:lnTo>
                <a:lnTo>
                  <a:pt x="2644111" y="514515"/>
                </a:lnTo>
                <a:lnTo>
                  <a:pt x="2651848" y="505295"/>
                </a:lnTo>
                <a:lnTo>
                  <a:pt x="2656087" y="493638"/>
                </a:lnTo>
                <a:lnTo>
                  <a:pt x="2658630" y="492790"/>
                </a:lnTo>
                <a:lnTo>
                  <a:pt x="2661597" y="492366"/>
                </a:lnTo>
                <a:lnTo>
                  <a:pt x="2666366" y="502434"/>
                </a:lnTo>
                <a:lnTo>
                  <a:pt x="2671559" y="506567"/>
                </a:lnTo>
                <a:lnTo>
                  <a:pt x="2682263" y="509852"/>
                </a:lnTo>
                <a:lnTo>
                  <a:pt x="2691377" y="506037"/>
                </a:lnTo>
                <a:lnTo>
                  <a:pt x="2693814" y="500950"/>
                </a:lnTo>
                <a:lnTo>
                  <a:pt x="2697312" y="496499"/>
                </a:lnTo>
                <a:lnTo>
                  <a:pt x="2702822" y="491942"/>
                </a:lnTo>
                <a:lnTo>
                  <a:pt x="2707485" y="486749"/>
                </a:lnTo>
                <a:lnTo>
                  <a:pt x="2712678" y="474774"/>
                </a:lnTo>
                <a:lnTo>
                  <a:pt x="2719461" y="463752"/>
                </a:lnTo>
                <a:lnTo>
                  <a:pt x="2724124" y="459937"/>
                </a:lnTo>
                <a:lnTo>
                  <a:pt x="2729740" y="457500"/>
                </a:lnTo>
                <a:lnTo>
                  <a:pt x="2736099" y="456016"/>
                </a:lnTo>
                <a:lnTo>
                  <a:pt x="2742140" y="455804"/>
                </a:lnTo>
                <a:lnTo>
                  <a:pt x="2755493" y="462799"/>
                </a:lnTo>
                <a:lnTo>
                  <a:pt x="2763335" y="464070"/>
                </a:lnTo>
                <a:lnTo>
                  <a:pt x="2771283" y="463540"/>
                </a:lnTo>
                <a:lnTo>
                  <a:pt x="2776264" y="464706"/>
                </a:lnTo>
                <a:lnTo>
                  <a:pt x="2780079" y="467886"/>
                </a:lnTo>
                <a:lnTo>
                  <a:pt x="2783576" y="474032"/>
                </a:lnTo>
                <a:lnTo>
                  <a:pt x="2787815" y="479437"/>
                </a:lnTo>
                <a:lnTo>
                  <a:pt x="2791842" y="482086"/>
                </a:lnTo>
                <a:lnTo>
                  <a:pt x="2796187" y="483358"/>
                </a:lnTo>
                <a:lnTo>
                  <a:pt x="2825331" y="481133"/>
                </a:lnTo>
                <a:lnTo>
                  <a:pt x="2850871" y="487279"/>
                </a:lnTo>
                <a:lnTo>
                  <a:pt x="2885738" y="488657"/>
                </a:lnTo>
                <a:lnTo>
                  <a:pt x="2897607" y="492260"/>
                </a:lnTo>
                <a:lnTo>
                  <a:pt x="2909052" y="496817"/>
                </a:lnTo>
                <a:lnTo>
                  <a:pt x="2923147" y="505083"/>
                </a:lnTo>
                <a:lnTo>
                  <a:pt x="2928234" y="506885"/>
                </a:lnTo>
                <a:lnTo>
                  <a:pt x="2933957" y="506461"/>
                </a:lnTo>
                <a:lnTo>
                  <a:pt x="2941163" y="498725"/>
                </a:lnTo>
                <a:lnTo>
                  <a:pt x="2946780" y="497029"/>
                </a:lnTo>
                <a:lnTo>
                  <a:pt x="2952503" y="496711"/>
                </a:lnTo>
                <a:lnTo>
                  <a:pt x="2974864" y="498195"/>
                </a:lnTo>
                <a:lnTo>
                  <a:pt x="3035164" y="507733"/>
                </a:lnTo>
                <a:lnTo>
                  <a:pt x="3044066" y="506461"/>
                </a:lnTo>
                <a:lnTo>
                  <a:pt x="3080416" y="488233"/>
                </a:lnTo>
                <a:lnTo>
                  <a:pt x="3094935" y="470959"/>
                </a:lnTo>
                <a:lnTo>
                  <a:pt x="3107970" y="466190"/>
                </a:lnTo>
                <a:lnTo>
                  <a:pt x="3112315" y="458348"/>
                </a:lnTo>
                <a:lnTo>
                  <a:pt x="3114965" y="449022"/>
                </a:lnTo>
                <a:lnTo>
                  <a:pt x="3119627" y="446478"/>
                </a:lnTo>
                <a:lnTo>
                  <a:pt x="3130543" y="443829"/>
                </a:lnTo>
                <a:lnTo>
                  <a:pt x="3134888" y="440967"/>
                </a:lnTo>
                <a:lnTo>
                  <a:pt x="3142624" y="429522"/>
                </a:lnTo>
                <a:lnTo>
                  <a:pt x="3151738" y="419348"/>
                </a:lnTo>
                <a:lnTo>
                  <a:pt x="3156189" y="416275"/>
                </a:lnTo>
                <a:lnTo>
                  <a:pt x="3169118" y="417865"/>
                </a:lnTo>
                <a:lnTo>
                  <a:pt x="3174841" y="422316"/>
                </a:lnTo>
                <a:lnTo>
                  <a:pt x="3182154" y="437364"/>
                </a:lnTo>
                <a:lnTo>
                  <a:pt x="3180882" y="439802"/>
                </a:lnTo>
                <a:lnTo>
                  <a:pt x="3172298" y="447326"/>
                </a:lnTo>
                <a:lnTo>
                  <a:pt x="3169754" y="450399"/>
                </a:lnTo>
                <a:lnTo>
                  <a:pt x="3160322" y="471489"/>
                </a:lnTo>
                <a:lnTo>
                  <a:pt x="3153858" y="481768"/>
                </a:lnTo>
                <a:lnTo>
                  <a:pt x="3145592" y="491094"/>
                </a:lnTo>
                <a:close/>
                <a:moveTo>
                  <a:pt x="1289415" y="1233247"/>
                </a:moveTo>
                <a:lnTo>
                  <a:pt x="1300119" y="1245328"/>
                </a:lnTo>
                <a:lnTo>
                  <a:pt x="1309445" y="1251793"/>
                </a:lnTo>
                <a:lnTo>
                  <a:pt x="1320466" y="1255290"/>
                </a:lnTo>
                <a:lnTo>
                  <a:pt x="1332017" y="1255608"/>
                </a:lnTo>
                <a:lnTo>
                  <a:pt x="1343463" y="1257092"/>
                </a:lnTo>
                <a:lnTo>
                  <a:pt x="1356710" y="1261755"/>
                </a:lnTo>
                <a:lnTo>
                  <a:pt x="1370381" y="1263874"/>
                </a:lnTo>
                <a:lnTo>
                  <a:pt x="1376634" y="1263026"/>
                </a:lnTo>
                <a:lnTo>
                  <a:pt x="1382674" y="1260695"/>
                </a:lnTo>
                <a:lnTo>
                  <a:pt x="1387019" y="1260483"/>
                </a:lnTo>
                <a:lnTo>
                  <a:pt x="1390728" y="1262709"/>
                </a:lnTo>
                <a:lnTo>
                  <a:pt x="1400160" y="1272988"/>
                </a:lnTo>
                <a:lnTo>
                  <a:pt x="1410440" y="1282314"/>
                </a:lnTo>
                <a:lnTo>
                  <a:pt x="1412772" y="1287083"/>
                </a:lnTo>
                <a:lnTo>
                  <a:pt x="1419766" y="1309656"/>
                </a:lnTo>
                <a:lnTo>
                  <a:pt x="1427608" y="1316227"/>
                </a:lnTo>
                <a:lnTo>
                  <a:pt x="1438418" y="1318028"/>
                </a:lnTo>
                <a:lnTo>
                  <a:pt x="1451029" y="1318028"/>
                </a:lnTo>
                <a:lnTo>
                  <a:pt x="1463640" y="1318982"/>
                </a:lnTo>
                <a:lnTo>
                  <a:pt x="1492890" y="1324281"/>
                </a:lnTo>
                <a:lnTo>
                  <a:pt x="1504547" y="1323539"/>
                </a:lnTo>
                <a:lnTo>
                  <a:pt x="1514827" y="1318240"/>
                </a:lnTo>
                <a:lnTo>
                  <a:pt x="1523941" y="1321737"/>
                </a:lnTo>
                <a:lnTo>
                  <a:pt x="1548739" y="1327990"/>
                </a:lnTo>
                <a:lnTo>
                  <a:pt x="1560927" y="1329474"/>
                </a:lnTo>
                <a:lnTo>
                  <a:pt x="1574809" y="1327672"/>
                </a:lnTo>
                <a:lnTo>
                  <a:pt x="1588692" y="1327248"/>
                </a:lnTo>
                <a:lnTo>
                  <a:pt x="1595369" y="1329050"/>
                </a:lnTo>
                <a:lnTo>
                  <a:pt x="1601727" y="1331805"/>
                </a:lnTo>
                <a:lnTo>
                  <a:pt x="1607238" y="1332865"/>
                </a:lnTo>
                <a:lnTo>
                  <a:pt x="1612855" y="1332759"/>
                </a:lnTo>
                <a:lnTo>
                  <a:pt x="1622923" y="1327460"/>
                </a:lnTo>
                <a:lnTo>
                  <a:pt x="1629599" y="1317816"/>
                </a:lnTo>
                <a:lnTo>
                  <a:pt x="1634898" y="1305523"/>
                </a:lnTo>
                <a:lnTo>
                  <a:pt x="1639137" y="1292806"/>
                </a:lnTo>
                <a:lnTo>
                  <a:pt x="1641998" y="1287295"/>
                </a:lnTo>
                <a:lnTo>
                  <a:pt x="1645814" y="1282420"/>
                </a:lnTo>
                <a:lnTo>
                  <a:pt x="1650795" y="1279347"/>
                </a:lnTo>
                <a:lnTo>
                  <a:pt x="1656199" y="1277333"/>
                </a:lnTo>
                <a:lnTo>
                  <a:pt x="1670718" y="1278605"/>
                </a:lnTo>
                <a:lnTo>
                  <a:pt x="1673791" y="1281678"/>
                </a:lnTo>
                <a:lnTo>
                  <a:pt x="1690006" y="1303297"/>
                </a:lnTo>
                <a:lnTo>
                  <a:pt x="1692973" y="1305205"/>
                </a:lnTo>
                <a:lnTo>
                  <a:pt x="1709929" y="1306583"/>
                </a:lnTo>
                <a:lnTo>
                  <a:pt x="1714698" y="1305841"/>
                </a:lnTo>
                <a:lnTo>
                  <a:pt x="1724978" y="1301496"/>
                </a:lnTo>
                <a:lnTo>
                  <a:pt x="1730913" y="1301072"/>
                </a:lnTo>
                <a:lnTo>
                  <a:pt x="1741934" y="1306477"/>
                </a:lnTo>
                <a:lnTo>
                  <a:pt x="1746597" y="1311034"/>
                </a:lnTo>
                <a:lnTo>
                  <a:pt x="1751896" y="1314319"/>
                </a:lnTo>
                <a:lnTo>
                  <a:pt x="1778602" y="1317816"/>
                </a:lnTo>
                <a:lnTo>
                  <a:pt x="1788882" y="1327036"/>
                </a:lnTo>
                <a:lnTo>
                  <a:pt x="1794181" y="1328308"/>
                </a:lnTo>
                <a:lnTo>
                  <a:pt x="1812726" y="1327142"/>
                </a:lnTo>
                <a:lnTo>
                  <a:pt x="1825656" y="1328096"/>
                </a:lnTo>
                <a:lnTo>
                  <a:pt x="1836783" y="1330533"/>
                </a:lnTo>
                <a:lnTo>
                  <a:pt x="1841870" y="1343780"/>
                </a:lnTo>
                <a:lnTo>
                  <a:pt x="1846003" y="1357239"/>
                </a:lnTo>
                <a:lnTo>
                  <a:pt x="1848441" y="1361796"/>
                </a:lnTo>
                <a:lnTo>
                  <a:pt x="1859356" y="1366459"/>
                </a:lnTo>
                <a:lnTo>
                  <a:pt x="1863807" y="1370593"/>
                </a:lnTo>
                <a:lnTo>
                  <a:pt x="1862641" y="1384157"/>
                </a:lnTo>
                <a:lnTo>
                  <a:pt x="1863913" y="1396875"/>
                </a:lnTo>
                <a:lnTo>
                  <a:pt x="1887122" y="1408108"/>
                </a:lnTo>
                <a:lnTo>
                  <a:pt x="1911920" y="1414467"/>
                </a:lnTo>
                <a:lnTo>
                  <a:pt x="1938414" y="1415103"/>
                </a:lnTo>
                <a:lnTo>
                  <a:pt x="1964803" y="1412877"/>
                </a:lnTo>
                <a:lnTo>
                  <a:pt x="1978474" y="1410122"/>
                </a:lnTo>
                <a:lnTo>
                  <a:pt x="1995536" y="1405353"/>
                </a:lnTo>
                <a:lnTo>
                  <a:pt x="1999139" y="1405459"/>
                </a:lnTo>
                <a:lnTo>
                  <a:pt x="2032204" y="1420083"/>
                </a:lnTo>
                <a:lnTo>
                  <a:pt x="2034959" y="1422309"/>
                </a:lnTo>
                <a:lnTo>
                  <a:pt x="2038668" y="1433331"/>
                </a:lnTo>
                <a:lnTo>
                  <a:pt x="2038562" y="1444882"/>
                </a:lnTo>
                <a:lnTo>
                  <a:pt x="2032416" y="1472224"/>
                </a:lnTo>
                <a:lnTo>
                  <a:pt x="2031992" y="1479748"/>
                </a:lnTo>
                <a:lnTo>
                  <a:pt x="2032628" y="1487273"/>
                </a:lnTo>
                <a:lnTo>
                  <a:pt x="2039198" y="1503593"/>
                </a:lnTo>
                <a:lnTo>
                  <a:pt x="2042695" y="1508362"/>
                </a:lnTo>
                <a:lnTo>
                  <a:pt x="2054671" y="1516946"/>
                </a:lnTo>
                <a:lnTo>
                  <a:pt x="2055095" y="1521397"/>
                </a:lnTo>
                <a:lnTo>
                  <a:pt x="2053505" y="1525954"/>
                </a:lnTo>
                <a:lnTo>
                  <a:pt x="2040258" y="1522881"/>
                </a:lnTo>
                <a:lnTo>
                  <a:pt x="2032204" y="1519065"/>
                </a:lnTo>
                <a:lnTo>
                  <a:pt x="2027541" y="1512919"/>
                </a:lnTo>
                <a:lnTo>
                  <a:pt x="2020970" y="1509528"/>
                </a:lnTo>
                <a:lnTo>
                  <a:pt x="2008571" y="1510693"/>
                </a:lnTo>
                <a:lnTo>
                  <a:pt x="1985256" y="1504547"/>
                </a:lnTo>
                <a:lnTo>
                  <a:pt x="1959080" y="1495009"/>
                </a:lnTo>
                <a:lnTo>
                  <a:pt x="1912450" y="1474767"/>
                </a:lnTo>
                <a:lnTo>
                  <a:pt x="1899839" y="1474873"/>
                </a:lnTo>
                <a:lnTo>
                  <a:pt x="1887652" y="1477523"/>
                </a:lnTo>
                <a:lnTo>
                  <a:pt x="1874829" y="1482610"/>
                </a:lnTo>
                <a:lnTo>
                  <a:pt x="1861476" y="1486319"/>
                </a:lnTo>
                <a:lnTo>
                  <a:pt x="1851620" y="1487696"/>
                </a:lnTo>
                <a:lnTo>
                  <a:pt x="1841764" y="1486743"/>
                </a:lnTo>
                <a:lnTo>
                  <a:pt x="1816966" y="1481868"/>
                </a:lnTo>
                <a:lnTo>
                  <a:pt x="1791849" y="1478688"/>
                </a:lnTo>
                <a:lnTo>
                  <a:pt x="1727733" y="1476675"/>
                </a:lnTo>
                <a:lnTo>
                  <a:pt x="1709611" y="1472118"/>
                </a:lnTo>
                <a:lnTo>
                  <a:pt x="1679514" y="1469786"/>
                </a:lnTo>
                <a:lnTo>
                  <a:pt x="1655669" y="1465759"/>
                </a:lnTo>
                <a:lnTo>
                  <a:pt x="1632037" y="1460143"/>
                </a:lnTo>
                <a:lnTo>
                  <a:pt x="1571842" y="1432801"/>
                </a:lnTo>
                <a:lnTo>
                  <a:pt x="1552130" y="1426124"/>
                </a:lnTo>
                <a:lnTo>
                  <a:pt x="1491618" y="1413089"/>
                </a:lnTo>
                <a:lnTo>
                  <a:pt x="1482292" y="1412029"/>
                </a:lnTo>
                <a:lnTo>
                  <a:pt x="1460355" y="1412983"/>
                </a:lnTo>
                <a:lnTo>
                  <a:pt x="1446472" y="1409168"/>
                </a:lnTo>
                <a:lnTo>
                  <a:pt x="1434285" y="1409062"/>
                </a:lnTo>
                <a:lnTo>
                  <a:pt x="1416269" y="1413301"/>
                </a:lnTo>
                <a:lnTo>
                  <a:pt x="1410652" y="1416374"/>
                </a:lnTo>
                <a:lnTo>
                  <a:pt x="1403658" y="1422839"/>
                </a:lnTo>
                <a:lnTo>
                  <a:pt x="1391364" y="1422521"/>
                </a:lnTo>
                <a:lnTo>
                  <a:pt x="1379177" y="1421249"/>
                </a:lnTo>
                <a:lnTo>
                  <a:pt x="1346960" y="1415103"/>
                </a:lnTo>
                <a:lnTo>
                  <a:pt x="1334985" y="1411287"/>
                </a:lnTo>
                <a:lnTo>
                  <a:pt x="1323539" y="1405777"/>
                </a:lnTo>
                <a:lnTo>
                  <a:pt x="1313154" y="1398464"/>
                </a:lnTo>
                <a:lnTo>
                  <a:pt x="1307749" y="1395815"/>
                </a:lnTo>
                <a:lnTo>
                  <a:pt x="1279983" y="1388397"/>
                </a:lnTo>
                <a:lnTo>
                  <a:pt x="1257304" y="1385747"/>
                </a:lnTo>
                <a:lnTo>
                  <a:pt x="1210675" y="1382462"/>
                </a:lnTo>
                <a:lnTo>
                  <a:pt x="1200501" y="1380130"/>
                </a:lnTo>
                <a:lnTo>
                  <a:pt x="1192023" y="1377481"/>
                </a:lnTo>
                <a:lnTo>
                  <a:pt x="1187360" y="1371440"/>
                </a:lnTo>
                <a:lnTo>
                  <a:pt x="1187996" y="1363704"/>
                </a:lnTo>
                <a:lnTo>
                  <a:pt x="1191281" y="1357134"/>
                </a:lnTo>
                <a:lnTo>
                  <a:pt x="1195944" y="1350457"/>
                </a:lnTo>
                <a:lnTo>
                  <a:pt x="1198911" y="1344098"/>
                </a:lnTo>
                <a:lnTo>
                  <a:pt x="1164787" y="1330745"/>
                </a:lnTo>
                <a:lnTo>
                  <a:pt x="1137869" y="1323433"/>
                </a:lnTo>
                <a:lnTo>
                  <a:pt x="1126317" y="1322055"/>
                </a:lnTo>
                <a:lnTo>
                  <a:pt x="1114660" y="1322055"/>
                </a:lnTo>
                <a:lnTo>
                  <a:pt x="1101519" y="1323539"/>
                </a:lnTo>
                <a:lnTo>
                  <a:pt x="1088484" y="1322903"/>
                </a:lnTo>
                <a:lnTo>
                  <a:pt x="1082443" y="1320678"/>
                </a:lnTo>
                <a:lnTo>
                  <a:pt x="1076190" y="1319936"/>
                </a:lnTo>
                <a:lnTo>
                  <a:pt x="1069938" y="1321525"/>
                </a:lnTo>
                <a:lnTo>
                  <a:pt x="1064851" y="1320890"/>
                </a:lnTo>
                <a:lnTo>
                  <a:pt x="1063579" y="1314849"/>
                </a:lnTo>
                <a:lnTo>
                  <a:pt x="1066759" y="1309656"/>
                </a:lnTo>
                <a:lnTo>
                  <a:pt x="1073435" y="1303827"/>
                </a:lnTo>
                <a:lnTo>
                  <a:pt x="1077144" y="1302768"/>
                </a:lnTo>
                <a:lnTo>
                  <a:pt x="1078840" y="1311988"/>
                </a:lnTo>
                <a:lnTo>
                  <a:pt x="1080747" y="1313789"/>
                </a:lnTo>
                <a:lnTo>
                  <a:pt x="1086576" y="1315803"/>
                </a:lnTo>
                <a:lnTo>
                  <a:pt x="1089120" y="1315273"/>
                </a:lnTo>
                <a:lnTo>
                  <a:pt x="1099399" y="1303509"/>
                </a:lnTo>
                <a:lnTo>
                  <a:pt x="1102261" y="1297787"/>
                </a:lnTo>
                <a:lnTo>
                  <a:pt x="1107242" y="1282208"/>
                </a:lnTo>
                <a:lnTo>
                  <a:pt x="1112646" y="1285176"/>
                </a:lnTo>
                <a:lnTo>
                  <a:pt x="1118051" y="1283268"/>
                </a:lnTo>
                <a:lnTo>
                  <a:pt x="1121230" y="1280830"/>
                </a:lnTo>
                <a:lnTo>
                  <a:pt x="1129815" y="1244693"/>
                </a:lnTo>
                <a:lnTo>
                  <a:pt x="1137021" y="1234201"/>
                </a:lnTo>
                <a:lnTo>
                  <a:pt x="1146877" y="1225405"/>
                </a:lnTo>
                <a:lnTo>
                  <a:pt x="1151752" y="1223285"/>
                </a:lnTo>
                <a:lnTo>
                  <a:pt x="1161395" y="1228690"/>
                </a:lnTo>
                <a:lnTo>
                  <a:pt x="1180895" y="1230704"/>
                </a:lnTo>
                <a:lnTo>
                  <a:pt x="1192447" y="1234307"/>
                </a:lnTo>
                <a:lnTo>
                  <a:pt x="1204104" y="1234731"/>
                </a:lnTo>
                <a:lnTo>
                  <a:pt x="1215443" y="1236426"/>
                </a:lnTo>
                <a:lnTo>
                  <a:pt x="1231234" y="1242785"/>
                </a:lnTo>
                <a:lnTo>
                  <a:pt x="1236851" y="1242149"/>
                </a:lnTo>
                <a:lnTo>
                  <a:pt x="1242573" y="1240136"/>
                </a:lnTo>
                <a:lnTo>
                  <a:pt x="1251052" y="1233247"/>
                </a:lnTo>
                <a:lnTo>
                  <a:pt x="1254655" y="1222226"/>
                </a:lnTo>
                <a:lnTo>
                  <a:pt x="1266948" y="1227842"/>
                </a:lnTo>
                <a:lnTo>
                  <a:pt x="1284964" y="1230068"/>
                </a:lnTo>
                <a:lnTo>
                  <a:pt x="1289415" y="1233247"/>
                </a:lnTo>
                <a:close/>
                <a:moveTo>
                  <a:pt x="1528392" y="381621"/>
                </a:moveTo>
                <a:lnTo>
                  <a:pt x="1518854" y="395610"/>
                </a:lnTo>
                <a:lnTo>
                  <a:pt x="1519914" y="400696"/>
                </a:lnTo>
                <a:lnTo>
                  <a:pt x="1522245" y="405147"/>
                </a:lnTo>
                <a:lnTo>
                  <a:pt x="1529134" y="408221"/>
                </a:lnTo>
                <a:lnTo>
                  <a:pt x="1531041" y="425389"/>
                </a:lnTo>
                <a:lnTo>
                  <a:pt x="1539731" y="435139"/>
                </a:lnTo>
                <a:lnTo>
                  <a:pt x="1548421" y="444041"/>
                </a:lnTo>
                <a:lnTo>
                  <a:pt x="1554886" y="448386"/>
                </a:lnTo>
                <a:lnTo>
                  <a:pt x="1561880" y="454744"/>
                </a:lnTo>
                <a:lnTo>
                  <a:pt x="1566861" y="460573"/>
                </a:lnTo>
                <a:lnTo>
                  <a:pt x="1572054" y="465554"/>
                </a:lnTo>
                <a:lnTo>
                  <a:pt x="1579896" y="470429"/>
                </a:lnTo>
                <a:lnTo>
                  <a:pt x="1601092" y="490988"/>
                </a:lnTo>
                <a:lnTo>
                  <a:pt x="1609994" y="497029"/>
                </a:lnTo>
                <a:lnTo>
                  <a:pt x="1616564" y="503070"/>
                </a:lnTo>
                <a:lnTo>
                  <a:pt x="1621333" y="505189"/>
                </a:lnTo>
                <a:lnTo>
                  <a:pt x="1632885" y="503494"/>
                </a:lnTo>
                <a:lnTo>
                  <a:pt x="1667115" y="488763"/>
                </a:lnTo>
                <a:lnTo>
                  <a:pt x="1673262" y="487809"/>
                </a:lnTo>
                <a:lnTo>
                  <a:pt x="1684389" y="485160"/>
                </a:lnTo>
                <a:lnTo>
                  <a:pt x="1704101" y="486007"/>
                </a:lnTo>
                <a:lnTo>
                  <a:pt x="1724872" y="490988"/>
                </a:lnTo>
                <a:lnTo>
                  <a:pt x="1731655" y="491200"/>
                </a:lnTo>
                <a:lnTo>
                  <a:pt x="1738013" y="488127"/>
                </a:lnTo>
                <a:lnTo>
                  <a:pt x="1746915" y="489081"/>
                </a:lnTo>
                <a:lnTo>
                  <a:pt x="1755287" y="490670"/>
                </a:lnTo>
                <a:lnTo>
                  <a:pt x="1759420" y="489293"/>
                </a:lnTo>
                <a:lnTo>
                  <a:pt x="1771502" y="478589"/>
                </a:lnTo>
                <a:lnTo>
                  <a:pt x="1788034" y="475410"/>
                </a:lnTo>
                <a:lnTo>
                  <a:pt x="1793333" y="464706"/>
                </a:lnTo>
                <a:lnTo>
                  <a:pt x="1797360" y="454744"/>
                </a:lnTo>
                <a:lnTo>
                  <a:pt x="1799373" y="444041"/>
                </a:lnTo>
                <a:lnTo>
                  <a:pt x="1806262" y="439696"/>
                </a:lnTo>
                <a:lnTo>
                  <a:pt x="1815906" y="435987"/>
                </a:lnTo>
                <a:lnTo>
                  <a:pt x="1830107" y="431324"/>
                </a:lnTo>
                <a:lnTo>
                  <a:pt x="1879598" y="430476"/>
                </a:lnTo>
                <a:lnTo>
                  <a:pt x="1884367" y="432489"/>
                </a:lnTo>
                <a:lnTo>
                  <a:pt x="1885426" y="438000"/>
                </a:lnTo>
                <a:lnTo>
                  <a:pt x="1884367" y="442133"/>
                </a:lnTo>
                <a:lnTo>
                  <a:pt x="1886380" y="444571"/>
                </a:lnTo>
                <a:lnTo>
                  <a:pt x="1892951" y="444783"/>
                </a:lnTo>
                <a:lnTo>
                  <a:pt x="1898991" y="447326"/>
                </a:lnTo>
                <a:lnTo>
                  <a:pt x="1923684" y="455910"/>
                </a:lnTo>
                <a:lnTo>
                  <a:pt x="1934175" y="458560"/>
                </a:lnTo>
                <a:lnTo>
                  <a:pt x="1940004" y="457924"/>
                </a:lnTo>
                <a:lnTo>
                  <a:pt x="1951556" y="465554"/>
                </a:lnTo>
                <a:lnTo>
                  <a:pt x="1957914" y="462905"/>
                </a:lnTo>
                <a:lnTo>
                  <a:pt x="1966180" y="457606"/>
                </a:lnTo>
                <a:lnTo>
                  <a:pt x="1974129" y="450293"/>
                </a:lnTo>
                <a:lnTo>
                  <a:pt x="1981229" y="444571"/>
                </a:lnTo>
                <a:lnTo>
                  <a:pt x="1991615" y="442345"/>
                </a:lnTo>
                <a:lnTo>
                  <a:pt x="2004968" y="442663"/>
                </a:lnTo>
                <a:lnTo>
                  <a:pt x="2020758" y="440650"/>
                </a:lnTo>
                <a:lnTo>
                  <a:pt x="2032628" y="437576"/>
                </a:lnTo>
                <a:lnTo>
                  <a:pt x="2045981" y="442663"/>
                </a:lnTo>
                <a:lnTo>
                  <a:pt x="2049478" y="441073"/>
                </a:lnTo>
                <a:lnTo>
                  <a:pt x="2051703" y="436093"/>
                </a:lnTo>
                <a:lnTo>
                  <a:pt x="2058592" y="425177"/>
                </a:lnTo>
                <a:lnTo>
                  <a:pt x="2061665" y="417865"/>
                </a:lnTo>
                <a:lnTo>
                  <a:pt x="2064314" y="403770"/>
                </a:lnTo>
                <a:lnTo>
                  <a:pt x="2066222" y="400379"/>
                </a:lnTo>
                <a:lnTo>
                  <a:pt x="2071203" y="398471"/>
                </a:lnTo>
                <a:lnTo>
                  <a:pt x="2076396" y="395822"/>
                </a:lnTo>
                <a:lnTo>
                  <a:pt x="2077773" y="391582"/>
                </a:lnTo>
                <a:lnTo>
                  <a:pt x="2079681" y="386708"/>
                </a:lnTo>
                <a:lnTo>
                  <a:pt x="2078091" y="382574"/>
                </a:lnTo>
                <a:lnTo>
                  <a:pt x="2075124" y="379077"/>
                </a:lnTo>
                <a:lnTo>
                  <a:pt x="2072051" y="367420"/>
                </a:lnTo>
                <a:lnTo>
                  <a:pt x="2073005" y="362015"/>
                </a:lnTo>
                <a:lnTo>
                  <a:pt x="2074912" y="358094"/>
                </a:lnTo>
                <a:lnTo>
                  <a:pt x="2080211" y="356080"/>
                </a:lnTo>
                <a:lnTo>
                  <a:pt x="2094306" y="347390"/>
                </a:lnTo>
                <a:lnTo>
                  <a:pt x="2106811" y="337323"/>
                </a:lnTo>
                <a:lnTo>
                  <a:pt x="2113593" y="332342"/>
                </a:lnTo>
                <a:lnTo>
                  <a:pt x="2116561" y="329162"/>
                </a:lnTo>
                <a:lnTo>
                  <a:pt x="2116773" y="324499"/>
                </a:lnTo>
                <a:lnTo>
                  <a:pt x="2111368" y="319730"/>
                </a:lnTo>
                <a:lnTo>
                  <a:pt x="2106175" y="317399"/>
                </a:lnTo>
                <a:lnTo>
                  <a:pt x="2105751" y="311782"/>
                </a:lnTo>
                <a:lnTo>
                  <a:pt x="2105963" y="307967"/>
                </a:lnTo>
                <a:lnTo>
                  <a:pt x="2107553" y="304258"/>
                </a:lnTo>
                <a:lnTo>
                  <a:pt x="2106811" y="300761"/>
                </a:lnTo>
                <a:lnTo>
                  <a:pt x="2106705" y="295462"/>
                </a:lnTo>
                <a:lnTo>
                  <a:pt x="2110096" y="289739"/>
                </a:lnTo>
                <a:lnTo>
                  <a:pt x="2117727" y="281367"/>
                </a:lnTo>
                <a:lnTo>
                  <a:pt x="2123767" y="275856"/>
                </a:lnTo>
                <a:lnTo>
                  <a:pt x="2130444" y="279248"/>
                </a:lnTo>
                <a:lnTo>
                  <a:pt x="2138286" y="277658"/>
                </a:lnTo>
                <a:lnTo>
                  <a:pt x="2145704" y="275008"/>
                </a:lnTo>
                <a:lnTo>
                  <a:pt x="2149837" y="265047"/>
                </a:lnTo>
                <a:lnTo>
                  <a:pt x="2150473" y="260278"/>
                </a:lnTo>
                <a:lnTo>
                  <a:pt x="2149519" y="256463"/>
                </a:lnTo>
                <a:lnTo>
                  <a:pt x="2152063" y="242368"/>
                </a:lnTo>
                <a:lnTo>
                  <a:pt x="2152699" y="240248"/>
                </a:lnTo>
                <a:lnTo>
                  <a:pt x="2157574" y="231346"/>
                </a:lnTo>
                <a:lnTo>
                  <a:pt x="2158104" y="225411"/>
                </a:lnTo>
                <a:lnTo>
                  <a:pt x="2155348" y="211423"/>
                </a:lnTo>
                <a:lnTo>
                  <a:pt x="2157044" y="200931"/>
                </a:lnTo>
                <a:lnTo>
                  <a:pt x="2157786" y="179100"/>
                </a:lnTo>
                <a:lnTo>
                  <a:pt x="2160753" y="175179"/>
                </a:lnTo>
                <a:lnTo>
                  <a:pt x="2164144" y="163945"/>
                </a:lnTo>
                <a:lnTo>
                  <a:pt x="2169549" y="152182"/>
                </a:lnTo>
                <a:lnTo>
                  <a:pt x="2180465" y="145717"/>
                </a:lnTo>
                <a:lnTo>
                  <a:pt x="2186293" y="137345"/>
                </a:lnTo>
                <a:lnTo>
                  <a:pt x="2188837" y="135755"/>
                </a:lnTo>
                <a:lnTo>
                  <a:pt x="2192546" y="135649"/>
                </a:lnTo>
                <a:lnTo>
                  <a:pt x="2205899" y="141796"/>
                </a:lnTo>
                <a:lnTo>
                  <a:pt x="2217768" y="135014"/>
                </a:lnTo>
                <a:lnTo>
                  <a:pt x="2228578" y="134166"/>
                </a:lnTo>
                <a:lnTo>
                  <a:pt x="2237480" y="135120"/>
                </a:lnTo>
                <a:lnTo>
                  <a:pt x="2242567" y="137981"/>
                </a:lnTo>
                <a:lnTo>
                  <a:pt x="2247548" y="139995"/>
                </a:lnTo>
                <a:lnTo>
                  <a:pt x="2258145" y="133318"/>
                </a:lnTo>
                <a:lnTo>
                  <a:pt x="2262172" y="134484"/>
                </a:lnTo>
                <a:lnTo>
                  <a:pt x="2265988" y="136815"/>
                </a:lnTo>
                <a:lnTo>
                  <a:pt x="2271286" y="136709"/>
                </a:lnTo>
                <a:lnTo>
                  <a:pt x="2277539" y="135014"/>
                </a:lnTo>
                <a:lnTo>
                  <a:pt x="2293012" y="136603"/>
                </a:lnTo>
                <a:lnTo>
                  <a:pt x="2320247" y="136921"/>
                </a:lnTo>
                <a:lnTo>
                  <a:pt x="2339005" y="140948"/>
                </a:lnTo>
                <a:lnTo>
                  <a:pt x="2357339" y="152182"/>
                </a:lnTo>
                <a:lnTo>
                  <a:pt x="2366453" y="154513"/>
                </a:lnTo>
                <a:lnTo>
                  <a:pt x="2370374" y="154513"/>
                </a:lnTo>
                <a:lnTo>
                  <a:pt x="2369526" y="155467"/>
                </a:lnTo>
                <a:lnTo>
                  <a:pt x="2362214" y="158540"/>
                </a:lnTo>
                <a:lnTo>
                  <a:pt x="2358823" y="164581"/>
                </a:lnTo>
                <a:lnTo>
                  <a:pt x="2368785" y="173907"/>
                </a:lnTo>
                <a:lnTo>
                  <a:pt x="2369526" y="180054"/>
                </a:lnTo>
                <a:lnTo>
                  <a:pt x="2377263" y="185564"/>
                </a:lnTo>
                <a:lnTo>
                  <a:pt x="2386695" y="194148"/>
                </a:lnTo>
                <a:lnTo>
                  <a:pt x="2387119" y="197010"/>
                </a:lnTo>
                <a:lnTo>
                  <a:pt x="2390298" y="200825"/>
                </a:lnTo>
                <a:lnTo>
                  <a:pt x="2391888" y="205594"/>
                </a:lnTo>
                <a:lnTo>
                  <a:pt x="2385211" y="210257"/>
                </a:lnTo>
                <a:lnTo>
                  <a:pt x="2376309" y="211211"/>
                </a:lnTo>
                <a:lnTo>
                  <a:pt x="2369632" y="206760"/>
                </a:lnTo>
                <a:lnTo>
                  <a:pt x="2363592" y="201249"/>
                </a:lnTo>
                <a:lnTo>
                  <a:pt x="2362002" y="208031"/>
                </a:lnTo>
                <a:lnTo>
                  <a:pt x="2357233" y="211952"/>
                </a:lnTo>
                <a:lnTo>
                  <a:pt x="2340065" y="210893"/>
                </a:lnTo>
                <a:lnTo>
                  <a:pt x="2327772" y="210893"/>
                </a:lnTo>
                <a:lnTo>
                  <a:pt x="2315479" y="212588"/>
                </a:lnTo>
                <a:lnTo>
                  <a:pt x="2321625" y="213648"/>
                </a:lnTo>
                <a:lnTo>
                  <a:pt x="2327136" y="215874"/>
                </a:lnTo>
                <a:lnTo>
                  <a:pt x="2346212" y="233360"/>
                </a:lnTo>
                <a:lnTo>
                  <a:pt x="2350345" y="239930"/>
                </a:lnTo>
                <a:lnTo>
                  <a:pt x="2343668" y="252753"/>
                </a:lnTo>
                <a:lnTo>
                  <a:pt x="2346848" y="258052"/>
                </a:lnTo>
                <a:lnTo>
                  <a:pt x="2354266" y="261126"/>
                </a:lnTo>
                <a:lnTo>
                  <a:pt x="2363274" y="267484"/>
                </a:lnTo>
                <a:lnTo>
                  <a:pt x="2369632" y="268226"/>
                </a:lnTo>
                <a:lnTo>
                  <a:pt x="2374295" y="271829"/>
                </a:lnTo>
                <a:lnTo>
                  <a:pt x="2374401" y="278082"/>
                </a:lnTo>
                <a:lnTo>
                  <a:pt x="2377157" y="283804"/>
                </a:lnTo>
                <a:lnTo>
                  <a:pt x="2369844" y="286136"/>
                </a:lnTo>
                <a:lnTo>
                  <a:pt x="2377051" y="287620"/>
                </a:lnTo>
                <a:lnTo>
                  <a:pt x="2383515" y="290587"/>
                </a:lnTo>
                <a:lnTo>
                  <a:pt x="2380018" y="293554"/>
                </a:lnTo>
                <a:lnTo>
                  <a:pt x="2377263" y="297158"/>
                </a:lnTo>
                <a:lnTo>
                  <a:pt x="2380230" y="299065"/>
                </a:lnTo>
                <a:lnTo>
                  <a:pt x="2389026" y="302350"/>
                </a:lnTo>
                <a:lnTo>
                  <a:pt x="2392841" y="305424"/>
                </a:lnTo>
                <a:lnTo>
                  <a:pt x="2394855" y="313690"/>
                </a:lnTo>
                <a:lnTo>
                  <a:pt x="2403439" y="327149"/>
                </a:lnTo>
                <a:lnTo>
                  <a:pt x="2419123" y="344529"/>
                </a:lnTo>
                <a:lnTo>
                  <a:pt x="2422621" y="350888"/>
                </a:lnTo>
                <a:lnTo>
                  <a:pt x="2422515" y="356716"/>
                </a:lnTo>
                <a:lnTo>
                  <a:pt x="2419971" y="361803"/>
                </a:lnTo>
                <a:lnTo>
                  <a:pt x="2410963" y="367632"/>
                </a:lnTo>
                <a:lnTo>
                  <a:pt x="2403757" y="375368"/>
                </a:lnTo>
                <a:lnTo>
                  <a:pt x="2402909" y="378123"/>
                </a:lnTo>
                <a:lnTo>
                  <a:pt x="2393159" y="381727"/>
                </a:lnTo>
                <a:lnTo>
                  <a:pt x="2397610" y="384376"/>
                </a:lnTo>
                <a:lnTo>
                  <a:pt x="2401213" y="387979"/>
                </a:lnTo>
                <a:lnTo>
                  <a:pt x="2407890" y="398683"/>
                </a:lnTo>
                <a:lnTo>
                  <a:pt x="2423998" y="416169"/>
                </a:lnTo>
                <a:lnTo>
                  <a:pt x="2432159" y="422740"/>
                </a:lnTo>
                <a:lnTo>
                  <a:pt x="2465541" y="446478"/>
                </a:lnTo>
                <a:lnTo>
                  <a:pt x="2483239" y="456758"/>
                </a:lnTo>
                <a:lnTo>
                  <a:pt x="2505918" y="480391"/>
                </a:lnTo>
                <a:lnTo>
                  <a:pt x="2517576" y="485901"/>
                </a:lnTo>
                <a:lnTo>
                  <a:pt x="2519907" y="492472"/>
                </a:lnTo>
                <a:lnTo>
                  <a:pt x="2510051" y="502540"/>
                </a:lnTo>
                <a:lnTo>
                  <a:pt x="2495744" y="507627"/>
                </a:lnTo>
                <a:lnTo>
                  <a:pt x="2472218" y="510276"/>
                </a:lnTo>
                <a:lnTo>
                  <a:pt x="2448585" y="506779"/>
                </a:lnTo>
                <a:lnTo>
                  <a:pt x="2436292" y="503917"/>
                </a:lnTo>
                <a:lnTo>
                  <a:pt x="2425694" y="498089"/>
                </a:lnTo>
                <a:lnTo>
                  <a:pt x="2417216" y="486431"/>
                </a:lnTo>
                <a:lnTo>
                  <a:pt x="2406194" y="480073"/>
                </a:lnTo>
                <a:lnTo>
                  <a:pt x="2410433" y="487173"/>
                </a:lnTo>
                <a:lnTo>
                  <a:pt x="2413083" y="494380"/>
                </a:lnTo>
                <a:lnTo>
                  <a:pt x="2411705" y="502222"/>
                </a:lnTo>
                <a:lnTo>
                  <a:pt x="2407360" y="508474"/>
                </a:lnTo>
                <a:lnTo>
                  <a:pt x="2399942" y="512925"/>
                </a:lnTo>
                <a:lnTo>
                  <a:pt x="2391888" y="516635"/>
                </a:lnTo>
                <a:lnTo>
                  <a:pt x="2388496" y="519178"/>
                </a:lnTo>
                <a:lnTo>
                  <a:pt x="2368149" y="560403"/>
                </a:lnTo>
                <a:lnTo>
                  <a:pt x="2364864" y="571530"/>
                </a:lnTo>
                <a:lnTo>
                  <a:pt x="2358717" y="617736"/>
                </a:lnTo>
                <a:lnTo>
                  <a:pt x="2358611" y="630877"/>
                </a:lnTo>
                <a:lnTo>
                  <a:pt x="2367725" y="655252"/>
                </a:lnTo>
                <a:lnTo>
                  <a:pt x="2368573" y="668075"/>
                </a:lnTo>
                <a:lnTo>
                  <a:pt x="2370374" y="673692"/>
                </a:lnTo>
                <a:lnTo>
                  <a:pt x="2369103" y="678249"/>
                </a:lnTo>
                <a:lnTo>
                  <a:pt x="2364864" y="681004"/>
                </a:lnTo>
                <a:lnTo>
                  <a:pt x="2347377" y="688422"/>
                </a:lnTo>
                <a:lnTo>
                  <a:pt x="2335084" y="694675"/>
                </a:lnTo>
                <a:lnTo>
                  <a:pt x="2325016" y="703471"/>
                </a:lnTo>
                <a:lnTo>
                  <a:pt x="2316962" y="714493"/>
                </a:lnTo>
                <a:lnTo>
                  <a:pt x="2309862" y="722441"/>
                </a:lnTo>
                <a:lnTo>
                  <a:pt x="2300430" y="726256"/>
                </a:lnTo>
                <a:lnTo>
                  <a:pt x="2293541" y="725620"/>
                </a:lnTo>
                <a:lnTo>
                  <a:pt x="2288031" y="722017"/>
                </a:lnTo>
                <a:lnTo>
                  <a:pt x="2284215" y="714916"/>
                </a:lnTo>
                <a:lnTo>
                  <a:pt x="2281990" y="707180"/>
                </a:lnTo>
                <a:lnTo>
                  <a:pt x="2280506" y="712903"/>
                </a:lnTo>
                <a:lnTo>
                  <a:pt x="2280824" y="718520"/>
                </a:lnTo>
                <a:lnTo>
                  <a:pt x="2284004" y="724454"/>
                </a:lnTo>
                <a:lnTo>
                  <a:pt x="2285275" y="730813"/>
                </a:lnTo>
                <a:lnTo>
                  <a:pt x="2283368" y="737172"/>
                </a:lnTo>
                <a:lnTo>
                  <a:pt x="2279341" y="742364"/>
                </a:lnTo>
                <a:lnTo>
                  <a:pt x="2268425" y="747981"/>
                </a:lnTo>
                <a:lnTo>
                  <a:pt x="2262278" y="752750"/>
                </a:lnTo>
                <a:lnTo>
                  <a:pt x="2261325" y="761122"/>
                </a:lnTo>
                <a:lnTo>
                  <a:pt x="2258463" y="765891"/>
                </a:lnTo>
                <a:lnTo>
                  <a:pt x="2254224" y="769600"/>
                </a:lnTo>
                <a:lnTo>
                  <a:pt x="2238752" y="777972"/>
                </a:lnTo>
                <a:lnTo>
                  <a:pt x="2235360" y="781364"/>
                </a:lnTo>
                <a:lnTo>
                  <a:pt x="2232711" y="785709"/>
                </a:lnTo>
                <a:lnTo>
                  <a:pt x="2240977" y="785073"/>
                </a:lnTo>
                <a:lnTo>
                  <a:pt x="2248501" y="785709"/>
                </a:lnTo>
                <a:lnTo>
                  <a:pt x="2249137" y="794081"/>
                </a:lnTo>
                <a:lnTo>
                  <a:pt x="2251469" y="800333"/>
                </a:lnTo>
                <a:lnTo>
                  <a:pt x="2248501" y="814110"/>
                </a:lnTo>
                <a:lnTo>
                  <a:pt x="2236844" y="823330"/>
                </a:lnTo>
                <a:lnTo>
                  <a:pt x="2242673" y="825238"/>
                </a:lnTo>
                <a:lnTo>
                  <a:pt x="2247866" y="828311"/>
                </a:lnTo>
                <a:lnTo>
                  <a:pt x="2259523" y="830537"/>
                </a:lnTo>
                <a:lnTo>
                  <a:pt x="2263444" y="840287"/>
                </a:lnTo>
                <a:lnTo>
                  <a:pt x="2261748" y="852050"/>
                </a:lnTo>
                <a:lnTo>
                  <a:pt x="2259629" y="862648"/>
                </a:lnTo>
                <a:lnTo>
                  <a:pt x="2251257" y="865509"/>
                </a:lnTo>
                <a:lnTo>
                  <a:pt x="2246064" y="863601"/>
                </a:lnTo>
                <a:lnTo>
                  <a:pt x="2240977" y="863813"/>
                </a:lnTo>
                <a:lnTo>
                  <a:pt x="2237162" y="866993"/>
                </a:lnTo>
                <a:lnTo>
                  <a:pt x="2236102" y="872397"/>
                </a:lnTo>
                <a:lnTo>
                  <a:pt x="2243309" y="869748"/>
                </a:lnTo>
                <a:lnTo>
                  <a:pt x="2242991" y="883419"/>
                </a:lnTo>
                <a:lnTo>
                  <a:pt x="2240977" y="896772"/>
                </a:lnTo>
                <a:lnTo>
                  <a:pt x="2238646" y="904084"/>
                </a:lnTo>
                <a:lnTo>
                  <a:pt x="2234195" y="910125"/>
                </a:lnTo>
                <a:lnTo>
                  <a:pt x="2227518" y="912033"/>
                </a:lnTo>
                <a:lnTo>
                  <a:pt x="2221160" y="907582"/>
                </a:lnTo>
                <a:lnTo>
                  <a:pt x="2219888" y="912774"/>
                </a:lnTo>
                <a:lnTo>
                  <a:pt x="2221795" y="917119"/>
                </a:lnTo>
                <a:lnTo>
                  <a:pt x="2230803" y="927823"/>
                </a:lnTo>
                <a:lnTo>
                  <a:pt x="2225293" y="930261"/>
                </a:lnTo>
                <a:lnTo>
                  <a:pt x="2221266" y="933864"/>
                </a:lnTo>
                <a:lnTo>
                  <a:pt x="2219464" y="939163"/>
                </a:lnTo>
                <a:lnTo>
                  <a:pt x="2209714" y="951350"/>
                </a:lnTo>
                <a:lnTo>
                  <a:pt x="2205369" y="960358"/>
                </a:lnTo>
                <a:lnTo>
                  <a:pt x="2203461" y="969896"/>
                </a:lnTo>
                <a:lnTo>
                  <a:pt x="2198904" y="977526"/>
                </a:lnTo>
                <a:lnTo>
                  <a:pt x="2124933" y="1010591"/>
                </a:lnTo>
                <a:lnTo>
                  <a:pt x="2065162" y="1038462"/>
                </a:lnTo>
                <a:lnTo>
                  <a:pt x="2060817" y="1036555"/>
                </a:lnTo>
                <a:lnTo>
                  <a:pt x="2057850" y="1032316"/>
                </a:lnTo>
                <a:lnTo>
                  <a:pt x="2055836" y="988971"/>
                </a:lnTo>
                <a:lnTo>
                  <a:pt x="2048418" y="966822"/>
                </a:lnTo>
                <a:lnTo>
                  <a:pt x="2047358" y="954423"/>
                </a:lnTo>
                <a:lnTo>
                  <a:pt x="2038880" y="965551"/>
                </a:lnTo>
                <a:lnTo>
                  <a:pt x="2033687" y="964385"/>
                </a:lnTo>
                <a:lnTo>
                  <a:pt x="2028071" y="961524"/>
                </a:lnTo>
                <a:lnTo>
                  <a:pt x="2023937" y="957920"/>
                </a:lnTo>
                <a:lnTo>
                  <a:pt x="2023620" y="953151"/>
                </a:lnTo>
                <a:lnTo>
                  <a:pt x="2028071" y="939375"/>
                </a:lnTo>
                <a:lnTo>
                  <a:pt x="2022666" y="946899"/>
                </a:lnTo>
                <a:lnTo>
                  <a:pt x="2016625" y="952728"/>
                </a:lnTo>
                <a:lnTo>
                  <a:pt x="2010478" y="951986"/>
                </a:lnTo>
                <a:lnTo>
                  <a:pt x="2005180" y="949124"/>
                </a:lnTo>
                <a:lnTo>
                  <a:pt x="2003166" y="944673"/>
                </a:lnTo>
                <a:lnTo>
                  <a:pt x="2000305" y="944037"/>
                </a:lnTo>
                <a:lnTo>
                  <a:pt x="1987270" y="956225"/>
                </a:lnTo>
                <a:lnTo>
                  <a:pt x="1969995" y="962795"/>
                </a:lnTo>
                <a:lnTo>
                  <a:pt x="1960352" y="962689"/>
                </a:lnTo>
                <a:lnTo>
                  <a:pt x="1952827" y="958980"/>
                </a:lnTo>
                <a:lnTo>
                  <a:pt x="1953145" y="949654"/>
                </a:lnTo>
                <a:lnTo>
                  <a:pt x="1952403" y="940540"/>
                </a:lnTo>
                <a:lnTo>
                  <a:pt x="1950284" y="935241"/>
                </a:lnTo>
                <a:lnTo>
                  <a:pt x="1945621" y="933334"/>
                </a:lnTo>
                <a:lnTo>
                  <a:pt x="1941382" y="933970"/>
                </a:lnTo>
                <a:lnTo>
                  <a:pt x="1928983" y="938739"/>
                </a:lnTo>
                <a:lnTo>
                  <a:pt x="1924532" y="938209"/>
                </a:lnTo>
                <a:lnTo>
                  <a:pt x="1921988" y="940540"/>
                </a:lnTo>
                <a:lnTo>
                  <a:pt x="1889241" y="907370"/>
                </a:lnTo>
                <a:lnTo>
                  <a:pt x="1882565" y="934288"/>
                </a:lnTo>
                <a:lnTo>
                  <a:pt x="1859992" y="948594"/>
                </a:lnTo>
                <a:lnTo>
                  <a:pt x="1843248" y="956861"/>
                </a:lnTo>
                <a:lnTo>
                  <a:pt x="1826715" y="953787"/>
                </a:lnTo>
                <a:lnTo>
                  <a:pt x="1809865" y="948488"/>
                </a:lnTo>
                <a:lnTo>
                  <a:pt x="1793121" y="954847"/>
                </a:lnTo>
                <a:lnTo>
                  <a:pt x="1774893" y="970638"/>
                </a:lnTo>
                <a:lnTo>
                  <a:pt x="1769806" y="973075"/>
                </a:lnTo>
                <a:lnTo>
                  <a:pt x="1764613" y="972969"/>
                </a:lnTo>
                <a:lnTo>
                  <a:pt x="1760798" y="970955"/>
                </a:lnTo>
                <a:lnTo>
                  <a:pt x="1762070" y="958980"/>
                </a:lnTo>
                <a:lnTo>
                  <a:pt x="1762282" y="947111"/>
                </a:lnTo>
                <a:lnTo>
                  <a:pt x="1760904" y="920511"/>
                </a:lnTo>
                <a:lnTo>
                  <a:pt x="1759420" y="915318"/>
                </a:lnTo>
                <a:lnTo>
                  <a:pt x="1754227" y="908006"/>
                </a:lnTo>
                <a:lnTo>
                  <a:pt x="1747339" y="902707"/>
                </a:lnTo>
                <a:lnTo>
                  <a:pt x="1743418" y="906628"/>
                </a:lnTo>
                <a:lnTo>
                  <a:pt x="1739921" y="911821"/>
                </a:lnTo>
                <a:lnTo>
                  <a:pt x="1726144" y="911609"/>
                </a:lnTo>
                <a:lnTo>
                  <a:pt x="1712685" y="907476"/>
                </a:lnTo>
                <a:lnTo>
                  <a:pt x="1701133" y="909807"/>
                </a:lnTo>
                <a:lnTo>
                  <a:pt x="1678348" y="920405"/>
                </a:lnTo>
                <a:lnTo>
                  <a:pt x="1666267" y="921994"/>
                </a:lnTo>
                <a:lnTo>
                  <a:pt x="1659803" y="919663"/>
                </a:lnTo>
                <a:lnTo>
                  <a:pt x="1655669" y="913940"/>
                </a:lnTo>
                <a:lnTo>
                  <a:pt x="1658001" y="908747"/>
                </a:lnTo>
                <a:lnTo>
                  <a:pt x="1662982" y="904826"/>
                </a:lnTo>
                <a:lnTo>
                  <a:pt x="1653656" y="907900"/>
                </a:lnTo>
                <a:lnTo>
                  <a:pt x="1645708" y="913304"/>
                </a:lnTo>
                <a:lnTo>
                  <a:pt x="1642210" y="916696"/>
                </a:lnTo>
                <a:lnTo>
                  <a:pt x="1638501" y="915000"/>
                </a:lnTo>
                <a:lnTo>
                  <a:pt x="1628539" y="902919"/>
                </a:lnTo>
                <a:lnTo>
                  <a:pt x="1607768" y="907476"/>
                </a:lnTo>
                <a:lnTo>
                  <a:pt x="1604907" y="908853"/>
                </a:lnTo>
                <a:lnTo>
                  <a:pt x="1599820" y="912880"/>
                </a:lnTo>
                <a:lnTo>
                  <a:pt x="1594839" y="910867"/>
                </a:lnTo>
                <a:lnTo>
                  <a:pt x="1592402" y="906522"/>
                </a:lnTo>
                <a:lnTo>
                  <a:pt x="1591448" y="881511"/>
                </a:lnTo>
                <a:lnTo>
                  <a:pt x="1580850" y="833292"/>
                </a:lnTo>
                <a:lnTo>
                  <a:pt x="1577989" y="808600"/>
                </a:lnTo>
                <a:lnTo>
                  <a:pt x="1575657" y="802771"/>
                </a:lnTo>
                <a:lnTo>
                  <a:pt x="1563470" y="793975"/>
                </a:lnTo>
                <a:lnTo>
                  <a:pt x="1563894" y="781258"/>
                </a:lnTo>
                <a:lnTo>
                  <a:pt x="1570146" y="770660"/>
                </a:lnTo>
                <a:lnTo>
                  <a:pt x="1571524" y="758261"/>
                </a:lnTo>
                <a:lnTo>
                  <a:pt x="1569723" y="744802"/>
                </a:lnTo>
                <a:lnTo>
                  <a:pt x="1565907" y="731661"/>
                </a:lnTo>
                <a:lnTo>
                  <a:pt x="1561138" y="721699"/>
                </a:lnTo>
                <a:lnTo>
                  <a:pt x="1554250" y="713221"/>
                </a:lnTo>
                <a:lnTo>
                  <a:pt x="1545136" y="703683"/>
                </a:lnTo>
                <a:lnTo>
                  <a:pt x="1534009" y="696583"/>
                </a:lnTo>
                <a:lnTo>
                  <a:pt x="1509846" y="688634"/>
                </a:lnTo>
                <a:lnTo>
                  <a:pt x="1497023" y="689270"/>
                </a:lnTo>
                <a:lnTo>
                  <a:pt x="1492360" y="686197"/>
                </a:lnTo>
                <a:lnTo>
                  <a:pt x="1489181" y="682064"/>
                </a:lnTo>
                <a:lnTo>
                  <a:pt x="1490452" y="674116"/>
                </a:lnTo>
                <a:lnTo>
                  <a:pt x="1494797" y="668605"/>
                </a:lnTo>
                <a:lnTo>
                  <a:pt x="1500520" y="667227"/>
                </a:lnTo>
                <a:lnTo>
                  <a:pt x="1501262" y="664154"/>
                </a:lnTo>
                <a:lnTo>
                  <a:pt x="1488969" y="657689"/>
                </a:lnTo>
                <a:lnTo>
                  <a:pt x="1478795" y="648999"/>
                </a:lnTo>
                <a:lnTo>
                  <a:pt x="1475510" y="643700"/>
                </a:lnTo>
                <a:lnTo>
                  <a:pt x="1474556" y="637978"/>
                </a:lnTo>
                <a:lnTo>
                  <a:pt x="1474662" y="624625"/>
                </a:lnTo>
                <a:lnTo>
                  <a:pt x="1477629" y="616252"/>
                </a:lnTo>
                <a:lnTo>
                  <a:pt x="1479219" y="611590"/>
                </a:lnTo>
                <a:lnTo>
                  <a:pt x="1482398" y="597495"/>
                </a:lnTo>
                <a:lnTo>
                  <a:pt x="1489075" y="593256"/>
                </a:lnTo>
                <a:lnTo>
                  <a:pt x="1487909" y="590606"/>
                </a:lnTo>
                <a:lnTo>
                  <a:pt x="1485047" y="588699"/>
                </a:lnTo>
                <a:lnTo>
                  <a:pt x="1480914" y="584142"/>
                </a:lnTo>
                <a:lnTo>
                  <a:pt x="1477523" y="578737"/>
                </a:lnTo>
                <a:lnTo>
                  <a:pt x="1469681" y="569729"/>
                </a:lnTo>
                <a:lnTo>
                  <a:pt x="1455904" y="558813"/>
                </a:lnTo>
                <a:lnTo>
                  <a:pt x="1453572" y="540055"/>
                </a:lnTo>
                <a:lnTo>
                  <a:pt x="1451771" y="512396"/>
                </a:lnTo>
                <a:lnTo>
                  <a:pt x="1452937" y="499784"/>
                </a:lnTo>
                <a:lnTo>
                  <a:pt x="1457388" y="476258"/>
                </a:lnTo>
                <a:lnTo>
                  <a:pt x="1465018" y="468945"/>
                </a:lnTo>
                <a:lnTo>
                  <a:pt x="1471059" y="466826"/>
                </a:lnTo>
                <a:lnTo>
                  <a:pt x="1475722" y="463646"/>
                </a:lnTo>
                <a:lnTo>
                  <a:pt x="1471906" y="463223"/>
                </a:lnTo>
                <a:lnTo>
                  <a:pt x="1468621" y="464388"/>
                </a:lnTo>
                <a:lnTo>
                  <a:pt x="1462792" y="465130"/>
                </a:lnTo>
                <a:lnTo>
                  <a:pt x="1467561" y="444147"/>
                </a:lnTo>
                <a:lnTo>
                  <a:pt x="1469787" y="438000"/>
                </a:lnTo>
                <a:lnTo>
                  <a:pt x="1479431" y="426237"/>
                </a:lnTo>
                <a:lnTo>
                  <a:pt x="1490664" y="415851"/>
                </a:lnTo>
                <a:lnTo>
                  <a:pt x="1495433" y="403558"/>
                </a:lnTo>
                <a:lnTo>
                  <a:pt x="1501898" y="392748"/>
                </a:lnTo>
                <a:lnTo>
                  <a:pt x="1528392" y="381621"/>
                </a:lnTo>
                <a:close/>
                <a:moveTo>
                  <a:pt x="3446989" y="506673"/>
                </a:moveTo>
                <a:lnTo>
                  <a:pt x="3454619" y="509004"/>
                </a:lnTo>
                <a:lnTo>
                  <a:pt x="3462673" y="508368"/>
                </a:lnTo>
                <a:lnTo>
                  <a:pt x="3466700" y="503600"/>
                </a:lnTo>
                <a:lnTo>
                  <a:pt x="3467760" y="497453"/>
                </a:lnTo>
                <a:lnTo>
                  <a:pt x="3471787" y="486007"/>
                </a:lnTo>
                <a:lnTo>
                  <a:pt x="3481113" y="478271"/>
                </a:lnTo>
                <a:lnTo>
                  <a:pt x="3487684" y="477105"/>
                </a:lnTo>
                <a:lnTo>
                  <a:pt x="3492346" y="473820"/>
                </a:lnTo>
                <a:lnTo>
                  <a:pt x="3491499" y="465342"/>
                </a:lnTo>
                <a:lnTo>
                  <a:pt x="3491923" y="456970"/>
                </a:lnTo>
                <a:lnTo>
                  <a:pt x="3498811" y="448068"/>
                </a:lnTo>
                <a:lnTo>
                  <a:pt x="3520218" y="435669"/>
                </a:lnTo>
                <a:lnTo>
                  <a:pt x="3532406" y="431324"/>
                </a:lnTo>
                <a:lnTo>
                  <a:pt x="3548196" y="429840"/>
                </a:lnTo>
                <a:lnTo>
                  <a:pt x="3549998" y="434609"/>
                </a:lnTo>
                <a:lnTo>
                  <a:pt x="3548196" y="441391"/>
                </a:lnTo>
                <a:lnTo>
                  <a:pt x="3551269" y="451671"/>
                </a:lnTo>
                <a:lnTo>
                  <a:pt x="3549786" y="479331"/>
                </a:lnTo>
                <a:lnTo>
                  <a:pt x="3546183" y="483252"/>
                </a:lnTo>
                <a:lnTo>
                  <a:pt x="3529862" y="492790"/>
                </a:lnTo>
                <a:lnTo>
                  <a:pt x="3511952" y="500420"/>
                </a:lnTo>
                <a:lnTo>
                  <a:pt x="3506971" y="503600"/>
                </a:lnTo>
                <a:lnTo>
                  <a:pt x="3502520" y="511230"/>
                </a:lnTo>
                <a:lnTo>
                  <a:pt x="3502944" y="518754"/>
                </a:lnTo>
                <a:lnTo>
                  <a:pt x="3517463" y="528822"/>
                </a:lnTo>
                <a:lnTo>
                  <a:pt x="3540036" y="538254"/>
                </a:lnTo>
                <a:lnTo>
                  <a:pt x="3544699" y="542705"/>
                </a:lnTo>
                <a:lnTo>
                  <a:pt x="3547772" y="550123"/>
                </a:lnTo>
                <a:lnTo>
                  <a:pt x="3548620" y="558389"/>
                </a:lnTo>
                <a:lnTo>
                  <a:pt x="3554025" y="562310"/>
                </a:lnTo>
                <a:lnTo>
                  <a:pt x="3561655" y="564218"/>
                </a:lnTo>
                <a:lnTo>
                  <a:pt x="3566742" y="568139"/>
                </a:lnTo>
                <a:lnTo>
                  <a:pt x="3570663" y="573650"/>
                </a:lnTo>
                <a:lnTo>
                  <a:pt x="3532512" y="560721"/>
                </a:lnTo>
                <a:lnTo>
                  <a:pt x="3522550" y="554998"/>
                </a:lnTo>
                <a:lnTo>
                  <a:pt x="3510574" y="554362"/>
                </a:lnTo>
                <a:lnTo>
                  <a:pt x="3498705" y="552667"/>
                </a:lnTo>
                <a:lnTo>
                  <a:pt x="3486518" y="547686"/>
                </a:lnTo>
                <a:lnTo>
                  <a:pt x="3473483" y="546520"/>
                </a:lnTo>
                <a:lnTo>
                  <a:pt x="3467230" y="550123"/>
                </a:lnTo>
                <a:lnTo>
                  <a:pt x="3464793" y="557118"/>
                </a:lnTo>
                <a:lnTo>
                  <a:pt x="3463309" y="564960"/>
                </a:lnTo>
                <a:lnTo>
                  <a:pt x="3466276" y="574710"/>
                </a:lnTo>
                <a:lnTo>
                  <a:pt x="3465958" y="580538"/>
                </a:lnTo>
                <a:lnTo>
                  <a:pt x="3463521" y="591242"/>
                </a:lnTo>
                <a:lnTo>
                  <a:pt x="3472953" y="622823"/>
                </a:lnTo>
                <a:lnTo>
                  <a:pt x="3484716" y="647939"/>
                </a:lnTo>
                <a:lnTo>
                  <a:pt x="3502202" y="674116"/>
                </a:lnTo>
                <a:lnTo>
                  <a:pt x="3510786" y="683018"/>
                </a:lnTo>
                <a:lnTo>
                  <a:pt x="3520324" y="691178"/>
                </a:lnTo>
                <a:lnTo>
                  <a:pt x="3504746" y="688740"/>
                </a:lnTo>
                <a:lnTo>
                  <a:pt x="3499977" y="680050"/>
                </a:lnTo>
                <a:lnTo>
                  <a:pt x="3480159" y="671360"/>
                </a:lnTo>
                <a:lnTo>
                  <a:pt x="3476450" y="666167"/>
                </a:lnTo>
                <a:lnTo>
                  <a:pt x="3463521" y="641475"/>
                </a:lnTo>
                <a:lnTo>
                  <a:pt x="3459706" y="636812"/>
                </a:lnTo>
                <a:lnTo>
                  <a:pt x="3447836" y="628334"/>
                </a:lnTo>
                <a:lnTo>
                  <a:pt x="3442644" y="622187"/>
                </a:lnTo>
                <a:lnTo>
                  <a:pt x="3440842" y="613815"/>
                </a:lnTo>
                <a:lnTo>
                  <a:pt x="3442114" y="605019"/>
                </a:lnTo>
                <a:lnTo>
                  <a:pt x="3441478" y="592832"/>
                </a:lnTo>
                <a:lnTo>
                  <a:pt x="3441902" y="580750"/>
                </a:lnTo>
                <a:lnTo>
                  <a:pt x="3444445" y="566020"/>
                </a:lnTo>
                <a:lnTo>
                  <a:pt x="3440206" y="560827"/>
                </a:lnTo>
                <a:lnTo>
                  <a:pt x="3434589" y="555952"/>
                </a:lnTo>
                <a:lnTo>
                  <a:pt x="3428125" y="544612"/>
                </a:lnTo>
                <a:lnTo>
                  <a:pt x="3426217" y="531789"/>
                </a:lnTo>
                <a:lnTo>
                  <a:pt x="3426747" y="524371"/>
                </a:lnTo>
                <a:lnTo>
                  <a:pt x="3429397" y="517800"/>
                </a:lnTo>
                <a:lnTo>
                  <a:pt x="3433000" y="512184"/>
                </a:lnTo>
                <a:lnTo>
                  <a:pt x="3433742" y="506673"/>
                </a:lnTo>
                <a:lnTo>
                  <a:pt x="3424416" y="498619"/>
                </a:lnTo>
                <a:lnTo>
                  <a:pt x="3414772" y="475728"/>
                </a:lnTo>
                <a:lnTo>
                  <a:pt x="3413818" y="463858"/>
                </a:lnTo>
                <a:lnTo>
                  <a:pt x="3426217" y="441073"/>
                </a:lnTo>
                <a:lnTo>
                  <a:pt x="3426005" y="429946"/>
                </a:lnTo>
                <a:lnTo>
                  <a:pt x="3428443" y="423375"/>
                </a:lnTo>
                <a:lnTo>
                  <a:pt x="3429820" y="416381"/>
                </a:lnTo>
                <a:lnTo>
                  <a:pt x="3436285" y="401120"/>
                </a:lnTo>
                <a:lnTo>
                  <a:pt x="3446777" y="388191"/>
                </a:lnTo>
                <a:lnTo>
                  <a:pt x="3464687" y="370069"/>
                </a:lnTo>
                <a:lnTo>
                  <a:pt x="3471469" y="366042"/>
                </a:lnTo>
                <a:lnTo>
                  <a:pt x="3479099" y="363499"/>
                </a:lnTo>
                <a:lnTo>
                  <a:pt x="3479841" y="367950"/>
                </a:lnTo>
                <a:lnTo>
                  <a:pt x="3478570" y="371871"/>
                </a:lnTo>
                <a:lnTo>
                  <a:pt x="3465428" y="390311"/>
                </a:lnTo>
                <a:lnTo>
                  <a:pt x="3463627" y="394550"/>
                </a:lnTo>
                <a:lnTo>
                  <a:pt x="3463309" y="402286"/>
                </a:lnTo>
                <a:lnTo>
                  <a:pt x="3469562" y="406843"/>
                </a:lnTo>
                <a:lnTo>
                  <a:pt x="3476450" y="416275"/>
                </a:lnTo>
                <a:lnTo>
                  <a:pt x="3477828" y="428780"/>
                </a:lnTo>
                <a:lnTo>
                  <a:pt x="3478040" y="442027"/>
                </a:lnTo>
                <a:lnTo>
                  <a:pt x="3476556" y="455380"/>
                </a:lnTo>
                <a:lnTo>
                  <a:pt x="3474013" y="459831"/>
                </a:lnTo>
                <a:lnTo>
                  <a:pt x="3463097" y="473290"/>
                </a:lnTo>
                <a:lnTo>
                  <a:pt x="3438510" y="489081"/>
                </a:lnTo>
                <a:lnTo>
                  <a:pt x="3436391" y="493002"/>
                </a:lnTo>
                <a:lnTo>
                  <a:pt x="3436497" y="497347"/>
                </a:lnTo>
                <a:lnTo>
                  <a:pt x="3441054" y="502540"/>
                </a:lnTo>
                <a:lnTo>
                  <a:pt x="3446989" y="506673"/>
                </a:lnTo>
                <a:close/>
                <a:moveTo>
                  <a:pt x="3661273" y="900269"/>
                </a:moveTo>
                <a:lnTo>
                  <a:pt x="3685541" y="912033"/>
                </a:lnTo>
                <a:lnTo>
                  <a:pt x="3698153" y="913728"/>
                </a:lnTo>
                <a:lnTo>
                  <a:pt x="3719454" y="912245"/>
                </a:lnTo>
                <a:lnTo>
                  <a:pt x="3727402" y="913304"/>
                </a:lnTo>
                <a:lnTo>
                  <a:pt x="3747644" y="928353"/>
                </a:lnTo>
                <a:lnTo>
                  <a:pt x="3753578" y="938633"/>
                </a:lnTo>
                <a:lnTo>
                  <a:pt x="3755274" y="947535"/>
                </a:lnTo>
                <a:lnTo>
                  <a:pt x="3758347" y="956013"/>
                </a:lnTo>
                <a:lnTo>
                  <a:pt x="3763328" y="958026"/>
                </a:lnTo>
                <a:lnTo>
                  <a:pt x="3769157" y="958874"/>
                </a:lnTo>
                <a:lnTo>
                  <a:pt x="3776893" y="970955"/>
                </a:lnTo>
                <a:lnTo>
                  <a:pt x="3778377" y="974877"/>
                </a:lnTo>
                <a:lnTo>
                  <a:pt x="3772548" y="1005398"/>
                </a:lnTo>
                <a:lnTo>
                  <a:pt x="3748703" y="993846"/>
                </a:lnTo>
                <a:lnTo>
                  <a:pt x="3725707" y="980705"/>
                </a:lnTo>
                <a:lnTo>
                  <a:pt x="3715851" y="975830"/>
                </a:lnTo>
                <a:lnTo>
                  <a:pt x="3689357" y="964809"/>
                </a:lnTo>
                <a:lnTo>
                  <a:pt x="3685224" y="960994"/>
                </a:lnTo>
                <a:lnTo>
                  <a:pt x="3682256" y="956013"/>
                </a:lnTo>
                <a:lnTo>
                  <a:pt x="3670705" y="949124"/>
                </a:lnTo>
                <a:lnTo>
                  <a:pt x="3647708" y="948065"/>
                </a:lnTo>
                <a:lnTo>
                  <a:pt x="3639018" y="948277"/>
                </a:lnTo>
                <a:lnTo>
                  <a:pt x="3635521" y="949336"/>
                </a:lnTo>
                <a:lnTo>
                  <a:pt x="3636368" y="952940"/>
                </a:lnTo>
                <a:lnTo>
                  <a:pt x="3636580" y="960464"/>
                </a:lnTo>
                <a:lnTo>
                  <a:pt x="3630858" y="962477"/>
                </a:lnTo>
                <a:lnTo>
                  <a:pt x="3616551" y="957814"/>
                </a:lnTo>
                <a:lnTo>
                  <a:pt x="3603728" y="956119"/>
                </a:lnTo>
                <a:lnTo>
                  <a:pt x="3592706" y="951456"/>
                </a:lnTo>
                <a:lnTo>
                  <a:pt x="3577763" y="949018"/>
                </a:lnTo>
                <a:lnTo>
                  <a:pt x="3576174" y="946687"/>
                </a:lnTo>
                <a:lnTo>
                  <a:pt x="3577446" y="943296"/>
                </a:lnTo>
                <a:lnTo>
                  <a:pt x="3576810" y="940010"/>
                </a:lnTo>
                <a:lnTo>
                  <a:pt x="3573312" y="938739"/>
                </a:lnTo>
                <a:lnTo>
                  <a:pt x="3566742" y="939375"/>
                </a:lnTo>
                <a:lnTo>
                  <a:pt x="3560277" y="942660"/>
                </a:lnTo>
                <a:lnTo>
                  <a:pt x="3554873" y="946263"/>
                </a:lnTo>
                <a:lnTo>
                  <a:pt x="3547030" y="956543"/>
                </a:lnTo>
                <a:lnTo>
                  <a:pt x="3543003" y="960358"/>
                </a:lnTo>
                <a:lnTo>
                  <a:pt x="3530074" y="962053"/>
                </a:lnTo>
                <a:lnTo>
                  <a:pt x="3524669" y="961100"/>
                </a:lnTo>
                <a:lnTo>
                  <a:pt x="3519688" y="958556"/>
                </a:lnTo>
                <a:lnTo>
                  <a:pt x="3504958" y="940010"/>
                </a:lnTo>
                <a:lnTo>
                  <a:pt x="3499977" y="935983"/>
                </a:lnTo>
                <a:lnTo>
                  <a:pt x="3494466" y="932698"/>
                </a:lnTo>
                <a:lnTo>
                  <a:pt x="3489273" y="931108"/>
                </a:lnTo>
                <a:lnTo>
                  <a:pt x="3483974" y="933970"/>
                </a:lnTo>
                <a:lnTo>
                  <a:pt x="3481219" y="939798"/>
                </a:lnTo>
                <a:lnTo>
                  <a:pt x="3479947" y="946581"/>
                </a:lnTo>
                <a:lnTo>
                  <a:pt x="3478464" y="950608"/>
                </a:lnTo>
                <a:lnTo>
                  <a:pt x="3472105" y="961524"/>
                </a:lnTo>
                <a:lnTo>
                  <a:pt x="3466806" y="968094"/>
                </a:lnTo>
                <a:lnTo>
                  <a:pt x="3464899" y="967034"/>
                </a:lnTo>
                <a:lnTo>
                  <a:pt x="3467654" y="956543"/>
                </a:lnTo>
                <a:lnTo>
                  <a:pt x="3467654" y="950608"/>
                </a:lnTo>
                <a:lnTo>
                  <a:pt x="3464369" y="944355"/>
                </a:lnTo>
                <a:lnTo>
                  <a:pt x="3462355" y="937997"/>
                </a:lnTo>
                <a:lnTo>
                  <a:pt x="3487260" y="907582"/>
                </a:lnTo>
                <a:lnTo>
                  <a:pt x="3496374" y="900269"/>
                </a:lnTo>
                <a:lnTo>
                  <a:pt x="3535691" y="897726"/>
                </a:lnTo>
                <a:lnTo>
                  <a:pt x="3559112" y="899315"/>
                </a:lnTo>
                <a:lnTo>
                  <a:pt x="3571829" y="898574"/>
                </a:lnTo>
                <a:lnTo>
                  <a:pt x="3580307" y="896348"/>
                </a:lnTo>
                <a:lnTo>
                  <a:pt x="3587407" y="897302"/>
                </a:lnTo>
                <a:lnTo>
                  <a:pt x="3589103" y="903343"/>
                </a:lnTo>
                <a:lnTo>
                  <a:pt x="3593554" y="907794"/>
                </a:lnTo>
                <a:lnTo>
                  <a:pt x="3599701" y="907370"/>
                </a:lnTo>
                <a:lnTo>
                  <a:pt x="3610934" y="902707"/>
                </a:lnTo>
                <a:lnTo>
                  <a:pt x="3620578" y="895500"/>
                </a:lnTo>
                <a:lnTo>
                  <a:pt x="3626513" y="892321"/>
                </a:lnTo>
                <a:lnTo>
                  <a:pt x="3632553" y="891791"/>
                </a:lnTo>
                <a:lnTo>
                  <a:pt x="3638806" y="892215"/>
                </a:lnTo>
                <a:lnTo>
                  <a:pt x="3644847" y="893911"/>
                </a:lnTo>
                <a:lnTo>
                  <a:pt x="3661273" y="900269"/>
                </a:lnTo>
                <a:close/>
                <a:moveTo>
                  <a:pt x="3354577" y="923796"/>
                </a:moveTo>
                <a:lnTo>
                  <a:pt x="3371957" y="932062"/>
                </a:lnTo>
                <a:lnTo>
                  <a:pt x="3375984" y="937467"/>
                </a:lnTo>
                <a:lnTo>
                  <a:pt x="3379058" y="943932"/>
                </a:lnTo>
                <a:lnTo>
                  <a:pt x="3382555" y="947429"/>
                </a:lnTo>
                <a:lnTo>
                  <a:pt x="3386582" y="950290"/>
                </a:lnTo>
                <a:lnTo>
                  <a:pt x="3393365" y="955907"/>
                </a:lnTo>
                <a:lnTo>
                  <a:pt x="3395166" y="964385"/>
                </a:lnTo>
                <a:lnTo>
                  <a:pt x="3393682" y="981553"/>
                </a:lnTo>
                <a:lnTo>
                  <a:pt x="3385734" y="983037"/>
                </a:lnTo>
                <a:lnTo>
                  <a:pt x="3378316" y="985580"/>
                </a:lnTo>
                <a:lnTo>
                  <a:pt x="3363055" y="995542"/>
                </a:lnTo>
                <a:lnTo>
                  <a:pt x="3355531" y="997450"/>
                </a:lnTo>
                <a:lnTo>
                  <a:pt x="3347477" y="998085"/>
                </a:lnTo>
                <a:lnTo>
                  <a:pt x="3341754" y="1000735"/>
                </a:lnTo>
                <a:lnTo>
                  <a:pt x="3336031" y="1001795"/>
                </a:lnTo>
                <a:lnTo>
                  <a:pt x="3321301" y="996284"/>
                </a:lnTo>
                <a:lnTo>
                  <a:pt x="3306888" y="989819"/>
                </a:lnTo>
                <a:lnTo>
                  <a:pt x="3286116" y="978586"/>
                </a:lnTo>
                <a:lnTo>
                  <a:pt x="3282195" y="975830"/>
                </a:lnTo>
                <a:lnTo>
                  <a:pt x="3278910" y="969896"/>
                </a:lnTo>
                <a:lnTo>
                  <a:pt x="3269372" y="959086"/>
                </a:lnTo>
                <a:lnTo>
                  <a:pt x="3266935" y="952198"/>
                </a:lnTo>
                <a:lnTo>
                  <a:pt x="3266087" y="932592"/>
                </a:lnTo>
                <a:lnTo>
                  <a:pt x="3268630" y="928035"/>
                </a:lnTo>
                <a:lnTo>
                  <a:pt x="3272657" y="925598"/>
                </a:lnTo>
                <a:lnTo>
                  <a:pt x="3286646" y="930155"/>
                </a:lnTo>
                <a:lnTo>
                  <a:pt x="3295760" y="925386"/>
                </a:lnTo>
                <a:lnTo>
                  <a:pt x="3322148" y="921359"/>
                </a:lnTo>
                <a:lnTo>
                  <a:pt x="3348960" y="921782"/>
                </a:lnTo>
                <a:lnTo>
                  <a:pt x="3354577" y="923796"/>
                </a:lnTo>
                <a:close/>
                <a:moveTo>
                  <a:pt x="3149089" y="1544182"/>
                </a:moveTo>
                <a:lnTo>
                  <a:pt x="3148347" y="1553720"/>
                </a:lnTo>
                <a:lnTo>
                  <a:pt x="3150679" y="1555945"/>
                </a:lnTo>
                <a:lnTo>
                  <a:pt x="3154494" y="1557111"/>
                </a:lnTo>
                <a:lnTo>
                  <a:pt x="3167953" y="1550752"/>
                </a:lnTo>
                <a:lnTo>
                  <a:pt x="3170496" y="1551918"/>
                </a:lnTo>
                <a:lnTo>
                  <a:pt x="3173146" y="1554885"/>
                </a:lnTo>
                <a:lnTo>
                  <a:pt x="3173146" y="1563364"/>
                </a:lnTo>
                <a:lnTo>
                  <a:pt x="3167953" y="1570464"/>
                </a:lnTo>
                <a:lnTo>
                  <a:pt x="3155024" y="1570994"/>
                </a:lnTo>
                <a:lnTo>
                  <a:pt x="3153116" y="1573007"/>
                </a:lnTo>
                <a:lnTo>
                  <a:pt x="3153010" y="1577352"/>
                </a:lnTo>
                <a:lnTo>
                  <a:pt x="3153964" y="1581486"/>
                </a:lnTo>
                <a:lnTo>
                  <a:pt x="3157037" y="1584877"/>
                </a:lnTo>
                <a:lnTo>
                  <a:pt x="3160958" y="1590811"/>
                </a:lnTo>
                <a:lnTo>
                  <a:pt x="3164561" y="1604588"/>
                </a:lnTo>
                <a:lnTo>
                  <a:pt x="3157143" y="1610205"/>
                </a:lnTo>
                <a:lnTo>
                  <a:pt x="3153434" y="1620909"/>
                </a:lnTo>
                <a:lnTo>
                  <a:pt x="3140611" y="1630871"/>
                </a:lnTo>
                <a:lnTo>
                  <a:pt x="3126410" y="1647191"/>
                </a:lnTo>
                <a:lnTo>
                  <a:pt x="3115176" y="1655563"/>
                </a:lnTo>
                <a:lnTo>
                  <a:pt x="3105215" y="1665419"/>
                </a:lnTo>
                <a:lnTo>
                  <a:pt x="3096737" y="1672095"/>
                </a:lnTo>
                <a:lnTo>
                  <a:pt x="3086033" y="1674321"/>
                </a:lnTo>
                <a:lnTo>
                  <a:pt x="3070031" y="1675699"/>
                </a:lnTo>
                <a:lnTo>
                  <a:pt x="3048305" y="1687568"/>
                </a:lnTo>
                <a:lnTo>
                  <a:pt x="3036330" y="1692761"/>
                </a:lnTo>
                <a:lnTo>
                  <a:pt x="3024567" y="1693079"/>
                </a:lnTo>
                <a:lnTo>
                  <a:pt x="3013651" y="1689264"/>
                </a:lnTo>
                <a:lnTo>
                  <a:pt x="3009518" y="1684919"/>
                </a:lnTo>
                <a:lnTo>
                  <a:pt x="3010472" y="1679090"/>
                </a:lnTo>
                <a:lnTo>
                  <a:pt x="3014075" y="1674109"/>
                </a:lnTo>
                <a:lnTo>
                  <a:pt x="3018526" y="1669976"/>
                </a:lnTo>
                <a:lnTo>
                  <a:pt x="3021281" y="1664677"/>
                </a:lnTo>
                <a:lnTo>
                  <a:pt x="3008882" y="1657895"/>
                </a:lnTo>
                <a:lnTo>
                  <a:pt x="3007822" y="1652808"/>
                </a:lnTo>
                <a:lnTo>
                  <a:pt x="3012803" y="1639137"/>
                </a:lnTo>
                <a:lnTo>
                  <a:pt x="3015983" y="1625042"/>
                </a:lnTo>
                <a:lnTo>
                  <a:pt x="3020540" y="1615504"/>
                </a:lnTo>
                <a:lnTo>
                  <a:pt x="3038344" y="1598336"/>
                </a:lnTo>
                <a:lnTo>
                  <a:pt x="3048941" y="1589858"/>
                </a:lnTo>
                <a:lnTo>
                  <a:pt x="3055194" y="1586572"/>
                </a:lnTo>
                <a:lnTo>
                  <a:pt x="3056889" y="1590070"/>
                </a:lnTo>
                <a:lnTo>
                  <a:pt x="3060917" y="1594415"/>
                </a:lnTo>
                <a:lnTo>
                  <a:pt x="3063672" y="1595157"/>
                </a:lnTo>
                <a:lnTo>
                  <a:pt x="3065685" y="1594203"/>
                </a:lnTo>
                <a:lnTo>
                  <a:pt x="3081264" y="1595686"/>
                </a:lnTo>
                <a:lnTo>
                  <a:pt x="3085185" y="1594203"/>
                </a:lnTo>
                <a:lnTo>
                  <a:pt x="3091226" y="1587420"/>
                </a:lnTo>
                <a:lnTo>
                  <a:pt x="3095147" y="1583605"/>
                </a:lnTo>
                <a:lnTo>
                  <a:pt x="3097796" y="1575657"/>
                </a:lnTo>
                <a:lnTo>
                  <a:pt x="3098432" y="1570464"/>
                </a:lnTo>
                <a:lnTo>
                  <a:pt x="3112315" y="1566755"/>
                </a:lnTo>
                <a:lnTo>
                  <a:pt x="3119839" y="1562728"/>
                </a:lnTo>
                <a:lnTo>
                  <a:pt x="3126410" y="1556899"/>
                </a:lnTo>
                <a:lnTo>
                  <a:pt x="3145698" y="1546937"/>
                </a:lnTo>
                <a:lnTo>
                  <a:pt x="3149089" y="1544182"/>
                </a:lnTo>
                <a:close/>
                <a:moveTo>
                  <a:pt x="4190307" y="1201348"/>
                </a:moveTo>
                <a:lnTo>
                  <a:pt x="4189459" y="1205481"/>
                </a:lnTo>
                <a:lnTo>
                  <a:pt x="4189353" y="1213006"/>
                </a:lnTo>
                <a:lnTo>
                  <a:pt x="4191155" y="1220000"/>
                </a:lnTo>
                <a:lnTo>
                  <a:pt x="4186598" y="1227100"/>
                </a:lnTo>
                <a:lnTo>
                  <a:pt x="4190837" y="1237698"/>
                </a:lnTo>
                <a:lnTo>
                  <a:pt x="4191473" y="1242997"/>
                </a:lnTo>
                <a:lnTo>
                  <a:pt x="4191261" y="1250521"/>
                </a:lnTo>
                <a:lnTo>
                  <a:pt x="4189989" y="1253807"/>
                </a:lnTo>
                <a:lnTo>
                  <a:pt x="4186810" y="1263662"/>
                </a:lnTo>
                <a:lnTo>
                  <a:pt x="4183631" y="1267160"/>
                </a:lnTo>
                <a:lnTo>
                  <a:pt x="4181193" y="1268113"/>
                </a:lnTo>
                <a:lnTo>
                  <a:pt x="4178756" y="1271081"/>
                </a:lnTo>
                <a:lnTo>
                  <a:pt x="4157878" y="1267901"/>
                </a:lnTo>
                <a:lnTo>
                  <a:pt x="4148870" y="1261119"/>
                </a:lnTo>
                <a:lnTo>
                  <a:pt x="4140816" y="1253701"/>
                </a:lnTo>
                <a:lnTo>
                  <a:pt x="4139120" y="1250627"/>
                </a:lnTo>
                <a:lnTo>
                  <a:pt x="4129689" y="1241937"/>
                </a:lnTo>
                <a:lnTo>
                  <a:pt x="4127569" y="1239076"/>
                </a:lnTo>
                <a:lnTo>
                  <a:pt x="4127357" y="1234519"/>
                </a:lnTo>
                <a:lnTo>
                  <a:pt x="4134987" y="1233247"/>
                </a:lnTo>
                <a:lnTo>
                  <a:pt x="4143148" y="1233459"/>
                </a:lnTo>
                <a:lnTo>
                  <a:pt x="4142830" y="1229326"/>
                </a:lnTo>
                <a:lnTo>
                  <a:pt x="4147493" y="1214701"/>
                </a:lnTo>
                <a:lnTo>
                  <a:pt x="4135093" y="1205269"/>
                </a:lnTo>
                <a:lnTo>
                  <a:pt x="4132868" y="1201348"/>
                </a:lnTo>
                <a:lnTo>
                  <a:pt x="4137319" y="1198699"/>
                </a:lnTo>
                <a:lnTo>
                  <a:pt x="4147281" y="1201984"/>
                </a:lnTo>
                <a:lnTo>
                  <a:pt x="4159468" y="1185558"/>
                </a:lnTo>
                <a:lnTo>
                  <a:pt x="4163071" y="1182060"/>
                </a:lnTo>
                <a:lnTo>
                  <a:pt x="4164767" y="1172841"/>
                </a:lnTo>
                <a:lnTo>
                  <a:pt x="4171655" y="1171675"/>
                </a:lnTo>
                <a:lnTo>
                  <a:pt x="4176530" y="1172947"/>
                </a:lnTo>
                <a:lnTo>
                  <a:pt x="4179603" y="1178563"/>
                </a:lnTo>
                <a:lnTo>
                  <a:pt x="4180875" y="1183544"/>
                </a:lnTo>
                <a:lnTo>
                  <a:pt x="4179603" y="1187995"/>
                </a:lnTo>
                <a:lnTo>
                  <a:pt x="4185432" y="1190327"/>
                </a:lnTo>
                <a:lnTo>
                  <a:pt x="4190307" y="1201348"/>
                </a:lnTo>
                <a:close/>
                <a:moveTo>
                  <a:pt x="4168052" y="1279241"/>
                </a:moveTo>
                <a:lnTo>
                  <a:pt x="4166250" y="1286765"/>
                </a:lnTo>
                <a:lnTo>
                  <a:pt x="4164555" y="1295031"/>
                </a:lnTo>
                <a:lnTo>
                  <a:pt x="4154805" y="1304463"/>
                </a:lnTo>
                <a:lnTo>
                  <a:pt x="4148870" y="1318770"/>
                </a:lnTo>
                <a:lnTo>
                  <a:pt x="4145373" y="1322373"/>
                </a:lnTo>
                <a:lnTo>
                  <a:pt x="4132338" y="1328732"/>
                </a:lnTo>
                <a:lnTo>
                  <a:pt x="4120787" y="1320784"/>
                </a:lnTo>
                <a:lnTo>
                  <a:pt x="4117395" y="1313895"/>
                </a:lnTo>
                <a:lnTo>
                  <a:pt x="4122482" y="1282420"/>
                </a:lnTo>
                <a:lnTo>
                  <a:pt x="4127463" y="1283374"/>
                </a:lnTo>
                <a:lnTo>
                  <a:pt x="4130748" y="1283162"/>
                </a:lnTo>
                <a:lnTo>
                  <a:pt x="4131808" y="1281148"/>
                </a:lnTo>
                <a:lnTo>
                  <a:pt x="4124390" y="1277545"/>
                </a:lnTo>
                <a:lnTo>
                  <a:pt x="4122906" y="1259423"/>
                </a:lnTo>
                <a:lnTo>
                  <a:pt x="4123330" y="1252641"/>
                </a:lnTo>
                <a:lnTo>
                  <a:pt x="4128947" y="1251051"/>
                </a:lnTo>
                <a:lnTo>
                  <a:pt x="4135941" y="1256350"/>
                </a:lnTo>
                <a:lnTo>
                  <a:pt x="4144843" y="1265888"/>
                </a:lnTo>
                <a:lnTo>
                  <a:pt x="4155123" y="1273412"/>
                </a:lnTo>
                <a:lnTo>
                  <a:pt x="4168052" y="1279241"/>
                </a:lnTo>
                <a:close/>
                <a:moveTo>
                  <a:pt x="4591746" y="1473390"/>
                </a:moveTo>
                <a:lnTo>
                  <a:pt x="4566417" y="1487273"/>
                </a:lnTo>
                <a:lnTo>
                  <a:pt x="4533247" y="1484835"/>
                </a:lnTo>
                <a:lnTo>
                  <a:pt x="4521483" y="1484623"/>
                </a:lnTo>
                <a:lnTo>
                  <a:pt x="4501984" y="1488014"/>
                </a:lnTo>
                <a:lnTo>
                  <a:pt x="4497957" y="1485259"/>
                </a:lnTo>
                <a:lnTo>
                  <a:pt x="4501666" y="1472118"/>
                </a:lnTo>
                <a:lnTo>
                  <a:pt x="4517350" y="1437146"/>
                </a:lnTo>
                <a:lnTo>
                  <a:pt x="4535896" y="1406413"/>
                </a:lnTo>
                <a:lnTo>
                  <a:pt x="4543738" y="1398358"/>
                </a:lnTo>
                <a:lnTo>
                  <a:pt x="4554654" y="1390834"/>
                </a:lnTo>
                <a:lnTo>
                  <a:pt x="4566417" y="1384793"/>
                </a:lnTo>
                <a:lnTo>
                  <a:pt x="4592699" y="1378647"/>
                </a:lnTo>
                <a:lnTo>
                  <a:pt x="4616650" y="1379706"/>
                </a:lnTo>
                <a:lnTo>
                  <a:pt x="4620041" y="1382356"/>
                </a:lnTo>
                <a:lnTo>
                  <a:pt x="4630321" y="1392636"/>
                </a:lnTo>
                <a:lnTo>
                  <a:pt x="4637104" y="1400690"/>
                </a:lnTo>
                <a:lnTo>
                  <a:pt x="4639859" y="1412135"/>
                </a:lnTo>
                <a:lnTo>
                  <a:pt x="4629685" y="1431847"/>
                </a:lnTo>
                <a:lnTo>
                  <a:pt x="4618346" y="1450605"/>
                </a:lnTo>
                <a:lnTo>
                  <a:pt x="4599906" y="1465335"/>
                </a:lnTo>
                <a:lnTo>
                  <a:pt x="4591746" y="1473390"/>
                </a:lnTo>
                <a:close/>
                <a:moveTo>
                  <a:pt x="4850116" y="873139"/>
                </a:moveTo>
                <a:lnTo>
                  <a:pt x="4850116" y="873563"/>
                </a:lnTo>
                <a:lnTo>
                  <a:pt x="4850116" y="880664"/>
                </a:lnTo>
                <a:lnTo>
                  <a:pt x="4850222" y="893593"/>
                </a:lnTo>
                <a:lnTo>
                  <a:pt x="4850222" y="915212"/>
                </a:lnTo>
                <a:lnTo>
                  <a:pt x="4850222" y="936725"/>
                </a:lnTo>
                <a:lnTo>
                  <a:pt x="4850222" y="958238"/>
                </a:lnTo>
                <a:lnTo>
                  <a:pt x="4850222" y="979858"/>
                </a:lnTo>
                <a:lnTo>
                  <a:pt x="4850222" y="1001371"/>
                </a:lnTo>
                <a:lnTo>
                  <a:pt x="4850222" y="1022884"/>
                </a:lnTo>
                <a:lnTo>
                  <a:pt x="4850222" y="1044397"/>
                </a:lnTo>
                <a:lnTo>
                  <a:pt x="4850222" y="1066016"/>
                </a:lnTo>
                <a:lnTo>
                  <a:pt x="4850222" y="1087530"/>
                </a:lnTo>
                <a:lnTo>
                  <a:pt x="4850222" y="1109043"/>
                </a:lnTo>
                <a:lnTo>
                  <a:pt x="4850328" y="1130662"/>
                </a:lnTo>
                <a:lnTo>
                  <a:pt x="4850328" y="1152175"/>
                </a:lnTo>
                <a:lnTo>
                  <a:pt x="4850328" y="1173688"/>
                </a:lnTo>
                <a:lnTo>
                  <a:pt x="4850328" y="1195308"/>
                </a:lnTo>
                <a:lnTo>
                  <a:pt x="4850328" y="1216821"/>
                </a:lnTo>
                <a:lnTo>
                  <a:pt x="4850328" y="1238334"/>
                </a:lnTo>
                <a:lnTo>
                  <a:pt x="4850328" y="1259847"/>
                </a:lnTo>
                <a:lnTo>
                  <a:pt x="4850328" y="1269067"/>
                </a:lnTo>
                <a:lnTo>
                  <a:pt x="4847043" y="1280301"/>
                </a:lnTo>
                <a:lnTo>
                  <a:pt x="4839730" y="1297257"/>
                </a:lnTo>
                <a:lnTo>
                  <a:pt x="4838353" y="1310822"/>
                </a:lnTo>
                <a:lnTo>
                  <a:pt x="4844499" y="1321419"/>
                </a:lnTo>
                <a:lnTo>
                  <a:pt x="4850328" y="1328308"/>
                </a:lnTo>
                <a:lnTo>
                  <a:pt x="4850328" y="1346112"/>
                </a:lnTo>
                <a:lnTo>
                  <a:pt x="4850328" y="1367625"/>
                </a:lnTo>
                <a:lnTo>
                  <a:pt x="4850328" y="1389138"/>
                </a:lnTo>
                <a:lnTo>
                  <a:pt x="4850328" y="1410758"/>
                </a:lnTo>
                <a:lnTo>
                  <a:pt x="4850434" y="1432271"/>
                </a:lnTo>
                <a:lnTo>
                  <a:pt x="4850434" y="1453784"/>
                </a:lnTo>
                <a:lnTo>
                  <a:pt x="4850434" y="1475297"/>
                </a:lnTo>
                <a:lnTo>
                  <a:pt x="4850434" y="1496916"/>
                </a:lnTo>
                <a:lnTo>
                  <a:pt x="4850434" y="1518430"/>
                </a:lnTo>
                <a:lnTo>
                  <a:pt x="4850434" y="1539943"/>
                </a:lnTo>
                <a:lnTo>
                  <a:pt x="4850434" y="1561562"/>
                </a:lnTo>
                <a:lnTo>
                  <a:pt x="4850434" y="1562940"/>
                </a:lnTo>
                <a:lnTo>
                  <a:pt x="4845029" y="1559336"/>
                </a:lnTo>
                <a:lnTo>
                  <a:pt x="4830405" y="1547573"/>
                </a:lnTo>
                <a:lnTo>
                  <a:pt x="4817158" y="1534114"/>
                </a:lnTo>
                <a:lnTo>
                  <a:pt x="4808573" y="1521503"/>
                </a:lnTo>
                <a:lnTo>
                  <a:pt x="4798930" y="1510057"/>
                </a:lnTo>
                <a:lnTo>
                  <a:pt x="4757811" y="1476251"/>
                </a:lnTo>
                <a:lnTo>
                  <a:pt x="4747319" y="1465123"/>
                </a:lnTo>
                <a:lnTo>
                  <a:pt x="4745200" y="1462050"/>
                </a:lnTo>
                <a:lnTo>
                  <a:pt x="4746259" y="1459083"/>
                </a:lnTo>
                <a:lnTo>
                  <a:pt x="4750922" y="1453254"/>
                </a:lnTo>
                <a:lnTo>
                  <a:pt x="4759400" y="1436298"/>
                </a:lnTo>
                <a:lnTo>
                  <a:pt x="4750604" y="1446790"/>
                </a:lnTo>
                <a:lnTo>
                  <a:pt x="4740113" y="1455056"/>
                </a:lnTo>
                <a:lnTo>
                  <a:pt x="4724852" y="1455586"/>
                </a:lnTo>
                <a:lnTo>
                  <a:pt x="4709803" y="1457599"/>
                </a:lnTo>
                <a:lnTo>
                  <a:pt x="4696026" y="1462686"/>
                </a:lnTo>
                <a:lnTo>
                  <a:pt x="4681932" y="1464382"/>
                </a:lnTo>
                <a:lnTo>
                  <a:pt x="4674831" y="1461944"/>
                </a:lnTo>
                <a:lnTo>
                  <a:pt x="4670592" y="1455692"/>
                </a:lnTo>
                <a:lnTo>
                  <a:pt x="4668367" y="1449333"/>
                </a:lnTo>
                <a:lnTo>
                  <a:pt x="4667413" y="1442445"/>
                </a:lnTo>
                <a:lnTo>
                  <a:pt x="4661478" y="1453466"/>
                </a:lnTo>
                <a:lnTo>
                  <a:pt x="4649821" y="1459507"/>
                </a:lnTo>
                <a:lnTo>
                  <a:pt x="4633924" y="1472118"/>
                </a:lnTo>
                <a:lnTo>
                  <a:pt x="4629473" y="1469574"/>
                </a:lnTo>
                <a:lnTo>
                  <a:pt x="4626718" y="1464700"/>
                </a:lnTo>
                <a:lnTo>
                  <a:pt x="4625764" y="1459719"/>
                </a:lnTo>
                <a:lnTo>
                  <a:pt x="4628837" y="1454420"/>
                </a:lnTo>
                <a:lnTo>
                  <a:pt x="4630957" y="1448697"/>
                </a:lnTo>
                <a:lnTo>
                  <a:pt x="4634242" y="1435132"/>
                </a:lnTo>
                <a:lnTo>
                  <a:pt x="4641343" y="1427184"/>
                </a:lnTo>
                <a:lnTo>
                  <a:pt x="4645900" y="1411605"/>
                </a:lnTo>
                <a:lnTo>
                  <a:pt x="4648867" y="1406095"/>
                </a:lnTo>
                <a:lnTo>
                  <a:pt x="4650351" y="1400584"/>
                </a:lnTo>
                <a:lnTo>
                  <a:pt x="4646218" y="1394331"/>
                </a:lnTo>
                <a:lnTo>
                  <a:pt x="4639223" y="1392212"/>
                </a:lnTo>
                <a:lnTo>
                  <a:pt x="4634454" y="1388397"/>
                </a:lnTo>
                <a:lnTo>
                  <a:pt x="4628943" y="1377905"/>
                </a:lnTo>
                <a:lnTo>
                  <a:pt x="4625446" y="1374408"/>
                </a:lnTo>
                <a:lnTo>
                  <a:pt x="4619194" y="1370063"/>
                </a:lnTo>
                <a:lnTo>
                  <a:pt x="4614319" y="1364976"/>
                </a:lnTo>
                <a:lnTo>
                  <a:pt x="4619618" y="1361267"/>
                </a:lnTo>
                <a:lnTo>
                  <a:pt x="4626718" y="1359677"/>
                </a:lnTo>
                <a:lnTo>
                  <a:pt x="4632441" y="1359995"/>
                </a:lnTo>
                <a:lnTo>
                  <a:pt x="4642932" y="1362326"/>
                </a:lnTo>
                <a:lnTo>
                  <a:pt x="4647595" y="1362432"/>
                </a:lnTo>
                <a:lnTo>
                  <a:pt x="4659783" y="1358511"/>
                </a:lnTo>
                <a:lnTo>
                  <a:pt x="4653000" y="1359783"/>
                </a:lnTo>
                <a:lnTo>
                  <a:pt x="4646218" y="1359677"/>
                </a:lnTo>
                <a:lnTo>
                  <a:pt x="4624704" y="1352788"/>
                </a:lnTo>
                <a:lnTo>
                  <a:pt x="4611351" y="1345794"/>
                </a:lnTo>
                <a:lnTo>
                  <a:pt x="4598740" y="1331699"/>
                </a:lnTo>
                <a:lnTo>
                  <a:pt x="4598634" y="1328944"/>
                </a:lnTo>
                <a:lnTo>
                  <a:pt x="4607536" y="1326400"/>
                </a:lnTo>
                <a:lnTo>
                  <a:pt x="4626718" y="1323327"/>
                </a:lnTo>
                <a:lnTo>
                  <a:pt x="4620677" y="1316121"/>
                </a:lnTo>
                <a:lnTo>
                  <a:pt x="4612093" y="1309868"/>
                </a:lnTo>
                <a:lnTo>
                  <a:pt x="4609020" y="1298741"/>
                </a:lnTo>
                <a:lnTo>
                  <a:pt x="4603085" y="1291746"/>
                </a:lnTo>
                <a:lnTo>
                  <a:pt x="4590368" y="1280513"/>
                </a:lnTo>
                <a:lnTo>
                  <a:pt x="4581572" y="1268749"/>
                </a:lnTo>
                <a:lnTo>
                  <a:pt x="4574048" y="1245010"/>
                </a:lnTo>
                <a:lnTo>
                  <a:pt x="4566417" y="1226994"/>
                </a:lnTo>
                <a:lnTo>
                  <a:pt x="4568325" y="1220530"/>
                </a:lnTo>
                <a:lnTo>
                  <a:pt x="4574789" y="1215867"/>
                </a:lnTo>
                <a:lnTo>
                  <a:pt x="4565040" y="1215337"/>
                </a:lnTo>
                <a:lnTo>
                  <a:pt x="4556244" y="1211946"/>
                </a:lnTo>
                <a:lnTo>
                  <a:pt x="4560907" y="1203150"/>
                </a:lnTo>
                <a:lnTo>
                  <a:pt x="4571080" y="1198063"/>
                </a:lnTo>
                <a:lnTo>
                  <a:pt x="4561754" y="1199335"/>
                </a:lnTo>
                <a:lnTo>
                  <a:pt x="4552746" y="1201878"/>
                </a:lnTo>
                <a:lnTo>
                  <a:pt x="4548507" y="1202408"/>
                </a:lnTo>
                <a:lnTo>
                  <a:pt x="4544268" y="1201560"/>
                </a:lnTo>
                <a:lnTo>
                  <a:pt x="4542043" y="1198063"/>
                </a:lnTo>
                <a:lnTo>
                  <a:pt x="4541725" y="1193082"/>
                </a:lnTo>
                <a:lnTo>
                  <a:pt x="4543103" y="1184286"/>
                </a:lnTo>
                <a:lnTo>
                  <a:pt x="4541513" y="1175702"/>
                </a:lnTo>
                <a:lnTo>
                  <a:pt x="4533459" y="1171781"/>
                </a:lnTo>
                <a:lnTo>
                  <a:pt x="4526782" y="1165634"/>
                </a:lnTo>
                <a:lnTo>
                  <a:pt x="4523073" y="1163409"/>
                </a:lnTo>
                <a:lnTo>
                  <a:pt x="4518092" y="1163515"/>
                </a:lnTo>
                <a:lnTo>
                  <a:pt x="4513323" y="1159488"/>
                </a:lnTo>
                <a:lnTo>
                  <a:pt x="4509508" y="1153553"/>
                </a:lnTo>
                <a:lnTo>
                  <a:pt x="4461607" y="1127907"/>
                </a:lnTo>
                <a:lnTo>
                  <a:pt x="4458745" y="1120594"/>
                </a:lnTo>
                <a:lnTo>
                  <a:pt x="4454294" y="1123879"/>
                </a:lnTo>
                <a:lnTo>
                  <a:pt x="4449843" y="1125363"/>
                </a:lnTo>
                <a:lnTo>
                  <a:pt x="4444333" y="1121230"/>
                </a:lnTo>
                <a:lnTo>
                  <a:pt x="4438504" y="1118369"/>
                </a:lnTo>
                <a:lnTo>
                  <a:pt x="4432251" y="1118899"/>
                </a:lnTo>
                <a:lnTo>
                  <a:pt x="4426423" y="1116567"/>
                </a:lnTo>
                <a:lnTo>
                  <a:pt x="4420276" y="1115295"/>
                </a:lnTo>
                <a:lnTo>
                  <a:pt x="4413917" y="1115083"/>
                </a:lnTo>
                <a:lnTo>
                  <a:pt x="4388695" y="1107241"/>
                </a:lnTo>
                <a:lnTo>
                  <a:pt x="4364850" y="1094736"/>
                </a:lnTo>
                <a:lnTo>
                  <a:pt x="4345457" y="1089437"/>
                </a:lnTo>
                <a:lnTo>
                  <a:pt x="4333375" y="1082443"/>
                </a:lnTo>
                <a:lnTo>
                  <a:pt x="4320976" y="1076720"/>
                </a:lnTo>
                <a:lnTo>
                  <a:pt x="4293104" y="1071103"/>
                </a:lnTo>
                <a:lnTo>
                  <a:pt x="4264808" y="1067394"/>
                </a:lnTo>
                <a:lnTo>
                  <a:pt x="4254635" y="1067288"/>
                </a:lnTo>
                <a:lnTo>
                  <a:pt x="4246051" y="1068454"/>
                </a:lnTo>
                <a:lnTo>
                  <a:pt x="4237890" y="1068242"/>
                </a:lnTo>
                <a:lnTo>
                  <a:pt x="4191049" y="1041112"/>
                </a:lnTo>
                <a:lnTo>
                  <a:pt x="4183207" y="1028819"/>
                </a:lnTo>
                <a:lnTo>
                  <a:pt x="4183949" y="1021612"/>
                </a:lnTo>
                <a:lnTo>
                  <a:pt x="4186068" y="1015678"/>
                </a:lnTo>
                <a:lnTo>
                  <a:pt x="4205144" y="1013876"/>
                </a:lnTo>
                <a:lnTo>
                  <a:pt x="4191685" y="1012180"/>
                </a:lnTo>
                <a:lnTo>
                  <a:pt x="4186174" y="1013028"/>
                </a:lnTo>
                <a:lnTo>
                  <a:pt x="4175046" y="1017903"/>
                </a:lnTo>
                <a:lnTo>
                  <a:pt x="4169112" y="1018221"/>
                </a:lnTo>
                <a:lnTo>
                  <a:pt x="4160634" y="1015042"/>
                </a:lnTo>
                <a:lnTo>
                  <a:pt x="4152579" y="1010909"/>
                </a:lnTo>
                <a:lnTo>
                  <a:pt x="4139332" y="1014724"/>
                </a:lnTo>
                <a:lnTo>
                  <a:pt x="4132550" y="1008471"/>
                </a:lnTo>
                <a:lnTo>
                  <a:pt x="4130218" y="1001901"/>
                </a:lnTo>
                <a:lnTo>
                  <a:pt x="4126721" y="998933"/>
                </a:lnTo>
                <a:lnTo>
                  <a:pt x="4121740" y="999251"/>
                </a:lnTo>
                <a:lnTo>
                  <a:pt x="4115064" y="1001583"/>
                </a:lnTo>
                <a:lnTo>
                  <a:pt x="4108387" y="1001159"/>
                </a:lnTo>
                <a:lnTo>
                  <a:pt x="4104042" y="996708"/>
                </a:lnTo>
                <a:lnTo>
                  <a:pt x="4100969" y="990773"/>
                </a:lnTo>
                <a:lnTo>
                  <a:pt x="4096412" y="986534"/>
                </a:lnTo>
                <a:lnTo>
                  <a:pt x="4090795" y="983355"/>
                </a:lnTo>
                <a:lnTo>
                  <a:pt x="4081787" y="975724"/>
                </a:lnTo>
                <a:lnTo>
                  <a:pt x="4077018" y="965233"/>
                </a:lnTo>
                <a:lnTo>
                  <a:pt x="4077548" y="947217"/>
                </a:lnTo>
                <a:lnTo>
                  <a:pt x="4079032" y="940752"/>
                </a:lnTo>
                <a:lnTo>
                  <a:pt x="4088040" y="930261"/>
                </a:lnTo>
                <a:lnTo>
                  <a:pt x="4094398" y="920299"/>
                </a:lnTo>
                <a:lnTo>
                  <a:pt x="4086450" y="919133"/>
                </a:lnTo>
                <a:lnTo>
                  <a:pt x="4079350" y="923690"/>
                </a:lnTo>
                <a:lnTo>
                  <a:pt x="4076382" y="928459"/>
                </a:lnTo>
                <a:lnTo>
                  <a:pt x="4075217" y="934182"/>
                </a:lnTo>
                <a:lnTo>
                  <a:pt x="4074369" y="953045"/>
                </a:lnTo>
                <a:lnTo>
                  <a:pt x="4068646" y="958556"/>
                </a:lnTo>
                <a:lnTo>
                  <a:pt x="4060062" y="958132"/>
                </a:lnTo>
                <a:lnTo>
                  <a:pt x="4062606" y="969154"/>
                </a:lnTo>
                <a:lnTo>
                  <a:pt x="4059108" y="979752"/>
                </a:lnTo>
                <a:lnTo>
                  <a:pt x="4049147" y="992045"/>
                </a:lnTo>
                <a:lnTo>
                  <a:pt x="4048299" y="997662"/>
                </a:lnTo>
                <a:lnTo>
                  <a:pt x="4049888" y="1003808"/>
                </a:lnTo>
                <a:lnTo>
                  <a:pt x="4047663" y="1009743"/>
                </a:lnTo>
                <a:lnTo>
                  <a:pt x="4031554" y="1027017"/>
                </a:lnTo>
                <a:lnTo>
                  <a:pt x="4026150" y="1027865"/>
                </a:lnTo>
                <a:lnTo>
                  <a:pt x="4014174" y="1027759"/>
                </a:lnTo>
                <a:lnTo>
                  <a:pt x="4001881" y="1030514"/>
                </a:lnTo>
                <a:lnTo>
                  <a:pt x="3996052" y="1026487"/>
                </a:lnTo>
                <a:lnTo>
                  <a:pt x="3991389" y="1021188"/>
                </a:lnTo>
                <a:lnTo>
                  <a:pt x="3987892" y="1015042"/>
                </a:lnTo>
                <a:lnTo>
                  <a:pt x="3983017" y="1002219"/>
                </a:lnTo>
                <a:lnTo>
                  <a:pt x="3979096" y="989077"/>
                </a:lnTo>
                <a:lnTo>
                  <a:pt x="3991389" y="972863"/>
                </a:lnTo>
                <a:lnTo>
                  <a:pt x="3987150" y="958238"/>
                </a:lnTo>
                <a:lnTo>
                  <a:pt x="3978778" y="945733"/>
                </a:lnTo>
                <a:lnTo>
                  <a:pt x="3957901" y="928353"/>
                </a:lnTo>
                <a:lnTo>
                  <a:pt x="3936070" y="911821"/>
                </a:lnTo>
                <a:lnTo>
                  <a:pt x="3926214" y="908429"/>
                </a:lnTo>
                <a:lnTo>
                  <a:pt x="3909999" y="907052"/>
                </a:lnTo>
                <a:lnTo>
                  <a:pt x="3904913" y="905462"/>
                </a:lnTo>
                <a:lnTo>
                  <a:pt x="3899826" y="899209"/>
                </a:lnTo>
                <a:lnTo>
                  <a:pt x="3896117" y="892109"/>
                </a:lnTo>
                <a:lnTo>
                  <a:pt x="3906290" y="889036"/>
                </a:lnTo>
                <a:lnTo>
                  <a:pt x="3923670" y="880558"/>
                </a:lnTo>
                <a:lnTo>
                  <a:pt x="3933420" y="880982"/>
                </a:lnTo>
                <a:lnTo>
                  <a:pt x="3960126" y="885539"/>
                </a:lnTo>
                <a:lnTo>
                  <a:pt x="3968392" y="889672"/>
                </a:lnTo>
                <a:lnTo>
                  <a:pt x="3976023" y="892109"/>
                </a:lnTo>
                <a:lnTo>
                  <a:pt x="3994251" y="878226"/>
                </a:lnTo>
                <a:lnTo>
                  <a:pt x="4008770" y="860104"/>
                </a:lnTo>
                <a:lnTo>
                  <a:pt x="4017778" y="856183"/>
                </a:lnTo>
                <a:lnTo>
                  <a:pt x="4025408" y="854911"/>
                </a:lnTo>
                <a:lnTo>
                  <a:pt x="4033250" y="856607"/>
                </a:lnTo>
                <a:lnTo>
                  <a:pt x="4048723" y="862966"/>
                </a:lnTo>
                <a:lnTo>
                  <a:pt x="4061016" y="865933"/>
                </a:lnTo>
                <a:lnTo>
                  <a:pt x="4069706" y="866463"/>
                </a:lnTo>
                <a:lnTo>
                  <a:pt x="4074263" y="872185"/>
                </a:lnTo>
                <a:lnTo>
                  <a:pt x="4079350" y="874729"/>
                </a:lnTo>
                <a:lnTo>
                  <a:pt x="4080516" y="866145"/>
                </a:lnTo>
                <a:lnTo>
                  <a:pt x="4084967" y="856289"/>
                </a:lnTo>
                <a:lnTo>
                  <a:pt x="4093657" y="853216"/>
                </a:lnTo>
                <a:lnTo>
                  <a:pt x="4098214" y="852474"/>
                </a:lnTo>
                <a:lnTo>
                  <a:pt x="4101075" y="849930"/>
                </a:lnTo>
                <a:lnTo>
                  <a:pt x="4100439" y="840710"/>
                </a:lnTo>
                <a:lnTo>
                  <a:pt x="4088994" y="839651"/>
                </a:lnTo>
                <a:lnTo>
                  <a:pt x="4095246" y="831808"/>
                </a:lnTo>
                <a:lnTo>
                  <a:pt x="4100757" y="827993"/>
                </a:lnTo>
                <a:lnTo>
                  <a:pt x="4102771" y="824072"/>
                </a:lnTo>
                <a:lnTo>
                  <a:pt x="4102877" y="819303"/>
                </a:lnTo>
                <a:lnTo>
                  <a:pt x="4080410" y="828523"/>
                </a:lnTo>
                <a:lnTo>
                  <a:pt x="4056883" y="832444"/>
                </a:lnTo>
                <a:lnTo>
                  <a:pt x="4042894" y="831385"/>
                </a:lnTo>
                <a:lnTo>
                  <a:pt x="4029011" y="831173"/>
                </a:lnTo>
                <a:lnTo>
                  <a:pt x="4001245" y="837425"/>
                </a:lnTo>
                <a:lnTo>
                  <a:pt x="3990648" y="837107"/>
                </a:lnTo>
                <a:lnTo>
                  <a:pt x="3966061" y="834670"/>
                </a:lnTo>
                <a:lnTo>
                  <a:pt x="3952496" y="831597"/>
                </a:lnTo>
                <a:lnTo>
                  <a:pt x="3941898" y="833928"/>
                </a:lnTo>
                <a:lnTo>
                  <a:pt x="3931831" y="834140"/>
                </a:lnTo>
                <a:lnTo>
                  <a:pt x="3921127" y="827146"/>
                </a:lnTo>
                <a:lnTo>
                  <a:pt x="3912119" y="818243"/>
                </a:lnTo>
                <a:lnTo>
                  <a:pt x="3907668" y="811991"/>
                </a:lnTo>
                <a:lnTo>
                  <a:pt x="3901627" y="807434"/>
                </a:lnTo>
                <a:lnTo>
                  <a:pt x="3898978" y="801393"/>
                </a:lnTo>
                <a:lnTo>
                  <a:pt x="3892407" y="778290"/>
                </a:lnTo>
                <a:lnTo>
                  <a:pt x="3891772" y="761864"/>
                </a:lnTo>
                <a:lnTo>
                  <a:pt x="3881174" y="761546"/>
                </a:lnTo>
                <a:lnTo>
                  <a:pt x="3870682" y="759850"/>
                </a:lnTo>
                <a:lnTo>
                  <a:pt x="3824371" y="744166"/>
                </a:lnTo>
                <a:lnTo>
                  <a:pt x="3818754" y="748087"/>
                </a:lnTo>
                <a:lnTo>
                  <a:pt x="3812183" y="749995"/>
                </a:lnTo>
                <a:lnTo>
                  <a:pt x="3805719" y="750737"/>
                </a:lnTo>
                <a:lnTo>
                  <a:pt x="3799254" y="749995"/>
                </a:lnTo>
                <a:lnTo>
                  <a:pt x="3792790" y="747557"/>
                </a:lnTo>
                <a:lnTo>
                  <a:pt x="3793319" y="743212"/>
                </a:lnTo>
                <a:lnTo>
                  <a:pt x="3798088" y="732615"/>
                </a:lnTo>
                <a:lnTo>
                  <a:pt x="3802857" y="728693"/>
                </a:lnTo>
                <a:lnTo>
                  <a:pt x="3809322" y="725726"/>
                </a:lnTo>
                <a:lnTo>
                  <a:pt x="3813455" y="720109"/>
                </a:lnTo>
                <a:lnTo>
                  <a:pt x="3820132" y="703259"/>
                </a:lnTo>
                <a:lnTo>
                  <a:pt x="3820661" y="697536"/>
                </a:lnTo>
                <a:lnTo>
                  <a:pt x="3819920" y="691602"/>
                </a:lnTo>
                <a:lnTo>
                  <a:pt x="3820449" y="687151"/>
                </a:lnTo>
                <a:lnTo>
                  <a:pt x="3824583" y="684925"/>
                </a:lnTo>
                <a:lnTo>
                  <a:pt x="3842175" y="679414"/>
                </a:lnTo>
                <a:lnTo>
                  <a:pt x="3878419" y="671148"/>
                </a:lnTo>
                <a:lnTo>
                  <a:pt x="3887638" y="666167"/>
                </a:lnTo>
                <a:lnTo>
                  <a:pt x="3895163" y="658219"/>
                </a:lnTo>
                <a:lnTo>
                  <a:pt x="3904065" y="653450"/>
                </a:lnTo>
                <a:lnTo>
                  <a:pt x="3908092" y="648575"/>
                </a:lnTo>
                <a:lnTo>
                  <a:pt x="3912755" y="644654"/>
                </a:lnTo>
                <a:lnTo>
                  <a:pt x="3940945" y="634162"/>
                </a:lnTo>
                <a:lnTo>
                  <a:pt x="3953026" y="633315"/>
                </a:lnTo>
                <a:lnTo>
                  <a:pt x="3965425" y="634586"/>
                </a:lnTo>
                <a:lnTo>
                  <a:pt x="3989906" y="640733"/>
                </a:lnTo>
                <a:lnTo>
                  <a:pt x="4013326" y="650801"/>
                </a:lnTo>
                <a:lnTo>
                  <a:pt x="4033568" y="663942"/>
                </a:lnTo>
                <a:lnTo>
                  <a:pt x="4055293" y="673480"/>
                </a:lnTo>
                <a:lnTo>
                  <a:pt x="4081893" y="675069"/>
                </a:lnTo>
                <a:lnTo>
                  <a:pt x="4095246" y="674010"/>
                </a:lnTo>
                <a:lnTo>
                  <a:pt x="4108493" y="675387"/>
                </a:lnTo>
                <a:lnTo>
                  <a:pt x="4113792" y="678143"/>
                </a:lnTo>
                <a:lnTo>
                  <a:pt x="4123012" y="686303"/>
                </a:lnTo>
                <a:lnTo>
                  <a:pt x="4120363" y="691602"/>
                </a:lnTo>
                <a:lnTo>
                  <a:pt x="4118773" y="702729"/>
                </a:lnTo>
                <a:lnTo>
                  <a:pt x="4123436" y="713327"/>
                </a:lnTo>
                <a:lnTo>
                  <a:pt x="4131066" y="724030"/>
                </a:lnTo>
                <a:lnTo>
                  <a:pt x="4137319" y="735476"/>
                </a:lnTo>
                <a:lnTo>
                  <a:pt x="4138697" y="740987"/>
                </a:lnTo>
                <a:lnTo>
                  <a:pt x="4136259" y="752750"/>
                </a:lnTo>
                <a:lnTo>
                  <a:pt x="4134140" y="758579"/>
                </a:lnTo>
                <a:lnTo>
                  <a:pt x="4126509" y="768329"/>
                </a:lnTo>
                <a:lnTo>
                  <a:pt x="4122376" y="778926"/>
                </a:lnTo>
                <a:lnTo>
                  <a:pt x="4125026" y="792067"/>
                </a:lnTo>
                <a:lnTo>
                  <a:pt x="4126509" y="805208"/>
                </a:lnTo>
                <a:lnTo>
                  <a:pt x="4126297" y="817290"/>
                </a:lnTo>
                <a:lnTo>
                  <a:pt x="4127675" y="829159"/>
                </a:lnTo>
                <a:lnTo>
                  <a:pt x="4131808" y="841240"/>
                </a:lnTo>
                <a:lnTo>
                  <a:pt x="4149506" y="874305"/>
                </a:lnTo>
                <a:lnTo>
                  <a:pt x="4159892" y="896666"/>
                </a:lnTo>
                <a:lnTo>
                  <a:pt x="4163177" y="884161"/>
                </a:lnTo>
                <a:lnTo>
                  <a:pt x="4162329" y="870278"/>
                </a:lnTo>
                <a:lnTo>
                  <a:pt x="4166038" y="865297"/>
                </a:lnTo>
                <a:lnTo>
                  <a:pt x="4171231" y="862542"/>
                </a:lnTo>
                <a:lnTo>
                  <a:pt x="4177590" y="865403"/>
                </a:lnTo>
                <a:lnTo>
                  <a:pt x="4179497" y="871020"/>
                </a:lnTo>
                <a:lnTo>
                  <a:pt x="4179921" y="883313"/>
                </a:lnTo>
                <a:lnTo>
                  <a:pt x="4185538" y="907476"/>
                </a:lnTo>
                <a:lnTo>
                  <a:pt x="4192745" y="908535"/>
                </a:lnTo>
                <a:lnTo>
                  <a:pt x="4200481" y="904826"/>
                </a:lnTo>
                <a:lnTo>
                  <a:pt x="4201753" y="912245"/>
                </a:lnTo>
                <a:lnTo>
                  <a:pt x="4201541" y="925916"/>
                </a:lnTo>
                <a:lnTo>
                  <a:pt x="4205144" y="936725"/>
                </a:lnTo>
                <a:lnTo>
                  <a:pt x="4208323" y="940964"/>
                </a:lnTo>
                <a:lnTo>
                  <a:pt x="4221040" y="949760"/>
                </a:lnTo>
                <a:lnTo>
                  <a:pt x="4226869" y="951456"/>
                </a:lnTo>
                <a:lnTo>
                  <a:pt x="4243825" y="953575"/>
                </a:lnTo>
                <a:lnTo>
                  <a:pt x="4256542" y="954211"/>
                </a:lnTo>
                <a:lnTo>
                  <a:pt x="4268730" y="951032"/>
                </a:lnTo>
                <a:lnTo>
                  <a:pt x="4276572" y="942978"/>
                </a:lnTo>
                <a:lnTo>
                  <a:pt x="4283672" y="934182"/>
                </a:lnTo>
                <a:lnTo>
                  <a:pt x="4308153" y="913940"/>
                </a:lnTo>
                <a:lnTo>
                  <a:pt x="4315253" y="904296"/>
                </a:lnTo>
                <a:lnTo>
                  <a:pt x="4322142" y="889460"/>
                </a:lnTo>
                <a:lnTo>
                  <a:pt x="4324473" y="886280"/>
                </a:lnTo>
                <a:lnTo>
                  <a:pt x="4348848" y="870278"/>
                </a:lnTo>
                <a:lnTo>
                  <a:pt x="4351709" y="864555"/>
                </a:lnTo>
                <a:lnTo>
                  <a:pt x="4355206" y="853640"/>
                </a:lnTo>
                <a:lnTo>
                  <a:pt x="4360399" y="842936"/>
                </a:lnTo>
                <a:lnTo>
                  <a:pt x="4364426" y="837425"/>
                </a:lnTo>
                <a:lnTo>
                  <a:pt x="4387953" y="832232"/>
                </a:lnTo>
                <a:lnTo>
                  <a:pt x="4412434" y="829477"/>
                </a:lnTo>
                <a:lnTo>
                  <a:pt x="4436702" y="819621"/>
                </a:lnTo>
                <a:lnTo>
                  <a:pt x="4447194" y="811143"/>
                </a:lnTo>
                <a:lnTo>
                  <a:pt x="4447724" y="805632"/>
                </a:lnTo>
                <a:lnTo>
                  <a:pt x="4442319" y="795882"/>
                </a:lnTo>
                <a:lnTo>
                  <a:pt x="4442107" y="791643"/>
                </a:lnTo>
                <a:lnTo>
                  <a:pt x="4447724" y="787510"/>
                </a:lnTo>
                <a:lnTo>
                  <a:pt x="4469449" y="775217"/>
                </a:lnTo>
                <a:lnTo>
                  <a:pt x="4494459" y="762500"/>
                </a:lnTo>
                <a:lnTo>
                  <a:pt x="4514489" y="753704"/>
                </a:lnTo>
                <a:lnTo>
                  <a:pt x="4525616" y="753810"/>
                </a:lnTo>
                <a:lnTo>
                  <a:pt x="4535896" y="761546"/>
                </a:lnTo>
                <a:lnTo>
                  <a:pt x="4546812" y="767799"/>
                </a:lnTo>
                <a:lnTo>
                  <a:pt x="4603933" y="786345"/>
                </a:lnTo>
                <a:lnTo>
                  <a:pt x="4613047" y="792173"/>
                </a:lnTo>
                <a:lnTo>
                  <a:pt x="4620995" y="799804"/>
                </a:lnTo>
                <a:lnTo>
                  <a:pt x="4632441" y="805102"/>
                </a:lnTo>
                <a:lnTo>
                  <a:pt x="4645158" y="807646"/>
                </a:lnTo>
                <a:lnTo>
                  <a:pt x="4656815" y="812627"/>
                </a:lnTo>
                <a:lnTo>
                  <a:pt x="4667837" y="818985"/>
                </a:lnTo>
                <a:lnTo>
                  <a:pt x="4692105" y="830961"/>
                </a:lnTo>
                <a:lnTo>
                  <a:pt x="4724746" y="845373"/>
                </a:lnTo>
                <a:lnTo>
                  <a:pt x="4733012" y="846221"/>
                </a:lnTo>
                <a:lnTo>
                  <a:pt x="4763427" y="845585"/>
                </a:lnTo>
                <a:lnTo>
                  <a:pt x="4768620" y="848341"/>
                </a:lnTo>
                <a:lnTo>
                  <a:pt x="4773601" y="852156"/>
                </a:lnTo>
                <a:lnTo>
                  <a:pt x="4778264" y="853004"/>
                </a:lnTo>
                <a:lnTo>
                  <a:pt x="4813024" y="855759"/>
                </a:lnTo>
                <a:lnTo>
                  <a:pt x="4818323" y="858515"/>
                </a:lnTo>
                <a:lnTo>
                  <a:pt x="4823410" y="862330"/>
                </a:lnTo>
                <a:lnTo>
                  <a:pt x="4826166" y="872821"/>
                </a:lnTo>
                <a:lnTo>
                  <a:pt x="4850116" y="873139"/>
                </a:lnTo>
                <a:close/>
                <a:moveTo>
                  <a:pt x="4629897" y="1485577"/>
                </a:moveTo>
                <a:lnTo>
                  <a:pt x="4624704" y="1486955"/>
                </a:lnTo>
                <a:lnTo>
                  <a:pt x="4597998" y="1483669"/>
                </a:lnTo>
                <a:lnTo>
                  <a:pt x="4595137" y="1479324"/>
                </a:lnTo>
                <a:lnTo>
                  <a:pt x="4594713" y="1477099"/>
                </a:lnTo>
                <a:lnTo>
                  <a:pt x="4600860" y="1472754"/>
                </a:lnTo>
                <a:lnTo>
                  <a:pt x="4606794" y="1465441"/>
                </a:lnTo>
                <a:lnTo>
                  <a:pt x="4615908" y="1462686"/>
                </a:lnTo>
                <a:lnTo>
                  <a:pt x="4619406" y="1462792"/>
                </a:lnTo>
                <a:lnTo>
                  <a:pt x="4630215" y="1480172"/>
                </a:lnTo>
                <a:lnTo>
                  <a:pt x="4629897" y="1485577"/>
                </a:lnTo>
                <a:close/>
                <a:moveTo>
                  <a:pt x="688953" y="376322"/>
                </a:moveTo>
                <a:lnTo>
                  <a:pt x="694675" y="384906"/>
                </a:lnTo>
                <a:lnTo>
                  <a:pt x="695947" y="390629"/>
                </a:lnTo>
                <a:lnTo>
                  <a:pt x="691708" y="396987"/>
                </a:lnTo>
                <a:lnTo>
                  <a:pt x="690118" y="406949"/>
                </a:lnTo>
                <a:lnTo>
                  <a:pt x="677825" y="414685"/>
                </a:lnTo>
                <a:lnTo>
                  <a:pt x="667016" y="412884"/>
                </a:lnTo>
                <a:lnTo>
                  <a:pt x="663518" y="410128"/>
                </a:lnTo>
                <a:lnTo>
                  <a:pt x="656630" y="395080"/>
                </a:lnTo>
                <a:lnTo>
                  <a:pt x="657372" y="382257"/>
                </a:lnTo>
                <a:lnTo>
                  <a:pt x="661611" y="377382"/>
                </a:lnTo>
                <a:lnTo>
                  <a:pt x="671679" y="378123"/>
                </a:lnTo>
                <a:lnTo>
                  <a:pt x="681852" y="371129"/>
                </a:lnTo>
                <a:lnTo>
                  <a:pt x="688953" y="376322"/>
                </a:lnTo>
                <a:close/>
                <a:moveTo>
                  <a:pt x="765150" y="491624"/>
                </a:moveTo>
                <a:lnTo>
                  <a:pt x="760275" y="494804"/>
                </a:lnTo>
                <a:lnTo>
                  <a:pt x="754340" y="489823"/>
                </a:lnTo>
                <a:lnTo>
                  <a:pt x="749571" y="482510"/>
                </a:lnTo>
                <a:lnTo>
                  <a:pt x="746922" y="474986"/>
                </a:lnTo>
                <a:lnTo>
                  <a:pt x="744696" y="462587"/>
                </a:lnTo>
                <a:lnTo>
                  <a:pt x="744166" y="453685"/>
                </a:lnTo>
                <a:lnTo>
                  <a:pt x="747028" y="448492"/>
                </a:lnTo>
                <a:lnTo>
                  <a:pt x="749147" y="448704"/>
                </a:lnTo>
                <a:lnTo>
                  <a:pt x="757943" y="453897"/>
                </a:lnTo>
                <a:lnTo>
                  <a:pt x="763666" y="462905"/>
                </a:lnTo>
                <a:lnTo>
                  <a:pt x="766845" y="465766"/>
                </a:lnTo>
                <a:lnTo>
                  <a:pt x="767481" y="474032"/>
                </a:lnTo>
                <a:lnTo>
                  <a:pt x="765362" y="483464"/>
                </a:lnTo>
                <a:lnTo>
                  <a:pt x="765150" y="491624"/>
                </a:lnTo>
                <a:close/>
                <a:moveTo>
                  <a:pt x="772038" y="441921"/>
                </a:moveTo>
                <a:lnTo>
                  <a:pt x="772780" y="455486"/>
                </a:lnTo>
                <a:lnTo>
                  <a:pt x="764938" y="451989"/>
                </a:lnTo>
                <a:lnTo>
                  <a:pt x="758791" y="446584"/>
                </a:lnTo>
                <a:lnTo>
                  <a:pt x="748935" y="442557"/>
                </a:lnTo>
                <a:lnTo>
                  <a:pt x="736960" y="441285"/>
                </a:lnTo>
                <a:lnTo>
                  <a:pt x="728270" y="437682"/>
                </a:lnTo>
                <a:lnTo>
                  <a:pt x="722123" y="431430"/>
                </a:lnTo>
                <a:lnTo>
                  <a:pt x="721805" y="428462"/>
                </a:lnTo>
                <a:lnTo>
                  <a:pt x="722441" y="426131"/>
                </a:lnTo>
                <a:lnTo>
                  <a:pt x="724349" y="424329"/>
                </a:lnTo>
                <a:lnTo>
                  <a:pt x="769707" y="436516"/>
                </a:lnTo>
                <a:lnTo>
                  <a:pt x="772038" y="441921"/>
                </a:lnTo>
                <a:close/>
                <a:moveTo>
                  <a:pt x="828842" y="517376"/>
                </a:moveTo>
                <a:lnTo>
                  <a:pt x="826828" y="521510"/>
                </a:lnTo>
                <a:lnTo>
                  <a:pt x="822801" y="518436"/>
                </a:lnTo>
                <a:lnTo>
                  <a:pt x="802135" y="513879"/>
                </a:lnTo>
                <a:lnTo>
                  <a:pt x="795247" y="513455"/>
                </a:lnTo>
                <a:lnTo>
                  <a:pt x="777337" y="508368"/>
                </a:lnTo>
                <a:lnTo>
                  <a:pt x="771826" y="505719"/>
                </a:lnTo>
                <a:lnTo>
                  <a:pt x="768011" y="502222"/>
                </a:lnTo>
                <a:lnTo>
                  <a:pt x="769283" y="495863"/>
                </a:lnTo>
                <a:lnTo>
                  <a:pt x="771932" y="491942"/>
                </a:lnTo>
                <a:lnTo>
                  <a:pt x="773628" y="481133"/>
                </a:lnTo>
                <a:lnTo>
                  <a:pt x="778079" y="476788"/>
                </a:lnTo>
                <a:lnTo>
                  <a:pt x="786981" y="484842"/>
                </a:lnTo>
                <a:lnTo>
                  <a:pt x="796837" y="491730"/>
                </a:lnTo>
                <a:lnTo>
                  <a:pt x="802559" y="494909"/>
                </a:lnTo>
                <a:lnTo>
                  <a:pt x="819940" y="501904"/>
                </a:lnTo>
                <a:lnTo>
                  <a:pt x="826086" y="505507"/>
                </a:lnTo>
                <a:lnTo>
                  <a:pt x="828842" y="517376"/>
                </a:lnTo>
                <a:close/>
                <a:moveTo>
                  <a:pt x="843466" y="504341"/>
                </a:moveTo>
                <a:lnTo>
                  <a:pt x="840393" y="507309"/>
                </a:lnTo>
                <a:lnTo>
                  <a:pt x="835094" y="506673"/>
                </a:lnTo>
                <a:lnTo>
                  <a:pt x="829371" y="503070"/>
                </a:lnTo>
                <a:lnTo>
                  <a:pt x="822059" y="496605"/>
                </a:lnTo>
                <a:lnTo>
                  <a:pt x="813793" y="490882"/>
                </a:lnTo>
                <a:lnTo>
                  <a:pt x="803407" y="487279"/>
                </a:lnTo>
                <a:lnTo>
                  <a:pt x="796837" y="486219"/>
                </a:lnTo>
                <a:lnTo>
                  <a:pt x="794293" y="484842"/>
                </a:lnTo>
                <a:lnTo>
                  <a:pt x="796837" y="473714"/>
                </a:lnTo>
                <a:lnTo>
                  <a:pt x="803619" y="473078"/>
                </a:lnTo>
                <a:lnTo>
                  <a:pt x="825768" y="483358"/>
                </a:lnTo>
                <a:lnTo>
                  <a:pt x="833081" y="488975"/>
                </a:lnTo>
                <a:lnTo>
                  <a:pt x="843466" y="504341"/>
                </a:lnTo>
                <a:close/>
                <a:moveTo>
                  <a:pt x="934500" y="471383"/>
                </a:moveTo>
                <a:lnTo>
                  <a:pt x="941177" y="476046"/>
                </a:lnTo>
                <a:lnTo>
                  <a:pt x="946687" y="472972"/>
                </a:lnTo>
                <a:lnTo>
                  <a:pt x="946475" y="476999"/>
                </a:lnTo>
                <a:lnTo>
                  <a:pt x="945310" y="480815"/>
                </a:lnTo>
                <a:lnTo>
                  <a:pt x="938845" y="491624"/>
                </a:lnTo>
                <a:lnTo>
                  <a:pt x="928035" y="489187"/>
                </a:lnTo>
                <a:lnTo>
                  <a:pt x="925492" y="485690"/>
                </a:lnTo>
                <a:lnTo>
                  <a:pt x="924644" y="483040"/>
                </a:lnTo>
                <a:lnTo>
                  <a:pt x="926234" y="481345"/>
                </a:lnTo>
                <a:lnTo>
                  <a:pt x="927082" y="476046"/>
                </a:lnTo>
                <a:lnTo>
                  <a:pt x="931851" y="476046"/>
                </a:lnTo>
                <a:lnTo>
                  <a:pt x="934500" y="471383"/>
                </a:lnTo>
                <a:close/>
                <a:moveTo>
                  <a:pt x="993847" y="467674"/>
                </a:moveTo>
                <a:lnTo>
                  <a:pt x="994483" y="475622"/>
                </a:lnTo>
                <a:lnTo>
                  <a:pt x="1000523" y="479437"/>
                </a:lnTo>
                <a:lnTo>
                  <a:pt x="1002113" y="485266"/>
                </a:lnTo>
                <a:lnTo>
                  <a:pt x="1001053" y="494698"/>
                </a:lnTo>
                <a:lnTo>
                  <a:pt x="995330" y="505507"/>
                </a:lnTo>
                <a:lnTo>
                  <a:pt x="992787" y="508368"/>
                </a:lnTo>
                <a:lnTo>
                  <a:pt x="985263" y="506143"/>
                </a:lnTo>
                <a:lnTo>
                  <a:pt x="982825" y="502540"/>
                </a:lnTo>
                <a:lnTo>
                  <a:pt x="981765" y="499784"/>
                </a:lnTo>
                <a:lnTo>
                  <a:pt x="982825" y="497665"/>
                </a:lnTo>
                <a:lnTo>
                  <a:pt x="977314" y="495227"/>
                </a:lnTo>
                <a:lnTo>
                  <a:pt x="980812" y="490988"/>
                </a:lnTo>
                <a:lnTo>
                  <a:pt x="978374" y="485266"/>
                </a:lnTo>
                <a:lnTo>
                  <a:pt x="963008" y="488869"/>
                </a:lnTo>
                <a:lnTo>
                  <a:pt x="958557" y="488975"/>
                </a:lnTo>
                <a:lnTo>
                  <a:pt x="957709" y="482404"/>
                </a:lnTo>
                <a:lnTo>
                  <a:pt x="958345" y="479649"/>
                </a:lnTo>
                <a:lnTo>
                  <a:pt x="970214" y="471383"/>
                </a:lnTo>
                <a:lnTo>
                  <a:pt x="977208" y="469793"/>
                </a:lnTo>
                <a:lnTo>
                  <a:pt x="984839" y="471489"/>
                </a:lnTo>
                <a:lnTo>
                  <a:pt x="993847" y="467674"/>
                </a:lnTo>
                <a:close/>
                <a:moveTo>
                  <a:pt x="1014406" y="615193"/>
                </a:moveTo>
                <a:lnTo>
                  <a:pt x="1017480" y="616888"/>
                </a:lnTo>
                <a:lnTo>
                  <a:pt x="1021189" y="611484"/>
                </a:lnTo>
                <a:lnTo>
                  <a:pt x="1028183" y="619008"/>
                </a:lnTo>
                <a:lnTo>
                  <a:pt x="1032528" y="622717"/>
                </a:lnTo>
                <a:lnTo>
                  <a:pt x="1038357" y="626532"/>
                </a:lnTo>
                <a:lnTo>
                  <a:pt x="1032634" y="626638"/>
                </a:lnTo>
                <a:lnTo>
                  <a:pt x="1030303" y="630135"/>
                </a:lnTo>
                <a:lnTo>
                  <a:pt x="1028713" y="630771"/>
                </a:lnTo>
                <a:lnTo>
                  <a:pt x="1006246" y="618690"/>
                </a:lnTo>
                <a:lnTo>
                  <a:pt x="991939" y="622611"/>
                </a:lnTo>
                <a:lnTo>
                  <a:pt x="982083" y="619008"/>
                </a:lnTo>
                <a:lnTo>
                  <a:pt x="979222" y="616570"/>
                </a:lnTo>
                <a:lnTo>
                  <a:pt x="984521" y="609894"/>
                </a:lnTo>
                <a:lnTo>
                  <a:pt x="989396" y="594633"/>
                </a:lnTo>
                <a:lnTo>
                  <a:pt x="999252" y="598448"/>
                </a:lnTo>
                <a:lnTo>
                  <a:pt x="1001583" y="603217"/>
                </a:lnTo>
                <a:lnTo>
                  <a:pt x="1001053" y="604595"/>
                </a:lnTo>
                <a:lnTo>
                  <a:pt x="1007412" y="607456"/>
                </a:lnTo>
                <a:lnTo>
                  <a:pt x="1014406" y="615193"/>
                </a:lnTo>
                <a:close/>
                <a:moveTo>
                  <a:pt x="982083" y="632043"/>
                </a:moveTo>
                <a:lnTo>
                  <a:pt x="992045" y="642323"/>
                </a:lnTo>
                <a:lnTo>
                  <a:pt x="994377" y="646032"/>
                </a:lnTo>
                <a:lnTo>
                  <a:pt x="989502" y="651755"/>
                </a:lnTo>
                <a:lnTo>
                  <a:pt x="985581" y="659809"/>
                </a:lnTo>
                <a:lnTo>
                  <a:pt x="983249" y="661504"/>
                </a:lnTo>
                <a:lnTo>
                  <a:pt x="975725" y="658431"/>
                </a:lnTo>
                <a:lnTo>
                  <a:pt x="970320" y="666379"/>
                </a:lnTo>
                <a:lnTo>
                  <a:pt x="966823" y="653662"/>
                </a:lnTo>
                <a:lnTo>
                  <a:pt x="959087" y="645608"/>
                </a:lnTo>
                <a:lnTo>
                  <a:pt x="963855" y="637448"/>
                </a:lnTo>
                <a:lnTo>
                  <a:pt x="965657" y="636812"/>
                </a:lnTo>
                <a:lnTo>
                  <a:pt x="967989" y="637130"/>
                </a:lnTo>
                <a:lnTo>
                  <a:pt x="970426" y="639249"/>
                </a:lnTo>
                <a:lnTo>
                  <a:pt x="982083" y="632043"/>
                </a:lnTo>
                <a:close/>
                <a:moveTo>
                  <a:pt x="903979" y="633421"/>
                </a:moveTo>
                <a:lnTo>
                  <a:pt x="890096" y="637130"/>
                </a:lnTo>
                <a:lnTo>
                  <a:pt x="874729" y="634480"/>
                </a:lnTo>
                <a:lnTo>
                  <a:pt x="876637" y="628016"/>
                </a:lnTo>
                <a:lnTo>
                  <a:pt x="884055" y="620703"/>
                </a:lnTo>
                <a:lnTo>
                  <a:pt x="890626" y="621021"/>
                </a:lnTo>
                <a:lnTo>
                  <a:pt x="902601" y="625896"/>
                </a:lnTo>
                <a:lnTo>
                  <a:pt x="906840" y="630241"/>
                </a:lnTo>
                <a:lnTo>
                  <a:pt x="903979" y="633421"/>
                </a:lnTo>
                <a:close/>
                <a:moveTo>
                  <a:pt x="1536976" y="721699"/>
                </a:moveTo>
                <a:lnTo>
                  <a:pt x="1515887" y="732509"/>
                </a:lnTo>
                <a:lnTo>
                  <a:pt x="1510906" y="731979"/>
                </a:lnTo>
                <a:lnTo>
                  <a:pt x="1507091" y="728058"/>
                </a:lnTo>
                <a:lnTo>
                  <a:pt x="1509422" y="707180"/>
                </a:lnTo>
                <a:lnTo>
                  <a:pt x="1512177" y="700928"/>
                </a:lnTo>
                <a:lnTo>
                  <a:pt x="1526908" y="700292"/>
                </a:lnTo>
                <a:lnTo>
                  <a:pt x="1535916" y="703259"/>
                </a:lnTo>
                <a:lnTo>
                  <a:pt x="1540473" y="706650"/>
                </a:lnTo>
                <a:lnTo>
                  <a:pt x="1542381" y="713645"/>
                </a:lnTo>
                <a:lnTo>
                  <a:pt x="1541321" y="717884"/>
                </a:lnTo>
                <a:lnTo>
                  <a:pt x="1536976" y="721699"/>
                </a:lnTo>
                <a:close/>
                <a:moveTo>
                  <a:pt x="1975188" y="1349503"/>
                </a:moveTo>
                <a:lnTo>
                  <a:pt x="1973175" y="1351093"/>
                </a:lnTo>
                <a:lnTo>
                  <a:pt x="1955159" y="1350245"/>
                </a:lnTo>
                <a:lnTo>
                  <a:pt x="1943501" y="1358829"/>
                </a:lnTo>
                <a:lnTo>
                  <a:pt x="1935553" y="1361479"/>
                </a:lnTo>
                <a:lnTo>
                  <a:pt x="1906622" y="1361479"/>
                </a:lnTo>
                <a:lnTo>
                  <a:pt x="1903230" y="1360313"/>
                </a:lnTo>
                <a:lnTo>
                  <a:pt x="1900687" y="1360419"/>
                </a:lnTo>
                <a:lnTo>
                  <a:pt x="1899097" y="1362114"/>
                </a:lnTo>
                <a:lnTo>
                  <a:pt x="1889877" y="1360843"/>
                </a:lnTo>
                <a:lnTo>
                  <a:pt x="1860628" y="1353212"/>
                </a:lnTo>
                <a:lnTo>
                  <a:pt x="1856601" y="1346112"/>
                </a:lnTo>
                <a:lnTo>
                  <a:pt x="1861158" y="1338482"/>
                </a:lnTo>
                <a:lnTo>
                  <a:pt x="1871649" y="1327778"/>
                </a:lnTo>
                <a:lnTo>
                  <a:pt x="1892739" y="1325659"/>
                </a:lnTo>
                <a:lnTo>
                  <a:pt x="1988965" y="1324917"/>
                </a:lnTo>
                <a:lnTo>
                  <a:pt x="1999457" y="1334137"/>
                </a:lnTo>
                <a:lnTo>
                  <a:pt x="2000411" y="1337210"/>
                </a:lnTo>
                <a:lnTo>
                  <a:pt x="1979427" y="1343569"/>
                </a:lnTo>
                <a:lnTo>
                  <a:pt x="1975188" y="1349503"/>
                </a:lnTo>
                <a:close/>
                <a:moveTo>
                  <a:pt x="4213410" y="714811"/>
                </a:moveTo>
                <a:lnTo>
                  <a:pt x="4208323" y="716718"/>
                </a:lnTo>
                <a:lnTo>
                  <a:pt x="4202494" y="714599"/>
                </a:lnTo>
                <a:lnTo>
                  <a:pt x="4196878" y="706544"/>
                </a:lnTo>
                <a:lnTo>
                  <a:pt x="4198891" y="700292"/>
                </a:lnTo>
                <a:lnTo>
                  <a:pt x="4205356" y="695947"/>
                </a:lnTo>
                <a:lnTo>
                  <a:pt x="4210867" y="700292"/>
                </a:lnTo>
                <a:lnTo>
                  <a:pt x="4212562" y="705803"/>
                </a:lnTo>
                <a:lnTo>
                  <a:pt x="4216695" y="706120"/>
                </a:lnTo>
                <a:lnTo>
                  <a:pt x="4213410" y="714811"/>
                </a:lnTo>
                <a:close/>
                <a:moveTo>
                  <a:pt x="3395802" y="648999"/>
                </a:moveTo>
                <a:lnTo>
                  <a:pt x="3389125" y="651755"/>
                </a:lnTo>
                <a:lnTo>
                  <a:pt x="3381919" y="651755"/>
                </a:lnTo>
                <a:lnTo>
                  <a:pt x="3380329" y="640415"/>
                </a:lnTo>
                <a:lnTo>
                  <a:pt x="3382661" y="626108"/>
                </a:lnTo>
                <a:lnTo>
                  <a:pt x="3389443" y="623671"/>
                </a:lnTo>
                <a:lnTo>
                  <a:pt x="3400041" y="626638"/>
                </a:lnTo>
                <a:lnTo>
                  <a:pt x="3396120" y="630347"/>
                </a:lnTo>
                <a:lnTo>
                  <a:pt x="3399087" y="637978"/>
                </a:lnTo>
                <a:lnTo>
                  <a:pt x="3395802" y="648999"/>
                </a:lnTo>
                <a:close/>
                <a:moveTo>
                  <a:pt x="3429397" y="630347"/>
                </a:moveTo>
                <a:lnTo>
                  <a:pt x="3441584" y="646138"/>
                </a:lnTo>
                <a:lnTo>
                  <a:pt x="3433424" y="661186"/>
                </a:lnTo>
                <a:lnTo>
                  <a:pt x="3439146" y="669559"/>
                </a:lnTo>
                <a:lnTo>
                  <a:pt x="3454513" y="670088"/>
                </a:lnTo>
                <a:lnTo>
                  <a:pt x="3458116" y="673268"/>
                </a:lnTo>
                <a:lnTo>
                  <a:pt x="3460766" y="677083"/>
                </a:lnTo>
                <a:lnTo>
                  <a:pt x="3462567" y="682276"/>
                </a:lnTo>
                <a:lnTo>
                  <a:pt x="3458540" y="686409"/>
                </a:lnTo>
                <a:lnTo>
                  <a:pt x="3449956" y="690224"/>
                </a:lnTo>
                <a:lnTo>
                  <a:pt x="3440100" y="684713"/>
                </a:lnTo>
                <a:lnTo>
                  <a:pt x="3437451" y="679626"/>
                </a:lnTo>
                <a:lnTo>
                  <a:pt x="3435437" y="677719"/>
                </a:lnTo>
                <a:lnTo>
                  <a:pt x="3422084" y="681534"/>
                </a:lnTo>
                <a:lnTo>
                  <a:pt x="3418375" y="681958"/>
                </a:lnTo>
                <a:lnTo>
                  <a:pt x="3415726" y="674857"/>
                </a:lnTo>
                <a:lnTo>
                  <a:pt x="3419011" y="664684"/>
                </a:lnTo>
                <a:lnTo>
                  <a:pt x="3409685" y="660127"/>
                </a:lnTo>
                <a:lnTo>
                  <a:pt x="3401101" y="649529"/>
                </a:lnTo>
                <a:lnTo>
                  <a:pt x="3400783" y="645290"/>
                </a:lnTo>
                <a:lnTo>
                  <a:pt x="3404174" y="637978"/>
                </a:lnTo>
                <a:lnTo>
                  <a:pt x="3403750" y="632149"/>
                </a:lnTo>
                <a:lnTo>
                  <a:pt x="3408625" y="631725"/>
                </a:lnTo>
                <a:lnTo>
                  <a:pt x="3417527" y="639567"/>
                </a:lnTo>
                <a:lnTo>
                  <a:pt x="3421448" y="632149"/>
                </a:lnTo>
                <a:lnTo>
                  <a:pt x="3425157" y="629076"/>
                </a:lnTo>
                <a:lnTo>
                  <a:pt x="3429397" y="630347"/>
                </a:lnTo>
                <a:close/>
                <a:moveTo>
                  <a:pt x="3997324" y="1222014"/>
                </a:moveTo>
                <a:lnTo>
                  <a:pt x="3988740" y="1231128"/>
                </a:lnTo>
                <a:lnTo>
                  <a:pt x="3996900" y="1209614"/>
                </a:lnTo>
                <a:lnTo>
                  <a:pt x="3998596" y="1198805"/>
                </a:lnTo>
                <a:lnTo>
                  <a:pt x="4006120" y="1192234"/>
                </a:lnTo>
                <a:lnTo>
                  <a:pt x="4017354" y="1159382"/>
                </a:lnTo>
                <a:lnTo>
                  <a:pt x="4019791" y="1160123"/>
                </a:lnTo>
                <a:lnTo>
                  <a:pt x="4023500" y="1163303"/>
                </a:lnTo>
                <a:lnTo>
                  <a:pt x="4017883" y="1187465"/>
                </a:lnTo>
                <a:lnTo>
                  <a:pt x="4002093" y="1204422"/>
                </a:lnTo>
                <a:lnTo>
                  <a:pt x="3997324" y="1222014"/>
                </a:lnTo>
                <a:close/>
                <a:moveTo>
                  <a:pt x="3984713" y="1216609"/>
                </a:moveTo>
                <a:lnTo>
                  <a:pt x="3978248" y="1226783"/>
                </a:lnTo>
                <a:lnTo>
                  <a:pt x="3973903" y="1223179"/>
                </a:lnTo>
                <a:lnTo>
                  <a:pt x="3971360" y="1223179"/>
                </a:lnTo>
                <a:lnTo>
                  <a:pt x="3969876" y="1217139"/>
                </a:lnTo>
                <a:lnTo>
                  <a:pt x="3971360" y="1204739"/>
                </a:lnTo>
                <a:lnTo>
                  <a:pt x="3965955" y="1190751"/>
                </a:lnTo>
                <a:lnTo>
                  <a:pt x="3973161" y="1190963"/>
                </a:lnTo>
                <a:lnTo>
                  <a:pt x="3975175" y="1195096"/>
                </a:lnTo>
                <a:lnTo>
                  <a:pt x="3977400" y="1196579"/>
                </a:lnTo>
                <a:lnTo>
                  <a:pt x="3984395" y="1210038"/>
                </a:lnTo>
                <a:lnTo>
                  <a:pt x="3984713" y="1216609"/>
                </a:lnTo>
                <a:close/>
                <a:moveTo>
                  <a:pt x="3504534" y="986004"/>
                </a:moveTo>
                <a:lnTo>
                  <a:pt x="3501778" y="989819"/>
                </a:lnTo>
                <a:lnTo>
                  <a:pt x="3495632" y="992363"/>
                </a:lnTo>
                <a:lnTo>
                  <a:pt x="3490439" y="992151"/>
                </a:lnTo>
                <a:lnTo>
                  <a:pt x="3492135" y="988442"/>
                </a:lnTo>
                <a:lnTo>
                  <a:pt x="3490863" y="986216"/>
                </a:lnTo>
                <a:lnTo>
                  <a:pt x="3487048" y="987170"/>
                </a:lnTo>
                <a:lnTo>
                  <a:pt x="3480795" y="990243"/>
                </a:lnTo>
                <a:lnTo>
                  <a:pt x="3472953" y="996178"/>
                </a:lnTo>
                <a:lnTo>
                  <a:pt x="3468290" y="993211"/>
                </a:lnTo>
                <a:lnTo>
                  <a:pt x="3467336" y="988548"/>
                </a:lnTo>
                <a:lnTo>
                  <a:pt x="3467654" y="986428"/>
                </a:lnTo>
                <a:lnTo>
                  <a:pt x="3476980" y="978162"/>
                </a:lnTo>
                <a:lnTo>
                  <a:pt x="3487895" y="976678"/>
                </a:lnTo>
                <a:lnTo>
                  <a:pt x="3503262" y="968730"/>
                </a:lnTo>
                <a:lnTo>
                  <a:pt x="3510151" y="969154"/>
                </a:lnTo>
                <a:lnTo>
                  <a:pt x="3508561" y="974241"/>
                </a:lnTo>
                <a:lnTo>
                  <a:pt x="3506123" y="977844"/>
                </a:lnTo>
                <a:lnTo>
                  <a:pt x="3504640" y="981553"/>
                </a:lnTo>
                <a:lnTo>
                  <a:pt x="3504534" y="986004"/>
                </a:lnTo>
                <a:close/>
                <a:moveTo>
                  <a:pt x="3349914" y="169138"/>
                </a:moveTo>
                <a:lnTo>
                  <a:pt x="3345569" y="171258"/>
                </a:lnTo>
                <a:lnTo>
                  <a:pt x="3338681" y="170516"/>
                </a:lnTo>
                <a:lnTo>
                  <a:pt x="3337939" y="165111"/>
                </a:lnTo>
                <a:lnTo>
                  <a:pt x="3344933" y="155467"/>
                </a:lnTo>
                <a:lnTo>
                  <a:pt x="3349596" y="145293"/>
                </a:lnTo>
                <a:lnTo>
                  <a:pt x="3344615" y="142644"/>
                </a:lnTo>
                <a:lnTo>
                  <a:pt x="3339846" y="136179"/>
                </a:lnTo>
                <a:lnTo>
                  <a:pt x="3339740" y="128549"/>
                </a:lnTo>
                <a:lnTo>
                  <a:pt x="3343556" y="114560"/>
                </a:lnTo>
                <a:lnTo>
                  <a:pt x="3349384" y="115726"/>
                </a:lnTo>
                <a:lnTo>
                  <a:pt x="3355001" y="121767"/>
                </a:lnTo>
                <a:lnTo>
                  <a:pt x="3357333" y="133106"/>
                </a:lnTo>
                <a:lnTo>
                  <a:pt x="3360936" y="141796"/>
                </a:lnTo>
                <a:lnTo>
                  <a:pt x="3353199" y="153559"/>
                </a:lnTo>
                <a:lnTo>
                  <a:pt x="3349914" y="169138"/>
                </a:lnTo>
                <a:close/>
                <a:moveTo>
                  <a:pt x="3227088" y="232406"/>
                </a:moveTo>
                <a:lnTo>
                  <a:pt x="3224438" y="235691"/>
                </a:lnTo>
                <a:lnTo>
                  <a:pt x="3211615" y="229757"/>
                </a:lnTo>
                <a:lnTo>
                  <a:pt x="3212251" y="220325"/>
                </a:lnTo>
                <a:lnTo>
                  <a:pt x="3210449" y="215768"/>
                </a:lnTo>
                <a:lnTo>
                  <a:pt x="3207058" y="210893"/>
                </a:lnTo>
                <a:lnTo>
                  <a:pt x="3205574" y="206124"/>
                </a:lnTo>
                <a:lnTo>
                  <a:pt x="3207058" y="200931"/>
                </a:lnTo>
                <a:lnTo>
                  <a:pt x="3214900" y="207607"/>
                </a:lnTo>
                <a:lnTo>
                  <a:pt x="3219457" y="218099"/>
                </a:lnTo>
                <a:lnTo>
                  <a:pt x="3225604" y="228061"/>
                </a:lnTo>
                <a:lnTo>
                  <a:pt x="3227088" y="232406"/>
                </a:lnTo>
                <a:close/>
                <a:moveTo>
                  <a:pt x="3778589" y="1478159"/>
                </a:moveTo>
                <a:lnTo>
                  <a:pt x="3769369" y="1481444"/>
                </a:lnTo>
                <a:lnTo>
                  <a:pt x="3775515" y="1473072"/>
                </a:lnTo>
                <a:lnTo>
                  <a:pt x="3795333" y="1453996"/>
                </a:lnTo>
                <a:lnTo>
                  <a:pt x="3802433" y="1457599"/>
                </a:lnTo>
                <a:lnTo>
                  <a:pt x="3811865" y="1458235"/>
                </a:lnTo>
                <a:lnTo>
                  <a:pt x="3797876" y="1466819"/>
                </a:lnTo>
                <a:lnTo>
                  <a:pt x="3783464" y="1470422"/>
                </a:lnTo>
                <a:lnTo>
                  <a:pt x="3778589" y="1478159"/>
                </a:lnTo>
                <a:close/>
                <a:moveTo>
                  <a:pt x="3670175" y="1439583"/>
                </a:moveTo>
                <a:lnTo>
                  <a:pt x="3663922" y="1449227"/>
                </a:lnTo>
                <a:lnTo>
                  <a:pt x="3656822" y="1448697"/>
                </a:lnTo>
                <a:lnTo>
                  <a:pt x="3643999" y="1435556"/>
                </a:lnTo>
                <a:lnTo>
                  <a:pt x="3644741" y="1426442"/>
                </a:lnTo>
                <a:lnTo>
                  <a:pt x="3645800" y="1423475"/>
                </a:lnTo>
                <a:lnTo>
                  <a:pt x="3650675" y="1422627"/>
                </a:lnTo>
                <a:lnTo>
                  <a:pt x="3667420" y="1425276"/>
                </a:lnTo>
                <a:lnTo>
                  <a:pt x="3670705" y="1432589"/>
                </a:lnTo>
                <a:lnTo>
                  <a:pt x="3670175" y="1439583"/>
                </a:lnTo>
                <a:close/>
                <a:moveTo>
                  <a:pt x="3456526" y="1454844"/>
                </a:moveTo>
                <a:lnTo>
                  <a:pt x="3475072" y="1459083"/>
                </a:lnTo>
                <a:lnTo>
                  <a:pt x="3485776" y="1458659"/>
                </a:lnTo>
                <a:lnTo>
                  <a:pt x="3487895" y="1462474"/>
                </a:lnTo>
                <a:lnTo>
                  <a:pt x="3477828" y="1471376"/>
                </a:lnTo>
                <a:lnTo>
                  <a:pt x="3456315" y="1464488"/>
                </a:lnTo>
                <a:lnTo>
                  <a:pt x="3452605" y="1457069"/>
                </a:lnTo>
                <a:lnTo>
                  <a:pt x="3456526" y="1454844"/>
                </a:lnTo>
                <a:close/>
                <a:moveTo>
                  <a:pt x="3724647" y="775747"/>
                </a:moveTo>
                <a:lnTo>
                  <a:pt x="3725918" y="782000"/>
                </a:lnTo>
                <a:lnTo>
                  <a:pt x="3732277" y="787828"/>
                </a:lnTo>
                <a:lnTo>
                  <a:pt x="3730052" y="796836"/>
                </a:lnTo>
                <a:lnTo>
                  <a:pt x="3727614" y="798214"/>
                </a:lnTo>
                <a:lnTo>
                  <a:pt x="3728886" y="802347"/>
                </a:lnTo>
                <a:lnTo>
                  <a:pt x="3731641" y="805420"/>
                </a:lnTo>
                <a:lnTo>
                  <a:pt x="3726766" y="807646"/>
                </a:lnTo>
                <a:lnTo>
                  <a:pt x="3723163" y="806586"/>
                </a:lnTo>
                <a:lnTo>
                  <a:pt x="3717334" y="809447"/>
                </a:lnTo>
                <a:lnTo>
                  <a:pt x="3713519" y="813581"/>
                </a:lnTo>
                <a:lnTo>
                  <a:pt x="3701332" y="815276"/>
                </a:lnTo>
                <a:lnTo>
                  <a:pt x="3697093" y="811461"/>
                </a:lnTo>
                <a:lnTo>
                  <a:pt x="3675262" y="807010"/>
                </a:lnTo>
                <a:lnTo>
                  <a:pt x="3661167" y="797260"/>
                </a:lnTo>
                <a:lnTo>
                  <a:pt x="3659471" y="794399"/>
                </a:lnTo>
                <a:lnTo>
                  <a:pt x="3686601" y="782953"/>
                </a:lnTo>
                <a:lnTo>
                  <a:pt x="3698471" y="779880"/>
                </a:lnTo>
                <a:lnTo>
                  <a:pt x="3708432" y="780092"/>
                </a:lnTo>
                <a:lnTo>
                  <a:pt x="3720938" y="775853"/>
                </a:lnTo>
                <a:lnTo>
                  <a:pt x="3724647" y="775747"/>
                </a:lnTo>
                <a:close/>
                <a:moveTo>
                  <a:pt x="758791" y="1177186"/>
                </a:moveTo>
                <a:lnTo>
                  <a:pt x="750207" y="1177609"/>
                </a:lnTo>
                <a:lnTo>
                  <a:pt x="734311" y="1164680"/>
                </a:lnTo>
                <a:lnTo>
                  <a:pt x="731661" y="1160653"/>
                </a:lnTo>
                <a:lnTo>
                  <a:pt x="736218" y="1156732"/>
                </a:lnTo>
                <a:lnTo>
                  <a:pt x="740881" y="1157050"/>
                </a:lnTo>
                <a:lnTo>
                  <a:pt x="759321" y="1165210"/>
                </a:lnTo>
                <a:lnTo>
                  <a:pt x="762818" y="1169343"/>
                </a:lnTo>
                <a:lnTo>
                  <a:pt x="758791" y="1177186"/>
                </a:lnTo>
                <a:close/>
                <a:moveTo>
                  <a:pt x="552985" y="933864"/>
                </a:moveTo>
                <a:lnTo>
                  <a:pt x="557224" y="949336"/>
                </a:lnTo>
                <a:lnTo>
                  <a:pt x="544613" y="938739"/>
                </a:lnTo>
                <a:lnTo>
                  <a:pt x="544825" y="931320"/>
                </a:lnTo>
                <a:lnTo>
                  <a:pt x="543129" y="926445"/>
                </a:lnTo>
                <a:lnTo>
                  <a:pt x="535499" y="920511"/>
                </a:lnTo>
                <a:lnTo>
                  <a:pt x="529564" y="913092"/>
                </a:lnTo>
                <a:lnTo>
                  <a:pt x="526915" y="895394"/>
                </a:lnTo>
                <a:lnTo>
                  <a:pt x="529034" y="891791"/>
                </a:lnTo>
                <a:lnTo>
                  <a:pt x="534015" y="891473"/>
                </a:lnTo>
                <a:lnTo>
                  <a:pt x="556164" y="914682"/>
                </a:lnTo>
                <a:lnTo>
                  <a:pt x="557648" y="918603"/>
                </a:lnTo>
                <a:lnTo>
                  <a:pt x="557118" y="926869"/>
                </a:lnTo>
                <a:lnTo>
                  <a:pt x="553939" y="929413"/>
                </a:lnTo>
                <a:lnTo>
                  <a:pt x="552985" y="933864"/>
                </a:lnTo>
                <a:close/>
                <a:moveTo>
                  <a:pt x="529564" y="887022"/>
                </a:moveTo>
                <a:lnTo>
                  <a:pt x="522040" y="895500"/>
                </a:lnTo>
                <a:lnTo>
                  <a:pt x="509535" y="895394"/>
                </a:lnTo>
                <a:lnTo>
                  <a:pt x="507097" y="890095"/>
                </a:lnTo>
                <a:lnTo>
                  <a:pt x="507627" y="877272"/>
                </a:lnTo>
                <a:lnTo>
                  <a:pt x="504554" y="873139"/>
                </a:lnTo>
                <a:lnTo>
                  <a:pt x="504660" y="871444"/>
                </a:lnTo>
                <a:lnTo>
                  <a:pt x="506673" y="864131"/>
                </a:lnTo>
                <a:lnTo>
                  <a:pt x="509217" y="862542"/>
                </a:lnTo>
                <a:lnTo>
                  <a:pt x="529352" y="880558"/>
                </a:lnTo>
                <a:lnTo>
                  <a:pt x="529564" y="887022"/>
                </a:lnTo>
                <a:close/>
                <a:moveTo>
                  <a:pt x="491307" y="844844"/>
                </a:moveTo>
                <a:lnTo>
                  <a:pt x="491837" y="847705"/>
                </a:lnTo>
                <a:lnTo>
                  <a:pt x="474562" y="838379"/>
                </a:lnTo>
                <a:lnTo>
                  <a:pt x="466296" y="835836"/>
                </a:lnTo>
                <a:lnTo>
                  <a:pt x="458878" y="825662"/>
                </a:lnTo>
                <a:lnTo>
                  <a:pt x="461209" y="820681"/>
                </a:lnTo>
                <a:lnTo>
                  <a:pt x="461527" y="813898"/>
                </a:lnTo>
                <a:lnTo>
                  <a:pt x="462587" y="811249"/>
                </a:lnTo>
                <a:lnTo>
                  <a:pt x="467886" y="810295"/>
                </a:lnTo>
                <a:lnTo>
                  <a:pt x="474668" y="815170"/>
                </a:lnTo>
                <a:lnTo>
                  <a:pt x="479861" y="827357"/>
                </a:lnTo>
                <a:lnTo>
                  <a:pt x="488445" y="838591"/>
                </a:lnTo>
                <a:lnTo>
                  <a:pt x="491307" y="844844"/>
                </a:lnTo>
                <a:close/>
                <a:moveTo>
                  <a:pt x="344635" y="652708"/>
                </a:moveTo>
                <a:lnTo>
                  <a:pt x="338383" y="657689"/>
                </a:lnTo>
                <a:lnTo>
                  <a:pt x="328845" y="652920"/>
                </a:lnTo>
                <a:lnTo>
                  <a:pt x="332024" y="646138"/>
                </a:lnTo>
                <a:lnTo>
                  <a:pt x="333614" y="636706"/>
                </a:lnTo>
                <a:lnTo>
                  <a:pt x="339337" y="629288"/>
                </a:lnTo>
                <a:lnTo>
                  <a:pt x="341244" y="620492"/>
                </a:lnTo>
                <a:lnTo>
                  <a:pt x="330223" y="596647"/>
                </a:lnTo>
                <a:lnTo>
                  <a:pt x="335733" y="595799"/>
                </a:lnTo>
                <a:lnTo>
                  <a:pt x="339972" y="598448"/>
                </a:lnTo>
                <a:lnTo>
                  <a:pt x="347285" y="614345"/>
                </a:lnTo>
                <a:lnTo>
                  <a:pt x="353643" y="623883"/>
                </a:lnTo>
                <a:lnTo>
                  <a:pt x="351100" y="636812"/>
                </a:lnTo>
                <a:lnTo>
                  <a:pt x="344635" y="652708"/>
                </a:lnTo>
                <a:close/>
                <a:moveTo>
                  <a:pt x="133212" y="346437"/>
                </a:moveTo>
                <a:lnTo>
                  <a:pt x="126536" y="347390"/>
                </a:lnTo>
                <a:lnTo>
                  <a:pt x="120177" y="345165"/>
                </a:lnTo>
                <a:lnTo>
                  <a:pt x="114773" y="339018"/>
                </a:lnTo>
                <a:lnTo>
                  <a:pt x="86371" y="321426"/>
                </a:lnTo>
                <a:lnTo>
                  <a:pt x="77469" y="321214"/>
                </a:lnTo>
                <a:lnTo>
                  <a:pt x="71322" y="316657"/>
                </a:lnTo>
                <a:lnTo>
                  <a:pt x="63798" y="315068"/>
                </a:lnTo>
                <a:lnTo>
                  <a:pt x="55744" y="303304"/>
                </a:lnTo>
                <a:lnTo>
                  <a:pt x="54048" y="297052"/>
                </a:lnTo>
                <a:lnTo>
                  <a:pt x="59877" y="293978"/>
                </a:lnTo>
                <a:lnTo>
                  <a:pt x="63480" y="287514"/>
                </a:lnTo>
                <a:lnTo>
                  <a:pt x="73018" y="290375"/>
                </a:lnTo>
                <a:lnTo>
                  <a:pt x="83827" y="301820"/>
                </a:lnTo>
                <a:lnTo>
                  <a:pt x="94849" y="306060"/>
                </a:lnTo>
                <a:lnTo>
                  <a:pt x="97816" y="308179"/>
                </a:lnTo>
                <a:lnTo>
                  <a:pt x="103115" y="314538"/>
                </a:lnTo>
                <a:lnTo>
                  <a:pt x="128232" y="330010"/>
                </a:lnTo>
                <a:lnTo>
                  <a:pt x="130987" y="335203"/>
                </a:lnTo>
                <a:lnTo>
                  <a:pt x="132683" y="340502"/>
                </a:lnTo>
                <a:lnTo>
                  <a:pt x="133212" y="346437"/>
                </a:lnTo>
                <a:close/>
                <a:moveTo>
                  <a:pt x="2843983" y="1172841"/>
                </a:moveTo>
                <a:lnTo>
                  <a:pt x="2837306" y="1175702"/>
                </a:lnTo>
                <a:lnTo>
                  <a:pt x="2824483" y="1163515"/>
                </a:lnTo>
                <a:lnTo>
                  <a:pt x="2819078" y="1153553"/>
                </a:lnTo>
                <a:lnTo>
                  <a:pt x="2820456" y="1147936"/>
                </a:lnTo>
                <a:lnTo>
                  <a:pt x="2824271" y="1142955"/>
                </a:lnTo>
                <a:lnTo>
                  <a:pt x="2826073" y="1141789"/>
                </a:lnTo>
                <a:lnTo>
                  <a:pt x="2825225" y="1136597"/>
                </a:lnTo>
                <a:lnTo>
                  <a:pt x="2830312" y="1134053"/>
                </a:lnTo>
                <a:lnTo>
                  <a:pt x="2835823" y="1134477"/>
                </a:lnTo>
                <a:lnTo>
                  <a:pt x="2839426" y="1141366"/>
                </a:lnTo>
                <a:lnTo>
                  <a:pt x="2843771" y="1143273"/>
                </a:lnTo>
                <a:lnTo>
                  <a:pt x="2845996" y="1149844"/>
                </a:lnTo>
                <a:lnTo>
                  <a:pt x="2843983" y="1172841"/>
                </a:lnTo>
                <a:close/>
                <a:moveTo>
                  <a:pt x="2967869" y="720639"/>
                </a:moveTo>
                <a:lnTo>
                  <a:pt x="2970201" y="727316"/>
                </a:lnTo>
                <a:lnTo>
                  <a:pt x="2966386" y="733038"/>
                </a:lnTo>
                <a:lnTo>
                  <a:pt x="2970625" y="743742"/>
                </a:lnTo>
                <a:lnTo>
                  <a:pt x="2981328" y="729435"/>
                </a:lnTo>
                <a:lnTo>
                  <a:pt x="2991502" y="727634"/>
                </a:lnTo>
                <a:lnTo>
                  <a:pt x="2997225" y="729965"/>
                </a:lnTo>
                <a:lnTo>
                  <a:pt x="3001252" y="732827"/>
                </a:lnTo>
                <a:lnTo>
                  <a:pt x="3003371" y="738231"/>
                </a:lnTo>
                <a:lnTo>
                  <a:pt x="2999662" y="749889"/>
                </a:lnTo>
                <a:lnTo>
                  <a:pt x="2992986" y="755399"/>
                </a:lnTo>
                <a:lnTo>
                  <a:pt x="2984296" y="756247"/>
                </a:lnTo>
                <a:lnTo>
                  <a:pt x="2980269" y="749465"/>
                </a:lnTo>
                <a:lnTo>
                  <a:pt x="2974546" y="748829"/>
                </a:lnTo>
                <a:lnTo>
                  <a:pt x="2970519" y="763666"/>
                </a:lnTo>
                <a:lnTo>
                  <a:pt x="2968823" y="765891"/>
                </a:lnTo>
                <a:lnTo>
                  <a:pt x="2963736" y="767799"/>
                </a:lnTo>
                <a:lnTo>
                  <a:pt x="2959179" y="763666"/>
                </a:lnTo>
                <a:lnTo>
                  <a:pt x="2958437" y="761440"/>
                </a:lnTo>
                <a:lnTo>
                  <a:pt x="2964796" y="754764"/>
                </a:lnTo>
                <a:lnTo>
                  <a:pt x="2961299" y="734734"/>
                </a:lnTo>
                <a:lnTo>
                  <a:pt x="2956530" y="738549"/>
                </a:lnTo>
                <a:lnTo>
                  <a:pt x="2943707" y="756671"/>
                </a:lnTo>
                <a:lnTo>
                  <a:pt x="2933745" y="764725"/>
                </a:lnTo>
                <a:lnTo>
                  <a:pt x="2930354" y="760592"/>
                </a:lnTo>
                <a:lnTo>
                  <a:pt x="2925373" y="748299"/>
                </a:lnTo>
                <a:lnTo>
                  <a:pt x="2927598" y="732509"/>
                </a:lnTo>
                <a:lnTo>
                  <a:pt x="2935652" y="721805"/>
                </a:lnTo>
                <a:lnTo>
                  <a:pt x="2942435" y="722547"/>
                </a:lnTo>
                <a:lnTo>
                  <a:pt x="2962147" y="719262"/>
                </a:lnTo>
                <a:lnTo>
                  <a:pt x="2967869" y="720639"/>
                </a:lnTo>
                <a:close/>
                <a:moveTo>
                  <a:pt x="2683429" y="1263980"/>
                </a:moveTo>
                <a:lnTo>
                  <a:pt x="2679084" y="1281678"/>
                </a:lnTo>
                <a:lnTo>
                  <a:pt x="2677070" y="1275426"/>
                </a:lnTo>
                <a:lnTo>
                  <a:pt x="2676328" y="1259317"/>
                </a:lnTo>
                <a:lnTo>
                  <a:pt x="2673679" y="1251475"/>
                </a:lnTo>
                <a:lnTo>
                  <a:pt x="2675374" y="1242467"/>
                </a:lnTo>
                <a:lnTo>
                  <a:pt x="2674739" y="1219258"/>
                </a:lnTo>
                <a:lnTo>
                  <a:pt x="2678024" y="1208555"/>
                </a:lnTo>
                <a:lnTo>
                  <a:pt x="2684064" y="1222226"/>
                </a:lnTo>
                <a:lnTo>
                  <a:pt x="2685654" y="1229114"/>
                </a:lnTo>
                <a:lnTo>
                  <a:pt x="2683429" y="1263980"/>
                </a:lnTo>
                <a:close/>
                <a:moveTo>
                  <a:pt x="2137544" y="1335302"/>
                </a:moveTo>
                <a:lnTo>
                  <a:pt x="2128960" y="1337104"/>
                </a:lnTo>
                <a:lnTo>
                  <a:pt x="2120906" y="1333395"/>
                </a:lnTo>
                <a:lnTo>
                  <a:pt x="2121118" y="1328308"/>
                </a:lnTo>
                <a:lnTo>
                  <a:pt x="2123131" y="1323645"/>
                </a:lnTo>
                <a:lnTo>
                  <a:pt x="2135107" y="1321208"/>
                </a:lnTo>
                <a:lnTo>
                  <a:pt x="2141465" y="1321419"/>
                </a:lnTo>
                <a:lnTo>
                  <a:pt x="2148354" y="1324599"/>
                </a:lnTo>
                <a:lnTo>
                  <a:pt x="2153123" y="1327990"/>
                </a:lnTo>
                <a:lnTo>
                  <a:pt x="2155454" y="1331911"/>
                </a:lnTo>
                <a:lnTo>
                  <a:pt x="2142525" y="1332123"/>
                </a:lnTo>
                <a:lnTo>
                  <a:pt x="2137544" y="1335302"/>
                </a:lnTo>
                <a:close/>
                <a:moveTo>
                  <a:pt x="2235678" y="1006458"/>
                </a:moveTo>
                <a:lnTo>
                  <a:pt x="2213423" y="1026169"/>
                </a:lnTo>
                <a:lnTo>
                  <a:pt x="2209820" y="1021188"/>
                </a:lnTo>
                <a:lnTo>
                  <a:pt x="2211728" y="1001053"/>
                </a:lnTo>
                <a:lnTo>
                  <a:pt x="2205475" y="988654"/>
                </a:lnTo>
                <a:lnTo>
                  <a:pt x="2205899" y="979328"/>
                </a:lnTo>
                <a:lnTo>
                  <a:pt x="2210350" y="963007"/>
                </a:lnTo>
                <a:lnTo>
                  <a:pt x="2215967" y="950502"/>
                </a:lnTo>
                <a:lnTo>
                  <a:pt x="2228896" y="942024"/>
                </a:lnTo>
                <a:lnTo>
                  <a:pt x="2232181" y="941070"/>
                </a:lnTo>
                <a:lnTo>
                  <a:pt x="2231333" y="956331"/>
                </a:lnTo>
                <a:lnTo>
                  <a:pt x="2233983" y="962053"/>
                </a:lnTo>
                <a:lnTo>
                  <a:pt x="2234830" y="966928"/>
                </a:lnTo>
                <a:lnTo>
                  <a:pt x="2233453" y="971167"/>
                </a:lnTo>
                <a:lnTo>
                  <a:pt x="2235890" y="990667"/>
                </a:lnTo>
                <a:lnTo>
                  <a:pt x="2237374" y="995330"/>
                </a:lnTo>
                <a:lnTo>
                  <a:pt x="2234195" y="1001477"/>
                </a:lnTo>
                <a:lnTo>
                  <a:pt x="2235678" y="1006458"/>
                </a:lnTo>
                <a:close/>
                <a:moveTo>
                  <a:pt x="2939997" y="1752637"/>
                </a:moveTo>
                <a:lnTo>
                  <a:pt x="2930142" y="1752743"/>
                </a:lnTo>
                <a:lnTo>
                  <a:pt x="2926962" y="1751578"/>
                </a:lnTo>
                <a:lnTo>
                  <a:pt x="2926115" y="1742252"/>
                </a:lnTo>
                <a:lnTo>
                  <a:pt x="2929082" y="1737059"/>
                </a:lnTo>
                <a:lnTo>
                  <a:pt x="2951867" y="1730276"/>
                </a:lnTo>
                <a:lnTo>
                  <a:pt x="2960875" y="1724130"/>
                </a:lnTo>
                <a:lnTo>
                  <a:pt x="2973486" y="1711201"/>
                </a:lnTo>
                <a:lnTo>
                  <a:pt x="2981434" y="1707809"/>
                </a:lnTo>
                <a:lnTo>
                  <a:pt x="2983342" y="1706326"/>
                </a:lnTo>
                <a:lnTo>
                  <a:pt x="2984720" y="1706644"/>
                </a:lnTo>
                <a:lnTo>
                  <a:pt x="2985991" y="1716499"/>
                </a:lnTo>
                <a:lnTo>
                  <a:pt x="2989171" y="1722328"/>
                </a:lnTo>
                <a:lnTo>
                  <a:pt x="2989700" y="1725296"/>
                </a:lnTo>
                <a:lnTo>
                  <a:pt x="2978361" y="1730276"/>
                </a:lnTo>
                <a:lnTo>
                  <a:pt x="2968187" y="1741722"/>
                </a:lnTo>
                <a:lnTo>
                  <a:pt x="2945932" y="1749140"/>
                </a:lnTo>
                <a:lnTo>
                  <a:pt x="2939997" y="1752637"/>
                </a:lnTo>
                <a:close/>
                <a:moveTo>
                  <a:pt x="3081794" y="1479218"/>
                </a:moveTo>
                <a:lnTo>
                  <a:pt x="3075329" y="1485789"/>
                </a:lnTo>
                <a:lnTo>
                  <a:pt x="3070878" y="1497234"/>
                </a:lnTo>
                <a:lnTo>
                  <a:pt x="3066957" y="1500626"/>
                </a:lnTo>
                <a:lnTo>
                  <a:pt x="3058373" y="1502851"/>
                </a:lnTo>
                <a:lnTo>
                  <a:pt x="3053180" y="1491406"/>
                </a:lnTo>
                <a:lnTo>
                  <a:pt x="3043748" y="1491935"/>
                </a:lnTo>
                <a:lnTo>
                  <a:pt x="3048305" y="1481868"/>
                </a:lnTo>
                <a:lnTo>
                  <a:pt x="3052862" y="1478159"/>
                </a:lnTo>
                <a:lnTo>
                  <a:pt x="3058691" y="1478053"/>
                </a:lnTo>
                <a:lnTo>
                  <a:pt x="3061552" y="1482080"/>
                </a:lnTo>
                <a:lnTo>
                  <a:pt x="3063142" y="1482927"/>
                </a:lnTo>
                <a:lnTo>
                  <a:pt x="3076813" y="1465865"/>
                </a:lnTo>
                <a:lnTo>
                  <a:pt x="3079568" y="1465759"/>
                </a:lnTo>
                <a:lnTo>
                  <a:pt x="3081794" y="1466501"/>
                </a:lnTo>
                <a:lnTo>
                  <a:pt x="3083596" y="1468621"/>
                </a:lnTo>
                <a:lnTo>
                  <a:pt x="3081794" y="1479218"/>
                </a:lnTo>
                <a:close/>
                <a:moveTo>
                  <a:pt x="3043430" y="1473178"/>
                </a:moveTo>
                <a:lnTo>
                  <a:pt x="3028488" y="1476145"/>
                </a:lnTo>
                <a:lnTo>
                  <a:pt x="3019374" y="1489286"/>
                </a:lnTo>
                <a:lnTo>
                  <a:pt x="3012061" y="1489074"/>
                </a:lnTo>
                <a:lnTo>
                  <a:pt x="3008140" y="1495009"/>
                </a:lnTo>
                <a:lnTo>
                  <a:pt x="3007187" y="1497552"/>
                </a:lnTo>
                <a:lnTo>
                  <a:pt x="3007716" y="1499884"/>
                </a:lnTo>
                <a:lnTo>
                  <a:pt x="3006869" y="1502109"/>
                </a:lnTo>
                <a:lnTo>
                  <a:pt x="3004007" y="1504441"/>
                </a:lnTo>
                <a:lnTo>
                  <a:pt x="2997225" y="1500732"/>
                </a:lnTo>
                <a:lnTo>
                  <a:pt x="2991396" y="1505394"/>
                </a:lnTo>
                <a:lnTo>
                  <a:pt x="2988959" y="1506560"/>
                </a:lnTo>
                <a:lnTo>
                  <a:pt x="2980374" y="1501155"/>
                </a:lnTo>
                <a:lnTo>
                  <a:pt x="2972214" y="1501473"/>
                </a:lnTo>
                <a:lnTo>
                  <a:pt x="2969777" y="1500626"/>
                </a:lnTo>
                <a:lnTo>
                  <a:pt x="2979845" y="1490876"/>
                </a:lnTo>
                <a:lnTo>
                  <a:pt x="2993622" y="1481868"/>
                </a:lnTo>
                <a:lnTo>
                  <a:pt x="2995847" y="1478476"/>
                </a:lnTo>
                <a:lnTo>
                  <a:pt x="2990442" y="1477523"/>
                </a:lnTo>
                <a:lnTo>
                  <a:pt x="2987263" y="1476251"/>
                </a:lnTo>
                <a:lnTo>
                  <a:pt x="2986839" y="1474025"/>
                </a:lnTo>
                <a:lnTo>
                  <a:pt x="2995529" y="1472648"/>
                </a:lnTo>
                <a:lnTo>
                  <a:pt x="3001570" y="1472436"/>
                </a:lnTo>
                <a:lnTo>
                  <a:pt x="3006127" y="1475297"/>
                </a:lnTo>
                <a:lnTo>
                  <a:pt x="3009094" y="1475191"/>
                </a:lnTo>
                <a:lnTo>
                  <a:pt x="3027640" y="1464488"/>
                </a:lnTo>
                <a:lnTo>
                  <a:pt x="3035058" y="1466925"/>
                </a:lnTo>
                <a:lnTo>
                  <a:pt x="3040357" y="1469680"/>
                </a:lnTo>
                <a:lnTo>
                  <a:pt x="3043430" y="1473178"/>
                </a:lnTo>
                <a:close/>
                <a:moveTo>
                  <a:pt x="2978997" y="1481974"/>
                </a:moveTo>
                <a:lnTo>
                  <a:pt x="2976877" y="1486637"/>
                </a:lnTo>
                <a:lnTo>
                  <a:pt x="2948052" y="1486319"/>
                </a:lnTo>
                <a:lnTo>
                  <a:pt x="2948899" y="1480172"/>
                </a:lnTo>
                <a:lnTo>
                  <a:pt x="2956848" y="1473496"/>
                </a:lnTo>
                <a:lnTo>
                  <a:pt x="2959497" y="1471270"/>
                </a:lnTo>
                <a:lnTo>
                  <a:pt x="2968399" y="1469257"/>
                </a:lnTo>
                <a:lnTo>
                  <a:pt x="2981010" y="1472860"/>
                </a:lnTo>
                <a:lnTo>
                  <a:pt x="2978997" y="1481974"/>
                </a:lnTo>
                <a:close/>
                <a:moveTo>
                  <a:pt x="2971049" y="1032422"/>
                </a:moveTo>
                <a:lnTo>
                  <a:pt x="2960769" y="1045139"/>
                </a:lnTo>
                <a:lnTo>
                  <a:pt x="2953456" y="1044503"/>
                </a:lnTo>
                <a:lnTo>
                  <a:pt x="2944872" y="1036131"/>
                </a:lnTo>
                <a:lnTo>
                  <a:pt x="2942329" y="1026911"/>
                </a:lnTo>
                <a:lnTo>
                  <a:pt x="2942117" y="1023626"/>
                </a:lnTo>
                <a:lnTo>
                  <a:pt x="2948052" y="1018433"/>
                </a:lnTo>
                <a:lnTo>
                  <a:pt x="2967869" y="1020235"/>
                </a:lnTo>
                <a:lnTo>
                  <a:pt x="2971578" y="1024792"/>
                </a:lnTo>
                <a:lnTo>
                  <a:pt x="2971049" y="1032422"/>
                </a:lnTo>
                <a:close/>
                <a:moveTo>
                  <a:pt x="2570670" y="1522881"/>
                </a:moveTo>
                <a:lnTo>
                  <a:pt x="2566537" y="1523834"/>
                </a:lnTo>
                <a:lnTo>
                  <a:pt x="2562404" y="1522351"/>
                </a:lnTo>
                <a:lnTo>
                  <a:pt x="2564099" y="1512919"/>
                </a:lnTo>
                <a:lnTo>
                  <a:pt x="2561662" y="1506560"/>
                </a:lnTo>
                <a:lnTo>
                  <a:pt x="2566007" y="1501473"/>
                </a:lnTo>
                <a:lnTo>
                  <a:pt x="2567067" y="1492571"/>
                </a:lnTo>
                <a:lnTo>
                  <a:pt x="2568762" y="1489816"/>
                </a:lnTo>
                <a:lnTo>
                  <a:pt x="2571412" y="1492677"/>
                </a:lnTo>
                <a:lnTo>
                  <a:pt x="2572577" y="1494479"/>
                </a:lnTo>
                <a:lnTo>
                  <a:pt x="2574697" y="1495327"/>
                </a:lnTo>
                <a:lnTo>
                  <a:pt x="2579466" y="1495539"/>
                </a:lnTo>
                <a:lnTo>
                  <a:pt x="2580526" y="1499354"/>
                </a:lnTo>
                <a:lnTo>
                  <a:pt x="2580314" y="1502957"/>
                </a:lnTo>
                <a:lnTo>
                  <a:pt x="2578300" y="1506772"/>
                </a:lnTo>
                <a:lnTo>
                  <a:pt x="2572683" y="1510905"/>
                </a:lnTo>
                <a:lnTo>
                  <a:pt x="2568550" y="1515568"/>
                </a:lnTo>
                <a:lnTo>
                  <a:pt x="2570670" y="1522881"/>
                </a:lnTo>
                <a:close/>
                <a:moveTo>
                  <a:pt x="2378323" y="154725"/>
                </a:moveTo>
                <a:lnTo>
                  <a:pt x="2388496" y="154937"/>
                </a:lnTo>
                <a:lnTo>
                  <a:pt x="2403333" y="152924"/>
                </a:lnTo>
                <a:lnTo>
                  <a:pt x="2406830" y="162991"/>
                </a:lnTo>
                <a:lnTo>
                  <a:pt x="2407360" y="166913"/>
                </a:lnTo>
                <a:lnTo>
                  <a:pt x="2387648" y="172211"/>
                </a:lnTo>
                <a:lnTo>
                  <a:pt x="2375779" y="159812"/>
                </a:lnTo>
                <a:lnTo>
                  <a:pt x="2378323" y="154725"/>
                </a:lnTo>
                <a:close/>
                <a:moveTo>
                  <a:pt x="2368467" y="1483245"/>
                </a:moveTo>
                <a:lnTo>
                  <a:pt x="2366135" y="1483351"/>
                </a:lnTo>
                <a:lnTo>
                  <a:pt x="2361472" y="1481338"/>
                </a:lnTo>
                <a:lnTo>
                  <a:pt x="2363168" y="1476887"/>
                </a:lnTo>
                <a:lnTo>
                  <a:pt x="2360624" y="1469680"/>
                </a:lnTo>
                <a:lnTo>
                  <a:pt x="2361578" y="1463746"/>
                </a:lnTo>
                <a:lnTo>
                  <a:pt x="2367407" y="1460461"/>
                </a:lnTo>
                <a:lnTo>
                  <a:pt x="2380018" y="1460037"/>
                </a:lnTo>
                <a:lnTo>
                  <a:pt x="2380442" y="1464382"/>
                </a:lnTo>
                <a:lnTo>
                  <a:pt x="2368467" y="1483245"/>
                </a:lnTo>
                <a:close/>
                <a:moveTo>
                  <a:pt x="3783146" y="678885"/>
                </a:moveTo>
                <a:lnTo>
                  <a:pt x="3780496" y="684289"/>
                </a:lnTo>
                <a:lnTo>
                  <a:pt x="3775409" y="687998"/>
                </a:lnTo>
                <a:lnTo>
                  <a:pt x="3729840" y="694463"/>
                </a:lnTo>
                <a:lnTo>
                  <a:pt x="3733761" y="690542"/>
                </a:lnTo>
                <a:lnTo>
                  <a:pt x="3735668" y="686727"/>
                </a:lnTo>
                <a:lnTo>
                  <a:pt x="3738530" y="684819"/>
                </a:lnTo>
                <a:lnTo>
                  <a:pt x="3743087" y="685243"/>
                </a:lnTo>
                <a:lnTo>
                  <a:pt x="3745312" y="684077"/>
                </a:lnTo>
                <a:lnTo>
                  <a:pt x="3747644" y="683653"/>
                </a:lnTo>
                <a:lnTo>
                  <a:pt x="3750187" y="684183"/>
                </a:lnTo>
                <a:lnTo>
                  <a:pt x="3754532" y="682594"/>
                </a:lnTo>
                <a:lnTo>
                  <a:pt x="3763858" y="683653"/>
                </a:lnTo>
                <a:lnTo>
                  <a:pt x="3773396" y="682806"/>
                </a:lnTo>
                <a:lnTo>
                  <a:pt x="3772760" y="677613"/>
                </a:lnTo>
                <a:lnTo>
                  <a:pt x="3783146" y="678885"/>
                </a:lnTo>
                <a:close/>
                <a:moveTo>
                  <a:pt x="2827027" y="1718831"/>
                </a:moveTo>
                <a:lnTo>
                  <a:pt x="2821728" y="1720103"/>
                </a:lnTo>
                <a:lnTo>
                  <a:pt x="2810388" y="1717029"/>
                </a:lnTo>
                <a:lnTo>
                  <a:pt x="2808163" y="1715228"/>
                </a:lnTo>
                <a:lnTo>
                  <a:pt x="2817807" y="1710035"/>
                </a:lnTo>
                <a:lnTo>
                  <a:pt x="2825331" y="1702829"/>
                </a:lnTo>
                <a:lnTo>
                  <a:pt x="2834127" y="1702193"/>
                </a:lnTo>
                <a:lnTo>
                  <a:pt x="2839214" y="1703676"/>
                </a:lnTo>
                <a:lnTo>
                  <a:pt x="2837412" y="1712260"/>
                </a:lnTo>
                <a:lnTo>
                  <a:pt x="2827027" y="1718831"/>
                </a:lnTo>
                <a:close/>
              </a:path>
            </a:pathLst>
          </a:custGeom>
          <a:solidFill>
            <a:srgbClr val="C5D9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ame:map-KHM"/>
          <p:cNvSpPr/>
          <p:nvPr/>
        </p:nvSpPr>
        <p:spPr>
          <a:xfrm>
            <a:off x="1294056" y="3237549"/>
            <a:ext cx="560086" cy="455063"/>
          </a:xfrm>
          <a:custGeom>
            <a:avLst/>
            <a:gdLst/>
            <a:ahLst/>
            <a:cxnLst/>
            <a:rect l="l" t="t" r="r" b="b"/>
            <a:pathLst>
              <a:path w="560086" h="455063">
                <a:moveTo>
                  <a:pt x="550972" y="0"/>
                </a:moveTo>
                <a:lnTo>
                  <a:pt x="552667" y="5829"/>
                </a:lnTo>
                <a:lnTo>
                  <a:pt x="548216" y="16850"/>
                </a:lnTo>
                <a:lnTo>
                  <a:pt x="543447" y="26918"/>
                </a:lnTo>
                <a:lnTo>
                  <a:pt x="534545" y="35608"/>
                </a:lnTo>
                <a:lnTo>
                  <a:pt x="534121" y="42072"/>
                </a:lnTo>
                <a:lnTo>
                  <a:pt x="531048" y="61254"/>
                </a:lnTo>
                <a:lnTo>
                  <a:pt x="532320" y="67401"/>
                </a:lnTo>
                <a:lnTo>
                  <a:pt x="534333" y="72700"/>
                </a:lnTo>
                <a:lnTo>
                  <a:pt x="537195" y="75455"/>
                </a:lnTo>
                <a:lnTo>
                  <a:pt x="544931" y="94213"/>
                </a:lnTo>
                <a:lnTo>
                  <a:pt x="552031" y="111381"/>
                </a:lnTo>
                <a:lnTo>
                  <a:pt x="558920" y="125370"/>
                </a:lnTo>
                <a:lnTo>
                  <a:pt x="560086" y="134272"/>
                </a:lnTo>
                <a:lnTo>
                  <a:pt x="553833" y="156845"/>
                </a:lnTo>
                <a:lnTo>
                  <a:pt x="546309" y="177510"/>
                </a:lnTo>
                <a:lnTo>
                  <a:pt x="547050" y="187790"/>
                </a:lnTo>
                <a:lnTo>
                  <a:pt x="550230" y="198070"/>
                </a:lnTo>
                <a:lnTo>
                  <a:pt x="553621" y="211847"/>
                </a:lnTo>
                <a:lnTo>
                  <a:pt x="554787" y="229439"/>
                </a:lnTo>
                <a:lnTo>
                  <a:pt x="552985" y="240884"/>
                </a:lnTo>
                <a:lnTo>
                  <a:pt x="549594" y="247985"/>
                </a:lnTo>
                <a:lnTo>
                  <a:pt x="543235" y="255297"/>
                </a:lnTo>
                <a:lnTo>
                  <a:pt x="537619" y="259112"/>
                </a:lnTo>
                <a:lnTo>
                  <a:pt x="530942" y="252860"/>
                </a:lnTo>
                <a:lnTo>
                  <a:pt x="525643" y="252542"/>
                </a:lnTo>
                <a:lnTo>
                  <a:pt x="518437" y="254449"/>
                </a:lnTo>
                <a:lnTo>
                  <a:pt x="512820" y="257311"/>
                </a:lnTo>
                <a:lnTo>
                  <a:pt x="501375" y="268014"/>
                </a:lnTo>
                <a:lnTo>
                  <a:pt x="488657" y="278506"/>
                </a:lnTo>
                <a:lnTo>
                  <a:pt x="471065" y="281155"/>
                </a:lnTo>
                <a:lnTo>
                  <a:pt x="464177" y="288892"/>
                </a:lnTo>
                <a:lnTo>
                  <a:pt x="456865" y="289951"/>
                </a:lnTo>
                <a:lnTo>
                  <a:pt x="442982" y="290269"/>
                </a:lnTo>
                <a:lnTo>
                  <a:pt x="433868" y="292177"/>
                </a:lnTo>
                <a:lnTo>
                  <a:pt x="434292" y="295992"/>
                </a:lnTo>
                <a:lnTo>
                  <a:pt x="433550" y="314432"/>
                </a:lnTo>
                <a:lnTo>
                  <a:pt x="433656" y="318671"/>
                </a:lnTo>
                <a:lnTo>
                  <a:pt x="432278" y="319837"/>
                </a:lnTo>
                <a:lnTo>
                  <a:pt x="426025" y="320367"/>
                </a:lnTo>
                <a:lnTo>
                  <a:pt x="415322" y="317611"/>
                </a:lnTo>
                <a:lnTo>
                  <a:pt x="400909" y="313054"/>
                </a:lnTo>
                <a:lnTo>
                  <a:pt x="390629" y="312312"/>
                </a:lnTo>
                <a:lnTo>
                  <a:pt x="385330" y="320367"/>
                </a:lnTo>
                <a:lnTo>
                  <a:pt x="382257" y="323440"/>
                </a:lnTo>
                <a:lnTo>
                  <a:pt x="378336" y="323970"/>
                </a:lnTo>
                <a:lnTo>
                  <a:pt x="374203" y="325347"/>
                </a:lnTo>
                <a:lnTo>
                  <a:pt x="372825" y="328951"/>
                </a:lnTo>
                <a:lnTo>
                  <a:pt x="372507" y="333402"/>
                </a:lnTo>
                <a:lnTo>
                  <a:pt x="374521" y="341032"/>
                </a:lnTo>
                <a:lnTo>
                  <a:pt x="375263" y="353219"/>
                </a:lnTo>
                <a:lnTo>
                  <a:pt x="374733" y="361485"/>
                </a:lnTo>
                <a:lnTo>
                  <a:pt x="378548" y="366678"/>
                </a:lnTo>
                <a:lnTo>
                  <a:pt x="400591" y="384270"/>
                </a:lnTo>
                <a:lnTo>
                  <a:pt x="407056" y="388721"/>
                </a:lnTo>
                <a:lnTo>
                  <a:pt x="407797" y="391371"/>
                </a:lnTo>
                <a:lnTo>
                  <a:pt x="403982" y="400909"/>
                </a:lnTo>
                <a:lnTo>
                  <a:pt x="407374" y="414368"/>
                </a:lnTo>
                <a:lnTo>
                  <a:pt x="400485" y="414156"/>
                </a:lnTo>
                <a:lnTo>
                  <a:pt x="388934" y="408327"/>
                </a:lnTo>
                <a:lnTo>
                  <a:pt x="383423" y="404830"/>
                </a:lnTo>
                <a:lnTo>
                  <a:pt x="376746" y="407691"/>
                </a:lnTo>
                <a:lnTo>
                  <a:pt x="374415" y="407055"/>
                </a:lnTo>
                <a:lnTo>
                  <a:pt x="369964" y="400485"/>
                </a:lnTo>
                <a:lnTo>
                  <a:pt x="364029" y="393702"/>
                </a:lnTo>
                <a:lnTo>
                  <a:pt x="357989" y="393278"/>
                </a:lnTo>
                <a:lnTo>
                  <a:pt x="345165" y="395928"/>
                </a:lnTo>
                <a:lnTo>
                  <a:pt x="332024" y="397835"/>
                </a:lnTo>
                <a:lnTo>
                  <a:pt x="327043" y="397729"/>
                </a:lnTo>
                <a:lnTo>
                  <a:pt x="325030" y="399001"/>
                </a:lnTo>
                <a:lnTo>
                  <a:pt x="317400" y="409069"/>
                </a:lnTo>
                <a:lnTo>
                  <a:pt x="314114" y="407373"/>
                </a:lnTo>
                <a:lnTo>
                  <a:pt x="300867" y="403452"/>
                </a:lnTo>
                <a:lnTo>
                  <a:pt x="288892" y="402074"/>
                </a:lnTo>
                <a:lnTo>
                  <a:pt x="286348" y="404618"/>
                </a:lnTo>
                <a:lnTo>
                  <a:pt x="287832" y="412884"/>
                </a:lnTo>
                <a:lnTo>
                  <a:pt x="290482" y="420832"/>
                </a:lnTo>
                <a:lnTo>
                  <a:pt x="288892" y="424223"/>
                </a:lnTo>
                <a:lnTo>
                  <a:pt x="282321" y="428462"/>
                </a:lnTo>
                <a:lnTo>
                  <a:pt x="273525" y="436093"/>
                </a:lnTo>
                <a:lnTo>
                  <a:pt x="268227" y="442027"/>
                </a:lnTo>
                <a:lnTo>
                  <a:pt x="264411" y="443405"/>
                </a:lnTo>
                <a:lnTo>
                  <a:pt x="251164" y="443193"/>
                </a:lnTo>
                <a:lnTo>
                  <a:pt x="237811" y="443935"/>
                </a:lnTo>
                <a:lnTo>
                  <a:pt x="232512" y="449552"/>
                </a:lnTo>
                <a:lnTo>
                  <a:pt x="227532" y="453897"/>
                </a:lnTo>
                <a:lnTo>
                  <a:pt x="223187" y="455063"/>
                </a:lnTo>
                <a:lnTo>
                  <a:pt x="205806" y="441286"/>
                </a:lnTo>
                <a:lnTo>
                  <a:pt x="171364" y="436411"/>
                </a:lnTo>
                <a:lnTo>
                  <a:pt x="167655" y="430370"/>
                </a:lnTo>
                <a:lnTo>
                  <a:pt x="164370" y="429204"/>
                </a:lnTo>
                <a:lnTo>
                  <a:pt x="161190" y="437047"/>
                </a:lnTo>
                <a:lnTo>
                  <a:pt x="142221" y="444677"/>
                </a:lnTo>
                <a:lnTo>
                  <a:pt x="134272" y="440120"/>
                </a:lnTo>
                <a:lnTo>
                  <a:pt x="128444" y="434503"/>
                </a:lnTo>
                <a:lnTo>
                  <a:pt x="129291" y="427721"/>
                </a:lnTo>
                <a:lnTo>
                  <a:pt x="134802" y="422210"/>
                </a:lnTo>
                <a:lnTo>
                  <a:pt x="144234" y="418183"/>
                </a:lnTo>
                <a:lnTo>
                  <a:pt x="148579" y="404300"/>
                </a:lnTo>
                <a:lnTo>
                  <a:pt x="141373" y="386390"/>
                </a:lnTo>
                <a:lnTo>
                  <a:pt x="135120" y="381197"/>
                </a:lnTo>
                <a:lnTo>
                  <a:pt x="128444" y="377064"/>
                </a:lnTo>
                <a:lnTo>
                  <a:pt x="121555" y="383740"/>
                </a:lnTo>
                <a:lnTo>
                  <a:pt x="115620" y="395080"/>
                </a:lnTo>
                <a:lnTo>
                  <a:pt x="109580" y="400909"/>
                </a:lnTo>
                <a:lnTo>
                  <a:pt x="100890" y="402286"/>
                </a:lnTo>
                <a:lnTo>
                  <a:pt x="88279" y="401756"/>
                </a:lnTo>
                <a:lnTo>
                  <a:pt x="83298" y="384800"/>
                </a:lnTo>
                <a:lnTo>
                  <a:pt x="81708" y="370281"/>
                </a:lnTo>
                <a:lnTo>
                  <a:pt x="83404" y="353643"/>
                </a:lnTo>
                <a:lnTo>
                  <a:pt x="85311" y="343787"/>
                </a:lnTo>
                <a:lnTo>
                  <a:pt x="73230" y="330222"/>
                </a:lnTo>
                <a:lnTo>
                  <a:pt x="72488" y="317293"/>
                </a:lnTo>
                <a:lnTo>
                  <a:pt x="66659" y="310723"/>
                </a:lnTo>
                <a:lnTo>
                  <a:pt x="64858" y="314008"/>
                </a:lnTo>
                <a:lnTo>
                  <a:pt x="65070" y="317717"/>
                </a:lnTo>
                <a:lnTo>
                  <a:pt x="63374" y="315068"/>
                </a:lnTo>
                <a:lnTo>
                  <a:pt x="44192" y="277128"/>
                </a:lnTo>
                <a:lnTo>
                  <a:pt x="40907" y="259536"/>
                </a:lnTo>
                <a:lnTo>
                  <a:pt x="44192" y="246077"/>
                </a:lnTo>
                <a:lnTo>
                  <a:pt x="46206" y="241520"/>
                </a:lnTo>
                <a:lnTo>
                  <a:pt x="40589" y="234314"/>
                </a:lnTo>
                <a:lnTo>
                  <a:pt x="32853" y="226259"/>
                </a:lnTo>
                <a:lnTo>
                  <a:pt x="19076" y="215662"/>
                </a:lnTo>
                <a:lnTo>
                  <a:pt x="18122" y="198918"/>
                </a:lnTo>
                <a:lnTo>
                  <a:pt x="15049" y="179100"/>
                </a:lnTo>
                <a:lnTo>
                  <a:pt x="10916" y="172423"/>
                </a:lnTo>
                <a:lnTo>
                  <a:pt x="4557" y="160236"/>
                </a:lnTo>
                <a:lnTo>
                  <a:pt x="1166" y="150168"/>
                </a:lnTo>
                <a:lnTo>
                  <a:pt x="0" y="123462"/>
                </a:lnTo>
                <a:lnTo>
                  <a:pt x="1696" y="121343"/>
                </a:lnTo>
                <a:lnTo>
                  <a:pt x="11552" y="120495"/>
                </a:lnTo>
                <a:lnTo>
                  <a:pt x="24057" y="118587"/>
                </a:lnTo>
                <a:lnTo>
                  <a:pt x="26070" y="114348"/>
                </a:lnTo>
                <a:lnTo>
                  <a:pt x="23845" y="110745"/>
                </a:lnTo>
                <a:lnTo>
                  <a:pt x="31793" y="104705"/>
                </a:lnTo>
                <a:lnTo>
                  <a:pt x="43345" y="91457"/>
                </a:lnTo>
                <a:lnTo>
                  <a:pt x="52247" y="77681"/>
                </a:lnTo>
                <a:lnTo>
                  <a:pt x="58605" y="68884"/>
                </a:lnTo>
                <a:lnTo>
                  <a:pt x="62420" y="60194"/>
                </a:lnTo>
                <a:lnTo>
                  <a:pt x="75349" y="47901"/>
                </a:lnTo>
                <a:lnTo>
                  <a:pt x="93153" y="39423"/>
                </a:lnTo>
                <a:lnTo>
                  <a:pt x="105235" y="37515"/>
                </a:lnTo>
                <a:lnTo>
                  <a:pt x="117846" y="34548"/>
                </a:lnTo>
                <a:lnTo>
                  <a:pt x="129927" y="30521"/>
                </a:lnTo>
                <a:lnTo>
                  <a:pt x="135650" y="30097"/>
                </a:lnTo>
                <a:lnTo>
                  <a:pt x="150699" y="35078"/>
                </a:lnTo>
                <a:lnTo>
                  <a:pt x="158753" y="36350"/>
                </a:lnTo>
                <a:lnTo>
                  <a:pt x="167337" y="36244"/>
                </a:lnTo>
                <a:lnTo>
                  <a:pt x="176133" y="36774"/>
                </a:lnTo>
                <a:lnTo>
                  <a:pt x="183763" y="36244"/>
                </a:lnTo>
                <a:lnTo>
                  <a:pt x="202203" y="32747"/>
                </a:lnTo>
                <a:lnTo>
                  <a:pt x="221703" y="35502"/>
                </a:lnTo>
                <a:lnTo>
                  <a:pt x="239083" y="33382"/>
                </a:lnTo>
                <a:lnTo>
                  <a:pt x="260596" y="29355"/>
                </a:lnTo>
                <a:lnTo>
                  <a:pt x="271194" y="31899"/>
                </a:lnTo>
                <a:lnTo>
                  <a:pt x="280838" y="35926"/>
                </a:lnTo>
                <a:lnTo>
                  <a:pt x="282109" y="44086"/>
                </a:lnTo>
                <a:lnTo>
                  <a:pt x="284335" y="47795"/>
                </a:lnTo>
                <a:lnTo>
                  <a:pt x="287620" y="50657"/>
                </a:lnTo>
                <a:lnTo>
                  <a:pt x="291859" y="50657"/>
                </a:lnTo>
                <a:lnTo>
                  <a:pt x="297370" y="44934"/>
                </a:lnTo>
                <a:lnTo>
                  <a:pt x="301927" y="39105"/>
                </a:lnTo>
                <a:lnTo>
                  <a:pt x="303411" y="38045"/>
                </a:lnTo>
                <a:lnTo>
                  <a:pt x="303729" y="40907"/>
                </a:lnTo>
                <a:lnTo>
                  <a:pt x="305954" y="47265"/>
                </a:lnTo>
                <a:lnTo>
                  <a:pt x="310087" y="53412"/>
                </a:lnTo>
                <a:lnTo>
                  <a:pt x="314220" y="57651"/>
                </a:lnTo>
                <a:lnTo>
                  <a:pt x="321109" y="63056"/>
                </a:lnTo>
                <a:lnTo>
                  <a:pt x="325666" y="63374"/>
                </a:lnTo>
                <a:lnTo>
                  <a:pt x="340396" y="58181"/>
                </a:lnTo>
                <a:lnTo>
                  <a:pt x="362440" y="65705"/>
                </a:lnTo>
                <a:lnTo>
                  <a:pt x="364983" y="69520"/>
                </a:lnTo>
                <a:lnTo>
                  <a:pt x="372083" y="77151"/>
                </a:lnTo>
                <a:lnTo>
                  <a:pt x="379820" y="82661"/>
                </a:lnTo>
                <a:lnTo>
                  <a:pt x="397094" y="83085"/>
                </a:lnTo>
                <a:lnTo>
                  <a:pt x="403240" y="69520"/>
                </a:lnTo>
                <a:lnTo>
                  <a:pt x="400273" y="61254"/>
                </a:lnTo>
                <a:lnTo>
                  <a:pt x="390417" y="46841"/>
                </a:lnTo>
                <a:lnTo>
                  <a:pt x="387768" y="38363"/>
                </a:lnTo>
                <a:lnTo>
                  <a:pt x="390841" y="36880"/>
                </a:lnTo>
                <a:lnTo>
                  <a:pt x="407480" y="35290"/>
                </a:lnTo>
                <a:lnTo>
                  <a:pt x="410235" y="33594"/>
                </a:lnTo>
                <a:lnTo>
                  <a:pt x="413838" y="24268"/>
                </a:lnTo>
                <a:lnTo>
                  <a:pt x="418395" y="25328"/>
                </a:lnTo>
                <a:lnTo>
                  <a:pt x="427615" y="26494"/>
                </a:lnTo>
                <a:lnTo>
                  <a:pt x="437365" y="20135"/>
                </a:lnTo>
                <a:lnTo>
                  <a:pt x="443088" y="13459"/>
                </a:lnTo>
                <a:lnTo>
                  <a:pt x="446267" y="16532"/>
                </a:lnTo>
                <a:lnTo>
                  <a:pt x="449764" y="21195"/>
                </a:lnTo>
                <a:lnTo>
                  <a:pt x="453473" y="23951"/>
                </a:lnTo>
                <a:lnTo>
                  <a:pt x="460468" y="27978"/>
                </a:lnTo>
                <a:lnTo>
                  <a:pt x="468204" y="33594"/>
                </a:lnTo>
                <a:lnTo>
                  <a:pt x="472973" y="39211"/>
                </a:lnTo>
                <a:lnTo>
                  <a:pt x="476894" y="41331"/>
                </a:lnTo>
                <a:lnTo>
                  <a:pt x="486750" y="39847"/>
                </a:lnTo>
                <a:lnTo>
                  <a:pt x="489399" y="40059"/>
                </a:lnTo>
                <a:lnTo>
                  <a:pt x="495122" y="33276"/>
                </a:lnTo>
                <a:lnTo>
                  <a:pt x="499149" y="29567"/>
                </a:lnTo>
                <a:lnTo>
                  <a:pt x="502540" y="30627"/>
                </a:lnTo>
                <a:lnTo>
                  <a:pt x="507521" y="30521"/>
                </a:lnTo>
                <a:lnTo>
                  <a:pt x="517907" y="21937"/>
                </a:lnTo>
                <a:lnTo>
                  <a:pt x="523736" y="14095"/>
                </a:lnTo>
                <a:lnTo>
                  <a:pt x="527021" y="11975"/>
                </a:lnTo>
                <a:lnTo>
                  <a:pt x="536241" y="15896"/>
                </a:lnTo>
                <a:lnTo>
                  <a:pt x="539950" y="15048"/>
                </a:lnTo>
                <a:lnTo>
                  <a:pt x="545249" y="4239"/>
                </a:lnTo>
                <a:lnTo>
                  <a:pt x="550972" y="0"/>
                </a:lnTo>
                <a:close/>
              </a:path>
            </a:pathLst>
          </a:custGeom>
          <a:solidFill>
            <a:srgbClr val="E6EEF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ame:map-MMR"/>
          <p:cNvSpPr/>
          <p:nvPr/>
        </p:nvSpPr>
        <p:spPr>
          <a:xfrm>
            <a:off x="219456" y="1774545"/>
            <a:ext cx="949442" cy="1957914"/>
          </a:xfrm>
          <a:custGeom>
            <a:avLst/>
            <a:gdLst/>
            <a:ahLst/>
            <a:cxnLst/>
            <a:rect l="l" t="t" r="r" b="b"/>
            <a:pathLst>
              <a:path w="949442" h="1957914">
                <a:moveTo>
                  <a:pt x="841664" y="868264"/>
                </a:moveTo>
                <a:lnTo>
                  <a:pt x="823860" y="857879"/>
                </a:lnTo>
                <a:lnTo>
                  <a:pt x="810189" y="861164"/>
                </a:lnTo>
                <a:lnTo>
                  <a:pt x="799062" y="867416"/>
                </a:lnTo>
                <a:lnTo>
                  <a:pt x="779138" y="865509"/>
                </a:lnTo>
                <a:lnTo>
                  <a:pt x="770236" y="864555"/>
                </a:lnTo>
                <a:lnTo>
                  <a:pt x="775959" y="881935"/>
                </a:lnTo>
                <a:lnTo>
                  <a:pt x="770660" y="889354"/>
                </a:lnTo>
                <a:lnTo>
                  <a:pt x="758579" y="893487"/>
                </a:lnTo>
                <a:lnTo>
                  <a:pt x="743636" y="889671"/>
                </a:lnTo>
                <a:lnTo>
                  <a:pt x="730601" y="891367"/>
                </a:lnTo>
                <a:lnTo>
                  <a:pt x="724984" y="897408"/>
                </a:lnTo>
                <a:lnTo>
                  <a:pt x="718308" y="922524"/>
                </a:lnTo>
                <a:lnTo>
                  <a:pt x="709618" y="926233"/>
                </a:lnTo>
                <a:lnTo>
                  <a:pt x="697430" y="926127"/>
                </a:lnTo>
                <a:lnTo>
                  <a:pt x="665001" y="934288"/>
                </a:lnTo>
                <a:lnTo>
                  <a:pt x="647939" y="935029"/>
                </a:lnTo>
                <a:lnTo>
                  <a:pt x="628546" y="927081"/>
                </a:lnTo>
                <a:lnTo>
                  <a:pt x="618372" y="928353"/>
                </a:lnTo>
                <a:lnTo>
                  <a:pt x="607880" y="944991"/>
                </a:lnTo>
                <a:lnTo>
                  <a:pt x="594951" y="979645"/>
                </a:lnTo>
                <a:lnTo>
                  <a:pt x="586473" y="1008259"/>
                </a:lnTo>
                <a:lnTo>
                  <a:pt x="590712" y="1048000"/>
                </a:lnTo>
                <a:lnTo>
                  <a:pt x="587957" y="1053193"/>
                </a:lnTo>
                <a:lnTo>
                  <a:pt x="571954" y="1057750"/>
                </a:lnTo>
                <a:lnTo>
                  <a:pt x="562204" y="1061459"/>
                </a:lnTo>
                <a:lnTo>
                  <a:pt x="550441" y="1058916"/>
                </a:lnTo>
                <a:lnTo>
                  <a:pt x="558601" y="1075660"/>
                </a:lnTo>
                <a:lnTo>
                  <a:pt x="574286" y="1081701"/>
                </a:lnTo>
                <a:lnTo>
                  <a:pt x="576723" y="1086470"/>
                </a:lnTo>
                <a:lnTo>
                  <a:pt x="587109" y="1109890"/>
                </a:lnTo>
                <a:lnTo>
                  <a:pt x="584883" y="1131404"/>
                </a:lnTo>
                <a:lnTo>
                  <a:pt x="588063" y="1137550"/>
                </a:lnTo>
                <a:lnTo>
                  <a:pt x="609258" y="1163303"/>
                </a:lnTo>
                <a:lnTo>
                  <a:pt x="635328" y="1194354"/>
                </a:lnTo>
                <a:lnTo>
                  <a:pt x="663306" y="1222331"/>
                </a:lnTo>
                <a:lnTo>
                  <a:pt x="667439" y="1248190"/>
                </a:lnTo>
                <a:lnTo>
                  <a:pt x="676659" y="1265252"/>
                </a:lnTo>
                <a:lnTo>
                  <a:pt x="686833" y="1290792"/>
                </a:lnTo>
                <a:lnTo>
                  <a:pt x="705272" y="1281466"/>
                </a:lnTo>
                <a:lnTo>
                  <a:pt x="710889" y="1288461"/>
                </a:lnTo>
                <a:lnTo>
                  <a:pt x="708558" y="1300648"/>
                </a:lnTo>
                <a:lnTo>
                  <a:pt x="679520" y="1320360"/>
                </a:lnTo>
                <a:lnTo>
                  <a:pt x="675917" y="1350245"/>
                </a:lnTo>
                <a:lnTo>
                  <a:pt x="676659" y="1388926"/>
                </a:lnTo>
                <a:lnTo>
                  <a:pt x="673692" y="1394543"/>
                </a:lnTo>
                <a:lnTo>
                  <a:pt x="651648" y="1402173"/>
                </a:lnTo>
                <a:lnTo>
                  <a:pt x="641369" y="1406200"/>
                </a:lnTo>
                <a:lnTo>
                  <a:pt x="635646" y="1416162"/>
                </a:lnTo>
                <a:lnTo>
                  <a:pt x="642852" y="1451346"/>
                </a:lnTo>
                <a:lnTo>
                  <a:pt x="659173" y="1473813"/>
                </a:lnTo>
                <a:lnTo>
                  <a:pt x="677189" y="1499566"/>
                </a:lnTo>
                <a:lnTo>
                  <a:pt x="715764" y="1532418"/>
                </a:lnTo>
                <a:lnTo>
                  <a:pt x="731873" y="1556475"/>
                </a:lnTo>
                <a:lnTo>
                  <a:pt x="739291" y="1582651"/>
                </a:lnTo>
                <a:lnTo>
                  <a:pt x="741410" y="1619001"/>
                </a:lnTo>
                <a:lnTo>
                  <a:pt x="734098" y="1632672"/>
                </a:lnTo>
                <a:lnTo>
                  <a:pt x="741198" y="1647827"/>
                </a:lnTo>
                <a:lnTo>
                  <a:pt x="746073" y="1671247"/>
                </a:lnTo>
                <a:lnTo>
                  <a:pt x="762182" y="1686720"/>
                </a:lnTo>
                <a:lnTo>
                  <a:pt x="764513" y="1699437"/>
                </a:lnTo>
                <a:lnTo>
                  <a:pt x="768540" y="1716923"/>
                </a:lnTo>
                <a:lnTo>
                  <a:pt x="778184" y="1740132"/>
                </a:lnTo>
                <a:lnTo>
                  <a:pt x="787616" y="1776164"/>
                </a:lnTo>
                <a:lnTo>
                  <a:pt x="777336" y="1788775"/>
                </a:lnTo>
                <a:lnTo>
                  <a:pt x="769706" y="1796935"/>
                </a:lnTo>
                <a:lnTo>
                  <a:pt x="742894" y="1844519"/>
                </a:lnTo>
                <a:lnTo>
                  <a:pt x="710783" y="1878113"/>
                </a:lnTo>
                <a:lnTo>
                  <a:pt x="697006" y="1891572"/>
                </a:lnTo>
                <a:lnTo>
                  <a:pt x="698914" y="1902594"/>
                </a:lnTo>
                <a:lnTo>
                  <a:pt x="695947" y="1924425"/>
                </a:lnTo>
                <a:lnTo>
                  <a:pt x="691284" y="1941487"/>
                </a:lnTo>
                <a:lnTo>
                  <a:pt x="676447" y="1957914"/>
                </a:lnTo>
                <a:lnTo>
                  <a:pt x="669452" y="1942229"/>
                </a:lnTo>
                <a:lnTo>
                  <a:pt x="666061" y="1889983"/>
                </a:lnTo>
                <a:lnTo>
                  <a:pt x="673586" y="1883094"/>
                </a:lnTo>
                <a:lnTo>
                  <a:pt x="688422" y="1857024"/>
                </a:lnTo>
                <a:lnTo>
                  <a:pt x="695735" y="1830212"/>
                </a:lnTo>
                <a:lnTo>
                  <a:pt x="694463" y="1809547"/>
                </a:lnTo>
                <a:lnTo>
                  <a:pt x="695311" y="1792908"/>
                </a:lnTo>
                <a:lnTo>
                  <a:pt x="709618" y="1779343"/>
                </a:lnTo>
                <a:lnTo>
                  <a:pt x="702093" y="1773091"/>
                </a:lnTo>
                <a:lnTo>
                  <a:pt x="684183" y="1777436"/>
                </a:lnTo>
                <a:lnTo>
                  <a:pt x="684501" y="1763553"/>
                </a:lnTo>
                <a:lnTo>
                  <a:pt x="689800" y="1754227"/>
                </a:lnTo>
                <a:lnTo>
                  <a:pt x="687151" y="1736211"/>
                </a:lnTo>
                <a:lnTo>
                  <a:pt x="683653" y="1725825"/>
                </a:lnTo>
                <a:lnTo>
                  <a:pt x="682382" y="1717877"/>
                </a:lnTo>
                <a:lnTo>
                  <a:pt x="682911" y="1702934"/>
                </a:lnTo>
                <a:lnTo>
                  <a:pt x="687045" y="1679514"/>
                </a:lnTo>
                <a:lnTo>
                  <a:pt x="684289" y="1659802"/>
                </a:lnTo>
                <a:lnTo>
                  <a:pt x="677825" y="1626525"/>
                </a:lnTo>
                <a:lnTo>
                  <a:pt x="661398" y="1592401"/>
                </a:lnTo>
                <a:lnTo>
                  <a:pt x="643064" y="1554673"/>
                </a:lnTo>
                <a:lnTo>
                  <a:pt x="637977" y="1539837"/>
                </a:lnTo>
                <a:lnTo>
                  <a:pt x="628546" y="1568132"/>
                </a:lnTo>
                <a:lnTo>
                  <a:pt x="624518" y="1539201"/>
                </a:lnTo>
                <a:lnTo>
                  <a:pt x="616570" y="1502215"/>
                </a:lnTo>
                <a:lnTo>
                  <a:pt x="607244" y="1468515"/>
                </a:lnTo>
                <a:lnTo>
                  <a:pt x="618796" y="1468515"/>
                </a:lnTo>
                <a:lnTo>
                  <a:pt x="602899" y="1459401"/>
                </a:lnTo>
                <a:lnTo>
                  <a:pt x="595587" y="1412135"/>
                </a:lnTo>
                <a:lnTo>
                  <a:pt x="592832" y="1386065"/>
                </a:lnTo>
                <a:lnTo>
                  <a:pt x="572696" y="1323645"/>
                </a:lnTo>
                <a:lnTo>
                  <a:pt x="578737" y="1298846"/>
                </a:lnTo>
                <a:lnTo>
                  <a:pt x="581280" y="1270657"/>
                </a:lnTo>
                <a:lnTo>
                  <a:pt x="581598" y="1267265"/>
                </a:lnTo>
                <a:lnTo>
                  <a:pt x="564324" y="1270127"/>
                </a:lnTo>
                <a:lnTo>
                  <a:pt x="545884" y="1254548"/>
                </a:lnTo>
                <a:lnTo>
                  <a:pt x="533273" y="1231127"/>
                </a:lnTo>
                <a:lnTo>
                  <a:pt x="532001" y="1209720"/>
                </a:lnTo>
                <a:lnTo>
                  <a:pt x="518754" y="1197851"/>
                </a:lnTo>
                <a:lnTo>
                  <a:pt x="495015" y="1177291"/>
                </a:lnTo>
                <a:lnTo>
                  <a:pt x="501268" y="1187465"/>
                </a:lnTo>
                <a:lnTo>
                  <a:pt x="501162" y="1216503"/>
                </a:lnTo>
                <a:lnTo>
                  <a:pt x="490776" y="1243315"/>
                </a:lnTo>
                <a:lnTo>
                  <a:pt x="470747" y="1265994"/>
                </a:lnTo>
                <a:lnTo>
                  <a:pt x="450505" y="1272246"/>
                </a:lnTo>
                <a:lnTo>
                  <a:pt x="434715" y="1262602"/>
                </a:lnTo>
                <a:lnTo>
                  <a:pt x="431217" y="1244692"/>
                </a:lnTo>
                <a:lnTo>
                  <a:pt x="424859" y="1244375"/>
                </a:lnTo>
                <a:lnTo>
                  <a:pt x="429946" y="1265676"/>
                </a:lnTo>
                <a:lnTo>
                  <a:pt x="435880" y="1282314"/>
                </a:lnTo>
                <a:lnTo>
                  <a:pt x="413413" y="1288355"/>
                </a:lnTo>
                <a:lnTo>
                  <a:pt x="408221" y="1295561"/>
                </a:lnTo>
                <a:lnTo>
                  <a:pt x="379713" y="1307854"/>
                </a:lnTo>
                <a:lnTo>
                  <a:pt x="370811" y="1328202"/>
                </a:lnTo>
                <a:lnTo>
                  <a:pt x="340184" y="1355120"/>
                </a:lnTo>
                <a:lnTo>
                  <a:pt x="330752" y="1351623"/>
                </a:lnTo>
                <a:lnTo>
                  <a:pt x="337534" y="1327354"/>
                </a:lnTo>
                <a:lnTo>
                  <a:pt x="334143" y="1322267"/>
                </a:lnTo>
                <a:lnTo>
                  <a:pt x="317611" y="1344204"/>
                </a:lnTo>
                <a:lnTo>
                  <a:pt x="292812" y="1345052"/>
                </a:lnTo>
                <a:lnTo>
                  <a:pt x="287408" y="1321737"/>
                </a:lnTo>
                <a:lnTo>
                  <a:pt x="288043" y="1310822"/>
                </a:lnTo>
                <a:lnTo>
                  <a:pt x="284016" y="1314955"/>
                </a:lnTo>
                <a:lnTo>
                  <a:pt x="277446" y="1328838"/>
                </a:lnTo>
                <a:lnTo>
                  <a:pt x="262397" y="1326930"/>
                </a:lnTo>
                <a:lnTo>
                  <a:pt x="265046" y="1311670"/>
                </a:lnTo>
                <a:lnTo>
                  <a:pt x="269180" y="1283480"/>
                </a:lnTo>
                <a:lnTo>
                  <a:pt x="267378" y="1271504"/>
                </a:lnTo>
                <a:lnTo>
                  <a:pt x="263351" y="1290156"/>
                </a:lnTo>
                <a:lnTo>
                  <a:pt x="255191" y="1295137"/>
                </a:lnTo>
                <a:lnTo>
                  <a:pt x="239718" y="1315803"/>
                </a:lnTo>
                <a:lnTo>
                  <a:pt x="216615" y="1324069"/>
                </a:lnTo>
                <a:lnTo>
                  <a:pt x="221596" y="1270975"/>
                </a:lnTo>
                <a:lnTo>
                  <a:pt x="230286" y="1257939"/>
                </a:lnTo>
                <a:lnTo>
                  <a:pt x="240778" y="1224663"/>
                </a:lnTo>
                <a:lnTo>
                  <a:pt x="245229" y="1202090"/>
                </a:lnTo>
                <a:lnTo>
                  <a:pt x="255297" y="1159487"/>
                </a:lnTo>
                <a:lnTo>
                  <a:pt x="245229" y="1132357"/>
                </a:lnTo>
                <a:lnTo>
                  <a:pt x="221066" y="1060082"/>
                </a:lnTo>
                <a:lnTo>
                  <a:pt x="210999" y="1036237"/>
                </a:lnTo>
                <a:lnTo>
                  <a:pt x="202520" y="1023838"/>
                </a:lnTo>
                <a:lnTo>
                  <a:pt x="197010" y="992363"/>
                </a:lnTo>
                <a:lnTo>
                  <a:pt x="195208" y="979328"/>
                </a:lnTo>
                <a:lnTo>
                  <a:pt x="186624" y="992363"/>
                </a:lnTo>
                <a:lnTo>
                  <a:pt x="188743" y="1012286"/>
                </a:lnTo>
                <a:lnTo>
                  <a:pt x="171681" y="1011968"/>
                </a:lnTo>
                <a:lnTo>
                  <a:pt x="150274" y="987912"/>
                </a:lnTo>
                <a:lnTo>
                  <a:pt x="143174" y="965657"/>
                </a:lnTo>
                <a:lnTo>
                  <a:pt x="164051" y="979539"/>
                </a:lnTo>
                <a:lnTo>
                  <a:pt x="180795" y="979010"/>
                </a:lnTo>
                <a:lnTo>
                  <a:pt x="192665" y="961100"/>
                </a:lnTo>
                <a:lnTo>
                  <a:pt x="181007" y="954423"/>
                </a:lnTo>
                <a:lnTo>
                  <a:pt x="168502" y="943190"/>
                </a:lnTo>
                <a:lnTo>
                  <a:pt x="165323" y="933970"/>
                </a:lnTo>
                <a:lnTo>
                  <a:pt x="151758" y="925597"/>
                </a:lnTo>
                <a:lnTo>
                  <a:pt x="161825" y="911185"/>
                </a:lnTo>
                <a:lnTo>
                  <a:pt x="133424" y="900905"/>
                </a:lnTo>
                <a:lnTo>
                  <a:pt x="125264" y="895712"/>
                </a:lnTo>
                <a:lnTo>
                  <a:pt x="103538" y="897514"/>
                </a:lnTo>
                <a:lnTo>
                  <a:pt x="107142" y="917649"/>
                </a:lnTo>
                <a:lnTo>
                  <a:pt x="87112" y="893911"/>
                </a:lnTo>
                <a:lnTo>
                  <a:pt x="97074" y="882677"/>
                </a:lnTo>
                <a:lnTo>
                  <a:pt x="88490" y="882253"/>
                </a:lnTo>
                <a:lnTo>
                  <a:pt x="90609" y="858832"/>
                </a:lnTo>
                <a:lnTo>
                  <a:pt x="85946" y="871338"/>
                </a:lnTo>
                <a:lnTo>
                  <a:pt x="68672" y="882995"/>
                </a:lnTo>
                <a:lnTo>
                  <a:pt x="70368" y="871867"/>
                </a:lnTo>
                <a:lnTo>
                  <a:pt x="75349" y="865827"/>
                </a:lnTo>
                <a:lnTo>
                  <a:pt x="64327" y="852156"/>
                </a:lnTo>
                <a:lnTo>
                  <a:pt x="56061" y="842088"/>
                </a:lnTo>
                <a:lnTo>
                  <a:pt x="57545" y="870490"/>
                </a:lnTo>
                <a:lnTo>
                  <a:pt x="20983" y="825768"/>
                </a:lnTo>
                <a:lnTo>
                  <a:pt x="13988" y="810295"/>
                </a:lnTo>
                <a:lnTo>
                  <a:pt x="9325" y="795352"/>
                </a:lnTo>
                <a:lnTo>
                  <a:pt x="3709" y="783907"/>
                </a:lnTo>
                <a:lnTo>
                  <a:pt x="0" y="764831"/>
                </a:lnTo>
                <a:lnTo>
                  <a:pt x="10597" y="750524"/>
                </a:lnTo>
                <a:lnTo>
                  <a:pt x="20453" y="752538"/>
                </a:lnTo>
                <a:lnTo>
                  <a:pt x="38045" y="761970"/>
                </a:lnTo>
                <a:lnTo>
                  <a:pt x="44510" y="767269"/>
                </a:lnTo>
                <a:lnTo>
                  <a:pt x="47159" y="758685"/>
                </a:lnTo>
                <a:lnTo>
                  <a:pt x="42814" y="731343"/>
                </a:lnTo>
                <a:lnTo>
                  <a:pt x="41860" y="692237"/>
                </a:lnTo>
                <a:lnTo>
                  <a:pt x="50126" y="684713"/>
                </a:lnTo>
                <a:lnTo>
                  <a:pt x="53941" y="676023"/>
                </a:lnTo>
                <a:lnTo>
                  <a:pt x="62632" y="678778"/>
                </a:lnTo>
                <a:lnTo>
                  <a:pt x="77256" y="691072"/>
                </a:lnTo>
                <a:lnTo>
                  <a:pt x="89232" y="674433"/>
                </a:lnTo>
                <a:lnTo>
                  <a:pt x="94424" y="667757"/>
                </a:lnTo>
                <a:lnTo>
                  <a:pt x="102903" y="665425"/>
                </a:lnTo>
                <a:lnTo>
                  <a:pt x="104068" y="651754"/>
                </a:lnTo>
                <a:lnTo>
                  <a:pt x="96226" y="622823"/>
                </a:lnTo>
                <a:lnTo>
                  <a:pt x="98981" y="604489"/>
                </a:lnTo>
                <a:lnTo>
                  <a:pt x="102903" y="584247"/>
                </a:lnTo>
                <a:lnTo>
                  <a:pt x="108519" y="580008"/>
                </a:lnTo>
                <a:lnTo>
                  <a:pt x="119541" y="580750"/>
                </a:lnTo>
                <a:lnTo>
                  <a:pt x="125688" y="569835"/>
                </a:lnTo>
                <a:lnTo>
                  <a:pt x="130139" y="527974"/>
                </a:lnTo>
                <a:lnTo>
                  <a:pt x="126429" y="501904"/>
                </a:lnTo>
                <a:lnTo>
                  <a:pt x="121448" y="471171"/>
                </a:lnTo>
                <a:lnTo>
                  <a:pt x="134801" y="479331"/>
                </a:lnTo>
                <a:lnTo>
                  <a:pt x="146671" y="479437"/>
                </a:lnTo>
                <a:lnTo>
                  <a:pt x="159282" y="477211"/>
                </a:lnTo>
                <a:lnTo>
                  <a:pt x="177510" y="483888"/>
                </a:lnTo>
                <a:lnTo>
                  <a:pt x="200825" y="491518"/>
                </a:lnTo>
                <a:lnTo>
                  <a:pt x="210893" y="480815"/>
                </a:lnTo>
                <a:lnTo>
                  <a:pt x="223928" y="443829"/>
                </a:lnTo>
                <a:lnTo>
                  <a:pt x="235161" y="423481"/>
                </a:lnTo>
                <a:lnTo>
                  <a:pt x="254767" y="396669"/>
                </a:lnTo>
                <a:lnTo>
                  <a:pt x="267908" y="366784"/>
                </a:lnTo>
                <a:lnTo>
                  <a:pt x="264411" y="357246"/>
                </a:lnTo>
                <a:lnTo>
                  <a:pt x="252965" y="351629"/>
                </a:lnTo>
                <a:lnTo>
                  <a:pt x="251587" y="346224"/>
                </a:lnTo>
                <a:lnTo>
                  <a:pt x="258900" y="328526"/>
                </a:lnTo>
                <a:lnTo>
                  <a:pt x="276174" y="316975"/>
                </a:lnTo>
                <a:lnTo>
                  <a:pt x="293130" y="297793"/>
                </a:lnTo>
                <a:lnTo>
                  <a:pt x="300443" y="275220"/>
                </a:lnTo>
                <a:lnTo>
                  <a:pt x="308709" y="267378"/>
                </a:lnTo>
                <a:lnTo>
                  <a:pt x="312524" y="258582"/>
                </a:lnTo>
                <a:lnTo>
                  <a:pt x="306165" y="245759"/>
                </a:lnTo>
                <a:lnTo>
                  <a:pt x="305212" y="215768"/>
                </a:lnTo>
                <a:lnTo>
                  <a:pt x="312524" y="202732"/>
                </a:lnTo>
                <a:lnTo>
                  <a:pt x="331176" y="194784"/>
                </a:lnTo>
                <a:lnTo>
                  <a:pt x="377064" y="165323"/>
                </a:lnTo>
                <a:lnTo>
                  <a:pt x="394762" y="155043"/>
                </a:lnTo>
                <a:lnTo>
                  <a:pt x="411294" y="137027"/>
                </a:lnTo>
                <a:lnTo>
                  <a:pt x="433867" y="130563"/>
                </a:lnTo>
                <a:lnTo>
                  <a:pt x="482404" y="124946"/>
                </a:lnTo>
                <a:lnTo>
                  <a:pt x="498089" y="141160"/>
                </a:lnTo>
                <a:lnTo>
                  <a:pt x="514833" y="149214"/>
                </a:lnTo>
                <a:lnTo>
                  <a:pt x="521827" y="142750"/>
                </a:lnTo>
                <a:lnTo>
                  <a:pt x="498513" y="105446"/>
                </a:lnTo>
                <a:lnTo>
                  <a:pt x="500208" y="91775"/>
                </a:lnTo>
                <a:lnTo>
                  <a:pt x="516105" y="79482"/>
                </a:lnTo>
                <a:lnTo>
                  <a:pt x="534756" y="65705"/>
                </a:lnTo>
                <a:lnTo>
                  <a:pt x="546308" y="60618"/>
                </a:lnTo>
                <a:lnTo>
                  <a:pt x="546732" y="50762"/>
                </a:lnTo>
                <a:lnTo>
                  <a:pt x="543658" y="37621"/>
                </a:lnTo>
                <a:lnTo>
                  <a:pt x="548533" y="27130"/>
                </a:lnTo>
                <a:lnTo>
                  <a:pt x="561462" y="8902"/>
                </a:lnTo>
                <a:lnTo>
                  <a:pt x="567821" y="0"/>
                </a:lnTo>
                <a:lnTo>
                  <a:pt x="580644" y="1059"/>
                </a:lnTo>
                <a:lnTo>
                  <a:pt x="588169" y="10915"/>
                </a:lnTo>
                <a:lnTo>
                  <a:pt x="597388" y="16320"/>
                </a:lnTo>
                <a:lnTo>
                  <a:pt x="604913" y="16320"/>
                </a:lnTo>
                <a:lnTo>
                  <a:pt x="619114" y="31581"/>
                </a:lnTo>
                <a:lnTo>
                  <a:pt x="627274" y="38999"/>
                </a:lnTo>
                <a:lnTo>
                  <a:pt x="630559" y="57439"/>
                </a:lnTo>
                <a:lnTo>
                  <a:pt x="645820" y="96544"/>
                </a:lnTo>
                <a:lnTo>
                  <a:pt x="653874" y="103009"/>
                </a:lnTo>
                <a:lnTo>
                  <a:pt x="660127" y="92305"/>
                </a:lnTo>
                <a:lnTo>
                  <a:pt x="670194" y="91351"/>
                </a:lnTo>
                <a:lnTo>
                  <a:pt x="685773" y="99405"/>
                </a:lnTo>
                <a:lnTo>
                  <a:pt x="689058" y="134060"/>
                </a:lnTo>
                <a:lnTo>
                  <a:pt x="692767" y="155255"/>
                </a:lnTo>
                <a:lnTo>
                  <a:pt x="694993" y="182703"/>
                </a:lnTo>
                <a:lnTo>
                  <a:pt x="694357" y="204216"/>
                </a:lnTo>
                <a:lnTo>
                  <a:pt x="687998" y="234313"/>
                </a:lnTo>
                <a:lnTo>
                  <a:pt x="687045" y="251270"/>
                </a:lnTo>
                <a:lnTo>
                  <a:pt x="676553" y="258370"/>
                </a:lnTo>
                <a:lnTo>
                  <a:pt x="686197" y="274690"/>
                </a:lnTo>
                <a:lnTo>
                  <a:pt x="683017" y="284334"/>
                </a:lnTo>
                <a:lnTo>
                  <a:pt x="666167" y="288361"/>
                </a:lnTo>
                <a:lnTo>
                  <a:pt x="652178" y="309769"/>
                </a:lnTo>
                <a:lnTo>
                  <a:pt x="635116" y="308921"/>
                </a:lnTo>
                <a:lnTo>
                  <a:pt x="627380" y="327891"/>
                </a:lnTo>
                <a:lnTo>
                  <a:pt x="617948" y="340926"/>
                </a:lnTo>
                <a:lnTo>
                  <a:pt x="608092" y="346966"/>
                </a:lnTo>
                <a:lnTo>
                  <a:pt x="592090" y="355232"/>
                </a:lnTo>
                <a:lnTo>
                  <a:pt x="586155" y="375156"/>
                </a:lnTo>
                <a:lnTo>
                  <a:pt x="587533" y="388721"/>
                </a:lnTo>
                <a:lnTo>
                  <a:pt x="572590" y="395821"/>
                </a:lnTo>
                <a:lnTo>
                  <a:pt x="567079" y="425813"/>
                </a:lnTo>
                <a:lnTo>
                  <a:pt x="576935" y="433125"/>
                </a:lnTo>
                <a:lnTo>
                  <a:pt x="581916" y="444783"/>
                </a:lnTo>
                <a:lnTo>
                  <a:pt x="584035" y="464070"/>
                </a:lnTo>
                <a:lnTo>
                  <a:pt x="570682" y="487385"/>
                </a:lnTo>
                <a:lnTo>
                  <a:pt x="583506" y="488763"/>
                </a:lnTo>
                <a:lnTo>
                  <a:pt x="599614" y="479437"/>
                </a:lnTo>
                <a:lnTo>
                  <a:pt x="639355" y="466190"/>
                </a:lnTo>
                <a:lnTo>
                  <a:pt x="669664" y="465660"/>
                </a:lnTo>
                <a:lnTo>
                  <a:pt x="678566" y="470535"/>
                </a:lnTo>
                <a:lnTo>
                  <a:pt x="701775" y="465342"/>
                </a:lnTo>
                <a:lnTo>
                  <a:pt x="705166" y="468309"/>
                </a:lnTo>
                <a:lnTo>
                  <a:pt x="688528" y="488021"/>
                </a:lnTo>
                <a:lnTo>
                  <a:pt x="694675" y="500950"/>
                </a:lnTo>
                <a:lnTo>
                  <a:pt x="704955" y="517800"/>
                </a:lnTo>
                <a:lnTo>
                  <a:pt x="703683" y="532743"/>
                </a:lnTo>
                <a:lnTo>
                  <a:pt x="710359" y="543659"/>
                </a:lnTo>
                <a:lnTo>
                  <a:pt x="708346" y="563688"/>
                </a:lnTo>
                <a:lnTo>
                  <a:pt x="746073" y="573014"/>
                </a:lnTo>
                <a:lnTo>
                  <a:pt x="767057" y="576617"/>
                </a:lnTo>
                <a:lnTo>
                  <a:pt x="775429" y="583400"/>
                </a:lnTo>
                <a:lnTo>
                  <a:pt x="772250" y="591666"/>
                </a:lnTo>
                <a:lnTo>
                  <a:pt x="758579" y="616888"/>
                </a:lnTo>
                <a:lnTo>
                  <a:pt x="758579" y="637130"/>
                </a:lnTo>
                <a:lnTo>
                  <a:pt x="744484" y="659915"/>
                </a:lnTo>
                <a:lnTo>
                  <a:pt x="741092" y="673692"/>
                </a:lnTo>
                <a:lnTo>
                  <a:pt x="747451" y="678249"/>
                </a:lnTo>
                <a:lnTo>
                  <a:pt x="763983" y="678143"/>
                </a:lnTo>
                <a:lnTo>
                  <a:pt x="810189" y="684607"/>
                </a:lnTo>
                <a:lnTo>
                  <a:pt x="823224" y="691178"/>
                </a:lnTo>
                <a:lnTo>
                  <a:pt x="820893" y="708876"/>
                </a:lnTo>
                <a:lnTo>
                  <a:pt x="826403" y="721487"/>
                </a:lnTo>
                <a:lnTo>
                  <a:pt x="838909" y="725832"/>
                </a:lnTo>
                <a:lnTo>
                  <a:pt x="838167" y="736748"/>
                </a:lnTo>
                <a:lnTo>
                  <a:pt x="844419" y="744908"/>
                </a:lnTo>
                <a:lnTo>
                  <a:pt x="865933" y="742788"/>
                </a:lnTo>
                <a:lnTo>
                  <a:pt x="885008" y="747345"/>
                </a:lnTo>
                <a:lnTo>
                  <a:pt x="900481" y="742364"/>
                </a:lnTo>
                <a:lnTo>
                  <a:pt x="936725" y="717884"/>
                </a:lnTo>
                <a:lnTo>
                  <a:pt x="947535" y="716824"/>
                </a:lnTo>
                <a:lnTo>
                  <a:pt x="948276" y="721169"/>
                </a:lnTo>
                <a:lnTo>
                  <a:pt x="949442" y="735794"/>
                </a:lnTo>
                <a:lnTo>
                  <a:pt x="927081" y="757095"/>
                </a:lnTo>
                <a:lnTo>
                  <a:pt x="908959" y="762712"/>
                </a:lnTo>
                <a:lnTo>
                  <a:pt x="898573" y="782105"/>
                </a:lnTo>
                <a:lnTo>
                  <a:pt x="888824" y="791855"/>
                </a:lnTo>
                <a:lnTo>
                  <a:pt x="884055" y="804149"/>
                </a:lnTo>
                <a:lnTo>
                  <a:pt x="894228" y="808706"/>
                </a:lnTo>
                <a:lnTo>
                  <a:pt x="888612" y="814428"/>
                </a:lnTo>
                <a:lnTo>
                  <a:pt x="871867" y="814640"/>
                </a:lnTo>
                <a:lnTo>
                  <a:pt x="855123" y="824496"/>
                </a:lnTo>
                <a:lnTo>
                  <a:pt x="842512" y="862436"/>
                </a:lnTo>
                <a:close/>
                <a:moveTo>
                  <a:pt x="675493" y="1776694"/>
                </a:moveTo>
                <a:lnTo>
                  <a:pt x="672738" y="1798525"/>
                </a:lnTo>
                <a:lnTo>
                  <a:pt x="666061" y="1795558"/>
                </a:lnTo>
                <a:lnTo>
                  <a:pt x="662882" y="1795558"/>
                </a:lnTo>
                <a:lnTo>
                  <a:pt x="658855" y="1783159"/>
                </a:lnTo>
                <a:lnTo>
                  <a:pt x="659173" y="1779873"/>
                </a:lnTo>
                <a:lnTo>
                  <a:pt x="656629" y="1771713"/>
                </a:lnTo>
                <a:lnTo>
                  <a:pt x="672314" y="1770335"/>
                </a:lnTo>
                <a:lnTo>
                  <a:pt x="675493" y="1776694"/>
                </a:lnTo>
                <a:close/>
                <a:moveTo>
                  <a:pt x="660656" y="1686296"/>
                </a:moveTo>
                <a:lnTo>
                  <a:pt x="662988" y="1689157"/>
                </a:lnTo>
                <a:lnTo>
                  <a:pt x="666379" y="1689157"/>
                </a:lnTo>
                <a:lnTo>
                  <a:pt x="665425" y="1699437"/>
                </a:lnTo>
                <a:lnTo>
                  <a:pt x="657159" y="1712154"/>
                </a:lnTo>
                <a:lnTo>
                  <a:pt x="652178" y="1714062"/>
                </a:lnTo>
                <a:lnTo>
                  <a:pt x="650059" y="1714062"/>
                </a:lnTo>
                <a:lnTo>
                  <a:pt x="651860" y="1695516"/>
                </a:lnTo>
                <a:lnTo>
                  <a:pt x="648893" y="1684812"/>
                </a:lnTo>
                <a:lnTo>
                  <a:pt x="649847" y="1677818"/>
                </a:lnTo>
                <a:lnTo>
                  <a:pt x="658749" y="1681103"/>
                </a:lnTo>
                <a:lnTo>
                  <a:pt x="660656" y="1686296"/>
                </a:lnTo>
                <a:close/>
                <a:moveTo>
                  <a:pt x="243427" y="1331487"/>
                </a:moveTo>
                <a:lnTo>
                  <a:pt x="236539" y="1341873"/>
                </a:lnTo>
                <a:lnTo>
                  <a:pt x="233995" y="1326400"/>
                </a:lnTo>
                <a:lnTo>
                  <a:pt x="245229" y="1317816"/>
                </a:lnTo>
                <a:lnTo>
                  <a:pt x="250740" y="1309550"/>
                </a:lnTo>
                <a:lnTo>
                  <a:pt x="256568" y="1303933"/>
                </a:lnTo>
                <a:lnTo>
                  <a:pt x="258476" y="1310822"/>
                </a:lnTo>
                <a:lnTo>
                  <a:pt x="252859" y="1323751"/>
                </a:lnTo>
                <a:lnTo>
                  <a:pt x="243427" y="1331487"/>
                </a:lnTo>
                <a:close/>
                <a:moveTo>
                  <a:pt x="571742" y="1298952"/>
                </a:moveTo>
                <a:lnTo>
                  <a:pt x="567715" y="1300330"/>
                </a:lnTo>
                <a:lnTo>
                  <a:pt x="561674" y="1293336"/>
                </a:lnTo>
                <a:lnTo>
                  <a:pt x="560509" y="1276909"/>
                </a:lnTo>
                <a:lnTo>
                  <a:pt x="565490" y="1273094"/>
                </a:lnTo>
                <a:lnTo>
                  <a:pt x="568245" y="1272246"/>
                </a:lnTo>
                <a:lnTo>
                  <a:pt x="572166" y="1274260"/>
                </a:lnTo>
                <a:lnTo>
                  <a:pt x="573650" y="1276909"/>
                </a:lnTo>
                <a:lnTo>
                  <a:pt x="574392" y="1280195"/>
                </a:lnTo>
                <a:lnTo>
                  <a:pt x="573226" y="1283692"/>
                </a:lnTo>
                <a:lnTo>
                  <a:pt x="571742" y="1298952"/>
                </a:lnTo>
                <a:close/>
                <a:moveTo>
                  <a:pt x="160130" y="1041324"/>
                </a:moveTo>
                <a:lnTo>
                  <a:pt x="158328" y="1042172"/>
                </a:lnTo>
                <a:lnTo>
                  <a:pt x="147307" y="1033270"/>
                </a:lnTo>
                <a:lnTo>
                  <a:pt x="138511" y="1021824"/>
                </a:lnTo>
                <a:lnTo>
                  <a:pt x="152394" y="1019599"/>
                </a:lnTo>
                <a:lnTo>
                  <a:pt x="165853" y="1022036"/>
                </a:lnTo>
                <a:lnTo>
                  <a:pt x="165959" y="1028183"/>
                </a:lnTo>
                <a:lnTo>
                  <a:pt x="162991" y="1037932"/>
                </a:lnTo>
                <a:lnTo>
                  <a:pt x="160130" y="1041324"/>
                </a:lnTo>
                <a:close/>
                <a:moveTo>
                  <a:pt x="162673" y="948700"/>
                </a:moveTo>
                <a:lnTo>
                  <a:pt x="174755" y="957496"/>
                </a:lnTo>
                <a:lnTo>
                  <a:pt x="179630" y="956861"/>
                </a:lnTo>
                <a:lnTo>
                  <a:pt x="187154" y="962371"/>
                </a:lnTo>
                <a:lnTo>
                  <a:pt x="187260" y="964597"/>
                </a:lnTo>
                <a:lnTo>
                  <a:pt x="185882" y="969154"/>
                </a:lnTo>
                <a:lnTo>
                  <a:pt x="182491" y="972651"/>
                </a:lnTo>
                <a:lnTo>
                  <a:pt x="173271" y="976148"/>
                </a:lnTo>
                <a:lnTo>
                  <a:pt x="167018" y="973287"/>
                </a:lnTo>
                <a:lnTo>
                  <a:pt x="164475" y="963749"/>
                </a:lnTo>
                <a:lnTo>
                  <a:pt x="157057" y="959192"/>
                </a:lnTo>
                <a:lnTo>
                  <a:pt x="155149" y="955377"/>
                </a:lnTo>
                <a:lnTo>
                  <a:pt x="159812" y="950184"/>
                </a:lnTo>
                <a:lnTo>
                  <a:pt x="162673" y="948700"/>
                </a:lnTo>
                <a:close/>
              </a:path>
            </a:pathLst>
          </a:custGeom>
          <a:solidFill>
            <a:srgbClr val="E6EEF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ame:map-BRN"/>
          <p:cNvSpPr/>
          <p:nvPr/>
        </p:nvSpPr>
        <p:spPr>
          <a:xfrm>
            <a:off x="2538643" y="4263718"/>
            <a:ext cx="133848" cy="105765"/>
          </a:xfrm>
          <a:custGeom>
            <a:avLst/>
            <a:gdLst/>
            <a:ahLst/>
            <a:cxnLst/>
            <a:rect l="l" t="t" r="r" b="b"/>
            <a:pathLst>
              <a:path w="133848" h="105765">
                <a:moveTo>
                  <a:pt x="114031" y="12929"/>
                </a:moveTo>
                <a:lnTo>
                  <a:pt x="116998" y="16427"/>
                </a:lnTo>
                <a:lnTo>
                  <a:pt x="123357" y="28720"/>
                </a:lnTo>
                <a:lnTo>
                  <a:pt x="127490" y="41119"/>
                </a:lnTo>
                <a:lnTo>
                  <a:pt x="128761" y="59983"/>
                </a:lnTo>
                <a:lnTo>
                  <a:pt x="133848" y="67931"/>
                </a:lnTo>
                <a:lnTo>
                  <a:pt x="133001" y="69627"/>
                </a:lnTo>
                <a:lnTo>
                  <a:pt x="130033" y="70899"/>
                </a:lnTo>
                <a:lnTo>
                  <a:pt x="125370" y="71534"/>
                </a:lnTo>
                <a:lnTo>
                  <a:pt x="117316" y="69733"/>
                </a:lnTo>
                <a:lnTo>
                  <a:pt x="110534" y="66977"/>
                </a:lnTo>
                <a:lnTo>
                  <a:pt x="104705" y="46524"/>
                </a:lnTo>
                <a:lnTo>
                  <a:pt x="102055" y="35079"/>
                </a:lnTo>
                <a:lnTo>
                  <a:pt x="102267" y="21302"/>
                </a:lnTo>
                <a:lnTo>
                  <a:pt x="102055" y="12929"/>
                </a:lnTo>
                <a:lnTo>
                  <a:pt x="114031" y="12929"/>
                </a:lnTo>
                <a:close/>
                <a:moveTo>
                  <a:pt x="102055" y="12929"/>
                </a:moveTo>
                <a:lnTo>
                  <a:pt x="93365" y="17592"/>
                </a:lnTo>
                <a:lnTo>
                  <a:pt x="84887" y="23315"/>
                </a:lnTo>
                <a:lnTo>
                  <a:pt x="76303" y="28296"/>
                </a:lnTo>
                <a:lnTo>
                  <a:pt x="72382" y="32217"/>
                </a:lnTo>
                <a:lnTo>
                  <a:pt x="73760" y="37622"/>
                </a:lnTo>
                <a:lnTo>
                  <a:pt x="75773" y="49703"/>
                </a:lnTo>
                <a:lnTo>
                  <a:pt x="76939" y="59135"/>
                </a:lnTo>
                <a:lnTo>
                  <a:pt x="79906" y="62844"/>
                </a:lnTo>
                <a:lnTo>
                  <a:pt x="82238" y="66660"/>
                </a:lnTo>
                <a:lnTo>
                  <a:pt x="81284" y="70793"/>
                </a:lnTo>
                <a:lnTo>
                  <a:pt x="76197" y="78529"/>
                </a:lnTo>
                <a:lnTo>
                  <a:pt x="79059" y="80013"/>
                </a:lnTo>
                <a:lnTo>
                  <a:pt x="75455" y="90398"/>
                </a:lnTo>
                <a:lnTo>
                  <a:pt x="70051" y="98029"/>
                </a:lnTo>
                <a:lnTo>
                  <a:pt x="62526" y="104281"/>
                </a:lnTo>
                <a:lnTo>
                  <a:pt x="57651" y="105765"/>
                </a:lnTo>
                <a:lnTo>
                  <a:pt x="53836" y="103115"/>
                </a:lnTo>
                <a:lnTo>
                  <a:pt x="47478" y="96227"/>
                </a:lnTo>
                <a:lnTo>
                  <a:pt x="40589" y="86689"/>
                </a:lnTo>
                <a:lnTo>
                  <a:pt x="37410" y="81178"/>
                </a:lnTo>
                <a:lnTo>
                  <a:pt x="27448" y="80436"/>
                </a:lnTo>
                <a:lnTo>
                  <a:pt x="23951" y="76091"/>
                </a:lnTo>
                <a:lnTo>
                  <a:pt x="23739" y="70687"/>
                </a:lnTo>
                <a:lnTo>
                  <a:pt x="20877" y="64434"/>
                </a:lnTo>
                <a:lnTo>
                  <a:pt x="16956" y="57652"/>
                </a:lnTo>
                <a:lnTo>
                  <a:pt x="11128" y="52459"/>
                </a:lnTo>
                <a:lnTo>
                  <a:pt x="3285" y="48432"/>
                </a:lnTo>
                <a:lnTo>
                  <a:pt x="0" y="45464"/>
                </a:lnTo>
                <a:lnTo>
                  <a:pt x="12081" y="45676"/>
                </a:lnTo>
                <a:lnTo>
                  <a:pt x="24905" y="43981"/>
                </a:lnTo>
                <a:lnTo>
                  <a:pt x="38152" y="38364"/>
                </a:lnTo>
                <a:lnTo>
                  <a:pt x="50975" y="31475"/>
                </a:lnTo>
                <a:lnTo>
                  <a:pt x="61678" y="23739"/>
                </a:lnTo>
                <a:lnTo>
                  <a:pt x="71746" y="14943"/>
                </a:lnTo>
                <a:lnTo>
                  <a:pt x="82344" y="8055"/>
                </a:lnTo>
                <a:lnTo>
                  <a:pt x="98664" y="0"/>
                </a:lnTo>
                <a:lnTo>
                  <a:pt x="104281" y="636"/>
                </a:lnTo>
                <a:lnTo>
                  <a:pt x="104175" y="6359"/>
                </a:lnTo>
                <a:lnTo>
                  <a:pt x="102055" y="12929"/>
                </a:lnTo>
                <a:close/>
              </a:path>
            </a:pathLst>
          </a:custGeom>
          <a:solidFill>
            <a:srgbClr val="E6EEF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allout:bubble-MYS"/>
          <p:cNvSpPr/>
          <p:nvPr/>
        </p:nvSpPr>
        <p:spPr>
          <a:xfrm>
            <a:off x="853228" y="3943915"/>
            <a:ext cx="729051" cy="729051"/>
          </a:xfrm>
          <a:prstGeom prst="ellipse">
            <a:avLst/>
          </a:prstGeom>
          <a:solidFill>
            <a:srgbClr val="376092">
              <a:alpha val="65000"/>
            </a:srgbClr>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allout:pin-line-SGP"/>
          <p:cNvCxnSpPr/>
          <p:nvPr/>
        </p:nvCxnSpPr>
        <p:spPr>
          <a:xfrm>
            <a:off x="1453021" y="4652864"/>
            <a:ext cx="442981" cy="270240"/>
          </a:xfrm>
          <a:prstGeom prst="line">
            <a:avLst/>
          </a:prstGeom>
          <a:ln w="12700">
            <a:solidFill>
              <a:srgbClr val="376092"/>
            </a:solidFill>
          </a:ln>
        </p:spPr>
        <p:style>
          <a:lnRef idx="2">
            <a:schemeClr val="accent1"/>
          </a:lnRef>
          <a:fillRef idx="0">
            <a:schemeClr val="accent1"/>
          </a:fillRef>
          <a:effectRef idx="1">
            <a:schemeClr val="accent1"/>
          </a:effectRef>
          <a:fontRef idx="minor">
            <a:schemeClr val="tx1"/>
          </a:fontRef>
        </p:style>
      </p:cxnSp>
      <p:sp>
        <p:nvSpPr>
          <p:cNvPr id="24" name="callout:pin-SGP"/>
          <p:cNvSpPr/>
          <p:nvPr/>
        </p:nvSpPr>
        <p:spPr>
          <a:xfrm>
            <a:off x="1407301" y="4607144"/>
            <a:ext cx="91440" cy="91440"/>
          </a:xfrm>
          <a:prstGeom prst="ellipse">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allout:bubble-SGP"/>
          <p:cNvSpPr/>
          <p:nvPr/>
        </p:nvSpPr>
        <p:spPr>
          <a:xfrm>
            <a:off x="1591081" y="4618182"/>
            <a:ext cx="609842" cy="609842"/>
          </a:xfrm>
          <a:prstGeom prst="ellipse">
            <a:avLst/>
          </a:prstGeom>
          <a:solidFill>
            <a:srgbClr val="376092">
              <a:alpha val="65000"/>
            </a:srgbClr>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allout:bubble-IDN"/>
          <p:cNvSpPr/>
          <p:nvPr/>
        </p:nvSpPr>
        <p:spPr>
          <a:xfrm>
            <a:off x="1699585" y="5256568"/>
            <a:ext cx="604788" cy="604788"/>
          </a:xfrm>
          <a:prstGeom prst="ellipse">
            <a:avLst/>
          </a:prstGeom>
          <a:solidFill>
            <a:srgbClr val="376092">
              <a:alpha val="65000"/>
            </a:srgbClr>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llout:bubble-PHL"/>
          <p:cNvSpPr/>
          <p:nvPr/>
        </p:nvSpPr>
        <p:spPr>
          <a:xfrm>
            <a:off x="3157445" y="3217207"/>
            <a:ext cx="402062" cy="402062"/>
          </a:xfrm>
          <a:prstGeom prst="ellipse">
            <a:avLst/>
          </a:prstGeom>
          <a:solidFill>
            <a:srgbClr val="376092">
              <a:alpha val="65000"/>
            </a:srgbClr>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allout:bubble-THA"/>
          <p:cNvSpPr/>
          <p:nvPr/>
        </p:nvSpPr>
        <p:spPr>
          <a:xfrm>
            <a:off x="919858" y="2993172"/>
            <a:ext cx="383836" cy="383836"/>
          </a:xfrm>
          <a:prstGeom prst="ellipse">
            <a:avLst/>
          </a:prstGeom>
          <a:solidFill>
            <a:srgbClr val="376092">
              <a:alpha val="65000"/>
            </a:srgbClr>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allout:bubble-VNM"/>
          <p:cNvSpPr/>
          <p:nvPr/>
        </p:nvSpPr>
        <p:spPr>
          <a:xfrm>
            <a:off x="1651828" y="3216455"/>
            <a:ext cx="361177" cy="361177"/>
          </a:xfrm>
          <a:prstGeom prst="ellipse">
            <a:avLst/>
          </a:prstGeom>
          <a:solidFill>
            <a:srgbClr val="376092">
              <a:alpha val="65000"/>
            </a:srgbClr>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allout:map-label"/>
          <p:cNvSpPr/>
          <p:nvPr/>
        </p:nvSpPr>
        <p:spPr>
          <a:xfrm>
            <a:off x="1627999" y="4098128"/>
            <a:ext cx="105156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200" b="1" i="0">
                <a:solidFill>
                  <a:srgbClr val="376092"/>
                </a:solidFill>
                <a:latin typeface="Book Antiqua"/>
              </a:rPr>
              <a:t>Malaysia</a:t>
            </a:r>
          </a:p>
          <a:p>
            <a:pPr algn="l">
              <a:buNone/>
            </a:pPr>
            <a:r>
              <a:rPr sz="1100" b="0" i="0">
                <a:solidFill>
                  <a:srgbClr val="000000"/>
                </a:solidFill>
                <a:latin typeface="Book Antiqua"/>
              </a:rPr>
              <a:t>$1,039M (31%)</a:t>
            </a:r>
          </a:p>
        </p:txBody>
      </p:sp>
      <p:sp>
        <p:nvSpPr>
          <p:cNvPr id="31" name="callout:map-label"/>
          <p:cNvSpPr/>
          <p:nvPr/>
        </p:nvSpPr>
        <p:spPr>
          <a:xfrm>
            <a:off x="2246643" y="4712792"/>
            <a:ext cx="105156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200" b="1" i="0">
                <a:solidFill>
                  <a:srgbClr val="376092"/>
                </a:solidFill>
                <a:latin typeface="Book Antiqua"/>
              </a:rPr>
              <a:t>Singapore</a:t>
            </a:r>
          </a:p>
          <a:p>
            <a:pPr algn="l">
              <a:buNone/>
            </a:pPr>
            <a:r>
              <a:rPr sz="1100" b="0" i="0">
                <a:solidFill>
                  <a:srgbClr val="000000"/>
                </a:solidFill>
                <a:latin typeface="Book Antiqua"/>
              </a:rPr>
              <a:t>$727M (22%)</a:t>
            </a:r>
          </a:p>
        </p:txBody>
      </p:sp>
      <p:sp>
        <p:nvSpPr>
          <p:cNvPr id="32" name="callout:map-label"/>
          <p:cNvSpPr/>
          <p:nvPr/>
        </p:nvSpPr>
        <p:spPr>
          <a:xfrm>
            <a:off x="2350093" y="5348650"/>
            <a:ext cx="105156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200" b="1" i="0">
                <a:solidFill>
                  <a:srgbClr val="376092"/>
                </a:solidFill>
                <a:latin typeface="Book Antiqua"/>
              </a:rPr>
              <a:t>Indonesia</a:t>
            </a:r>
          </a:p>
          <a:p>
            <a:pPr algn="l">
              <a:buNone/>
            </a:pPr>
            <a:r>
              <a:rPr sz="1100" b="0" i="0">
                <a:solidFill>
                  <a:srgbClr val="000000"/>
                </a:solidFill>
                <a:latin typeface="Book Antiqua"/>
              </a:rPr>
              <a:t>$715M (21%)</a:t>
            </a:r>
          </a:p>
        </p:txBody>
      </p:sp>
      <p:sp>
        <p:nvSpPr>
          <p:cNvPr id="33" name="callout:map-label"/>
          <p:cNvSpPr/>
          <p:nvPr/>
        </p:nvSpPr>
        <p:spPr>
          <a:xfrm>
            <a:off x="3605228" y="3207927"/>
            <a:ext cx="105156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200" b="1" i="0">
                <a:solidFill>
                  <a:srgbClr val="376092"/>
                </a:solidFill>
                <a:latin typeface="Book Antiqua"/>
              </a:rPr>
              <a:t>Philippines</a:t>
            </a:r>
          </a:p>
          <a:p>
            <a:pPr algn="l">
              <a:buNone/>
            </a:pPr>
            <a:r>
              <a:rPr sz="1100" b="0" i="0">
                <a:solidFill>
                  <a:srgbClr val="000000"/>
                </a:solidFill>
                <a:latin typeface="Book Antiqua"/>
              </a:rPr>
              <a:t>$316M (9%)</a:t>
            </a:r>
          </a:p>
        </p:txBody>
      </p:sp>
      <p:sp>
        <p:nvSpPr>
          <p:cNvPr id="34" name="callout:map-label"/>
          <p:cNvSpPr/>
          <p:nvPr/>
        </p:nvSpPr>
        <p:spPr>
          <a:xfrm>
            <a:off x="585997" y="3404441"/>
            <a:ext cx="105156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200" b="1" i="0">
                <a:solidFill>
                  <a:srgbClr val="376092"/>
                </a:solidFill>
                <a:latin typeface="Book Antiqua"/>
              </a:rPr>
              <a:t>Thailand</a:t>
            </a:r>
          </a:p>
          <a:p>
            <a:pPr algn="l">
              <a:buNone/>
            </a:pPr>
            <a:r>
              <a:rPr sz="1100" b="0" i="0">
                <a:solidFill>
                  <a:srgbClr val="000000"/>
                </a:solidFill>
                <a:latin typeface="Book Antiqua"/>
              </a:rPr>
              <a:t>$288M (9%)</a:t>
            </a:r>
          </a:p>
        </p:txBody>
      </p:sp>
      <p:sp>
        <p:nvSpPr>
          <p:cNvPr id="35" name="callout:map-label"/>
          <p:cNvSpPr/>
          <p:nvPr/>
        </p:nvSpPr>
        <p:spPr>
          <a:xfrm>
            <a:off x="2058725" y="3186731"/>
            <a:ext cx="105156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200" b="1" i="0">
                <a:solidFill>
                  <a:srgbClr val="376092"/>
                </a:solidFill>
                <a:latin typeface="Book Antiqua"/>
              </a:rPr>
              <a:t>Vietnam</a:t>
            </a:r>
          </a:p>
          <a:p>
            <a:pPr algn="l">
              <a:buNone/>
            </a:pPr>
            <a:r>
              <a:rPr sz="1100" b="0" i="0">
                <a:solidFill>
                  <a:srgbClr val="000000"/>
                </a:solidFill>
                <a:latin typeface="Book Antiqua"/>
              </a:rPr>
              <a:t>$255M (8%)</a:t>
            </a:r>
          </a:p>
        </p:txBody>
      </p:sp>
      <p:sp>
        <p:nvSpPr>
          <p:cNvPr id="36" name="source"/>
          <p:cNvSpPr/>
          <p:nvPr/>
        </p:nvSpPr>
        <p:spPr>
          <a:xfrm>
            <a:off x="219456" y="6007607"/>
            <a:ext cx="5171224" cy="219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Bubble = 2025 revenue. Source: Grab FY2025 20-F; national regulators and press (see notes)</a:t>
            </a:r>
          </a:p>
        </p:txBody>
      </p:sp>
      <p:sp>
        <p:nvSpPr>
          <p:cNvPr id="37" name="section:Regulation by Country"/>
          <p:cNvSpPr/>
          <p:nvPr/>
        </p:nvSpPr>
        <p:spPr>
          <a:xfrm>
            <a:off x="5619280" y="1362456"/>
            <a:ext cx="635295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Regulation by Country</a:t>
            </a:r>
          </a:p>
        </p:txBody>
      </p:sp>
      <p:sp>
        <p:nvSpPr>
          <p:cNvPr id="38" name="table:header"/>
          <p:cNvSpPr/>
          <p:nvPr/>
        </p:nvSpPr>
        <p:spPr>
          <a:xfrm>
            <a:off x="5619280" y="1728216"/>
            <a:ext cx="1143532"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Country</a:t>
            </a:r>
          </a:p>
        </p:txBody>
      </p:sp>
      <p:sp>
        <p:nvSpPr>
          <p:cNvPr id="39" name="table:header"/>
          <p:cNvSpPr/>
          <p:nvPr/>
        </p:nvSpPr>
        <p:spPr>
          <a:xfrm>
            <a:off x="6762813" y="1728216"/>
            <a:ext cx="635295"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Share</a:t>
            </a:r>
          </a:p>
        </p:txBody>
      </p:sp>
      <p:sp>
        <p:nvSpPr>
          <p:cNvPr id="40" name="table:header"/>
          <p:cNvSpPr/>
          <p:nvPr/>
        </p:nvSpPr>
        <p:spPr>
          <a:xfrm>
            <a:off x="7398109" y="1728216"/>
            <a:ext cx="889414"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50" b="1" i="0">
                <a:solidFill>
                  <a:srgbClr val="FFFFFF"/>
                </a:solidFill>
                <a:latin typeface="Book Antiqua"/>
              </a:rPr>
              <a:t>Growth vs 2024</a:t>
            </a:r>
          </a:p>
        </p:txBody>
      </p:sp>
      <p:sp>
        <p:nvSpPr>
          <p:cNvPr id="41" name="table:header"/>
          <p:cNvSpPr/>
          <p:nvPr/>
        </p:nvSpPr>
        <p:spPr>
          <a:xfrm>
            <a:off x="8287523" y="1728216"/>
            <a:ext cx="1778828"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In Force</a:t>
            </a:r>
          </a:p>
        </p:txBody>
      </p:sp>
      <p:sp>
        <p:nvSpPr>
          <p:cNvPr id="42" name="table:header"/>
          <p:cNvSpPr/>
          <p:nvPr/>
        </p:nvSpPr>
        <p:spPr>
          <a:xfrm>
            <a:off x="10066351" y="1728216"/>
            <a:ext cx="1905887"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Effect on Grab</a:t>
            </a:r>
          </a:p>
        </p:txBody>
      </p:sp>
      <p:sp>
        <p:nvSpPr>
          <p:cNvPr id="43" name="table:cell"/>
          <p:cNvSpPr/>
          <p:nvPr/>
        </p:nvSpPr>
        <p:spPr>
          <a:xfrm>
            <a:off x="5619280" y="2093976"/>
            <a:ext cx="1143532" cy="52730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Malaysia</a:t>
            </a:r>
          </a:p>
        </p:txBody>
      </p:sp>
      <p:sp>
        <p:nvSpPr>
          <p:cNvPr id="44" name="table:cell"/>
          <p:cNvSpPr/>
          <p:nvPr/>
        </p:nvSpPr>
        <p:spPr>
          <a:xfrm>
            <a:off x="6762813" y="2093976"/>
            <a:ext cx="635295"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31%</a:t>
            </a:r>
          </a:p>
        </p:txBody>
      </p:sp>
      <p:sp>
        <p:nvSpPr>
          <p:cNvPr id="45" name="table:cell"/>
          <p:cNvSpPr/>
          <p:nvPr/>
        </p:nvSpPr>
        <p:spPr>
          <a:xfrm>
            <a:off x="7398109" y="2093976"/>
            <a:ext cx="889414"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+27%</a:t>
            </a:r>
          </a:p>
        </p:txBody>
      </p:sp>
      <p:sp>
        <p:nvSpPr>
          <p:cNvPr id="46" name="table:cell"/>
          <p:cNvSpPr/>
          <p:nvPr/>
        </p:nvSpPr>
        <p:spPr>
          <a:xfrm>
            <a:off x="8287523" y="2093976"/>
            <a:ext cx="1778828"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Gig Workers Act (2025): driver social security</a:t>
            </a:r>
          </a:p>
        </p:txBody>
      </p:sp>
      <p:sp>
        <p:nvSpPr>
          <p:cNvPr id="47" name="table:cell"/>
          <p:cNvSpPr/>
          <p:nvPr/>
        </p:nvSpPr>
        <p:spPr>
          <a:xfrm>
            <a:off x="10066351" y="2093976"/>
            <a:ext cx="1905887"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Higher cost per driver; no fee cap</a:t>
            </a:r>
          </a:p>
        </p:txBody>
      </p:sp>
      <p:cxnSp>
        <p:nvCxnSpPr>
          <p:cNvPr id="48" name="frame:table-rule"/>
          <p:cNvCxnSpPr/>
          <p:nvPr/>
        </p:nvCxnSpPr>
        <p:spPr>
          <a:xfrm>
            <a:off x="5619280" y="2621280"/>
            <a:ext cx="6352959"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9" name="table:cell"/>
          <p:cNvSpPr/>
          <p:nvPr/>
        </p:nvSpPr>
        <p:spPr>
          <a:xfrm>
            <a:off x="5619280" y="2621280"/>
            <a:ext cx="1143532" cy="52730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Singapore</a:t>
            </a:r>
          </a:p>
        </p:txBody>
      </p:sp>
      <p:sp>
        <p:nvSpPr>
          <p:cNvPr id="50" name="table:cell"/>
          <p:cNvSpPr/>
          <p:nvPr/>
        </p:nvSpPr>
        <p:spPr>
          <a:xfrm>
            <a:off x="6762813" y="2621280"/>
            <a:ext cx="635295"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22%</a:t>
            </a:r>
          </a:p>
        </p:txBody>
      </p:sp>
      <p:sp>
        <p:nvSpPr>
          <p:cNvPr id="51" name="table:cell"/>
          <p:cNvSpPr/>
          <p:nvPr/>
        </p:nvSpPr>
        <p:spPr>
          <a:xfrm>
            <a:off x="7398109" y="2621280"/>
            <a:ext cx="889414"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+26%</a:t>
            </a:r>
          </a:p>
        </p:txBody>
      </p:sp>
      <p:sp>
        <p:nvSpPr>
          <p:cNvPr id="52" name="table:cell"/>
          <p:cNvSpPr/>
          <p:nvPr/>
        </p:nvSpPr>
        <p:spPr>
          <a:xfrm>
            <a:off x="8287523" y="2621280"/>
            <a:ext cx="1778828"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Platform Workers Act (2025): driver pensions</a:t>
            </a:r>
          </a:p>
        </p:txBody>
      </p:sp>
      <p:sp>
        <p:nvSpPr>
          <p:cNvPr id="53" name="table:cell"/>
          <p:cNvSpPr/>
          <p:nvPr/>
        </p:nvSpPr>
        <p:spPr>
          <a:xfrm>
            <a:off x="10066351" y="2621280"/>
            <a:ext cx="1905887"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Pension cost rises yearly to 2029; no fee cap</a:t>
            </a:r>
          </a:p>
        </p:txBody>
      </p:sp>
      <p:cxnSp>
        <p:nvCxnSpPr>
          <p:cNvPr id="54" name="frame:table-rule"/>
          <p:cNvCxnSpPr/>
          <p:nvPr/>
        </p:nvCxnSpPr>
        <p:spPr>
          <a:xfrm>
            <a:off x="5619280" y="3148584"/>
            <a:ext cx="6352959"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5" name="table:cell"/>
          <p:cNvSpPr/>
          <p:nvPr/>
        </p:nvSpPr>
        <p:spPr>
          <a:xfrm>
            <a:off x="5619280" y="3148584"/>
            <a:ext cx="1143532" cy="52730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Indonesia</a:t>
            </a:r>
          </a:p>
        </p:txBody>
      </p:sp>
      <p:sp>
        <p:nvSpPr>
          <p:cNvPr id="56" name="table:cell"/>
          <p:cNvSpPr/>
          <p:nvPr/>
        </p:nvSpPr>
        <p:spPr>
          <a:xfrm>
            <a:off x="6762813" y="3148584"/>
            <a:ext cx="635295"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21%</a:t>
            </a:r>
          </a:p>
        </p:txBody>
      </p:sp>
      <p:sp>
        <p:nvSpPr>
          <p:cNvPr id="57" name="table:cell"/>
          <p:cNvSpPr/>
          <p:nvPr/>
        </p:nvSpPr>
        <p:spPr>
          <a:xfrm>
            <a:off x="7398109" y="3148584"/>
            <a:ext cx="889414"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+11%</a:t>
            </a:r>
          </a:p>
        </p:txBody>
      </p:sp>
      <p:sp>
        <p:nvSpPr>
          <p:cNvPr id="58" name="table:cell"/>
          <p:cNvSpPr/>
          <p:nvPr/>
        </p:nvSpPr>
        <p:spPr>
          <a:xfrm>
            <a:off x="8287523" y="3148584"/>
            <a:ext cx="1778828"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8% cap on motorbike-taxi fees (Jul 2026)</a:t>
            </a:r>
          </a:p>
        </p:txBody>
      </p:sp>
      <p:sp>
        <p:nvSpPr>
          <p:cNvPr id="59" name="table:cell"/>
          <p:cNvSpPr/>
          <p:nvPr/>
        </p:nvSpPr>
        <p:spPr>
          <a:xfrm>
            <a:off x="10066351" y="3148584"/>
            <a:ext cx="1905887"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Revenue -1.2% (~$0.11 a share); cars discussed</a:t>
            </a:r>
          </a:p>
        </p:txBody>
      </p:sp>
      <p:cxnSp>
        <p:nvCxnSpPr>
          <p:cNvPr id="60" name="frame:table-rule"/>
          <p:cNvCxnSpPr/>
          <p:nvPr/>
        </p:nvCxnSpPr>
        <p:spPr>
          <a:xfrm>
            <a:off x="5619280" y="3675888"/>
            <a:ext cx="6352959"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1" name="table:cell"/>
          <p:cNvSpPr/>
          <p:nvPr/>
        </p:nvSpPr>
        <p:spPr>
          <a:xfrm>
            <a:off x="5619280" y="3675888"/>
            <a:ext cx="1143532" cy="52730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Philippines</a:t>
            </a:r>
          </a:p>
        </p:txBody>
      </p:sp>
      <p:sp>
        <p:nvSpPr>
          <p:cNvPr id="62" name="table:cell"/>
          <p:cNvSpPr/>
          <p:nvPr/>
        </p:nvSpPr>
        <p:spPr>
          <a:xfrm>
            <a:off x="6762813" y="3675888"/>
            <a:ext cx="635295"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9%</a:t>
            </a:r>
          </a:p>
        </p:txBody>
      </p:sp>
      <p:sp>
        <p:nvSpPr>
          <p:cNvPr id="63" name="table:cell"/>
          <p:cNvSpPr/>
          <p:nvPr/>
        </p:nvSpPr>
        <p:spPr>
          <a:xfrm>
            <a:off x="7398109" y="3675888"/>
            <a:ext cx="889414"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+19%</a:t>
            </a:r>
          </a:p>
        </p:txBody>
      </p:sp>
      <p:sp>
        <p:nvSpPr>
          <p:cNvPr id="64" name="table:cell"/>
          <p:cNvSpPr/>
          <p:nvPr/>
        </p:nvSpPr>
        <p:spPr>
          <a:xfrm>
            <a:off x="8287523" y="3675888"/>
            <a:ext cx="1778828"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No cap; 15% on cars floated (not law)</a:t>
            </a:r>
          </a:p>
        </p:txBody>
      </p:sp>
      <p:sp>
        <p:nvSpPr>
          <p:cNvPr id="65" name="table:cell"/>
          <p:cNvSpPr/>
          <p:nvPr/>
        </p:nvSpPr>
        <p:spPr>
          <a:xfrm>
            <a:off x="10066351" y="3675888"/>
            <a:ext cx="1905887"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None; Grab cut its car commission to 18% itself</a:t>
            </a:r>
          </a:p>
        </p:txBody>
      </p:sp>
      <p:cxnSp>
        <p:nvCxnSpPr>
          <p:cNvPr id="66" name="frame:table-rule"/>
          <p:cNvCxnSpPr/>
          <p:nvPr/>
        </p:nvCxnSpPr>
        <p:spPr>
          <a:xfrm>
            <a:off x="5619280" y="4203192"/>
            <a:ext cx="6352959"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able:cell"/>
          <p:cNvSpPr/>
          <p:nvPr/>
        </p:nvSpPr>
        <p:spPr>
          <a:xfrm>
            <a:off x="5619280" y="4203192"/>
            <a:ext cx="1143532" cy="52730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Thailand</a:t>
            </a:r>
          </a:p>
        </p:txBody>
      </p:sp>
      <p:sp>
        <p:nvSpPr>
          <p:cNvPr id="68" name="table:cell"/>
          <p:cNvSpPr/>
          <p:nvPr/>
        </p:nvSpPr>
        <p:spPr>
          <a:xfrm>
            <a:off x="6762813" y="4203192"/>
            <a:ext cx="635295"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9%</a:t>
            </a:r>
          </a:p>
        </p:txBody>
      </p:sp>
      <p:sp>
        <p:nvSpPr>
          <p:cNvPr id="69" name="table:cell"/>
          <p:cNvSpPr/>
          <p:nvPr/>
        </p:nvSpPr>
        <p:spPr>
          <a:xfrm>
            <a:off x="7398109" y="4203192"/>
            <a:ext cx="889414"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+14%</a:t>
            </a:r>
          </a:p>
        </p:txBody>
      </p:sp>
      <p:sp>
        <p:nvSpPr>
          <p:cNvPr id="70" name="table:cell"/>
          <p:cNvSpPr/>
          <p:nvPr/>
        </p:nvSpPr>
        <p:spPr>
          <a:xfrm>
            <a:off x="8287523" y="4203192"/>
            <a:ext cx="1778828"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Government sets fares; no commission rule</a:t>
            </a:r>
          </a:p>
        </p:txBody>
      </p:sp>
      <p:sp>
        <p:nvSpPr>
          <p:cNvPr id="71" name="table:cell"/>
          <p:cNvSpPr/>
          <p:nvPr/>
        </p:nvSpPr>
        <p:spPr>
          <a:xfrm>
            <a:off x="10066351" y="4203192"/>
            <a:ext cx="1905887"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None on Grab's commission</a:t>
            </a:r>
          </a:p>
        </p:txBody>
      </p:sp>
      <p:cxnSp>
        <p:nvCxnSpPr>
          <p:cNvPr id="72" name="frame:table-rule"/>
          <p:cNvCxnSpPr/>
          <p:nvPr/>
        </p:nvCxnSpPr>
        <p:spPr>
          <a:xfrm>
            <a:off x="5619280" y="4730496"/>
            <a:ext cx="6352959"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3" name="table:cell"/>
          <p:cNvSpPr/>
          <p:nvPr/>
        </p:nvSpPr>
        <p:spPr>
          <a:xfrm>
            <a:off x="5619280" y="4730496"/>
            <a:ext cx="1143532" cy="52730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Vietnam</a:t>
            </a:r>
          </a:p>
        </p:txBody>
      </p:sp>
      <p:sp>
        <p:nvSpPr>
          <p:cNvPr id="74" name="table:cell"/>
          <p:cNvSpPr/>
          <p:nvPr/>
        </p:nvSpPr>
        <p:spPr>
          <a:xfrm>
            <a:off x="6762813" y="4730496"/>
            <a:ext cx="635295"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8%</a:t>
            </a:r>
          </a:p>
        </p:txBody>
      </p:sp>
      <p:sp>
        <p:nvSpPr>
          <p:cNvPr id="75" name="table:cell"/>
          <p:cNvSpPr/>
          <p:nvPr/>
        </p:nvSpPr>
        <p:spPr>
          <a:xfrm>
            <a:off x="7398109" y="4730496"/>
            <a:ext cx="889414"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+12%</a:t>
            </a:r>
          </a:p>
        </p:txBody>
      </p:sp>
      <p:sp>
        <p:nvSpPr>
          <p:cNvPr id="76" name="table:cell"/>
          <p:cNvSpPr/>
          <p:nvPr/>
        </p:nvSpPr>
        <p:spPr>
          <a:xfrm>
            <a:off x="8287523" y="4730496"/>
            <a:ext cx="1778828"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Regulator reviewing driver fees (Sep 2026)</a:t>
            </a:r>
          </a:p>
        </p:txBody>
      </p:sp>
      <p:sp>
        <p:nvSpPr>
          <p:cNvPr id="77" name="table:cell"/>
          <p:cNvSpPr/>
          <p:nvPr/>
        </p:nvSpPr>
        <p:spPr>
          <a:xfrm>
            <a:off x="10066351" y="4730496"/>
            <a:ext cx="1905887" cy="5273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None yet; a ruling could limit fees</a:t>
            </a:r>
          </a:p>
        </p:txBody>
      </p:sp>
      <p:cxnSp>
        <p:nvCxnSpPr>
          <p:cNvPr id="78" name="frame:table-rule"/>
          <p:cNvCxnSpPr/>
          <p:nvPr/>
        </p:nvCxnSpPr>
        <p:spPr>
          <a:xfrm>
            <a:off x="5619280" y="5257799"/>
            <a:ext cx="6352959"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9" name="callout:map"/>
          <p:cNvSpPr/>
          <p:nvPr/>
        </p:nvSpPr>
        <p:spPr>
          <a:xfrm>
            <a:off x="5619280" y="5358383"/>
            <a:ext cx="6352958" cy="868680"/>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buNone/>
            </a:pPr>
            <a:r>
              <a:rPr sz="1300" b="0" i="0">
                <a:solidFill>
                  <a:srgbClr val="000000"/>
                </a:solidFill>
                <a:latin typeface="Book Antiqua"/>
              </a:rPr>
              <a:t>Today's cap costs ~1.2% of revenue: ~$0.11 a share (~4% of the price). Yet the May announcement cut the shares $0.20 (-5%), and January's reports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SWOT Analysis</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Grab's scale and fintech flywheel face regulators that want platforms to pay drivers more.</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11</a:t>
            </a:r>
          </a:p>
        </p:txBody>
      </p:sp>
      <p:sp>
        <p:nvSpPr>
          <p:cNvPr id="10" name="label:swot-letter"/>
          <p:cNvSpPr/>
          <p:nvPr/>
        </p:nvSpPr>
        <p:spPr>
          <a:xfrm>
            <a:off x="219456" y="1362456"/>
            <a:ext cx="566928" cy="233172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buNone/>
            </a:pPr>
            <a:r>
              <a:rPr sz="3400" b="1" i="0">
                <a:solidFill>
                  <a:srgbClr val="FFFFFF"/>
                </a:solidFill>
                <a:latin typeface="Book Antiqua"/>
              </a:rPr>
              <a:t>S</a:t>
            </a:r>
          </a:p>
        </p:txBody>
      </p:sp>
      <p:sp>
        <p:nvSpPr>
          <p:cNvPr id="11" name="label:swot-title"/>
          <p:cNvSpPr/>
          <p:nvPr/>
        </p:nvSpPr>
        <p:spPr>
          <a:xfrm>
            <a:off x="786384" y="1362456"/>
            <a:ext cx="5208879"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l">
              <a:buNone/>
            </a:pPr>
            <a:r>
              <a:rPr sz="1700" b="1" i="0">
                <a:solidFill>
                  <a:srgbClr val="376092"/>
                </a:solidFill>
                <a:latin typeface="Book Antiqua"/>
              </a:rPr>
              <a:t>Strengths</a:t>
            </a:r>
          </a:p>
        </p:txBody>
      </p:sp>
      <p:sp>
        <p:nvSpPr>
          <p:cNvPr id="12" name="panel:swot"/>
          <p:cNvSpPr/>
          <p:nvPr/>
        </p:nvSpPr>
        <p:spPr>
          <a:xfrm>
            <a:off x="786384" y="1746504"/>
            <a:ext cx="5208879" cy="1947672"/>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noAutofit/>
          </a:bodyPr>
          <a:lstStyle/>
          <a:p>
            <a:pPr marL="177800" indent="-177800" algn="l">
              <a:buFont typeface="Arial"/>
              <a:buChar char="•"/>
            </a:pPr>
            <a:r>
              <a:rPr sz="1400" b="0" i="0">
                <a:solidFill>
                  <a:srgbClr val="000000"/>
                </a:solidFill>
                <a:latin typeface="Book Antiqua"/>
              </a:rPr>
              <a:t>Regional leader with 55% of food delivery and 53.9M monthly users</a:t>
            </a:r>
          </a:p>
          <a:p>
            <a:pPr marL="177800" indent="-177800" algn="l">
              <a:spcBef>
                <a:spcPts val="500"/>
              </a:spcBef>
              <a:buFont typeface="Arial"/>
              <a:buChar char="•"/>
            </a:pPr>
            <a:r>
              <a:rPr sz="1400" b="0" i="0">
                <a:solidFill>
                  <a:srgbClr val="000000"/>
                </a:solidFill>
                <a:latin typeface="Book Antiqua"/>
              </a:rPr>
              <a:t>Profitable, with ~$5.0B net cash excluding bank deposits</a:t>
            </a:r>
          </a:p>
          <a:p>
            <a:pPr marL="177800" indent="-177800" algn="l">
              <a:spcBef>
                <a:spcPts val="500"/>
              </a:spcBef>
              <a:buFont typeface="Arial"/>
              <a:buChar char="•"/>
            </a:pPr>
            <a:r>
              <a:rPr sz="1400" b="0" i="0">
                <a:solidFill>
                  <a:srgbClr val="000000"/>
                </a:solidFill>
                <a:latin typeface="Book Antiqua"/>
              </a:rPr>
              <a:t>Rides, delivery and banking data in one app</a:t>
            </a:r>
          </a:p>
        </p:txBody>
      </p:sp>
      <p:sp>
        <p:nvSpPr>
          <p:cNvPr id="13" name="label:swot-letter"/>
          <p:cNvSpPr/>
          <p:nvPr/>
        </p:nvSpPr>
        <p:spPr>
          <a:xfrm>
            <a:off x="6196431" y="1362456"/>
            <a:ext cx="566928" cy="233172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buNone/>
            </a:pPr>
            <a:r>
              <a:rPr sz="3400" b="1" i="0">
                <a:solidFill>
                  <a:srgbClr val="FFFFFF"/>
                </a:solidFill>
                <a:latin typeface="Book Antiqua"/>
              </a:rPr>
              <a:t>W</a:t>
            </a:r>
          </a:p>
        </p:txBody>
      </p:sp>
      <p:sp>
        <p:nvSpPr>
          <p:cNvPr id="14" name="label:swot-title"/>
          <p:cNvSpPr/>
          <p:nvPr/>
        </p:nvSpPr>
        <p:spPr>
          <a:xfrm>
            <a:off x="6763359" y="1362456"/>
            <a:ext cx="5208879"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l">
              <a:buNone/>
            </a:pPr>
            <a:r>
              <a:rPr sz="1700" b="1" i="0">
                <a:solidFill>
                  <a:srgbClr val="376092"/>
                </a:solidFill>
                <a:latin typeface="Book Antiqua"/>
              </a:rPr>
              <a:t>Weaknesses</a:t>
            </a:r>
          </a:p>
        </p:txBody>
      </p:sp>
      <p:sp>
        <p:nvSpPr>
          <p:cNvPr id="15" name="panel:swot"/>
          <p:cNvSpPr/>
          <p:nvPr/>
        </p:nvSpPr>
        <p:spPr>
          <a:xfrm>
            <a:off x="6763359" y="1746504"/>
            <a:ext cx="5208879" cy="1947672"/>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noAutofit/>
          </a:bodyPr>
          <a:lstStyle/>
          <a:p>
            <a:pPr marL="177800" indent="-177800" algn="l">
              <a:buFont typeface="Arial"/>
              <a:buChar char="•"/>
            </a:pPr>
            <a:r>
              <a:rPr sz="1400" b="0" i="0">
                <a:solidFill>
                  <a:srgbClr val="000000"/>
                </a:solidFill>
                <a:latin typeface="Book Antiqua"/>
              </a:rPr>
              <a:t>Financial services still lose money (-$15M EBITDA in Q2 2026)</a:t>
            </a:r>
          </a:p>
          <a:p>
            <a:pPr marL="177800" indent="-177800" algn="l">
              <a:spcBef>
                <a:spcPts val="500"/>
              </a:spcBef>
              <a:buFont typeface="Arial"/>
              <a:buChar char="•"/>
            </a:pPr>
            <a:r>
              <a:rPr sz="1400" b="0" i="0">
                <a:solidFill>
                  <a:srgbClr val="000000"/>
                </a:solidFill>
                <a:latin typeface="Book Antiqua"/>
              </a:rPr>
              <a:t>Neck-and-neck with ShopeeFood in Vietnam</a:t>
            </a:r>
          </a:p>
          <a:p>
            <a:pPr marL="177800" indent="-177800" algn="l">
              <a:spcBef>
                <a:spcPts val="500"/>
              </a:spcBef>
              <a:buFont typeface="Arial"/>
              <a:buChar char="•"/>
            </a:pPr>
            <a:r>
              <a:rPr sz="1400" b="0" i="0">
                <a:solidFill>
                  <a:srgbClr val="000000"/>
                </a:solidFill>
                <a:latin typeface="Book Antiqua"/>
              </a:rPr>
              <a:t>Earnings depend on regulator-set driver fees</a:t>
            </a:r>
          </a:p>
        </p:txBody>
      </p:sp>
      <p:sp>
        <p:nvSpPr>
          <p:cNvPr id="16" name="label:swot-letter"/>
          <p:cNvSpPr/>
          <p:nvPr/>
        </p:nvSpPr>
        <p:spPr>
          <a:xfrm>
            <a:off x="219456" y="3895344"/>
            <a:ext cx="566928" cy="2331720"/>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buNone/>
            </a:pPr>
            <a:r>
              <a:rPr sz="3400" b="1" i="0">
                <a:solidFill>
                  <a:srgbClr val="FFFFFF"/>
                </a:solidFill>
                <a:latin typeface="Book Antiqua"/>
              </a:rPr>
              <a:t>O</a:t>
            </a:r>
          </a:p>
        </p:txBody>
      </p:sp>
      <p:sp>
        <p:nvSpPr>
          <p:cNvPr id="17" name="label:swot-title"/>
          <p:cNvSpPr/>
          <p:nvPr/>
        </p:nvSpPr>
        <p:spPr>
          <a:xfrm>
            <a:off x="786384" y="3895344"/>
            <a:ext cx="5208879"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l">
              <a:buNone/>
            </a:pPr>
            <a:r>
              <a:rPr sz="1700" b="1" i="0">
                <a:solidFill>
                  <a:srgbClr val="376092"/>
                </a:solidFill>
                <a:latin typeface="Book Antiqua"/>
              </a:rPr>
              <a:t>Opportunities</a:t>
            </a:r>
          </a:p>
        </p:txBody>
      </p:sp>
      <p:sp>
        <p:nvSpPr>
          <p:cNvPr id="18" name="panel:swot"/>
          <p:cNvSpPr/>
          <p:nvPr/>
        </p:nvSpPr>
        <p:spPr>
          <a:xfrm>
            <a:off x="786384" y="4279392"/>
            <a:ext cx="5208879" cy="1947672"/>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noAutofit/>
          </a:bodyPr>
          <a:lstStyle/>
          <a:p>
            <a:pPr marL="177800" indent="-177800" algn="l">
              <a:buFont typeface="Arial"/>
              <a:buChar char="•"/>
            </a:pPr>
            <a:r>
              <a:rPr sz="1400" b="0" i="0">
                <a:solidFill>
                  <a:srgbClr val="000000"/>
                </a:solidFill>
                <a:latin typeface="Book Antiqua"/>
              </a:rPr>
              <a:t>Lending and deposits growing fast (loan book ~3x)</a:t>
            </a:r>
          </a:p>
          <a:p>
            <a:pPr marL="177800" indent="-177800" algn="l">
              <a:spcBef>
                <a:spcPts val="500"/>
              </a:spcBef>
              <a:buFont typeface="Arial"/>
              <a:buChar char="•"/>
            </a:pPr>
            <a:r>
              <a:rPr sz="1400" b="0" i="0">
                <a:solidFill>
                  <a:srgbClr val="000000"/>
                </a:solidFill>
                <a:latin typeface="Book Antiqua"/>
              </a:rPr>
              <a:t>Groceries and advertising deepen each user's spend</a:t>
            </a:r>
          </a:p>
          <a:p>
            <a:pPr marL="177800" indent="-177800" algn="l">
              <a:spcBef>
                <a:spcPts val="500"/>
              </a:spcBef>
              <a:buFont typeface="Arial"/>
              <a:buChar char="•"/>
            </a:pPr>
            <a:r>
              <a:rPr sz="1400" b="0" i="0">
                <a:solidFill>
                  <a:srgbClr val="000000"/>
                </a:solidFill>
                <a:latin typeface="Book Antiqua"/>
              </a:rPr>
              <a:t>A GoTo merger would consolidate Indonesia (stalled by regulators)</a:t>
            </a:r>
          </a:p>
        </p:txBody>
      </p:sp>
      <p:sp>
        <p:nvSpPr>
          <p:cNvPr id="19" name="label:swot-letter"/>
          <p:cNvSpPr/>
          <p:nvPr/>
        </p:nvSpPr>
        <p:spPr>
          <a:xfrm>
            <a:off x="6196431" y="3895344"/>
            <a:ext cx="566928" cy="2331720"/>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ctr">
              <a:buNone/>
            </a:pPr>
            <a:r>
              <a:rPr sz="3400" b="1" i="0">
                <a:solidFill>
                  <a:srgbClr val="FFFFFF"/>
                </a:solidFill>
                <a:latin typeface="Book Antiqua"/>
              </a:rPr>
              <a:t>T</a:t>
            </a:r>
          </a:p>
        </p:txBody>
      </p:sp>
      <p:sp>
        <p:nvSpPr>
          <p:cNvPr id="20" name="label:swot-title"/>
          <p:cNvSpPr/>
          <p:nvPr/>
        </p:nvSpPr>
        <p:spPr>
          <a:xfrm>
            <a:off x="6763359" y="3895344"/>
            <a:ext cx="5208879"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l">
              <a:buNone/>
            </a:pPr>
            <a:r>
              <a:rPr sz="1700" b="1" i="0">
                <a:solidFill>
                  <a:srgbClr val="376092"/>
                </a:solidFill>
                <a:latin typeface="Book Antiqua"/>
              </a:rPr>
              <a:t>Threats</a:t>
            </a:r>
          </a:p>
        </p:txBody>
      </p:sp>
      <p:sp>
        <p:nvSpPr>
          <p:cNvPr id="21" name="panel:swot"/>
          <p:cNvSpPr/>
          <p:nvPr/>
        </p:nvSpPr>
        <p:spPr>
          <a:xfrm>
            <a:off x="6763359" y="4279392"/>
            <a:ext cx="5208879" cy="1947672"/>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noAutofit/>
          </a:bodyPr>
          <a:lstStyle/>
          <a:p>
            <a:pPr marL="177800" indent="-177800" algn="l">
              <a:buFont typeface="Arial"/>
              <a:buChar char="•"/>
            </a:pPr>
            <a:r>
              <a:rPr sz="1400" b="0" i="0">
                <a:solidFill>
                  <a:srgbClr val="000000"/>
                </a:solidFill>
                <a:latin typeface="Book Antiqua"/>
              </a:rPr>
              <a:t>Indonesia's 8% commission cap could spread to other services</a:t>
            </a:r>
          </a:p>
          <a:p>
            <a:pPr marL="177800" indent="-177800" algn="l">
              <a:spcBef>
                <a:spcPts val="500"/>
              </a:spcBef>
              <a:buFont typeface="Arial"/>
              <a:buChar char="•"/>
            </a:pPr>
            <a:r>
              <a:rPr sz="1400" b="0" i="0">
                <a:solidFill>
                  <a:srgbClr val="000000"/>
                </a:solidFill>
                <a:latin typeface="Book Antiqua"/>
              </a:rPr>
              <a:t>Vietnam's competition regulator is reviewing driver charges</a:t>
            </a:r>
          </a:p>
          <a:p>
            <a:pPr marL="177800" indent="-177800" algn="l">
              <a:spcBef>
                <a:spcPts val="500"/>
              </a:spcBef>
              <a:buFont typeface="Arial"/>
              <a:buChar char="•"/>
            </a:pPr>
            <a:r>
              <a:rPr sz="1400" b="0" i="0">
                <a:solidFill>
                  <a:srgbClr val="000000"/>
                </a:solidFill>
                <a:latin typeface="Book Antiqua"/>
              </a:rPr>
              <a:t>Consumer-credit losses in an economic slowdown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Comparable Company Analysis</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On 2026 forecast earnings, Grab trades at 17.9x vs ~31x for its closest peers (EBITDA 10.0x vs ~15x), with ~$5B of net cash.</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12</a:t>
            </a:r>
          </a:p>
        </p:txBody>
      </p:sp>
      <p:sp>
        <p:nvSpPr>
          <p:cNvPr id="10" name="section:Closest 8 of 9 Peers by Similarity (statistics use all; weights in the last column)"/>
          <p:cNvSpPr/>
          <p:nvPr/>
        </p:nvSpPr>
        <p:spPr>
          <a:xfrm>
            <a:off x="219456" y="1362456"/>
            <a:ext cx="822694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Closest 8 of 9 Peers by Similarity (statistics use all; weights in the last column)</a:t>
            </a:r>
          </a:p>
        </p:txBody>
      </p:sp>
      <p:sp>
        <p:nvSpPr>
          <p:cNvPr id="11" name="table:header"/>
          <p:cNvSpPr/>
          <p:nvPr/>
        </p:nvSpPr>
        <p:spPr>
          <a:xfrm>
            <a:off x="219456" y="1728216"/>
            <a:ext cx="2056737"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FFFFFF"/>
                </a:solidFill>
                <a:latin typeface="Book Antiqua"/>
              </a:rPr>
              <a:t>Company</a:t>
            </a:r>
          </a:p>
        </p:txBody>
      </p:sp>
      <p:sp>
        <p:nvSpPr>
          <p:cNvPr id="12" name="table:header"/>
          <p:cNvSpPr/>
          <p:nvPr/>
        </p:nvSpPr>
        <p:spPr>
          <a:xfrm>
            <a:off x="2276193"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Mkt Cap
($bn)</a:t>
            </a:r>
          </a:p>
        </p:txBody>
      </p:sp>
      <p:sp>
        <p:nvSpPr>
          <p:cNvPr id="13" name="table:header"/>
          <p:cNvSpPr/>
          <p:nvPr/>
        </p:nvSpPr>
        <p:spPr>
          <a:xfrm>
            <a:off x="3157651"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EV/EBITDA
LTM</a:t>
            </a:r>
          </a:p>
        </p:txBody>
      </p:sp>
      <p:sp>
        <p:nvSpPr>
          <p:cNvPr id="14" name="table:header"/>
          <p:cNvSpPr/>
          <p:nvPr/>
        </p:nvSpPr>
        <p:spPr>
          <a:xfrm>
            <a:off x="4039110"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EV/EBITDA
FY1</a:t>
            </a:r>
          </a:p>
        </p:txBody>
      </p:sp>
      <p:sp>
        <p:nvSpPr>
          <p:cNvPr id="15" name="table:header"/>
          <p:cNvSpPr/>
          <p:nvPr/>
        </p:nvSpPr>
        <p:spPr>
          <a:xfrm>
            <a:off x="4920569"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P/E
LTM</a:t>
            </a:r>
          </a:p>
        </p:txBody>
      </p:sp>
      <p:sp>
        <p:nvSpPr>
          <p:cNvPr id="16" name="table:header"/>
          <p:cNvSpPr/>
          <p:nvPr/>
        </p:nvSpPr>
        <p:spPr>
          <a:xfrm>
            <a:off x="5802028"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P/E
FY1</a:t>
            </a:r>
          </a:p>
        </p:txBody>
      </p:sp>
      <p:sp>
        <p:nvSpPr>
          <p:cNvPr id="17" name="table:header"/>
          <p:cNvSpPr/>
          <p:nvPr/>
        </p:nvSpPr>
        <p:spPr>
          <a:xfrm>
            <a:off x="6683486"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EV/Sales
LTM</a:t>
            </a:r>
          </a:p>
        </p:txBody>
      </p:sp>
      <p:sp>
        <p:nvSpPr>
          <p:cNvPr id="18" name="table:header"/>
          <p:cNvSpPr/>
          <p:nvPr/>
        </p:nvSpPr>
        <p:spPr>
          <a:xfrm>
            <a:off x="7564945" y="1728216"/>
            <a:ext cx="88145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Sim.
Weight</a:t>
            </a:r>
          </a:p>
        </p:txBody>
      </p:sp>
      <p:sp>
        <p:nvSpPr>
          <p:cNvPr id="19" name="table:cell"/>
          <p:cNvSpPr/>
          <p:nvPr/>
        </p:nvSpPr>
        <p:spPr>
          <a:xfrm>
            <a:off x="219456" y="2185416"/>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Sea</a:t>
            </a:r>
          </a:p>
        </p:txBody>
      </p:sp>
      <p:sp>
        <p:nvSpPr>
          <p:cNvPr id="20" name="table:cell"/>
          <p:cNvSpPr/>
          <p:nvPr/>
        </p:nvSpPr>
        <p:spPr>
          <a:xfrm>
            <a:off x="2276193"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44.2</a:t>
            </a:r>
          </a:p>
        </p:txBody>
      </p:sp>
      <p:sp>
        <p:nvSpPr>
          <p:cNvPr id="21" name="table:cell"/>
          <p:cNvSpPr/>
          <p:nvPr/>
        </p:nvSpPr>
        <p:spPr>
          <a:xfrm>
            <a:off x="3157651"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13.9x</a:t>
            </a:r>
          </a:p>
        </p:txBody>
      </p:sp>
      <p:sp>
        <p:nvSpPr>
          <p:cNvPr id="22" name="table:cell"/>
          <p:cNvSpPr/>
          <p:nvPr/>
        </p:nvSpPr>
        <p:spPr>
          <a:xfrm>
            <a:off x="4039110"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10.1x</a:t>
            </a:r>
          </a:p>
        </p:txBody>
      </p:sp>
      <p:sp>
        <p:nvSpPr>
          <p:cNvPr id="23" name="table:cell"/>
          <p:cNvSpPr/>
          <p:nvPr/>
        </p:nvSpPr>
        <p:spPr>
          <a:xfrm>
            <a:off x="4920569"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29.7x</a:t>
            </a:r>
          </a:p>
        </p:txBody>
      </p:sp>
      <p:sp>
        <p:nvSpPr>
          <p:cNvPr id="24" name="table:cell"/>
          <p:cNvSpPr/>
          <p:nvPr/>
        </p:nvSpPr>
        <p:spPr>
          <a:xfrm>
            <a:off x="5802028"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25.7x</a:t>
            </a:r>
          </a:p>
        </p:txBody>
      </p:sp>
      <p:sp>
        <p:nvSpPr>
          <p:cNvPr id="25" name="table:cell"/>
          <p:cNvSpPr/>
          <p:nvPr/>
        </p:nvSpPr>
        <p:spPr>
          <a:xfrm>
            <a:off x="6683486"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1.4x</a:t>
            </a:r>
          </a:p>
        </p:txBody>
      </p:sp>
      <p:sp>
        <p:nvSpPr>
          <p:cNvPr id="26" name="table:cell"/>
          <p:cNvSpPr/>
          <p:nvPr/>
        </p:nvSpPr>
        <p:spPr>
          <a:xfrm>
            <a:off x="7564945" y="218541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17%</a:t>
            </a:r>
          </a:p>
        </p:txBody>
      </p:sp>
      <p:cxnSp>
        <p:nvCxnSpPr>
          <p:cNvPr id="27" name="frame:table-rule"/>
          <p:cNvCxnSpPr/>
          <p:nvPr/>
        </p:nvCxnSpPr>
        <p:spPr>
          <a:xfrm>
            <a:off x="219456" y="2496312"/>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8" name="table:cell"/>
          <p:cNvSpPr/>
          <p:nvPr/>
        </p:nvSpPr>
        <p:spPr>
          <a:xfrm>
            <a:off x="219456" y="2496312"/>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Doordash</a:t>
            </a:r>
          </a:p>
        </p:txBody>
      </p:sp>
      <p:sp>
        <p:nvSpPr>
          <p:cNvPr id="29" name="table:cell"/>
          <p:cNvSpPr/>
          <p:nvPr/>
        </p:nvSpPr>
        <p:spPr>
          <a:xfrm>
            <a:off x="2276193"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79.9</a:t>
            </a:r>
          </a:p>
        </p:txBody>
      </p:sp>
      <p:sp>
        <p:nvSpPr>
          <p:cNvPr id="30" name="table:cell"/>
          <p:cNvSpPr/>
          <p:nvPr/>
        </p:nvSpPr>
        <p:spPr>
          <a:xfrm>
            <a:off x="3157651"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37.0x</a:t>
            </a:r>
          </a:p>
        </p:txBody>
      </p:sp>
      <p:sp>
        <p:nvSpPr>
          <p:cNvPr id="31" name="table:cell"/>
          <p:cNvSpPr/>
          <p:nvPr/>
        </p:nvSpPr>
        <p:spPr>
          <a:xfrm>
            <a:off x="4039110"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20.9x</a:t>
            </a:r>
          </a:p>
        </p:txBody>
      </p:sp>
      <p:sp>
        <p:nvSpPr>
          <p:cNvPr id="32" name="table:cell"/>
          <p:cNvSpPr/>
          <p:nvPr/>
        </p:nvSpPr>
        <p:spPr>
          <a:xfrm>
            <a:off x="4920569"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96.9x</a:t>
            </a:r>
          </a:p>
        </p:txBody>
      </p:sp>
      <p:sp>
        <p:nvSpPr>
          <p:cNvPr id="33" name="table:cell"/>
          <p:cNvSpPr/>
          <p:nvPr/>
        </p:nvSpPr>
        <p:spPr>
          <a:xfrm>
            <a:off x="5802028"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71.0x</a:t>
            </a:r>
          </a:p>
        </p:txBody>
      </p:sp>
      <p:sp>
        <p:nvSpPr>
          <p:cNvPr id="34" name="table:cell"/>
          <p:cNvSpPr/>
          <p:nvPr/>
        </p:nvSpPr>
        <p:spPr>
          <a:xfrm>
            <a:off x="6683486"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4.9x</a:t>
            </a:r>
          </a:p>
        </p:txBody>
      </p:sp>
      <p:sp>
        <p:nvSpPr>
          <p:cNvPr id="35" name="table:cell"/>
          <p:cNvSpPr/>
          <p:nvPr/>
        </p:nvSpPr>
        <p:spPr>
          <a:xfrm>
            <a:off x="7564945" y="2496312"/>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15%</a:t>
            </a:r>
          </a:p>
        </p:txBody>
      </p:sp>
      <p:cxnSp>
        <p:nvCxnSpPr>
          <p:cNvPr id="36" name="frame:table-rule"/>
          <p:cNvCxnSpPr/>
          <p:nvPr/>
        </p:nvCxnSpPr>
        <p:spPr>
          <a:xfrm>
            <a:off x="219456" y="2807208"/>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7" name="table:cell"/>
          <p:cNvSpPr/>
          <p:nvPr/>
        </p:nvSpPr>
        <p:spPr>
          <a:xfrm>
            <a:off x="219456" y="2807208"/>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Lyft</a:t>
            </a:r>
          </a:p>
        </p:txBody>
      </p:sp>
      <p:sp>
        <p:nvSpPr>
          <p:cNvPr id="38" name="table:cell"/>
          <p:cNvSpPr/>
          <p:nvPr/>
        </p:nvSpPr>
        <p:spPr>
          <a:xfrm>
            <a:off x="2276193"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6.4</a:t>
            </a:r>
          </a:p>
        </p:txBody>
      </p:sp>
      <p:sp>
        <p:nvSpPr>
          <p:cNvPr id="39" name="table:cell"/>
          <p:cNvSpPr/>
          <p:nvPr/>
        </p:nvSpPr>
        <p:spPr>
          <a:xfrm>
            <a:off x="3157651"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20.8x</a:t>
            </a:r>
          </a:p>
        </p:txBody>
      </p:sp>
      <p:sp>
        <p:nvSpPr>
          <p:cNvPr id="40" name="table:cell"/>
          <p:cNvSpPr/>
          <p:nvPr/>
        </p:nvSpPr>
        <p:spPr>
          <a:xfrm>
            <a:off x="4039110"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8.1x</a:t>
            </a:r>
          </a:p>
        </p:txBody>
      </p:sp>
      <p:sp>
        <p:nvSpPr>
          <p:cNvPr id="41" name="table:cell"/>
          <p:cNvSpPr/>
          <p:nvPr/>
        </p:nvSpPr>
        <p:spPr>
          <a:xfrm>
            <a:off x="4920569"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2.4x</a:t>
            </a:r>
          </a:p>
        </p:txBody>
      </p:sp>
      <p:sp>
        <p:nvSpPr>
          <p:cNvPr id="42" name="table:cell"/>
          <p:cNvSpPr/>
          <p:nvPr/>
        </p:nvSpPr>
        <p:spPr>
          <a:xfrm>
            <a:off x="5802028"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31.7x</a:t>
            </a:r>
          </a:p>
        </p:txBody>
      </p:sp>
      <p:sp>
        <p:nvSpPr>
          <p:cNvPr id="43" name="table:cell"/>
          <p:cNvSpPr/>
          <p:nvPr/>
        </p:nvSpPr>
        <p:spPr>
          <a:xfrm>
            <a:off x="6683486"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0.8x</a:t>
            </a:r>
          </a:p>
        </p:txBody>
      </p:sp>
      <p:sp>
        <p:nvSpPr>
          <p:cNvPr id="44" name="table:cell"/>
          <p:cNvSpPr/>
          <p:nvPr/>
        </p:nvSpPr>
        <p:spPr>
          <a:xfrm>
            <a:off x="7564945" y="280720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12%</a:t>
            </a:r>
          </a:p>
        </p:txBody>
      </p:sp>
      <p:cxnSp>
        <p:nvCxnSpPr>
          <p:cNvPr id="45" name="frame:table-rule"/>
          <p:cNvCxnSpPr/>
          <p:nvPr/>
        </p:nvCxnSpPr>
        <p:spPr>
          <a:xfrm>
            <a:off x="219456" y="3118104"/>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able:cell"/>
          <p:cNvSpPr/>
          <p:nvPr/>
        </p:nvSpPr>
        <p:spPr>
          <a:xfrm>
            <a:off x="219456" y="3118104"/>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MercadoLibre</a:t>
            </a:r>
          </a:p>
        </p:txBody>
      </p:sp>
      <p:sp>
        <p:nvSpPr>
          <p:cNvPr id="47" name="table:cell"/>
          <p:cNvSpPr/>
          <p:nvPr/>
        </p:nvSpPr>
        <p:spPr>
          <a:xfrm>
            <a:off x="2276193"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94.0</a:t>
            </a:r>
          </a:p>
        </p:txBody>
      </p:sp>
      <p:sp>
        <p:nvSpPr>
          <p:cNvPr id="48" name="table:cell"/>
          <p:cNvSpPr/>
          <p:nvPr/>
        </p:nvSpPr>
        <p:spPr>
          <a:xfrm>
            <a:off x="3157651"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25.4x</a:t>
            </a:r>
          </a:p>
        </p:txBody>
      </p:sp>
      <p:sp>
        <p:nvSpPr>
          <p:cNvPr id="49" name="table:cell"/>
          <p:cNvSpPr/>
          <p:nvPr/>
        </p:nvSpPr>
        <p:spPr>
          <a:xfrm>
            <a:off x="4039110"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24.3x</a:t>
            </a:r>
          </a:p>
        </p:txBody>
      </p:sp>
      <p:sp>
        <p:nvSpPr>
          <p:cNvPr id="50" name="table:cell"/>
          <p:cNvSpPr/>
          <p:nvPr/>
        </p:nvSpPr>
        <p:spPr>
          <a:xfrm>
            <a:off x="4920569"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50.5x</a:t>
            </a:r>
          </a:p>
        </p:txBody>
      </p:sp>
      <p:sp>
        <p:nvSpPr>
          <p:cNvPr id="51" name="table:cell"/>
          <p:cNvSpPr/>
          <p:nvPr/>
        </p:nvSpPr>
        <p:spPr>
          <a:xfrm>
            <a:off x="5802028"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47.7x</a:t>
            </a:r>
          </a:p>
        </p:txBody>
      </p:sp>
      <p:sp>
        <p:nvSpPr>
          <p:cNvPr id="52" name="table:cell"/>
          <p:cNvSpPr/>
          <p:nvPr/>
        </p:nvSpPr>
        <p:spPr>
          <a:xfrm>
            <a:off x="6683486"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2.8x</a:t>
            </a:r>
          </a:p>
        </p:txBody>
      </p:sp>
      <p:sp>
        <p:nvSpPr>
          <p:cNvPr id="53" name="table:cell"/>
          <p:cNvSpPr/>
          <p:nvPr/>
        </p:nvSpPr>
        <p:spPr>
          <a:xfrm>
            <a:off x="7564945" y="3118104"/>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11%</a:t>
            </a:r>
          </a:p>
        </p:txBody>
      </p:sp>
      <p:cxnSp>
        <p:nvCxnSpPr>
          <p:cNvPr id="54" name="frame:table-rule"/>
          <p:cNvCxnSpPr/>
          <p:nvPr/>
        </p:nvCxnSpPr>
        <p:spPr>
          <a:xfrm>
            <a:off x="219456" y="3429000"/>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5" name="table:cell"/>
          <p:cNvSpPr/>
          <p:nvPr/>
        </p:nvSpPr>
        <p:spPr>
          <a:xfrm>
            <a:off x="219456" y="3429000"/>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Delivery Hero SE</a:t>
            </a:r>
          </a:p>
        </p:txBody>
      </p:sp>
      <p:sp>
        <p:nvSpPr>
          <p:cNvPr id="56" name="table:cell"/>
          <p:cNvSpPr/>
          <p:nvPr/>
        </p:nvSpPr>
        <p:spPr>
          <a:xfrm>
            <a:off x="2276193"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13.1</a:t>
            </a:r>
          </a:p>
        </p:txBody>
      </p:sp>
      <p:sp>
        <p:nvSpPr>
          <p:cNvPr id="57" name="table:cell"/>
          <p:cNvSpPr/>
          <p:nvPr/>
        </p:nvSpPr>
        <p:spPr>
          <a:xfrm>
            <a:off x="3157651"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34.6x</a:t>
            </a:r>
          </a:p>
        </p:txBody>
      </p:sp>
      <p:sp>
        <p:nvSpPr>
          <p:cNvPr id="58" name="table:cell"/>
          <p:cNvSpPr/>
          <p:nvPr/>
        </p:nvSpPr>
        <p:spPr>
          <a:xfrm>
            <a:off x="4039110"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14.8x</a:t>
            </a:r>
          </a:p>
        </p:txBody>
      </p:sp>
      <p:sp>
        <p:nvSpPr>
          <p:cNvPr id="59" name="table:cell"/>
          <p:cNvSpPr/>
          <p:nvPr/>
        </p:nvSpPr>
        <p:spPr>
          <a:xfrm>
            <a:off x="4920569"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n/a</a:t>
            </a:r>
          </a:p>
        </p:txBody>
      </p:sp>
      <p:sp>
        <p:nvSpPr>
          <p:cNvPr id="60" name="table:cell"/>
          <p:cNvSpPr/>
          <p:nvPr/>
        </p:nvSpPr>
        <p:spPr>
          <a:xfrm>
            <a:off x="5802028"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n/a</a:t>
            </a:r>
          </a:p>
        </p:txBody>
      </p:sp>
      <p:sp>
        <p:nvSpPr>
          <p:cNvPr id="61" name="table:cell"/>
          <p:cNvSpPr/>
          <p:nvPr/>
        </p:nvSpPr>
        <p:spPr>
          <a:xfrm>
            <a:off x="6683486"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0.9x</a:t>
            </a:r>
          </a:p>
        </p:txBody>
      </p:sp>
      <p:sp>
        <p:nvSpPr>
          <p:cNvPr id="62" name="table:cell"/>
          <p:cNvSpPr/>
          <p:nvPr/>
        </p:nvSpPr>
        <p:spPr>
          <a:xfrm>
            <a:off x="7564945" y="3429000"/>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a:t>
            </a:r>
          </a:p>
        </p:txBody>
      </p:sp>
      <p:cxnSp>
        <p:nvCxnSpPr>
          <p:cNvPr id="63" name="frame:table-rule"/>
          <p:cNvCxnSpPr/>
          <p:nvPr/>
        </p:nvCxnSpPr>
        <p:spPr>
          <a:xfrm>
            <a:off x="219456" y="3739896"/>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4" name="table:cell"/>
          <p:cNvSpPr/>
          <p:nvPr/>
        </p:nvSpPr>
        <p:spPr>
          <a:xfrm>
            <a:off x="219456" y="3739896"/>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Meituan</a:t>
            </a:r>
          </a:p>
        </p:txBody>
      </p:sp>
      <p:sp>
        <p:nvSpPr>
          <p:cNvPr id="65" name="table:cell"/>
          <p:cNvSpPr/>
          <p:nvPr/>
        </p:nvSpPr>
        <p:spPr>
          <a:xfrm>
            <a:off x="2276193"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56.1</a:t>
            </a:r>
          </a:p>
        </p:txBody>
      </p:sp>
      <p:sp>
        <p:nvSpPr>
          <p:cNvPr id="66" name="table:cell"/>
          <p:cNvSpPr/>
          <p:nvPr/>
        </p:nvSpPr>
        <p:spPr>
          <a:xfrm>
            <a:off x="3157651"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n/a</a:t>
            </a:r>
          </a:p>
        </p:txBody>
      </p:sp>
      <p:sp>
        <p:nvSpPr>
          <p:cNvPr id="67" name="table:cell"/>
          <p:cNvSpPr/>
          <p:nvPr/>
        </p:nvSpPr>
        <p:spPr>
          <a:xfrm>
            <a:off x="4039110"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28.3x</a:t>
            </a:r>
          </a:p>
        </p:txBody>
      </p:sp>
      <p:sp>
        <p:nvSpPr>
          <p:cNvPr id="68" name="table:cell"/>
          <p:cNvSpPr/>
          <p:nvPr/>
        </p:nvSpPr>
        <p:spPr>
          <a:xfrm>
            <a:off x="4920569"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n/a</a:t>
            </a:r>
          </a:p>
        </p:txBody>
      </p:sp>
      <p:sp>
        <p:nvSpPr>
          <p:cNvPr id="69" name="table:cell"/>
          <p:cNvSpPr/>
          <p:nvPr/>
        </p:nvSpPr>
        <p:spPr>
          <a:xfrm>
            <a:off x="5802028"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188.2x</a:t>
            </a:r>
          </a:p>
        </p:txBody>
      </p:sp>
      <p:sp>
        <p:nvSpPr>
          <p:cNvPr id="70" name="table:cell"/>
          <p:cNvSpPr/>
          <p:nvPr/>
        </p:nvSpPr>
        <p:spPr>
          <a:xfrm>
            <a:off x="6683486"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0.8x</a:t>
            </a:r>
          </a:p>
        </p:txBody>
      </p:sp>
      <p:sp>
        <p:nvSpPr>
          <p:cNvPr id="71" name="table:cell"/>
          <p:cNvSpPr/>
          <p:nvPr/>
        </p:nvSpPr>
        <p:spPr>
          <a:xfrm>
            <a:off x="7564945" y="3739896"/>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a:t>
            </a:r>
          </a:p>
        </p:txBody>
      </p:sp>
      <p:cxnSp>
        <p:nvCxnSpPr>
          <p:cNvPr id="72" name="frame:table-rule"/>
          <p:cNvCxnSpPr/>
          <p:nvPr/>
        </p:nvCxnSpPr>
        <p:spPr>
          <a:xfrm>
            <a:off x="219456" y="4050791"/>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3" name="table:cell"/>
          <p:cNvSpPr/>
          <p:nvPr/>
        </p:nvSpPr>
        <p:spPr>
          <a:xfrm>
            <a:off x="219456" y="4050791"/>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Uber Technologies</a:t>
            </a:r>
          </a:p>
        </p:txBody>
      </p:sp>
      <p:sp>
        <p:nvSpPr>
          <p:cNvPr id="74" name="table:cell"/>
          <p:cNvSpPr/>
          <p:nvPr/>
        </p:nvSpPr>
        <p:spPr>
          <a:xfrm>
            <a:off x="2276193"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138.1</a:t>
            </a:r>
          </a:p>
        </p:txBody>
      </p:sp>
      <p:sp>
        <p:nvSpPr>
          <p:cNvPr id="75" name="table:cell"/>
          <p:cNvSpPr/>
          <p:nvPr/>
        </p:nvSpPr>
        <p:spPr>
          <a:xfrm>
            <a:off x="3157651"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18.0x</a:t>
            </a:r>
          </a:p>
        </p:txBody>
      </p:sp>
      <p:sp>
        <p:nvSpPr>
          <p:cNvPr id="76" name="table:cell"/>
          <p:cNvSpPr/>
          <p:nvPr/>
        </p:nvSpPr>
        <p:spPr>
          <a:xfrm>
            <a:off x="4039110"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13.1x</a:t>
            </a:r>
          </a:p>
        </p:txBody>
      </p:sp>
      <p:sp>
        <p:nvSpPr>
          <p:cNvPr id="77" name="table:cell"/>
          <p:cNvSpPr/>
          <p:nvPr/>
        </p:nvSpPr>
        <p:spPr>
          <a:xfrm>
            <a:off x="4920569"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14.8x</a:t>
            </a:r>
          </a:p>
        </p:txBody>
      </p:sp>
      <p:sp>
        <p:nvSpPr>
          <p:cNvPr id="78" name="table:cell"/>
          <p:cNvSpPr/>
          <p:nvPr/>
        </p:nvSpPr>
        <p:spPr>
          <a:xfrm>
            <a:off x="5802028"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20.5x</a:t>
            </a:r>
          </a:p>
        </p:txBody>
      </p:sp>
      <p:sp>
        <p:nvSpPr>
          <p:cNvPr id="79" name="table:cell"/>
          <p:cNvSpPr/>
          <p:nvPr/>
        </p:nvSpPr>
        <p:spPr>
          <a:xfrm>
            <a:off x="6683486"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2.7x</a:t>
            </a:r>
          </a:p>
        </p:txBody>
      </p:sp>
      <p:sp>
        <p:nvSpPr>
          <p:cNvPr id="80" name="table:cell"/>
          <p:cNvSpPr/>
          <p:nvPr/>
        </p:nvSpPr>
        <p:spPr>
          <a:xfrm>
            <a:off x="7564945" y="4050791"/>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9%</a:t>
            </a:r>
          </a:p>
        </p:txBody>
      </p:sp>
      <p:cxnSp>
        <p:nvCxnSpPr>
          <p:cNvPr id="81" name="frame:table-rule"/>
          <p:cNvCxnSpPr/>
          <p:nvPr/>
        </p:nvCxnSpPr>
        <p:spPr>
          <a:xfrm>
            <a:off x="219456" y="4361688"/>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2" name="table:cell"/>
          <p:cNvSpPr/>
          <p:nvPr/>
        </p:nvSpPr>
        <p:spPr>
          <a:xfrm>
            <a:off x="219456" y="4361688"/>
            <a:ext cx="205673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GoTo Gojek Tokopedia</a:t>
            </a:r>
          </a:p>
        </p:txBody>
      </p:sp>
      <p:sp>
        <p:nvSpPr>
          <p:cNvPr id="83" name="table:cell"/>
          <p:cNvSpPr/>
          <p:nvPr/>
        </p:nvSpPr>
        <p:spPr>
          <a:xfrm>
            <a:off x="2276193"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1.6</a:t>
            </a:r>
          </a:p>
        </p:txBody>
      </p:sp>
      <p:sp>
        <p:nvSpPr>
          <p:cNvPr id="84" name="table:cell"/>
          <p:cNvSpPr/>
          <p:nvPr/>
        </p:nvSpPr>
        <p:spPr>
          <a:xfrm>
            <a:off x="3157651"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1.8x</a:t>
            </a:r>
          </a:p>
        </p:txBody>
      </p:sp>
      <p:sp>
        <p:nvSpPr>
          <p:cNvPr id="85" name="table:cell"/>
          <p:cNvSpPr/>
          <p:nvPr/>
        </p:nvSpPr>
        <p:spPr>
          <a:xfrm>
            <a:off x="4039110"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0.9x</a:t>
            </a:r>
          </a:p>
        </p:txBody>
      </p:sp>
      <p:sp>
        <p:nvSpPr>
          <p:cNvPr id="86" name="table:cell"/>
          <p:cNvSpPr/>
          <p:nvPr/>
        </p:nvSpPr>
        <p:spPr>
          <a:xfrm>
            <a:off x="4920569"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n/a</a:t>
            </a:r>
          </a:p>
        </p:txBody>
      </p:sp>
      <p:sp>
        <p:nvSpPr>
          <p:cNvPr id="87" name="table:cell"/>
          <p:cNvSpPr/>
          <p:nvPr/>
        </p:nvSpPr>
        <p:spPr>
          <a:xfrm>
            <a:off x="5802028"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30.0x</a:t>
            </a:r>
          </a:p>
        </p:txBody>
      </p:sp>
      <p:sp>
        <p:nvSpPr>
          <p:cNvPr id="88" name="table:cell"/>
          <p:cNvSpPr/>
          <p:nvPr/>
        </p:nvSpPr>
        <p:spPr>
          <a:xfrm>
            <a:off x="6683486"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n/a</a:t>
            </a:r>
          </a:p>
        </p:txBody>
      </p:sp>
      <p:sp>
        <p:nvSpPr>
          <p:cNvPr id="89" name="table:cell"/>
          <p:cNvSpPr/>
          <p:nvPr/>
        </p:nvSpPr>
        <p:spPr>
          <a:xfrm>
            <a:off x="7564945" y="4361688"/>
            <a:ext cx="881458"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8%</a:t>
            </a:r>
          </a:p>
        </p:txBody>
      </p:sp>
      <p:cxnSp>
        <p:nvCxnSpPr>
          <p:cNvPr id="90" name="frame:table-rule"/>
          <p:cNvCxnSpPr/>
          <p:nvPr/>
        </p:nvCxnSpPr>
        <p:spPr>
          <a:xfrm>
            <a:off x="219456" y="4672583"/>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1" name="table:cell"/>
          <p:cNvSpPr/>
          <p:nvPr/>
        </p:nvSpPr>
        <p:spPr>
          <a:xfrm>
            <a:off x="219456" y="4672583"/>
            <a:ext cx="2056737"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25th Percentile</a:t>
            </a:r>
          </a:p>
        </p:txBody>
      </p:sp>
      <p:sp>
        <p:nvSpPr>
          <p:cNvPr id="92" name="table:cell"/>
          <p:cNvSpPr/>
          <p:nvPr/>
        </p:nvSpPr>
        <p:spPr>
          <a:xfrm>
            <a:off x="2276193"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13.1</a:t>
            </a:r>
          </a:p>
        </p:txBody>
      </p:sp>
      <p:sp>
        <p:nvSpPr>
          <p:cNvPr id="93" name="table:cell"/>
          <p:cNvSpPr/>
          <p:nvPr/>
        </p:nvSpPr>
        <p:spPr>
          <a:xfrm>
            <a:off x="3157651"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17.0x</a:t>
            </a:r>
          </a:p>
        </p:txBody>
      </p:sp>
      <p:sp>
        <p:nvSpPr>
          <p:cNvPr id="94" name="table:cell"/>
          <p:cNvSpPr/>
          <p:nvPr/>
        </p:nvSpPr>
        <p:spPr>
          <a:xfrm>
            <a:off x="4039110"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10.1x</a:t>
            </a:r>
          </a:p>
        </p:txBody>
      </p:sp>
      <p:sp>
        <p:nvSpPr>
          <p:cNvPr id="95" name="table:cell"/>
          <p:cNvSpPr/>
          <p:nvPr/>
        </p:nvSpPr>
        <p:spPr>
          <a:xfrm>
            <a:off x="4920569"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16.3x</a:t>
            </a:r>
          </a:p>
        </p:txBody>
      </p:sp>
      <p:sp>
        <p:nvSpPr>
          <p:cNvPr id="96" name="table:cell"/>
          <p:cNvSpPr/>
          <p:nvPr/>
        </p:nvSpPr>
        <p:spPr>
          <a:xfrm>
            <a:off x="5802028"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24.4x</a:t>
            </a:r>
          </a:p>
        </p:txBody>
      </p:sp>
      <p:sp>
        <p:nvSpPr>
          <p:cNvPr id="97" name="table:cell"/>
          <p:cNvSpPr/>
          <p:nvPr/>
        </p:nvSpPr>
        <p:spPr>
          <a:xfrm>
            <a:off x="6683486"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0.9x</a:t>
            </a:r>
          </a:p>
        </p:txBody>
      </p:sp>
      <p:sp>
        <p:nvSpPr>
          <p:cNvPr id="98" name="table:cell"/>
          <p:cNvSpPr/>
          <p:nvPr/>
        </p:nvSpPr>
        <p:spPr>
          <a:xfrm>
            <a:off x="7564945" y="4672583"/>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99" name="frame:table-rule"/>
          <p:cNvCxnSpPr/>
          <p:nvPr/>
        </p:nvCxnSpPr>
        <p:spPr>
          <a:xfrm>
            <a:off x="219456" y="4983479"/>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00" name="table:cell"/>
          <p:cNvSpPr/>
          <p:nvPr/>
        </p:nvSpPr>
        <p:spPr>
          <a:xfrm>
            <a:off x="219456" y="4983479"/>
            <a:ext cx="2056737"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Median</a:t>
            </a:r>
          </a:p>
        </p:txBody>
      </p:sp>
      <p:sp>
        <p:nvSpPr>
          <p:cNvPr id="101" name="table:cell"/>
          <p:cNvSpPr/>
          <p:nvPr/>
        </p:nvSpPr>
        <p:spPr>
          <a:xfrm>
            <a:off x="2276193"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56.1</a:t>
            </a:r>
          </a:p>
        </p:txBody>
      </p:sp>
      <p:sp>
        <p:nvSpPr>
          <p:cNvPr id="102" name="table:cell"/>
          <p:cNvSpPr/>
          <p:nvPr/>
        </p:nvSpPr>
        <p:spPr>
          <a:xfrm>
            <a:off x="3157651"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23.0x</a:t>
            </a:r>
          </a:p>
        </p:txBody>
      </p:sp>
      <p:sp>
        <p:nvSpPr>
          <p:cNvPr id="103" name="table:cell"/>
          <p:cNvSpPr/>
          <p:nvPr/>
        </p:nvSpPr>
        <p:spPr>
          <a:xfrm>
            <a:off x="4039110"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14.8x</a:t>
            </a:r>
          </a:p>
        </p:txBody>
      </p:sp>
      <p:sp>
        <p:nvSpPr>
          <p:cNvPr id="104" name="table:cell"/>
          <p:cNvSpPr/>
          <p:nvPr/>
        </p:nvSpPr>
        <p:spPr>
          <a:xfrm>
            <a:off x="4920569"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25.1x</a:t>
            </a:r>
          </a:p>
        </p:txBody>
      </p:sp>
      <p:sp>
        <p:nvSpPr>
          <p:cNvPr id="105" name="table:cell"/>
          <p:cNvSpPr/>
          <p:nvPr/>
        </p:nvSpPr>
        <p:spPr>
          <a:xfrm>
            <a:off x="5802028"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30.8x</a:t>
            </a:r>
          </a:p>
        </p:txBody>
      </p:sp>
      <p:sp>
        <p:nvSpPr>
          <p:cNvPr id="106" name="table:cell"/>
          <p:cNvSpPr/>
          <p:nvPr/>
        </p:nvSpPr>
        <p:spPr>
          <a:xfrm>
            <a:off x="6683486"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2.0x</a:t>
            </a:r>
          </a:p>
        </p:txBody>
      </p:sp>
      <p:sp>
        <p:nvSpPr>
          <p:cNvPr id="107" name="table:cell"/>
          <p:cNvSpPr/>
          <p:nvPr/>
        </p:nvSpPr>
        <p:spPr>
          <a:xfrm>
            <a:off x="7564945" y="4983479"/>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08" name="frame:table-rule"/>
          <p:cNvCxnSpPr/>
          <p:nvPr/>
        </p:nvCxnSpPr>
        <p:spPr>
          <a:xfrm>
            <a:off x="219456" y="5294375"/>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09" name="table:cell"/>
          <p:cNvSpPr/>
          <p:nvPr/>
        </p:nvSpPr>
        <p:spPr>
          <a:xfrm>
            <a:off x="219456" y="5294375"/>
            <a:ext cx="2056737"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75th Percentile</a:t>
            </a:r>
          </a:p>
        </p:txBody>
      </p:sp>
      <p:sp>
        <p:nvSpPr>
          <p:cNvPr id="110" name="table:cell"/>
          <p:cNvSpPr/>
          <p:nvPr/>
        </p:nvSpPr>
        <p:spPr>
          <a:xfrm>
            <a:off x="2276193"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79.9</a:t>
            </a:r>
          </a:p>
        </p:txBody>
      </p:sp>
      <p:sp>
        <p:nvSpPr>
          <p:cNvPr id="111" name="table:cell"/>
          <p:cNvSpPr/>
          <p:nvPr/>
        </p:nvSpPr>
        <p:spPr>
          <a:xfrm>
            <a:off x="3157651"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27.7x</a:t>
            </a:r>
          </a:p>
        </p:txBody>
      </p:sp>
      <p:sp>
        <p:nvSpPr>
          <p:cNvPr id="112" name="table:cell"/>
          <p:cNvSpPr/>
          <p:nvPr/>
        </p:nvSpPr>
        <p:spPr>
          <a:xfrm>
            <a:off x="4039110"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21.8x</a:t>
            </a:r>
          </a:p>
        </p:txBody>
      </p:sp>
      <p:sp>
        <p:nvSpPr>
          <p:cNvPr id="113" name="table:cell"/>
          <p:cNvSpPr/>
          <p:nvPr/>
        </p:nvSpPr>
        <p:spPr>
          <a:xfrm>
            <a:off x="4920569"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45.3x</a:t>
            </a:r>
          </a:p>
        </p:txBody>
      </p:sp>
      <p:sp>
        <p:nvSpPr>
          <p:cNvPr id="114" name="table:cell"/>
          <p:cNvSpPr/>
          <p:nvPr/>
        </p:nvSpPr>
        <p:spPr>
          <a:xfrm>
            <a:off x="5802028"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53.5x</a:t>
            </a:r>
          </a:p>
        </p:txBody>
      </p:sp>
      <p:sp>
        <p:nvSpPr>
          <p:cNvPr id="115" name="table:cell"/>
          <p:cNvSpPr/>
          <p:nvPr/>
        </p:nvSpPr>
        <p:spPr>
          <a:xfrm>
            <a:off x="6683486"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3.3x</a:t>
            </a:r>
          </a:p>
        </p:txBody>
      </p:sp>
      <p:sp>
        <p:nvSpPr>
          <p:cNvPr id="116" name="table:cell"/>
          <p:cNvSpPr/>
          <p:nvPr/>
        </p:nvSpPr>
        <p:spPr>
          <a:xfrm>
            <a:off x="7564945" y="5294375"/>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17" name="frame:table-rule"/>
          <p:cNvCxnSpPr/>
          <p:nvPr/>
        </p:nvCxnSpPr>
        <p:spPr>
          <a:xfrm>
            <a:off x="219456" y="5605271"/>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18" name="table:cell"/>
          <p:cNvSpPr/>
          <p:nvPr/>
        </p:nvSpPr>
        <p:spPr>
          <a:xfrm>
            <a:off x="219456" y="5605271"/>
            <a:ext cx="2056737"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Similarity-Weighted</a:t>
            </a:r>
          </a:p>
        </p:txBody>
      </p:sp>
      <p:sp>
        <p:nvSpPr>
          <p:cNvPr id="119" name="table:cell"/>
          <p:cNvSpPr/>
          <p:nvPr/>
        </p:nvSpPr>
        <p:spPr>
          <a:xfrm>
            <a:off x="2276193"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sp>
        <p:nvSpPr>
          <p:cNvPr id="120" name="table:cell"/>
          <p:cNvSpPr/>
          <p:nvPr/>
        </p:nvSpPr>
        <p:spPr>
          <a:xfrm>
            <a:off x="3157651"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20.8x</a:t>
            </a:r>
          </a:p>
        </p:txBody>
      </p:sp>
      <p:sp>
        <p:nvSpPr>
          <p:cNvPr id="121" name="table:cell"/>
          <p:cNvSpPr/>
          <p:nvPr/>
        </p:nvSpPr>
        <p:spPr>
          <a:xfrm>
            <a:off x="4039110"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14.8x</a:t>
            </a:r>
          </a:p>
        </p:txBody>
      </p:sp>
      <p:sp>
        <p:nvSpPr>
          <p:cNvPr id="122" name="table:cell"/>
          <p:cNvSpPr/>
          <p:nvPr/>
        </p:nvSpPr>
        <p:spPr>
          <a:xfrm>
            <a:off x="4920569"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29.7x</a:t>
            </a:r>
          </a:p>
        </p:txBody>
      </p:sp>
      <p:sp>
        <p:nvSpPr>
          <p:cNvPr id="123" name="table:cell"/>
          <p:cNvSpPr/>
          <p:nvPr/>
        </p:nvSpPr>
        <p:spPr>
          <a:xfrm>
            <a:off x="5802028"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31.7x</a:t>
            </a:r>
          </a:p>
        </p:txBody>
      </p:sp>
      <p:sp>
        <p:nvSpPr>
          <p:cNvPr id="124" name="table:cell"/>
          <p:cNvSpPr/>
          <p:nvPr/>
        </p:nvSpPr>
        <p:spPr>
          <a:xfrm>
            <a:off x="6683486"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1.4x</a:t>
            </a:r>
          </a:p>
        </p:txBody>
      </p:sp>
      <p:sp>
        <p:nvSpPr>
          <p:cNvPr id="125" name="table:cell"/>
          <p:cNvSpPr/>
          <p:nvPr/>
        </p:nvSpPr>
        <p:spPr>
          <a:xfrm>
            <a:off x="7564945" y="5605271"/>
            <a:ext cx="881458" cy="310896"/>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26" name="frame:table-rule"/>
          <p:cNvCxnSpPr/>
          <p:nvPr/>
        </p:nvCxnSpPr>
        <p:spPr>
          <a:xfrm>
            <a:off x="219456" y="5916167"/>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27" name="table:cell"/>
          <p:cNvSpPr/>
          <p:nvPr/>
        </p:nvSpPr>
        <p:spPr>
          <a:xfrm>
            <a:off x="219456" y="5916167"/>
            <a:ext cx="2056737"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Grab Holdings</a:t>
            </a:r>
          </a:p>
        </p:txBody>
      </p:sp>
      <p:sp>
        <p:nvSpPr>
          <p:cNvPr id="128" name="table:cell"/>
          <p:cNvSpPr/>
          <p:nvPr/>
        </p:nvSpPr>
        <p:spPr>
          <a:xfrm>
            <a:off x="2276193"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11.0</a:t>
            </a:r>
          </a:p>
        </p:txBody>
      </p:sp>
      <p:sp>
        <p:nvSpPr>
          <p:cNvPr id="129" name="table:cell"/>
          <p:cNvSpPr/>
          <p:nvPr/>
        </p:nvSpPr>
        <p:spPr>
          <a:xfrm>
            <a:off x="3157651"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12.1x</a:t>
            </a:r>
          </a:p>
        </p:txBody>
      </p:sp>
      <p:sp>
        <p:nvSpPr>
          <p:cNvPr id="130" name="table:cell"/>
          <p:cNvSpPr/>
          <p:nvPr/>
        </p:nvSpPr>
        <p:spPr>
          <a:xfrm>
            <a:off x="4039110"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10.0x</a:t>
            </a:r>
          </a:p>
        </p:txBody>
      </p:sp>
      <p:sp>
        <p:nvSpPr>
          <p:cNvPr id="131" name="table:cell"/>
          <p:cNvSpPr/>
          <p:nvPr/>
        </p:nvSpPr>
        <p:spPr>
          <a:xfrm>
            <a:off x="4920569"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19.3x</a:t>
            </a:r>
          </a:p>
        </p:txBody>
      </p:sp>
      <p:sp>
        <p:nvSpPr>
          <p:cNvPr id="132" name="table:cell"/>
          <p:cNvSpPr/>
          <p:nvPr/>
        </p:nvSpPr>
        <p:spPr>
          <a:xfrm>
            <a:off x="5802028"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17.9x</a:t>
            </a:r>
          </a:p>
        </p:txBody>
      </p:sp>
      <p:sp>
        <p:nvSpPr>
          <p:cNvPr id="133" name="table:cell"/>
          <p:cNvSpPr/>
          <p:nvPr/>
        </p:nvSpPr>
        <p:spPr>
          <a:xfrm>
            <a:off x="6683486"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2.0x</a:t>
            </a:r>
          </a:p>
        </p:txBody>
      </p:sp>
      <p:sp>
        <p:nvSpPr>
          <p:cNvPr id="134" name="table:cell"/>
          <p:cNvSpPr/>
          <p:nvPr/>
        </p:nvSpPr>
        <p:spPr>
          <a:xfrm>
            <a:off x="7564945" y="5916167"/>
            <a:ext cx="881458" cy="310896"/>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35" name="frame:table-rule"/>
          <p:cNvCxnSpPr/>
          <p:nvPr/>
        </p:nvCxnSpPr>
        <p:spPr>
          <a:xfrm>
            <a:off x="219456" y="6227063"/>
            <a:ext cx="822694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36" name="section:Why These Peers"/>
          <p:cNvSpPr/>
          <p:nvPr/>
        </p:nvSpPr>
        <p:spPr>
          <a:xfrm>
            <a:off x="8647572" y="1362456"/>
            <a:ext cx="3324666"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Why These Peers</a:t>
            </a:r>
          </a:p>
        </p:txBody>
      </p:sp>
      <p:sp>
        <p:nvSpPr>
          <p:cNvPr id="137" name="body:peers"/>
          <p:cNvSpPr/>
          <p:nvPr/>
        </p:nvSpPr>
        <p:spPr>
          <a:xfrm>
            <a:off x="8647572" y="1709928"/>
            <a:ext cx="3324666" cy="20345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300" b="0" i="0">
                <a:solidFill>
                  <a:srgbClr val="000000"/>
                </a:solidFill>
                <a:latin typeface="Book Antiqua"/>
              </a:rPr>
              <a:t>Ride-hailing and delivery (Uber, DoorDash, Lyft, GoTo, Meituan, Delivery Hero) plus emerging-market platforms (Sea, MercadoLibre, Nu)</a:t>
            </a:r>
          </a:p>
          <a:p>
            <a:pPr marL="177800" indent="-177800" algn="l">
              <a:spcBef>
                <a:spcPts val="486"/>
              </a:spcBef>
              <a:buFont typeface="Arial"/>
              <a:buChar char="•"/>
            </a:pPr>
            <a:r>
              <a:rPr sz="1300" b="0" i="0">
                <a:solidFill>
                  <a:srgbClr val="000000"/>
                </a:solidFill>
                <a:latin typeface="Book Antiqua"/>
              </a:rPr>
              <a:t>LTM = last 12 months; FY1 = analysts' forecast for this year (2026)</a:t>
            </a:r>
          </a:p>
          <a:p>
            <a:pPr marL="177800" indent="-177800" algn="l">
              <a:spcBef>
                <a:spcPts val="486"/>
              </a:spcBef>
              <a:buFont typeface="Arial"/>
              <a:buChar char="•"/>
            </a:pPr>
            <a:r>
              <a:rPr sz="1300" b="0" i="0">
                <a:solidFill>
                  <a:srgbClr val="000000"/>
                </a:solidFill>
                <a:latin typeface="Book Antiqua"/>
              </a:rPr>
              <a:t>Peer multiples ignore stock-based pay, so they flatter Grab; our target uses the DCF ($3.62)</a:t>
            </a:r>
          </a:p>
        </p:txBody>
      </p:sp>
      <p:sp>
        <p:nvSpPr>
          <p:cNvPr id="138" name="section:Implied Share Price"/>
          <p:cNvSpPr/>
          <p:nvPr/>
        </p:nvSpPr>
        <p:spPr>
          <a:xfrm>
            <a:off x="8647572" y="3845052"/>
            <a:ext cx="3324666"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Implied Share Price</a:t>
            </a:r>
          </a:p>
        </p:txBody>
      </p:sp>
      <p:sp>
        <p:nvSpPr>
          <p:cNvPr id="139" name="body:implied"/>
          <p:cNvSpPr/>
          <p:nvPr/>
        </p:nvSpPr>
        <p:spPr>
          <a:xfrm>
            <a:off x="8684148" y="4229100"/>
            <a:ext cx="195822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EV/EBITDA LTM 20.8x</a:t>
            </a:r>
          </a:p>
        </p:txBody>
      </p:sp>
      <p:sp>
        <p:nvSpPr>
          <p:cNvPr id="140" name="body:implied"/>
          <p:cNvSpPr/>
          <p:nvPr/>
        </p:nvSpPr>
        <p:spPr>
          <a:xfrm>
            <a:off x="10642372" y="4229100"/>
            <a:ext cx="1293290"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400" b="1" i="0">
                <a:solidFill>
                  <a:srgbClr val="000000"/>
                </a:solidFill>
                <a:latin typeface="Book Antiqua"/>
              </a:rPr>
              <a:t>$4.31</a:t>
            </a:r>
          </a:p>
        </p:txBody>
      </p:sp>
      <p:sp>
        <p:nvSpPr>
          <p:cNvPr id="141" name="body:implied"/>
          <p:cNvSpPr/>
          <p:nvPr/>
        </p:nvSpPr>
        <p:spPr>
          <a:xfrm>
            <a:off x="8684148" y="4528566"/>
            <a:ext cx="195822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EV/EBITDA FY1 14.8x</a:t>
            </a:r>
          </a:p>
        </p:txBody>
      </p:sp>
      <p:sp>
        <p:nvSpPr>
          <p:cNvPr id="142" name="body:implied"/>
          <p:cNvSpPr/>
          <p:nvPr/>
        </p:nvSpPr>
        <p:spPr>
          <a:xfrm>
            <a:off x="10642372" y="4528566"/>
            <a:ext cx="1293290"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400" b="1" i="0">
                <a:solidFill>
                  <a:srgbClr val="000000"/>
                </a:solidFill>
                <a:latin typeface="Book Antiqua"/>
              </a:rPr>
              <a:t>$3.89</a:t>
            </a:r>
          </a:p>
        </p:txBody>
      </p:sp>
      <p:sp>
        <p:nvSpPr>
          <p:cNvPr id="143" name="body:implied"/>
          <p:cNvSpPr/>
          <p:nvPr/>
        </p:nvSpPr>
        <p:spPr>
          <a:xfrm>
            <a:off x="8684148" y="4828032"/>
            <a:ext cx="195822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P/E LTM 29.7x</a:t>
            </a:r>
          </a:p>
        </p:txBody>
      </p:sp>
      <p:sp>
        <p:nvSpPr>
          <p:cNvPr id="144" name="body:implied"/>
          <p:cNvSpPr/>
          <p:nvPr/>
        </p:nvSpPr>
        <p:spPr>
          <a:xfrm>
            <a:off x="10642372" y="4828032"/>
            <a:ext cx="1293290"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400" b="1" i="0">
                <a:solidFill>
                  <a:srgbClr val="000000"/>
                </a:solidFill>
                <a:latin typeface="Book Antiqua"/>
              </a:rPr>
              <a:t>$4.13</a:t>
            </a:r>
          </a:p>
        </p:txBody>
      </p:sp>
      <p:sp>
        <p:nvSpPr>
          <p:cNvPr id="145" name="body:implied"/>
          <p:cNvSpPr/>
          <p:nvPr/>
        </p:nvSpPr>
        <p:spPr>
          <a:xfrm>
            <a:off x="8684148" y="5127498"/>
            <a:ext cx="195822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P/E FY1 31.7x</a:t>
            </a:r>
          </a:p>
        </p:txBody>
      </p:sp>
      <p:sp>
        <p:nvSpPr>
          <p:cNvPr id="146" name="body:implied"/>
          <p:cNvSpPr/>
          <p:nvPr/>
        </p:nvSpPr>
        <p:spPr>
          <a:xfrm>
            <a:off x="10642372" y="5127498"/>
            <a:ext cx="1293290"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400" b="1" i="0">
                <a:solidFill>
                  <a:srgbClr val="000000"/>
                </a:solidFill>
                <a:latin typeface="Book Antiqua"/>
              </a:rPr>
              <a:t>$4.74</a:t>
            </a:r>
          </a:p>
        </p:txBody>
      </p:sp>
      <p:sp>
        <p:nvSpPr>
          <p:cNvPr id="147" name="body:implied"/>
          <p:cNvSpPr/>
          <p:nvPr/>
        </p:nvSpPr>
        <p:spPr>
          <a:xfrm>
            <a:off x="8684148" y="5426964"/>
            <a:ext cx="195822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EV/Sales LTM 1.4x</a:t>
            </a:r>
          </a:p>
        </p:txBody>
      </p:sp>
      <p:sp>
        <p:nvSpPr>
          <p:cNvPr id="148" name="body:implied"/>
          <p:cNvSpPr/>
          <p:nvPr/>
        </p:nvSpPr>
        <p:spPr>
          <a:xfrm>
            <a:off x="10642372" y="5426964"/>
            <a:ext cx="1293290"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400" b="1" i="0">
                <a:solidFill>
                  <a:srgbClr val="000000"/>
                </a:solidFill>
                <a:latin typeface="Book Antiqua"/>
              </a:rPr>
              <a:t>$2.49</a:t>
            </a:r>
          </a:p>
        </p:txBody>
      </p:sp>
      <p:cxnSp>
        <p:nvCxnSpPr>
          <p:cNvPr id="149" name="frame:implied-rule"/>
          <p:cNvCxnSpPr/>
          <p:nvPr/>
        </p:nvCxnSpPr>
        <p:spPr>
          <a:xfrm>
            <a:off x="8684148" y="5799581"/>
            <a:ext cx="3251515" cy="0"/>
          </a:xfrm>
          <a:prstGeom prst="line">
            <a:avLst/>
          </a:prstGeom>
          <a:ln w="15875">
            <a:solidFill>
              <a:srgbClr val="376092"/>
            </a:solidFill>
          </a:ln>
        </p:spPr>
        <p:style>
          <a:lnRef idx="2">
            <a:schemeClr val="accent1"/>
          </a:lnRef>
          <a:fillRef idx="0">
            <a:schemeClr val="accent1"/>
          </a:fillRef>
          <a:effectRef idx="1">
            <a:schemeClr val="accent1"/>
          </a:effectRef>
          <a:fontRef idx="minor">
            <a:schemeClr val="tx1"/>
          </a:fontRef>
        </p:style>
      </p:cxnSp>
      <p:sp>
        <p:nvSpPr>
          <p:cNvPr id="150" name="body:implied"/>
          <p:cNvSpPr/>
          <p:nvPr/>
        </p:nvSpPr>
        <p:spPr>
          <a:xfrm>
            <a:off x="8684148" y="5836157"/>
            <a:ext cx="195822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400" b="1" i="0">
                <a:solidFill>
                  <a:srgbClr val="376092"/>
                </a:solidFill>
                <a:latin typeface="Book Antiqua"/>
              </a:rPr>
              <a:t>Weighted Target</a:t>
            </a:r>
          </a:p>
        </p:txBody>
      </p:sp>
      <p:sp>
        <p:nvSpPr>
          <p:cNvPr id="151" name="body:implied"/>
          <p:cNvSpPr/>
          <p:nvPr/>
        </p:nvSpPr>
        <p:spPr>
          <a:xfrm>
            <a:off x="10642372" y="5836157"/>
            <a:ext cx="1293290"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400" b="1" i="0">
                <a:solidFill>
                  <a:srgbClr val="376092"/>
                </a:solidFill>
                <a:latin typeface="Book Antiqua"/>
              </a:rPr>
              <a:t>$4.13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Valuation Summary</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Even counting stock-based pay as a cost, our DCF values Grab at $3.62 by May 2027 (+35%); analysts average $5.43.</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13</a:t>
            </a:r>
          </a:p>
        </p:txBody>
      </p:sp>
      <p:sp>
        <p:nvSpPr>
          <p:cNvPr id="10" name="section:Implied Share Price by Method (USD)"/>
          <p:cNvSpPr/>
          <p:nvPr/>
        </p:nvSpPr>
        <p:spPr>
          <a:xfrm>
            <a:off x="219456" y="1362456"/>
            <a:ext cx="7286725"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Implied Share Price by Method (USD)</a:t>
            </a:r>
          </a:p>
        </p:txBody>
      </p:sp>
      <p:graphicFrame>
        <p:nvGraphicFramePr>
          <p:cNvPr id="11" name="chart:football-field"/>
          <p:cNvGraphicFramePr>
            <a:graphicFrameLocks noGrp="1"/>
          </p:cNvGraphicFramePr>
          <p:nvPr/>
        </p:nvGraphicFramePr>
        <p:xfrm>
          <a:off x="219456" y="1719072"/>
          <a:ext cx="7286725" cy="4507992"/>
        </p:xfrm>
        <a:graphic>
          <a:graphicData uri="http://schemas.openxmlformats.org/drawingml/2006/chart">
            <c:chart xmlns:c="http://schemas.openxmlformats.org/drawingml/2006/chart" xmlns:r="http://schemas.openxmlformats.org/officeDocument/2006/relationships" r:id="rId4"/>
          </a:graphicData>
        </a:graphic>
      </p:graphicFrame>
      <p:cxnSp>
        <p:nvCxnSpPr>
          <p:cNvPr id="12" name="callout:ff-current"/>
          <p:cNvCxnSpPr/>
          <p:nvPr/>
        </p:nvCxnSpPr>
        <p:spPr>
          <a:xfrm>
            <a:off x="3616235" y="2106503"/>
            <a:ext cx="0" cy="3624681"/>
          </a:xfrm>
          <a:prstGeom prst="line">
            <a:avLst/>
          </a:prstGeom>
          <a:ln w="25400">
            <a:solidFill>
              <a:srgbClr val="898989"/>
            </a:solidFill>
          </a:ln>
        </p:spPr>
        <p:style>
          <a:lnRef idx="2">
            <a:schemeClr val="accent1"/>
          </a:lnRef>
          <a:fillRef idx="0">
            <a:schemeClr val="accent1"/>
          </a:fillRef>
          <a:effectRef idx="1">
            <a:schemeClr val="accent1"/>
          </a:effectRef>
          <a:fontRef idx="minor">
            <a:schemeClr val="tx1"/>
          </a:fontRef>
        </p:style>
      </p:cxnSp>
      <p:sp>
        <p:nvSpPr>
          <p:cNvPr id="13" name="callout:ff-current-label"/>
          <p:cNvSpPr/>
          <p:nvPr/>
        </p:nvSpPr>
        <p:spPr>
          <a:xfrm>
            <a:off x="2884715" y="5749472"/>
            <a:ext cx="146304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1" i="0">
                <a:solidFill>
                  <a:srgbClr val="898989"/>
                </a:solidFill>
                <a:latin typeface="Book Antiqua"/>
              </a:rPr>
              <a:t>Current: $2.68</a:t>
            </a:r>
          </a:p>
        </p:txBody>
      </p:sp>
      <p:cxnSp>
        <p:nvCxnSpPr>
          <p:cNvPr id="14" name="callout:ff-target"/>
          <p:cNvCxnSpPr/>
          <p:nvPr/>
        </p:nvCxnSpPr>
        <p:spPr>
          <a:xfrm>
            <a:off x="4039006" y="2106503"/>
            <a:ext cx="0" cy="3624681"/>
          </a:xfrm>
          <a:prstGeom prst="line">
            <a:avLst/>
          </a:prstGeom>
          <a:ln w="25400">
            <a:solidFill>
              <a:srgbClr val="1874B2"/>
            </a:solidFill>
          </a:ln>
        </p:spPr>
        <p:style>
          <a:lnRef idx="2">
            <a:schemeClr val="accent1"/>
          </a:lnRef>
          <a:fillRef idx="0">
            <a:schemeClr val="accent1"/>
          </a:fillRef>
          <a:effectRef idx="1">
            <a:schemeClr val="accent1"/>
          </a:effectRef>
          <a:fontRef idx="minor">
            <a:schemeClr val="tx1"/>
          </a:fontRef>
        </p:style>
      </p:cxnSp>
      <p:sp>
        <p:nvSpPr>
          <p:cNvPr id="15" name="callout:ff-target-label"/>
          <p:cNvSpPr/>
          <p:nvPr/>
        </p:nvSpPr>
        <p:spPr>
          <a:xfrm>
            <a:off x="3307486" y="1832183"/>
            <a:ext cx="146304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1" i="0">
                <a:solidFill>
                  <a:srgbClr val="1874B2"/>
                </a:solidFill>
                <a:latin typeface="Book Antiqua"/>
              </a:rPr>
              <a:t>Target: $3.62</a:t>
            </a:r>
          </a:p>
        </p:txBody>
      </p:sp>
      <p:sp>
        <p:nvSpPr>
          <p:cNvPr id="16" name="callout:ff-value"/>
          <p:cNvSpPr/>
          <p:nvPr/>
        </p:nvSpPr>
        <p:spPr>
          <a:xfrm>
            <a:off x="2810303" y="2231318"/>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$1.86</a:t>
            </a:r>
          </a:p>
        </p:txBody>
      </p:sp>
      <p:sp>
        <p:nvSpPr>
          <p:cNvPr id="17" name="callout:ff-value"/>
          <p:cNvSpPr/>
          <p:nvPr/>
        </p:nvSpPr>
        <p:spPr>
          <a:xfrm>
            <a:off x="4528393" y="2231318"/>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$4.60</a:t>
            </a:r>
          </a:p>
        </p:txBody>
      </p:sp>
      <p:sp>
        <p:nvSpPr>
          <p:cNvPr id="18" name="callout:ff-value"/>
          <p:cNvSpPr/>
          <p:nvPr/>
        </p:nvSpPr>
        <p:spPr>
          <a:xfrm>
            <a:off x="3665362" y="2682118"/>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$3.75</a:t>
            </a:r>
          </a:p>
        </p:txBody>
      </p:sp>
      <p:sp>
        <p:nvSpPr>
          <p:cNvPr id="19" name="callout:ff-value"/>
          <p:cNvSpPr/>
          <p:nvPr/>
        </p:nvSpPr>
        <p:spPr>
          <a:xfrm>
            <a:off x="4863408" y="2682118"/>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$5.34</a:t>
            </a:r>
          </a:p>
        </p:txBody>
      </p:sp>
      <p:sp>
        <p:nvSpPr>
          <p:cNvPr id="20" name="callout:ff-value"/>
          <p:cNvSpPr/>
          <p:nvPr/>
        </p:nvSpPr>
        <p:spPr>
          <a:xfrm>
            <a:off x="3341720" y="3132917"/>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$3.03</a:t>
            </a:r>
          </a:p>
        </p:txBody>
      </p:sp>
      <p:sp>
        <p:nvSpPr>
          <p:cNvPr id="21" name="callout:ff-value"/>
          <p:cNvSpPr/>
          <p:nvPr/>
        </p:nvSpPr>
        <p:spPr>
          <a:xfrm>
            <a:off x="4768738" y="3132917"/>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$5.13</a:t>
            </a:r>
          </a:p>
        </p:txBody>
      </p:sp>
      <p:sp>
        <p:nvSpPr>
          <p:cNvPr id="22" name="callout:ff-value"/>
          <p:cNvSpPr/>
          <p:nvPr/>
        </p:nvSpPr>
        <p:spPr>
          <a:xfrm>
            <a:off x="2992334" y="3583716"/>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$2.26</a:t>
            </a:r>
          </a:p>
        </p:txBody>
      </p:sp>
      <p:sp>
        <p:nvSpPr>
          <p:cNvPr id="23" name="callout:ff-value"/>
          <p:cNvSpPr/>
          <p:nvPr/>
        </p:nvSpPr>
        <p:spPr>
          <a:xfrm>
            <a:off x="5295103" y="3583716"/>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$6.29</a:t>
            </a:r>
          </a:p>
        </p:txBody>
      </p:sp>
      <p:sp>
        <p:nvSpPr>
          <p:cNvPr id="24" name="callout:ff-value"/>
          <p:cNvSpPr/>
          <p:nvPr/>
        </p:nvSpPr>
        <p:spPr>
          <a:xfrm>
            <a:off x="4105356" y="4034515"/>
            <a:ext cx="388112" cy="237744"/>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$3.66</a:t>
            </a:r>
          </a:p>
        </p:txBody>
      </p:sp>
      <p:sp>
        <p:nvSpPr>
          <p:cNvPr id="25" name="callout:ff-value"/>
          <p:cNvSpPr/>
          <p:nvPr/>
        </p:nvSpPr>
        <p:spPr>
          <a:xfrm>
            <a:off x="6074171" y="4034515"/>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$8.02</a:t>
            </a:r>
          </a:p>
        </p:txBody>
      </p:sp>
      <p:sp>
        <p:nvSpPr>
          <p:cNvPr id="26" name="callout:ff-value"/>
          <p:cNvSpPr/>
          <p:nvPr/>
        </p:nvSpPr>
        <p:spPr>
          <a:xfrm>
            <a:off x="2900428" y="4485314"/>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$2.06</a:t>
            </a:r>
          </a:p>
        </p:txBody>
      </p:sp>
      <p:sp>
        <p:nvSpPr>
          <p:cNvPr id="27" name="callout:ff-value"/>
          <p:cNvSpPr/>
          <p:nvPr/>
        </p:nvSpPr>
        <p:spPr>
          <a:xfrm>
            <a:off x="4378170" y="4485314"/>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$4.27</a:t>
            </a:r>
          </a:p>
        </p:txBody>
      </p:sp>
      <p:sp>
        <p:nvSpPr>
          <p:cNvPr id="28" name="callout:ff-value"/>
          <p:cNvSpPr/>
          <p:nvPr/>
        </p:nvSpPr>
        <p:spPr>
          <a:xfrm>
            <a:off x="4258301" y="4936114"/>
            <a:ext cx="388112" cy="237744"/>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$4.00</a:t>
            </a:r>
          </a:p>
        </p:txBody>
      </p:sp>
      <p:sp>
        <p:nvSpPr>
          <p:cNvPr id="29" name="callout:ff-value"/>
          <p:cNvSpPr/>
          <p:nvPr/>
        </p:nvSpPr>
        <p:spPr>
          <a:xfrm>
            <a:off x="5613632" y="4936114"/>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$7.00</a:t>
            </a:r>
          </a:p>
        </p:txBody>
      </p:sp>
      <p:sp>
        <p:nvSpPr>
          <p:cNvPr id="30" name="callout:ff-value"/>
          <p:cNvSpPr/>
          <p:nvPr/>
        </p:nvSpPr>
        <p:spPr>
          <a:xfrm>
            <a:off x="3182403" y="5386913"/>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$2.68</a:t>
            </a:r>
          </a:p>
        </p:txBody>
      </p:sp>
      <p:sp>
        <p:nvSpPr>
          <p:cNvPr id="31" name="callout:ff-value"/>
          <p:cNvSpPr/>
          <p:nvPr/>
        </p:nvSpPr>
        <p:spPr>
          <a:xfrm>
            <a:off x="5270282" y="5386913"/>
            <a:ext cx="388112"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100" b="0" i="0">
                <a:solidFill>
                  <a:srgbClr val="000000"/>
                </a:solidFill>
                <a:latin typeface="Book Antiqua"/>
              </a:rPr>
              <a:t>$6.24</a:t>
            </a:r>
          </a:p>
        </p:txBody>
      </p:sp>
      <p:sp>
        <p:nvSpPr>
          <p:cNvPr id="32" name="panel:target-bg"/>
          <p:cNvSpPr/>
          <p:nvPr/>
        </p:nvSpPr>
        <p:spPr>
          <a:xfrm>
            <a:off x="7734781" y="1362456"/>
            <a:ext cx="4237457" cy="214884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ody:target-label"/>
          <p:cNvSpPr/>
          <p:nvPr/>
        </p:nvSpPr>
        <p:spPr>
          <a:xfrm>
            <a:off x="7917661" y="1499616"/>
            <a:ext cx="2147721"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700" b="1" i="0">
                <a:solidFill>
                  <a:srgbClr val="000000"/>
                </a:solidFill>
                <a:latin typeface="Book Antiqua"/>
              </a:rPr>
              <a:t>Current Price</a:t>
            </a:r>
          </a:p>
        </p:txBody>
      </p:sp>
      <p:sp>
        <p:nvSpPr>
          <p:cNvPr id="34" name="body:target-value"/>
          <p:cNvSpPr/>
          <p:nvPr/>
        </p:nvSpPr>
        <p:spPr>
          <a:xfrm>
            <a:off x="10065383" y="1499616"/>
            <a:ext cx="1723975"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700" b="1" i="0">
                <a:solidFill>
                  <a:srgbClr val="000000"/>
                </a:solidFill>
                <a:latin typeface="Book Antiqua"/>
              </a:rPr>
              <a:t>$2.68</a:t>
            </a:r>
          </a:p>
        </p:txBody>
      </p:sp>
      <p:sp>
        <p:nvSpPr>
          <p:cNvPr id="35" name="body:target-label"/>
          <p:cNvSpPr/>
          <p:nvPr/>
        </p:nvSpPr>
        <p:spPr>
          <a:xfrm>
            <a:off x="7917661" y="1874520"/>
            <a:ext cx="2147721"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700" b="1" i="0">
                <a:solidFill>
                  <a:srgbClr val="000000"/>
                </a:solidFill>
                <a:latin typeface="Book Antiqua"/>
              </a:rPr>
              <a:t>Target (May 2027)</a:t>
            </a:r>
          </a:p>
        </p:txBody>
      </p:sp>
      <p:sp>
        <p:nvSpPr>
          <p:cNvPr id="36" name="body:target-value"/>
          <p:cNvSpPr/>
          <p:nvPr/>
        </p:nvSpPr>
        <p:spPr>
          <a:xfrm>
            <a:off x="10065383" y="1874520"/>
            <a:ext cx="1723975"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700" b="1" i="0">
                <a:solidFill>
                  <a:srgbClr val="000000"/>
                </a:solidFill>
                <a:latin typeface="Book Antiqua"/>
              </a:rPr>
              <a:t>$3.62</a:t>
            </a:r>
          </a:p>
        </p:txBody>
      </p:sp>
      <p:sp>
        <p:nvSpPr>
          <p:cNvPr id="37" name="body:target-label"/>
          <p:cNvSpPr/>
          <p:nvPr/>
        </p:nvSpPr>
        <p:spPr>
          <a:xfrm>
            <a:off x="7917661" y="2249424"/>
            <a:ext cx="2147721"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700" b="1" i="0">
                <a:solidFill>
                  <a:srgbClr val="000000"/>
                </a:solidFill>
                <a:latin typeface="Book Antiqua"/>
              </a:rPr>
              <a:t>Implied Upside</a:t>
            </a:r>
          </a:p>
        </p:txBody>
      </p:sp>
      <p:sp>
        <p:nvSpPr>
          <p:cNvPr id="38" name="body:target-value"/>
          <p:cNvSpPr/>
          <p:nvPr/>
        </p:nvSpPr>
        <p:spPr>
          <a:xfrm>
            <a:off x="10065383" y="2249424"/>
            <a:ext cx="1723975"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700" b="1" i="0">
                <a:solidFill>
                  <a:srgbClr val="2E7D32"/>
                </a:solidFill>
                <a:latin typeface="Book Antiqua"/>
              </a:rPr>
              <a:t>+34.9%</a:t>
            </a:r>
          </a:p>
        </p:txBody>
      </p:sp>
      <p:sp>
        <p:nvSpPr>
          <p:cNvPr id="39" name="body:target-label"/>
          <p:cNvSpPr/>
          <p:nvPr/>
        </p:nvSpPr>
        <p:spPr>
          <a:xfrm>
            <a:off x="7917661" y="2624328"/>
            <a:ext cx="2147721"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700" b="1" i="0">
                <a:solidFill>
                  <a:srgbClr val="000000"/>
                </a:solidFill>
                <a:latin typeface="Book Antiqua"/>
              </a:rPr>
              <a:t>Consensus Target</a:t>
            </a:r>
          </a:p>
        </p:txBody>
      </p:sp>
      <p:sp>
        <p:nvSpPr>
          <p:cNvPr id="40" name="body:target-value"/>
          <p:cNvSpPr/>
          <p:nvPr/>
        </p:nvSpPr>
        <p:spPr>
          <a:xfrm>
            <a:off x="10065383" y="2624328"/>
            <a:ext cx="1723975"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700" b="1" i="0">
                <a:solidFill>
                  <a:srgbClr val="000000"/>
                </a:solidFill>
                <a:latin typeface="Book Antiqua"/>
              </a:rPr>
              <a:t>$5.43</a:t>
            </a:r>
          </a:p>
        </p:txBody>
      </p:sp>
      <p:sp>
        <p:nvSpPr>
          <p:cNvPr id="41" name="body:target-label"/>
          <p:cNvSpPr/>
          <p:nvPr/>
        </p:nvSpPr>
        <p:spPr>
          <a:xfrm>
            <a:off x="7917661" y="2999232"/>
            <a:ext cx="2147721"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700" b="1" i="0">
                <a:solidFill>
                  <a:srgbClr val="000000"/>
                </a:solidFill>
                <a:latin typeface="Book Antiqua"/>
              </a:rPr>
              <a:t>Method</a:t>
            </a:r>
          </a:p>
        </p:txBody>
      </p:sp>
      <p:sp>
        <p:nvSpPr>
          <p:cNvPr id="42" name="body:target-value"/>
          <p:cNvSpPr/>
          <p:nvPr/>
        </p:nvSpPr>
        <p:spPr>
          <a:xfrm>
            <a:off x="10065383" y="2999232"/>
            <a:ext cx="1723975" cy="374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700" b="1" i="0">
                <a:solidFill>
                  <a:srgbClr val="000000"/>
                </a:solidFill>
                <a:latin typeface="Book Antiqua"/>
              </a:rPr>
              <a:t>DCF</a:t>
            </a:r>
          </a:p>
        </p:txBody>
      </p:sp>
      <p:sp>
        <p:nvSpPr>
          <p:cNvPr id="43" name="section:What the Base Case Needs"/>
          <p:cNvSpPr/>
          <p:nvPr/>
        </p:nvSpPr>
        <p:spPr>
          <a:xfrm>
            <a:off x="7734781" y="3611880"/>
            <a:ext cx="4237457"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What the Base Case Needs</a:t>
            </a:r>
          </a:p>
        </p:txBody>
      </p:sp>
      <p:sp>
        <p:nvSpPr>
          <p:cNvPr id="44" name="table:header"/>
          <p:cNvSpPr/>
          <p:nvPr/>
        </p:nvSpPr>
        <p:spPr>
          <a:xfrm>
            <a:off x="7734781" y="3959352"/>
            <a:ext cx="1271237"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FFFFFF"/>
                </a:solidFill>
                <a:latin typeface="Book Antiqua"/>
              </a:rPr>
              <a:t>Needs</a:t>
            </a:r>
          </a:p>
        </p:txBody>
      </p:sp>
      <p:sp>
        <p:nvSpPr>
          <p:cNvPr id="45" name="table:header"/>
          <p:cNvSpPr/>
          <p:nvPr/>
        </p:nvSpPr>
        <p:spPr>
          <a:xfrm>
            <a:off x="9006018" y="3959352"/>
            <a:ext cx="1610233"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FFFFFF"/>
                </a:solidFill>
                <a:latin typeface="Book Antiqua"/>
              </a:rPr>
              <a:t>Base case</a:t>
            </a:r>
          </a:p>
        </p:txBody>
      </p:sp>
      <p:sp>
        <p:nvSpPr>
          <p:cNvPr id="46" name="table:header"/>
          <p:cNvSpPr/>
          <p:nvPr/>
        </p:nvSpPr>
        <p:spPr>
          <a:xfrm>
            <a:off x="10616252" y="3959352"/>
            <a:ext cx="1355986"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FFFFFF"/>
                </a:solidFill>
                <a:latin typeface="Book Antiqua"/>
              </a:rPr>
              <a:t>Supported by</a:t>
            </a:r>
          </a:p>
        </p:txBody>
      </p:sp>
      <p:sp>
        <p:nvSpPr>
          <p:cNvPr id="47" name="table:cell"/>
          <p:cNvSpPr/>
          <p:nvPr/>
        </p:nvSpPr>
        <p:spPr>
          <a:xfrm>
            <a:off x="7734781" y="4270248"/>
            <a:ext cx="1271237" cy="347471"/>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Growth, yrs 1-5</a:t>
            </a:r>
          </a:p>
        </p:txBody>
      </p:sp>
      <p:sp>
        <p:nvSpPr>
          <p:cNvPr id="48" name="table:cell"/>
          <p:cNvSpPr/>
          <p:nvPr/>
        </p:nvSpPr>
        <p:spPr>
          <a:xfrm>
            <a:off x="9006018" y="4270248"/>
            <a:ext cx="1610233"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19% consensus (11% priced in)</a:t>
            </a:r>
          </a:p>
        </p:txBody>
      </p:sp>
      <p:sp>
        <p:nvSpPr>
          <p:cNvPr id="49" name="table:cell"/>
          <p:cNvSpPr/>
          <p:nvPr/>
        </p:nvSpPr>
        <p:spPr>
          <a:xfrm>
            <a:off x="10616252" y="4270248"/>
            <a:ext cx="1355986"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Drivers I + II</a:t>
            </a:r>
          </a:p>
        </p:txBody>
      </p:sp>
      <p:cxnSp>
        <p:nvCxnSpPr>
          <p:cNvPr id="50" name="frame:table-rule"/>
          <p:cNvCxnSpPr/>
          <p:nvPr/>
        </p:nvCxnSpPr>
        <p:spPr>
          <a:xfrm>
            <a:off x="7734781" y="4617720"/>
            <a:ext cx="423745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1" name="table:cell"/>
          <p:cNvSpPr/>
          <p:nvPr/>
        </p:nvSpPr>
        <p:spPr>
          <a:xfrm>
            <a:off x="7734781" y="4617720"/>
            <a:ext cx="1271237" cy="347471"/>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Margin after stock pay</a:t>
            </a:r>
          </a:p>
        </p:txBody>
      </p:sp>
      <p:sp>
        <p:nvSpPr>
          <p:cNvPr id="52" name="table:cell"/>
          <p:cNvSpPr/>
          <p:nvPr/>
        </p:nvSpPr>
        <p:spPr>
          <a:xfrm>
            <a:off x="9006018" y="4617720"/>
            <a:ext cx="1610233"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1% (FY26E) to 12%</a:t>
            </a:r>
          </a:p>
        </p:txBody>
      </p:sp>
      <p:sp>
        <p:nvSpPr>
          <p:cNvPr id="53" name="table:cell"/>
          <p:cNvSpPr/>
          <p:nvPr/>
        </p:nvSpPr>
        <p:spPr>
          <a:xfrm>
            <a:off x="10616252" y="4617720"/>
            <a:ext cx="1355986"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Drivers I + II</a:t>
            </a:r>
          </a:p>
        </p:txBody>
      </p:sp>
      <p:cxnSp>
        <p:nvCxnSpPr>
          <p:cNvPr id="54" name="frame:table-rule"/>
          <p:cNvCxnSpPr/>
          <p:nvPr/>
        </p:nvCxnSpPr>
        <p:spPr>
          <a:xfrm>
            <a:off x="7734781" y="4965192"/>
            <a:ext cx="423745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5" name="table:cell"/>
          <p:cNvSpPr/>
          <p:nvPr/>
        </p:nvSpPr>
        <p:spPr>
          <a:xfrm>
            <a:off x="7734781" y="4965192"/>
            <a:ext cx="1271237" cy="347471"/>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Net cash per share</a:t>
            </a:r>
          </a:p>
        </p:txBody>
      </p:sp>
      <p:sp>
        <p:nvSpPr>
          <p:cNvPr id="56" name="table:cell"/>
          <p:cNvSpPr/>
          <p:nvPr/>
        </p:nvSpPr>
        <p:spPr>
          <a:xfrm>
            <a:off x="9006018" y="4965192"/>
            <a:ext cx="1610233"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$1.23</a:t>
            </a:r>
          </a:p>
        </p:txBody>
      </p:sp>
      <p:sp>
        <p:nvSpPr>
          <p:cNvPr id="57" name="table:cell"/>
          <p:cNvSpPr/>
          <p:nvPr/>
        </p:nvSpPr>
        <p:spPr>
          <a:xfrm>
            <a:off x="10616252" y="4965192"/>
            <a:ext cx="1355986"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Balance sheet</a:t>
            </a:r>
          </a:p>
        </p:txBody>
      </p:sp>
      <p:cxnSp>
        <p:nvCxnSpPr>
          <p:cNvPr id="58" name="frame:table-rule"/>
          <p:cNvCxnSpPr/>
          <p:nvPr/>
        </p:nvCxnSpPr>
        <p:spPr>
          <a:xfrm>
            <a:off x="7734781" y="5312664"/>
            <a:ext cx="423745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9" name="table:cell"/>
          <p:cNvSpPr/>
          <p:nvPr/>
        </p:nvSpPr>
        <p:spPr>
          <a:xfrm>
            <a:off x="7734781" y="5312664"/>
            <a:ext cx="1271237" cy="347471"/>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Today to target</a:t>
            </a:r>
          </a:p>
        </p:txBody>
      </p:sp>
      <p:sp>
        <p:nvSpPr>
          <p:cNvPr id="60" name="table:cell"/>
          <p:cNvSpPr/>
          <p:nvPr/>
        </p:nvSpPr>
        <p:spPr>
          <a:xfrm>
            <a:off x="9006018" y="5312664"/>
            <a:ext cx="1610233"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$3.39 to $3.62</a:t>
            </a:r>
          </a:p>
        </p:txBody>
      </p:sp>
      <p:sp>
        <p:nvSpPr>
          <p:cNvPr id="61" name="table:cell"/>
          <p:cNvSpPr/>
          <p:nvPr/>
        </p:nvSpPr>
        <p:spPr>
          <a:xfrm>
            <a:off x="10616252" y="5312664"/>
            <a:ext cx="1355986" cy="34747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Cost of equity 11.6%</a:t>
            </a:r>
          </a:p>
        </p:txBody>
      </p:sp>
      <p:cxnSp>
        <p:nvCxnSpPr>
          <p:cNvPr id="62" name="frame:table-rule"/>
          <p:cNvCxnSpPr/>
          <p:nvPr/>
        </p:nvCxnSpPr>
        <p:spPr>
          <a:xfrm>
            <a:off x="7734781" y="5660136"/>
            <a:ext cx="4237458"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3" name="body:bridge-note"/>
          <p:cNvSpPr/>
          <p:nvPr/>
        </p:nvSpPr>
        <p:spPr>
          <a:xfrm>
            <a:off x="7734781" y="5678423"/>
            <a:ext cx="4237457"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noAutofit/>
          </a:bodyPr>
          <a:lstStyle/>
          <a:p>
            <a:pPr algn="l">
              <a:buNone/>
            </a:pPr>
            <a:r>
              <a:rPr sz="1300" b="0" i="0">
                <a:solidFill>
                  <a:srgbClr val="000000"/>
                </a:solidFill>
                <a:latin typeface="Book Antiqua"/>
              </a:rPr>
              <a:t>Stock pay ($280M a year, 6.7% of revenue) is subtracted every year; analysts ignore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Valuation – DCF Scenarios</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At $2.68, the price is below our value even if Indonesia also caps car rides ($3.04), the only extension under discussion.</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14</a:t>
            </a:r>
          </a:p>
        </p:txBody>
      </p:sp>
      <p:sp>
        <p:nvSpPr>
          <p:cNvPr id="10" name="section:Worst / Base / Best Cases"/>
          <p:cNvSpPr/>
          <p:nvPr/>
        </p:nvSpPr>
        <p:spPr>
          <a:xfrm>
            <a:off x="219456" y="1362456"/>
            <a:ext cx="6464030"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Worst / Base / Best Cases</a:t>
            </a:r>
          </a:p>
        </p:txBody>
      </p:sp>
      <p:sp>
        <p:nvSpPr>
          <p:cNvPr id="11" name="table:header"/>
          <p:cNvSpPr/>
          <p:nvPr/>
        </p:nvSpPr>
        <p:spPr>
          <a:xfrm>
            <a:off x="219456" y="1728216"/>
            <a:ext cx="2585612"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Scenario</a:t>
            </a:r>
          </a:p>
        </p:txBody>
      </p:sp>
      <p:sp>
        <p:nvSpPr>
          <p:cNvPr id="12" name="table:header"/>
          <p:cNvSpPr/>
          <p:nvPr/>
        </p:nvSpPr>
        <p:spPr>
          <a:xfrm>
            <a:off x="2805068" y="1728216"/>
            <a:ext cx="1163525"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Case</a:t>
            </a:r>
          </a:p>
        </p:txBody>
      </p:sp>
      <p:sp>
        <p:nvSpPr>
          <p:cNvPr id="13" name="table:header"/>
          <p:cNvSpPr/>
          <p:nvPr/>
        </p:nvSpPr>
        <p:spPr>
          <a:xfrm>
            <a:off x="3968593" y="1728216"/>
            <a:ext cx="1422086"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Value / Share</a:t>
            </a:r>
          </a:p>
        </p:txBody>
      </p:sp>
      <p:sp>
        <p:nvSpPr>
          <p:cNvPr id="14" name="table:header"/>
          <p:cNvSpPr/>
          <p:nvPr/>
        </p:nvSpPr>
        <p:spPr>
          <a:xfrm>
            <a:off x="5390680" y="1728216"/>
            <a:ext cx="1292806"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Upside</a:t>
            </a:r>
          </a:p>
        </p:txBody>
      </p:sp>
      <p:sp>
        <p:nvSpPr>
          <p:cNvPr id="15" name="table:cell"/>
          <p:cNvSpPr/>
          <p:nvPr/>
        </p:nvSpPr>
        <p:spPr>
          <a:xfrm>
            <a:off x="219456" y="2112264"/>
            <a:ext cx="258561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400" b="0" i="0">
                <a:solidFill>
                  <a:srgbClr val="000000"/>
                </a:solidFill>
                <a:latin typeface="Book Antiqua"/>
              </a:rPr>
              <a:t>Combined downside</a:t>
            </a:r>
          </a:p>
        </p:txBody>
      </p:sp>
      <p:sp>
        <p:nvSpPr>
          <p:cNvPr id="16" name="table:cell"/>
          <p:cNvSpPr/>
          <p:nvPr/>
        </p:nvSpPr>
        <p:spPr>
          <a:xfrm>
            <a:off x="2805068" y="2112264"/>
            <a:ext cx="1163525"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Downside</a:t>
            </a:r>
          </a:p>
        </p:txBody>
      </p:sp>
      <p:sp>
        <p:nvSpPr>
          <p:cNvPr id="17" name="table:cell"/>
          <p:cNvSpPr/>
          <p:nvPr/>
        </p:nvSpPr>
        <p:spPr>
          <a:xfrm>
            <a:off x="3968593" y="2112264"/>
            <a:ext cx="1422086"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$1.86</a:t>
            </a:r>
          </a:p>
        </p:txBody>
      </p:sp>
      <p:sp>
        <p:nvSpPr>
          <p:cNvPr id="18" name="table:cell"/>
          <p:cNvSpPr/>
          <p:nvPr/>
        </p:nvSpPr>
        <p:spPr>
          <a:xfrm>
            <a:off x="5390680" y="2112264"/>
            <a:ext cx="1292806"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-30.7%</a:t>
            </a:r>
          </a:p>
        </p:txBody>
      </p:sp>
      <p:cxnSp>
        <p:nvCxnSpPr>
          <p:cNvPr id="19" name="frame:table-rule"/>
          <p:cNvCxnSpPr/>
          <p:nvPr/>
        </p:nvCxnSpPr>
        <p:spPr>
          <a:xfrm>
            <a:off x="219456" y="2496312"/>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able:cell"/>
          <p:cNvSpPr/>
          <p:nvPr/>
        </p:nvSpPr>
        <p:spPr>
          <a:xfrm>
            <a:off x="219456" y="2496312"/>
            <a:ext cx="258561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400" b="0" i="0">
                <a:solidFill>
                  <a:srgbClr val="000000"/>
                </a:solidFill>
                <a:latin typeface="Book Antiqua"/>
              </a:rPr>
              <a:t>Indonesia + Vietnam cap</a:t>
            </a:r>
          </a:p>
        </p:txBody>
      </p:sp>
      <p:sp>
        <p:nvSpPr>
          <p:cNvPr id="21" name="table:cell"/>
          <p:cNvSpPr/>
          <p:nvPr/>
        </p:nvSpPr>
        <p:spPr>
          <a:xfrm>
            <a:off x="2805068" y="2496312"/>
            <a:ext cx="1163525"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Stress</a:t>
            </a:r>
          </a:p>
        </p:txBody>
      </p:sp>
      <p:sp>
        <p:nvSpPr>
          <p:cNvPr id="22" name="table:cell"/>
          <p:cNvSpPr/>
          <p:nvPr/>
        </p:nvSpPr>
        <p:spPr>
          <a:xfrm>
            <a:off x="3968593" y="2496312"/>
            <a:ext cx="1422086"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$2.00</a:t>
            </a:r>
          </a:p>
        </p:txBody>
      </p:sp>
      <p:sp>
        <p:nvSpPr>
          <p:cNvPr id="23" name="table:cell"/>
          <p:cNvSpPr/>
          <p:nvPr/>
        </p:nvSpPr>
        <p:spPr>
          <a:xfrm>
            <a:off x="5390680" y="2496312"/>
            <a:ext cx="1292806"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-25.4%</a:t>
            </a:r>
          </a:p>
        </p:txBody>
      </p:sp>
      <p:cxnSp>
        <p:nvCxnSpPr>
          <p:cNvPr id="24" name="frame:table-rule"/>
          <p:cNvCxnSpPr/>
          <p:nvPr/>
        </p:nvCxnSpPr>
        <p:spPr>
          <a:xfrm>
            <a:off x="219456" y="2880360"/>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5" name="table:cell"/>
          <p:cNvSpPr/>
          <p:nvPr/>
        </p:nvSpPr>
        <p:spPr>
          <a:xfrm>
            <a:off x="219456" y="2880360"/>
            <a:ext cx="2585612"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400" b="1" i="0">
                <a:solidFill>
                  <a:srgbClr val="000000"/>
                </a:solidFill>
                <a:latin typeface="Book Antiqua"/>
              </a:rPr>
              <a:t>Analysts' forecasts</a:t>
            </a:r>
          </a:p>
        </p:txBody>
      </p:sp>
      <p:sp>
        <p:nvSpPr>
          <p:cNvPr id="26" name="table:cell"/>
          <p:cNvSpPr/>
          <p:nvPr/>
        </p:nvSpPr>
        <p:spPr>
          <a:xfrm>
            <a:off x="2805068" y="2880360"/>
            <a:ext cx="1163525"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1" i="0">
                <a:solidFill>
                  <a:srgbClr val="000000"/>
                </a:solidFill>
                <a:latin typeface="Book Antiqua"/>
              </a:rPr>
              <a:t>Base</a:t>
            </a:r>
          </a:p>
        </p:txBody>
      </p:sp>
      <p:sp>
        <p:nvSpPr>
          <p:cNvPr id="27" name="table:cell"/>
          <p:cNvSpPr/>
          <p:nvPr/>
        </p:nvSpPr>
        <p:spPr>
          <a:xfrm>
            <a:off x="3968593" y="2880360"/>
            <a:ext cx="1422086"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1" i="0">
                <a:solidFill>
                  <a:srgbClr val="000000"/>
                </a:solidFill>
                <a:latin typeface="Book Antiqua"/>
              </a:rPr>
              <a:t>$3.39</a:t>
            </a:r>
          </a:p>
        </p:txBody>
      </p:sp>
      <p:sp>
        <p:nvSpPr>
          <p:cNvPr id="28" name="table:cell"/>
          <p:cNvSpPr/>
          <p:nvPr/>
        </p:nvSpPr>
        <p:spPr>
          <a:xfrm>
            <a:off x="5390680" y="2880360"/>
            <a:ext cx="1292806"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1" i="0">
                <a:solidFill>
                  <a:srgbClr val="000000"/>
                </a:solidFill>
                <a:latin typeface="Book Antiqua"/>
              </a:rPr>
              <a:t>+26.4%</a:t>
            </a:r>
          </a:p>
        </p:txBody>
      </p:sp>
      <p:cxnSp>
        <p:nvCxnSpPr>
          <p:cNvPr id="29" name="frame:table-rule"/>
          <p:cNvCxnSpPr/>
          <p:nvPr/>
        </p:nvCxnSpPr>
        <p:spPr>
          <a:xfrm>
            <a:off x="219456" y="3264408"/>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able:cell"/>
          <p:cNvSpPr/>
          <p:nvPr/>
        </p:nvSpPr>
        <p:spPr>
          <a:xfrm>
            <a:off x="219456" y="3264408"/>
            <a:ext cx="258561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400" b="0" i="0">
                <a:solidFill>
                  <a:srgbClr val="000000"/>
                </a:solidFill>
                <a:latin typeface="Book Antiqua"/>
              </a:rPr>
              <a:t>Analysts' highest</a:t>
            </a:r>
          </a:p>
        </p:txBody>
      </p:sp>
      <p:sp>
        <p:nvSpPr>
          <p:cNvPr id="31" name="table:cell"/>
          <p:cNvSpPr/>
          <p:nvPr/>
        </p:nvSpPr>
        <p:spPr>
          <a:xfrm>
            <a:off x="2805068" y="3264408"/>
            <a:ext cx="1163525"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Best</a:t>
            </a:r>
          </a:p>
        </p:txBody>
      </p:sp>
      <p:sp>
        <p:nvSpPr>
          <p:cNvPr id="32" name="table:cell"/>
          <p:cNvSpPr/>
          <p:nvPr/>
        </p:nvSpPr>
        <p:spPr>
          <a:xfrm>
            <a:off x="3968593" y="3264408"/>
            <a:ext cx="1422086"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$4.60</a:t>
            </a:r>
          </a:p>
        </p:txBody>
      </p:sp>
      <p:sp>
        <p:nvSpPr>
          <p:cNvPr id="33" name="table:cell"/>
          <p:cNvSpPr/>
          <p:nvPr/>
        </p:nvSpPr>
        <p:spPr>
          <a:xfrm>
            <a:off x="5390680" y="3264408"/>
            <a:ext cx="1292806"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0" i="0">
                <a:solidFill>
                  <a:srgbClr val="000000"/>
                </a:solidFill>
                <a:latin typeface="Book Antiqua"/>
              </a:rPr>
              <a:t>+71.6%</a:t>
            </a:r>
          </a:p>
        </p:txBody>
      </p:sp>
      <p:cxnSp>
        <p:nvCxnSpPr>
          <p:cNvPr id="34" name="frame:table-rule"/>
          <p:cNvCxnSpPr/>
          <p:nvPr/>
        </p:nvCxnSpPr>
        <p:spPr>
          <a:xfrm>
            <a:off x="219456" y="3648456"/>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5" name="table:cell"/>
          <p:cNvSpPr/>
          <p:nvPr/>
        </p:nvSpPr>
        <p:spPr>
          <a:xfrm>
            <a:off x="219456" y="3648456"/>
            <a:ext cx="2585612"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400" b="1" i="0">
                <a:solidFill>
                  <a:srgbClr val="000000"/>
                </a:solidFill>
                <a:latin typeface="Book Antiqua"/>
              </a:rPr>
              <a:t>Price Target (31 May 2027)</a:t>
            </a:r>
          </a:p>
        </p:txBody>
      </p:sp>
      <p:sp>
        <p:nvSpPr>
          <p:cNvPr id="36" name="table:cell"/>
          <p:cNvSpPr/>
          <p:nvPr/>
        </p:nvSpPr>
        <p:spPr>
          <a:xfrm>
            <a:off x="2805068" y="3648456"/>
            <a:ext cx="1163525"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sp>
        <p:nvSpPr>
          <p:cNvPr id="37" name="table:cell"/>
          <p:cNvSpPr/>
          <p:nvPr/>
        </p:nvSpPr>
        <p:spPr>
          <a:xfrm>
            <a:off x="3968593" y="3648456"/>
            <a:ext cx="1422086"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1" i="0">
                <a:solidFill>
                  <a:srgbClr val="000000"/>
                </a:solidFill>
                <a:latin typeface="Book Antiqua"/>
              </a:rPr>
              <a:t>$3.62</a:t>
            </a:r>
          </a:p>
        </p:txBody>
      </p:sp>
      <p:sp>
        <p:nvSpPr>
          <p:cNvPr id="38" name="table:cell"/>
          <p:cNvSpPr/>
          <p:nvPr/>
        </p:nvSpPr>
        <p:spPr>
          <a:xfrm>
            <a:off x="5390680" y="3648456"/>
            <a:ext cx="1292806" cy="384048"/>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400" b="1" i="0">
                <a:solidFill>
                  <a:srgbClr val="000000"/>
                </a:solidFill>
                <a:latin typeface="Book Antiqua"/>
              </a:rPr>
              <a:t>+34.9%</a:t>
            </a:r>
          </a:p>
        </p:txBody>
      </p:sp>
      <p:cxnSp>
        <p:nvCxnSpPr>
          <p:cNvPr id="39" name="frame:table-rule"/>
          <p:cNvCxnSpPr/>
          <p:nvPr/>
        </p:nvCxnSpPr>
        <p:spPr>
          <a:xfrm>
            <a:off x="219456" y="4032504"/>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0" name="section:Value per Share if the 8% Cap Spreads"/>
          <p:cNvSpPr/>
          <p:nvPr/>
        </p:nvSpPr>
        <p:spPr>
          <a:xfrm>
            <a:off x="219456" y="4184864"/>
            <a:ext cx="6464030"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Value per Share if the 8% Cap Spreads</a:t>
            </a:r>
          </a:p>
        </p:txBody>
      </p:sp>
      <p:sp>
        <p:nvSpPr>
          <p:cNvPr id="41" name="table:header"/>
          <p:cNvSpPr/>
          <p:nvPr/>
        </p:nvSpPr>
        <p:spPr>
          <a:xfrm>
            <a:off x="219456" y="4544568"/>
            <a:ext cx="2327051"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If the cap covers...</a:t>
            </a:r>
          </a:p>
        </p:txBody>
      </p:sp>
      <p:sp>
        <p:nvSpPr>
          <p:cNvPr id="42" name="table:header"/>
          <p:cNvSpPr/>
          <p:nvPr/>
        </p:nvSpPr>
        <p:spPr>
          <a:xfrm>
            <a:off x="2546507" y="4544568"/>
            <a:ext cx="1422086"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Status</a:t>
            </a:r>
          </a:p>
        </p:txBody>
      </p:sp>
      <p:sp>
        <p:nvSpPr>
          <p:cNvPr id="43" name="table:header"/>
          <p:cNvSpPr/>
          <p:nvPr/>
        </p:nvSpPr>
        <p:spPr>
          <a:xfrm>
            <a:off x="3968593" y="4544568"/>
            <a:ext cx="84032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Revenue</a:t>
            </a:r>
          </a:p>
        </p:txBody>
      </p:sp>
      <p:sp>
        <p:nvSpPr>
          <p:cNvPr id="44" name="table:header"/>
          <p:cNvSpPr/>
          <p:nvPr/>
        </p:nvSpPr>
        <p:spPr>
          <a:xfrm>
            <a:off x="4808917" y="4544568"/>
            <a:ext cx="904964"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Value</a:t>
            </a:r>
          </a:p>
        </p:txBody>
      </p:sp>
      <p:sp>
        <p:nvSpPr>
          <p:cNvPr id="45" name="table:header"/>
          <p:cNvSpPr/>
          <p:nvPr/>
        </p:nvSpPr>
        <p:spPr>
          <a:xfrm>
            <a:off x="5713882" y="4544568"/>
            <a:ext cx="969604"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vs Price</a:t>
            </a:r>
          </a:p>
        </p:txBody>
      </p:sp>
      <p:sp>
        <p:nvSpPr>
          <p:cNvPr id="46" name="table:cell"/>
          <p:cNvSpPr/>
          <p:nvPr/>
        </p:nvSpPr>
        <p:spPr>
          <a:xfrm>
            <a:off x="219456" y="4928616"/>
            <a:ext cx="2327051"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Indonesian motorbike taxis</a:t>
            </a:r>
          </a:p>
        </p:txBody>
      </p:sp>
      <p:sp>
        <p:nvSpPr>
          <p:cNvPr id="47" name="table:cell"/>
          <p:cNvSpPr/>
          <p:nvPr/>
        </p:nvSpPr>
        <p:spPr>
          <a:xfrm>
            <a:off x="2546507" y="4928616"/>
            <a:ext cx="1422086"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In force (Jul 2026)</a:t>
            </a:r>
          </a:p>
        </p:txBody>
      </p:sp>
      <p:sp>
        <p:nvSpPr>
          <p:cNvPr id="48" name="table:cell"/>
          <p:cNvSpPr/>
          <p:nvPr/>
        </p:nvSpPr>
        <p:spPr>
          <a:xfrm>
            <a:off x="3968593" y="4928616"/>
            <a:ext cx="840323"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-1.2%</a:t>
            </a:r>
          </a:p>
        </p:txBody>
      </p:sp>
      <p:sp>
        <p:nvSpPr>
          <p:cNvPr id="49" name="table:cell"/>
          <p:cNvSpPr/>
          <p:nvPr/>
        </p:nvSpPr>
        <p:spPr>
          <a:xfrm>
            <a:off x="4808917" y="4928616"/>
            <a:ext cx="90496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$3.27</a:t>
            </a:r>
          </a:p>
        </p:txBody>
      </p:sp>
      <p:sp>
        <p:nvSpPr>
          <p:cNvPr id="50" name="table:cell"/>
          <p:cNvSpPr/>
          <p:nvPr/>
        </p:nvSpPr>
        <p:spPr>
          <a:xfrm>
            <a:off x="5713882" y="4928616"/>
            <a:ext cx="96960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2E7D32"/>
                </a:solidFill>
                <a:latin typeface="Book Antiqua"/>
              </a:rPr>
              <a:t>+22.1%</a:t>
            </a:r>
          </a:p>
        </p:txBody>
      </p:sp>
      <p:cxnSp>
        <p:nvCxnSpPr>
          <p:cNvPr id="51" name="frame:table-rule"/>
          <p:cNvCxnSpPr/>
          <p:nvPr/>
        </p:nvCxnSpPr>
        <p:spPr>
          <a:xfrm>
            <a:off x="219456" y="5228081"/>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2" name="table:cell"/>
          <p:cNvSpPr/>
          <p:nvPr/>
        </p:nvSpPr>
        <p:spPr>
          <a:xfrm>
            <a:off x="219456" y="5228081"/>
            <a:ext cx="2327051"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 Indonesian cars</a:t>
            </a:r>
          </a:p>
        </p:txBody>
      </p:sp>
      <p:sp>
        <p:nvSpPr>
          <p:cNvPr id="53" name="table:cell"/>
          <p:cNvSpPr/>
          <p:nvPr/>
        </p:nvSpPr>
        <p:spPr>
          <a:xfrm>
            <a:off x="2546507" y="5228081"/>
            <a:ext cx="1422086"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Discussed, no date</a:t>
            </a:r>
          </a:p>
        </p:txBody>
      </p:sp>
      <p:sp>
        <p:nvSpPr>
          <p:cNvPr id="54" name="table:cell"/>
          <p:cNvSpPr/>
          <p:nvPr/>
        </p:nvSpPr>
        <p:spPr>
          <a:xfrm>
            <a:off x="3968593" y="5228081"/>
            <a:ext cx="840323"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-3.5%</a:t>
            </a:r>
          </a:p>
        </p:txBody>
      </p:sp>
      <p:sp>
        <p:nvSpPr>
          <p:cNvPr id="55" name="table:cell"/>
          <p:cNvSpPr/>
          <p:nvPr/>
        </p:nvSpPr>
        <p:spPr>
          <a:xfrm>
            <a:off x="4808917" y="5228081"/>
            <a:ext cx="90496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$3.04</a:t>
            </a:r>
          </a:p>
        </p:txBody>
      </p:sp>
      <p:sp>
        <p:nvSpPr>
          <p:cNvPr id="56" name="table:cell"/>
          <p:cNvSpPr/>
          <p:nvPr/>
        </p:nvSpPr>
        <p:spPr>
          <a:xfrm>
            <a:off x="5713882" y="5228081"/>
            <a:ext cx="96960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2E7D32"/>
                </a:solidFill>
                <a:latin typeface="Book Antiqua"/>
              </a:rPr>
              <a:t>+13.3%</a:t>
            </a:r>
          </a:p>
        </p:txBody>
      </p:sp>
      <p:cxnSp>
        <p:nvCxnSpPr>
          <p:cNvPr id="57" name="frame:table-rule"/>
          <p:cNvCxnSpPr/>
          <p:nvPr/>
        </p:nvCxnSpPr>
        <p:spPr>
          <a:xfrm>
            <a:off x="219456" y="5527547"/>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8" name="table:cell"/>
          <p:cNvSpPr/>
          <p:nvPr/>
        </p:nvSpPr>
        <p:spPr>
          <a:xfrm>
            <a:off x="219456" y="5527547"/>
            <a:ext cx="2327051"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 Indonesian food delivery</a:t>
            </a:r>
          </a:p>
        </p:txBody>
      </p:sp>
      <p:sp>
        <p:nvSpPr>
          <p:cNvPr id="59" name="table:cell"/>
          <p:cNvSpPr/>
          <p:nvPr/>
        </p:nvSpPr>
        <p:spPr>
          <a:xfrm>
            <a:off x="2546507" y="5527547"/>
            <a:ext cx="1422086"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Not proposed</a:t>
            </a:r>
          </a:p>
        </p:txBody>
      </p:sp>
      <p:sp>
        <p:nvSpPr>
          <p:cNvPr id="60" name="table:cell"/>
          <p:cNvSpPr/>
          <p:nvPr/>
        </p:nvSpPr>
        <p:spPr>
          <a:xfrm>
            <a:off x="3968593" y="5527547"/>
            <a:ext cx="840323"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-10.3%</a:t>
            </a:r>
          </a:p>
        </p:txBody>
      </p:sp>
      <p:sp>
        <p:nvSpPr>
          <p:cNvPr id="61" name="table:cell"/>
          <p:cNvSpPr/>
          <p:nvPr/>
        </p:nvSpPr>
        <p:spPr>
          <a:xfrm>
            <a:off x="4808917" y="5527547"/>
            <a:ext cx="90496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$2.37</a:t>
            </a:r>
          </a:p>
        </p:txBody>
      </p:sp>
      <p:sp>
        <p:nvSpPr>
          <p:cNvPr id="62" name="table:cell"/>
          <p:cNvSpPr/>
          <p:nvPr/>
        </p:nvSpPr>
        <p:spPr>
          <a:xfrm>
            <a:off x="5713882" y="5527547"/>
            <a:ext cx="969604" cy="2994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C0392B"/>
                </a:solidFill>
                <a:latin typeface="Book Antiqua"/>
              </a:rPr>
              <a:t>-11.7%</a:t>
            </a:r>
          </a:p>
        </p:txBody>
      </p:sp>
      <p:cxnSp>
        <p:nvCxnSpPr>
          <p:cNvPr id="63" name="frame:table-rule"/>
          <p:cNvCxnSpPr/>
          <p:nvPr/>
        </p:nvCxnSpPr>
        <p:spPr>
          <a:xfrm>
            <a:off x="219456" y="5827013"/>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4" name="table:cell"/>
          <p:cNvSpPr/>
          <p:nvPr/>
        </p:nvSpPr>
        <p:spPr>
          <a:xfrm>
            <a:off x="219456" y="5827013"/>
            <a:ext cx="2327051" cy="29946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50" b="1" i="0">
                <a:solidFill>
                  <a:srgbClr val="000000"/>
                </a:solidFill>
                <a:latin typeface="Book Antiqua"/>
              </a:rPr>
              <a:t>Indonesia + Vietnam cap (stress)</a:t>
            </a:r>
          </a:p>
        </p:txBody>
      </p:sp>
      <p:sp>
        <p:nvSpPr>
          <p:cNvPr id="65" name="table:cell"/>
          <p:cNvSpPr/>
          <p:nvPr/>
        </p:nvSpPr>
        <p:spPr>
          <a:xfrm>
            <a:off x="2546507" y="5827013"/>
            <a:ext cx="1422086" cy="29946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Not proposed</a:t>
            </a:r>
          </a:p>
        </p:txBody>
      </p:sp>
      <p:sp>
        <p:nvSpPr>
          <p:cNvPr id="66" name="table:cell"/>
          <p:cNvSpPr/>
          <p:nvPr/>
        </p:nvSpPr>
        <p:spPr>
          <a:xfrm>
            <a:off x="3968593" y="5827013"/>
            <a:ext cx="840323" cy="29946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-13.9%</a:t>
            </a:r>
          </a:p>
        </p:txBody>
      </p:sp>
      <p:sp>
        <p:nvSpPr>
          <p:cNvPr id="67" name="table:cell"/>
          <p:cNvSpPr/>
          <p:nvPr/>
        </p:nvSpPr>
        <p:spPr>
          <a:xfrm>
            <a:off x="4808917" y="5827013"/>
            <a:ext cx="904964" cy="29946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$2.00</a:t>
            </a:r>
          </a:p>
        </p:txBody>
      </p:sp>
      <p:sp>
        <p:nvSpPr>
          <p:cNvPr id="68" name="table:cell"/>
          <p:cNvSpPr/>
          <p:nvPr/>
        </p:nvSpPr>
        <p:spPr>
          <a:xfrm>
            <a:off x="5713882" y="5827013"/>
            <a:ext cx="969604" cy="29946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C0392B"/>
                </a:solidFill>
                <a:latin typeface="Book Antiqua"/>
              </a:rPr>
              <a:t>-25.4%</a:t>
            </a:r>
          </a:p>
        </p:txBody>
      </p:sp>
      <p:cxnSp>
        <p:nvCxnSpPr>
          <p:cNvPr id="69" name="frame:table-rule"/>
          <p:cNvCxnSpPr/>
          <p:nvPr/>
        </p:nvCxnSpPr>
        <p:spPr>
          <a:xfrm>
            <a:off x="219456" y="6126479"/>
            <a:ext cx="6464030"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0" name="section:Revenue by Scenario (USD MM)"/>
          <p:cNvSpPr/>
          <p:nvPr/>
        </p:nvSpPr>
        <p:spPr>
          <a:xfrm>
            <a:off x="6912086" y="1362456"/>
            <a:ext cx="5060152"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Revenue by Scenario (USD MM)</a:t>
            </a:r>
          </a:p>
        </p:txBody>
      </p:sp>
      <p:graphicFrame>
        <p:nvGraphicFramePr>
          <p:cNvPr id="71" name="chart:dcf-paths"/>
          <p:cNvGraphicFramePr>
            <a:graphicFrameLocks noGrp="1"/>
          </p:cNvGraphicFramePr>
          <p:nvPr/>
        </p:nvGraphicFramePr>
        <p:xfrm>
          <a:off x="6912086" y="1700784"/>
          <a:ext cx="5060152"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72" name="callout:reverse-dcf"/>
          <p:cNvSpPr/>
          <p:nvPr/>
        </p:nvSpPr>
        <p:spPr>
          <a:xfrm>
            <a:off x="6912086" y="3886200"/>
            <a:ext cx="5060152" cy="1280160"/>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l">
              <a:buNone/>
            </a:pPr>
            <a:r>
              <a:rPr sz="1500" b="1" i="0">
                <a:solidFill>
                  <a:srgbClr val="376092"/>
                </a:solidFill>
                <a:latin typeface="Book Antiqua"/>
              </a:rPr>
              <a:t>Reverse DCF</a:t>
            </a:r>
          </a:p>
          <a:p>
            <a:pPr algn="l">
              <a:buNone/>
            </a:pPr>
            <a:r>
              <a:rPr sz="1400" b="0" i="0">
                <a:solidFill>
                  <a:srgbClr val="000000"/>
                </a:solidFill>
                <a:latin typeface="Book Antiqua"/>
              </a:rPr>
              <a:t>Today's price is consistent with </a:t>
            </a:r>
            <a:r>
              <a:rPr sz="1400" b="1" i="0">
                <a:solidFill>
                  <a:srgbClr val="000000"/>
                </a:solidFill>
                <a:latin typeface="Book Antiqua"/>
              </a:rPr>
              <a:t>10.8%</a:t>
            </a:r>
            <a:r>
              <a:rPr sz="1400" b="0" i="0">
                <a:solidFill>
                  <a:srgbClr val="000000"/>
                </a:solidFill>
                <a:latin typeface="Book Antiqua"/>
              </a:rPr>
              <a:t> a year revenue growth (next 5 years), vs analysts' </a:t>
            </a:r>
            <a:r>
              <a:rPr sz="1400" b="1" i="0">
                <a:solidFill>
                  <a:srgbClr val="000000"/>
                </a:solidFill>
                <a:latin typeface="Book Antiqua"/>
              </a:rPr>
              <a:t>19.3%</a:t>
            </a:r>
          </a:p>
        </p:txBody>
      </p:sp>
      <p:sp>
        <p:nvSpPr>
          <p:cNvPr id="73" name="body:dcf-commentary"/>
          <p:cNvSpPr/>
          <p:nvPr/>
        </p:nvSpPr>
        <p:spPr>
          <a:xfrm>
            <a:off x="6912086" y="5266944"/>
            <a:ext cx="5060152" cy="9601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300" b="0" i="0">
                <a:solidFill>
                  <a:srgbClr val="000000"/>
                </a:solidFill>
                <a:latin typeface="Book Antiqua"/>
              </a:rPr>
              <a:t>Combined downside: growth half of analysts' forecasts, peer-level margins, and Indonesia caps all rides and delivery</a:t>
            </a:r>
          </a:p>
          <a:p>
            <a:pPr marL="177800" indent="-177800" algn="l">
              <a:spcBef>
                <a:spcPts val="486"/>
              </a:spcBef>
              <a:buFont typeface="Arial"/>
              <a:buChar char="•"/>
            </a:pPr>
            <a:r>
              <a:rPr sz="1300" b="0" i="0">
                <a:solidFill>
                  <a:srgbClr val="000000"/>
                </a:solidFill>
                <a:latin typeface="Book Antiqua"/>
              </a:rPr>
              <a:t>Base = analysts' forecasts; best = their highest; all cases subtract stock pay as a cost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Risks &amp; Catalysts</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The key risks are wider fee caps, credit losses and fuel costs; Q3 results (~3 Nov) are the first test of all three.</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15</a:t>
            </a:r>
          </a:p>
        </p:txBody>
      </p:sp>
      <p:sp>
        <p:nvSpPr>
          <p:cNvPr id="10" name="section:Key Risks &amp; Mitigants"/>
          <p:cNvSpPr/>
          <p:nvPr/>
        </p:nvSpPr>
        <p:spPr>
          <a:xfrm>
            <a:off x="219456" y="1362456"/>
            <a:ext cx="7051669"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Key Risks &amp; Mitigants</a:t>
            </a:r>
          </a:p>
        </p:txBody>
      </p:sp>
      <p:sp>
        <p:nvSpPr>
          <p:cNvPr id="11" name="label:risk"/>
          <p:cNvSpPr/>
          <p:nvPr/>
        </p:nvSpPr>
        <p:spPr>
          <a:xfrm>
            <a:off x="219456" y="1746504"/>
            <a:ext cx="2538601" cy="1044701"/>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500" b="1" i="0">
                <a:solidFill>
                  <a:srgbClr val="FFFFFF"/>
                </a:solidFill>
                <a:latin typeface="Book Antiqua"/>
              </a:rPr>
              <a:t>Commission caps spread</a:t>
            </a:r>
          </a:p>
        </p:txBody>
      </p:sp>
      <p:sp>
        <p:nvSpPr>
          <p:cNvPr id="12" name="panel:mitigant"/>
          <p:cNvSpPr/>
          <p:nvPr/>
        </p:nvSpPr>
        <p:spPr>
          <a:xfrm>
            <a:off x="2858641" y="1746504"/>
            <a:ext cx="4412484" cy="1044701"/>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l">
              <a:buNone/>
            </a:pPr>
            <a:r>
              <a:rPr sz="1500" b="1" i="0">
                <a:solidFill>
                  <a:srgbClr val="000000"/>
                </a:solidFill>
                <a:latin typeface="Book Antiqua"/>
              </a:rPr>
              <a:t>Mitigant:</a:t>
            </a:r>
            <a:r>
              <a:rPr sz="1500" b="0" i="0">
                <a:solidFill>
                  <a:srgbClr val="000000"/>
                </a:solidFill>
                <a:latin typeface="Book Antiqua"/>
              </a:rPr>
              <a:t> Today's cap costs ~1% of revenue; with cars capped (discussed) value is still above the price; food (not proposed) -12%</a:t>
            </a:r>
          </a:p>
        </p:txBody>
      </p:sp>
      <p:sp>
        <p:nvSpPr>
          <p:cNvPr id="13" name="label:risk"/>
          <p:cNvSpPr/>
          <p:nvPr/>
        </p:nvSpPr>
        <p:spPr>
          <a:xfrm>
            <a:off x="219456" y="2891790"/>
            <a:ext cx="2538601" cy="1044701"/>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500" b="1" i="0">
                <a:solidFill>
                  <a:srgbClr val="FFFFFF"/>
                </a:solidFill>
                <a:latin typeface="Book Antiqua"/>
              </a:rPr>
              <a:t>Grab's cut of each fare keeps falling</a:t>
            </a:r>
          </a:p>
        </p:txBody>
      </p:sp>
      <p:sp>
        <p:nvSpPr>
          <p:cNvPr id="14" name="panel:mitigant"/>
          <p:cNvSpPr/>
          <p:nvPr/>
        </p:nvSpPr>
        <p:spPr>
          <a:xfrm>
            <a:off x="2858641" y="2891790"/>
            <a:ext cx="4412484" cy="1044701"/>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l">
              <a:buNone/>
            </a:pPr>
            <a:r>
              <a:rPr sz="1500" b="1" i="0">
                <a:solidFill>
                  <a:srgbClr val="000000"/>
                </a:solidFill>
                <a:latin typeface="Book Antiqua"/>
              </a:rPr>
              <a:t>Mitigant:</a:t>
            </a:r>
            <a:r>
              <a:rPr sz="1500" b="0" i="0">
                <a:solidFill>
                  <a:srgbClr val="000000"/>
                </a:solidFill>
                <a:latin typeface="Book Antiqua"/>
              </a:rPr>
              <a:t> Rides +35% (Q2 2026 vs Q2 2025) offset lower fees, but margins depend on incentives (10.9% of order value)</a:t>
            </a:r>
          </a:p>
        </p:txBody>
      </p:sp>
      <p:sp>
        <p:nvSpPr>
          <p:cNvPr id="15" name="label:risk"/>
          <p:cNvSpPr/>
          <p:nvPr/>
        </p:nvSpPr>
        <p:spPr>
          <a:xfrm>
            <a:off x="219456" y="4037076"/>
            <a:ext cx="2538601" cy="1044701"/>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500" b="1" i="0">
                <a:solidFill>
                  <a:srgbClr val="FFFFFF"/>
                </a:solidFill>
                <a:latin typeface="Book Antiqua"/>
              </a:rPr>
              <a:t>Credit losses in lending and Atome</a:t>
            </a:r>
          </a:p>
        </p:txBody>
      </p:sp>
      <p:sp>
        <p:nvSpPr>
          <p:cNvPr id="16" name="panel:mitigant"/>
          <p:cNvSpPr/>
          <p:nvPr/>
        </p:nvSpPr>
        <p:spPr>
          <a:xfrm>
            <a:off x="2858641" y="4037076"/>
            <a:ext cx="4412484" cy="1044701"/>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l">
              <a:buNone/>
            </a:pPr>
            <a:r>
              <a:rPr sz="1500" b="1" i="0">
                <a:solidFill>
                  <a:srgbClr val="000000"/>
                </a:solidFill>
                <a:latin typeface="Book Antiqua"/>
              </a:rPr>
              <a:t>Mitigant:</a:t>
            </a:r>
            <a:r>
              <a:rPr sz="1500" b="0" i="0">
                <a:solidFill>
                  <a:srgbClr val="000000"/>
                </a:solidFill>
                <a:latin typeface="Book Antiqua"/>
              </a:rPr>
              <a:t> Share of loans in default stable and expected losses falling so far (Grab); Atome bought in phases (60% first)</a:t>
            </a:r>
          </a:p>
        </p:txBody>
      </p:sp>
      <p:sp>
        <p:nvSpPr>
          <p:cNvPr id="17" name="label:risk"/>
          <p:cNvSpPr/>
          <p:nvPr/>
        </p:nvSpPr>
        <p:spPr>
          <a:xfrm>
            <a:off x="219456" y="5182362"/>
            <a:ext cx="2538601" cy="1044701"/>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500" b="1" i="0">
                <a:solidFill>
                  <a:srgbClr val="FFFFFF"/>
                </a:solidFill>
                <a:latin typeface="Book Antiqua"/>
              </a:rPr>
              <a:t>Oil shock and driver protests</a:t>
            </a:r>
          </a:p>
        </p:txBody>
      </p:sp>
      <p:sp>
        <p:nvSpPr>
          <p:cNvPr id="18" name="panel:mitigant"/>
          <p:cNvSpPr/>
          <p:nvPr/>
        </p:nvSpPr>
        <p:spPr>
          <a:xfrm>
            <a:off x="2858641" y="5182362"/>
            <a:ext cx="4412484" cy="1044701"/>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l">
              <a:buNone/>
            </a:pPr>
            <a:r>
              <a:rPr sz="1500" b="1" i="0">
                <a:solidFill>
                  <a:srgbClr val="000000"/>
                </a:solidFill>
                <a:latin typeface="Book Antiqua"/>
              </a:rPr>
              <a:t>Mitigant:</a:t>
            </a:r>
            <a:r>
              <a:rPr sz="1500" b="0" i="0">
                <a:solidFill>
                  <a:srgbClr val="000000"/>
                </a:solidFill>
                <a:latin typeface="Book Antiqua"/>
              </a:rPr>
              <a:t> Guidance raised in Aug 2026 despite $100+ oil; record drivers (+19% vs Q2 2025); EV partnerships (BYD, GAC, Wuling) cut fuel costs</a:t>
            </a:r>
          </a:p>
        </p:txBody>
      </p:sp>
      <p:sp>
        <p:nvSpPr>
          <p:cNvPr id="19" name="section:Upcoming Catalysts"/>
          <p:cNvSpPr/>
          <p:nvPr/>
        </p:nvSpPr>
        <p:spPr>
          <a:xfrm>
            <a:off x="7499725" y="1362456"/>
            <a:ext cx="4472513"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Upcoming Catalysts</a:t>
            </a:r>
          </a:p>
        </p:txBody>
      </p:sp>
      <p:cxnSp>
        <p:nvCxnSpPr>
          <p:cNvPr id="20" name="frame:timeline"/>
          <p:cNvCxnSpPr/>
          <p:nvPr/>
        </p:nvCxnSpPr>
        <p:spPr>
          <a:xfrm>
            <a:off x="7728325" y="2306574"/>
            <a:ext cx="0" cy="3360420"/>
          </a:xfrm>
          <a:prstGeom prst="line">
            <a:avLst/>
          </a:prstGeom>
          <a:ln w="25400">
            <a:solidFill>
              <a:srgbClr val="376092"/>
            </a:solidFill>
          </a:ln>
        </p:spPr>
        <p:style>
          <a:lnRef idx="2">
            <a:schemeClr val="accent1"/>
          </a:lnRef>
          <a:fillRef idx="0">
            <a:schemeClr val="accent1"/>
          </a:fillRef>
          <a:effectRef idx="1">
            <a:schemeClr val="accent1"/>
          </a:effectRef>
          <a:fontRef idx="minor">
            <a:schemeClr val="tx1"/>
          </a:fontRef>
        </p:style>
      </p:cxnSp>
      <p:sp>
        <p:nvSpPr>
          <p:cNvPr id="21" name="frame:timeline-dot"/>
          <p:cNvSpPr/>
          <p:nvPr/>
        </p:nvSpPr>
        <p:spPr>
          <a:xfrm>
            <a:off x="7646029" y="2224278"/>
            <a:ext cx="164592" cy="16459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body:catalyst"/>
          <p:cNvSpPr/>
          <p:nvPr/>
        </p:nvSpPr>
        <p:spPr>
          <a:xfrm>
            <a:off x="7956925" y="1746504"/>
            <a:ext cx="4015313" cy="11201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500" b="1" i="0">
                <a:solidFill>
                  <a:srgbClr val="376092"/>
                </a:solidFill>
                <a:latin typeface="Book Antiqua"/>
              </a:rPr>
              <a:t>~3 Nov (unconfirmed)</a:t>
            </a:r>
          </a:p>
          <a:p>
            <a:pPr algn="l">
              <a:spcBef>
                <a:spcPts val="200"/>
              </a:spcBef>
              <a:buNone/>
            </a:pPr>
            <a:r>
              <a:rPr sz="1400" b="0" i="0">
                <a:solidFill>
                  <a:srgbClr val="000000"/>
                </a:solidFill>
                <a:latin typeface="Book Antiqua"/>
              </a:rPr>
              <a:t>Q3 results, a week after the pitch: first full quarter with the Indonesian cap</a:t>
            </a:r>
          </a:p>
        </p:txBody>
      </p:sp>
      <p:sp>
        <p:nvSpPr>
          <p:cNvPr id="23" name="frame:timeline-dot"/>
          <p:cNvSpPr/>
          <p:nvPr/>
        </p:nvSpPr>
        <p:spPr>
          <a:xfrm>
            <a:off x="7646029" y="3344418"/>
            <a:ext cx="164592" cy="16459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body:catalyst"/>
          <p:cNvSpPr/>
          <p:nvPr/>
        </p:nvSpPr>
        <p:spPr>
          <a:xfrm>
            <a:off x="7956925" y="2866644"/>
            <a:ext cx="4015313" cy="11201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500" b="1" i="0">
                <a:solidFill>
                  <a:srgbClr val="376092"/>
                </a:solidFill>
                <a:latin typeface="Book Antiqua"/>
              </a:rPr>
              <a:t>Feb 2027</a:t>
            </a:r>
          </a:p>
          <a:p>
            <a:pPr algn="l">
              <a:spcBef>
                <a:spcPts val="200"/>
              </a:spcBef>
              <a:buNone/>
            </a:pPr>
            <a:r>
              <a:rPr sz="1400" b="0" i="0">
                <a:solidFill>
                  <a:srgbClr val="000000"/>
                </a:solidFill>
                <a:latin typeface="Book Antiqua"/>
              </a:rPr>
              <a:t>H2 results: fintech breakeven and credit quality confirm the second engine</a:t>
            </a:r>
          </a:p>
        </p:txBody>
      </p:sp>
      <p:sp>
        <p:nvSpPr>
          <p:cNvPr id="25" name="frame:timeline-dot"/>
          <p:cNvSpPr/>
          <p:nvPr/>
        </p:nvSpPr>
        <p:spPr>
          <a:xfrm>
            <a:off x="7646029" y="4464558"/>
            <a:ext cx="164592" cy="16459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body:catalyst"/>
          <p:cNvSpPr/>
          <p:nvPr/>
        </p:nvSpPr>
        <p:spPr>
          <a:xfrm>
            <a:off x="7956925" y="3986784"/>
            <a:ext cx="4015313" cy="11201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500" b="1" i="0">
                <a:solidFill>
                  <a:srgbClr val="376092"/>
                </a:solidFill>
                <a:latin typeface="Book Antiqua"/>
              </a:rPr>
              <a:t>Through Sep 2027</a:t>
            </a:r>
          </a:p>
          <a:p>
            <a:pPr algn="l">
              <a:spcBef>
                <a:spcPts val="200"/>
              </a:spcBef>
              <a:buNone/>
            </a:pPr>
            <a:r>
              <a:rPr sz="1400" b="0" i="0">
                <a:solidFill>
                  <a:srgbClr val="000000"/>
                </a:solidFill>
                <a:latin typeface="Book Antiqua"/>
              </a:rPr>
              <a:t>~$900M buyback (~7% of shares at today's price) lifts value per share</a:t>
            </a:r>
          </a:p>
        </p:txBody>
      </p:sp>
      <p:sp>
        <p:nvSpPr>
          <p:cNvPr id="27" name="frame:timeline-dot"/>
          <p:cNvSpPr/>
          <p:nvPr/>
        </p:nvSpPr>
        <p:spPr>
          <a:xfrm>
            <a:off x="7646029" y="5584698"/>
            <a:ext cx="164592" cy="16459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ody:catalyst"/>
          <p:cNvSpPr/>
          <p:nvPr/>
        </p:nvSpPr>
        <p:spPr>
          <a:xfrm>
            <a:off x="7956925" y="5106924"/>
            <a:ext cx="4015313" cy="11201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noAutofit/>
          </a:bodyPr>
          <a:lstStyle/>
          <a:p>
            <a:pPr algn="l">
              <a:buNone/>
            </a:pPr>
            <a:r>
              <a:rPr sz="1500" b="1" i="0">
                <a:solidFill>
                  <a:srgbClr val="376092"/>
                </a:solidFill>
                <a:latin typeface="Book Antiqua"/>
              </a:rPr>
              <a:t>By Q3 2027</a:t>
            </a:r>
          </a:p>
          <a:p>
            <a:pPr algn="l">
              <a:spcBef>
                <a:spcPts val="200"/>
              </a:spcBef>
              <a:buNone/>
            </a:pPr>
            <a:r>
              <a:rPr sz="1400" b="0" i="0">
                <a:solidFill>
                  <a:srgbClr val="000000"/>
                </a:solidFill>
                <a:latin typeface="Book Antiqua"/>
              </a:rPr>
              <a:t>Atome first close: tests the $500M 2028 fintech target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Conclusion – Risk / Reward</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Long Grab: +35% to our $3.62 target and +72% in the best case, against -10% to the $2.40 stop.</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16</a:t>
            </a:r>
          </a:p>
        </p:txBody>
      </p:sp>
      <p:sp>
        <p:nvSpPr>
          <p:cNvPr id="10" name="section:Risk / Reward (May 2027)"/>
          <p:cNvSpPr/>
          <p:nvPr/>
        </p:nvSpPr>
        <p:spPr>
          <a:xfrm>
            <a:off x="219456" y="1362456"/>
            <a:ext cx="6464030"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Risk / Reward (May 2027)</a:t>
            </a:r>
          </a:p>
        </p:txBody>
      </p:sp>
      <p:cxnSp>
        <p:nvCxnSpPr>
          <p:cNvPr id="11" name="frame:ladder-axis"/>
          <p:cNvCxnSpPr/>
          <p:nvPr/>
        </p:nvCxnSpPr>
        <p:spPr>
          <a:xfrm>
            <a:off x="676656" y="2816352"/>
            <a:ext cx="5549630" cy="0"/>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callout:ladder-risk"/>
          <p:cNvSpPr/>
          <p:nvPr/>
        </p:nvSpPr>
        <p:spPr>
          <a:xfrm>
            <a:off x="971561" y="2734056"/>
            <a:ext cx="452783" cy="1645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llout:ladder-reward"/>
          <p:cNvSpPr/>
          <p:nvPr/>
        </p:nvSpPr>
        <p:spPr>
          <a:xfrm>
            <a:off x="1424345" y="2734056"/>
            <a:ext cx="1513255" cy="16459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allout:ladder-tick"/>
          <p:cNvCxnSpPr/>
          <p:nvPr/>
        </p:nvCxnSpPr>
        <p:spPr>
          <a:xfrm>
            <a:off x="971561" y="2542032"/>
            <a:ext cx="0" cy="548640"/>
          </a:xfrm>
          <a:prstGeom prst="line">
            <a:avLst/>
          </a:prstGeom>
          <a:ln w="31750">
            <a:solidFill>
              <a:srgbClr val="C0392B"/>
            </a:solidFill>
          </a:ln>
        </p:spPr>
        <p:style>
          <a:lnRef idx="2">
            <a:schemeClr val="accent1"/>
          </a:lnRef>
          <a:fillRef idx="0">
            <a:schemeClr val="accent1"/>
          </a:fillRef>
          <a:effectRef idx="1">
            <a:schemeClr val="accent1"/>
          </a:effectRef>
          <a:fontRef idx="minor">
            <a:schemeClr val="tx1"/>
          </a:fontRef>
        </p:style>
      </p:cxnSp>
      <p:sp>
        <p:nvSpPr>
          <p:cNvPr id="15" name="callout:ladder-label"/>
          <p:cNvSpPr/>
          <p:nvPr/>
        </p:nvSpPr>
        <p:spPr>
          <a:xfrm>
            <a:off x="240041" y="1975104"/>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300" b="1" i="0">
                <a:solidFill>
                  <a:srgbClr val="C0392B"/>
                </a:solidFill>
                <a:latin typeface="Book Antiqua"/>
              </a:rPr>
              <a:t>Stop-loss</a:t>
            </a:r>
          </a:p>
          <a:p>
            <a:pPr algn="ctr">
              <a:buNone/>
            </a:pPr>
            <a:r>
              <a:rPr sz="1500" b="1" i="0">
                <a:solidFill>
                  <a:srgbClr val="000000"/>
                </a:solidFill>
                <a:latin typeface="Book Antiqua"/>
              </a:rPr>
              <a:t>$2.40</a:t>
            </a:r>
          </a:p>
        </p:txBody>
      </p:sp>
      <p:cxnSp>
        <p:nvCxnSpPr>
          <p:cNvPr id="16" name="callout:ladder-tick"/>
          <p:cNvCxnSpPr/>
          <p:nvPr/>
        </p:nvCxnSpPr>
        <p:spPr>
          <a:xfrm>
            <a:off x="1424345" y="2542032"/>
            <a:ext cx="0" cy="548640"/>
          </a:xfrm>
          <a:prstGeom prst="line">
            <a:avLst/>
          </a:prstGeom>
          <a:ln w="31750">
            <a:solidFill>
              <a:srgbClr val="898989"/>
            </a:solidFill>
          </a:ln>
        </p:spPr>
        <p:style>
          <a:lnRef idx="2">
            <a:schemeClr val="accent1"/>
          </a:lnRef>
          <a:fillRef idx="0">
            <a:schemeClr val="accent1"/>
          </a:fillRef>
          <a:effectRef idx="1">
            <a:schemeClr val="accent1"/>
          </a:effectRef>
          <a:fontRef idx="minor">
            <a:schemeClr val="tx1"/>
          </a:fontRef>
        </p:style>
      </p:cxnSp>
      <p:sp>
        <p:nvSpPr>
          <p:cNvPr id="17" name="callout:ladder-label"/>
          <p:cNvSpPr/>
          <p:nvPr/>
        </p:nvSpPr>
        <p:spPr>
          <a:xfrm>
            <a:off x="692825" y="3127248"/>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300" b="1" i="0">
                <a:solidFill>
                  <a:srgbClr val="898989"/>
                </a:solidFill>
                <a:latin typeface="Book Antiqua"/>
              </a:rPr>
              <a:t>Price</a:t>
            </a:r>
          </a:p>
          <a:p>
            <a:pPr algn="ctr">
              <a:buNone/>
            </a:pPr>
            <a:r>
              <a:rPr sz="1500" b="1" i="0">
                <a:solidFill>
                  <a:srgbClr val="000000"/>
                </a:solidFill>
                <a:latin typeface="Book Antiqua"/>
              </a:rPr>
              <a:t>$2.68</a:t>
            </a:r>
          </a:p>
        </p:txBody>
      </p:sp>
      <p:cxnSp>
        <p:nvCxnSpPr>
          <p:cNvPr id="18" name="callout:ladder-tick"/>
          <p:cNvCxnSpPr/>
          <p:nvPr/>
        </p:nvCxnSpPr>
        <p:spPr>
          <a:xfrm>
            <a:off x="2937600" y="2542032"/>
            <a:ext cx="0" cy="548640"/>
          </a:xfrm>
          <a:prstGeom prst="line">
            <a:avLst/>
          </a:prstGeom>
          <a:ln w="31750">
            <a:solidFill>
              <a:srgbClr val="1874B2"/>
            </a:solidFill>
          </a:ln>
        </p:spPr>
        <p:style>
          <a:lnRef idx="2">
            <a:schemeClr val="accent1"/>
          </a:lnRef>
          <a:fillRef idx="0">
            <a:schemeClr val="accent1"/>
          </a:fillRef>
          <a:effectRef idx="1">
            <a:schemeClr val="accent1"/>
          </a:effectRef>
          <a:fontRef idx="minor">
            <a:schemeClr val="tx1"/>
          </a:fontRef>
        </p:style>
      </p:cxnSp>
      <p:sp>
        <p:nvSpPr>
          <p:cNvPr id="19" name="callout:ladder-label"/>
          <p:cNvSpPr/>
          <p:nvPr/>
        </p:nvSpPr>
        <p:spPr>
          <a:xfrm>
            <a:off x="2206080" y="1975104"/>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300" b="1" i="0">
                <a:solidFill>
                  <a:srgbClr val="1874B2"/>
                </a:solidFill>
                <a:latin typeface="Book Antiqua"/>
              </a:rPr>
              <a:t>Target</a:t>
            </a:r>
          </a:p>
          <a:p>
            <a:pPr algn="ctr">
              <a:buNone/>
            </a:pPr>
            <a:r>
              <a:rPr sz="1500" b="1" i="0">
                <a:solidFill>
                  <a:srgbClr val="000000"/>
                </a:solidFill>
                <a:latin typeface="Book Antiqua"/>
              </a:rPr>
              <a:t>$3.62</a:t>
            </a:r>
          </a:p>
        </p:txBody>
      </p:sp>
      <p:cxnSp>
        <p:nvCxnSpPr>
          <p:cNvPr id="20" name="callout:ladder-tick"/>
          <p:cNvCxnSpPr/>
          <p:nvPr/>
        </p:nvCxnSpPr>
        <p:spPr>
          <a:xfrm>
            <a:off x="4525655" y="2651760"/>
            <a:ext cx="0" cy="329184"/>
          </a:xfrm>
          <a:prstGeom prst="line">
            <a:avLst/>
          </a:prstGeom>
          <a:ln w="19050">
            <a:solidFill>
              <a:srgbClr val="898989"/>
            </a:solidFill>
          </a:ln>
        </p:spPr>
        <p:style>
          <a:lnRef idx="2">
            <a:schemeClr val="accent1"/>
          </a:lnRef>
          <a:fillRef idx="0">
            <a:schemeClr val="accent1"/>
          </a:fillRef>
          <a:effectRef idx="1">
            <a:schemeClr val="accent1"/>
          </a:effectRef>
          <a:fontRef idx="minor">
            <a:schemeClr val="tx1"/>
          </a:fontRef>
        </p:style>
      </p:cxnSp>
      <p:sp>
        <p:nvSpPr>
          <p:cNvPr id="21" name="callout:ladder-label"/>
          <p:cNvSpPr/>
          <p:nvPr/>
        </p:nvSpPr>
        <p:spPr>
          <a:xfrm>
            <a:off x="3794135" y="3127248"/>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Best case (DCF)</a:t>
            </a:r>
          </a:p>
          <a:p>
            <a:pPr algn="ctr">
              <a:buNone/>
            </a:pPr>
            <a:r>
              <a:rPr sz="1300" b="0" i="0">
                <a:solidFill>
                  <a:srgbClr val="898989"/>
                </a:solidFill>
                <a:latin typeface="Book Antiqua"/>
              </a:rPr>
              <a:t>$4.60</a:t>
            </a:r>
          </a:p>
        </p:txBody>
      </p:sp>
      <p:cxnSp>
        <p:nvCxnSpPr>
          <p:cNvPr id="22" name="callout:ladder-tick"/>
          <p:cNvCxnSpPr/>
          <p:nvPr/>
        </p:nvCxnSpPr>
        <p:spPr>
          <a:xfrm>
            <a:off x="5874912" y="2651760"/>
            <a:ext cx="0" cy="329184"/>
          </a:xfrm>
          <a:prstGeom prst="line">
            <a:avLst/>
          </a:prstGeom>
          <a:ln w="19050">
            <a:solidFill>
              <a:srgbClr val="898989"/>
            </a:solidFill>
          </a:ln>
        </p:spPr>
        <p:style>
          <a:lnRef idx="2">
            <a:schemeClr val="accent1"/>
          </a:lnRef>
          <a:fillRef idx="0">
            <a:schemeClr val="accent1"/>
          </a:fillRef>
          <a:effectRef idx="1">
            <a:schemeClr val="accent1"/>
          </a:effectRef>
          <a:fontRef idx="minor">
            <a:schemeClr val="tx1"/>
          </a:fontRef>
        </p:style>
      </p:cxnSp>
      <p:sp>
        <p:nvSpPr>
          <p:cNvPr id="23" name="callout:ladder-label"/>
          <p:cNvSpPr/>
          <p:nvPr/>
        </p:nvSpPr>
        <p:spPr>
          <a:xfrm>
            <a:off x="5143392" y="3127248"/>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Analyst average</a:t>
            </a:r>
          </a:p>
          <a:p>
            <a:pPr algn="ctr">
              <a:buNone/>
            </a:pPr>
            <a:r>
              <a:rPr sz="1300" b="0" i="0">
                <a:solidFill>
                  <a:srgbClr val="898989"/>
                </a:solidFill>
                <a:latin typeface="Book Antiqua"/>
              </a:rPr>
              <a:t>$5.43</a:t>
            </a:r>
          </a:p>
        </p:txBody>
      </p:sp>
      <p:sp>
        <p:nvSpPr>
          <p:cNvPr id="24" name="panel:ratio"/>
          <p:cNvSpPr/>
          <p:nvPr/>
        </p:nvSpPr>
        <p:spPr>
          <a:xfrm>
            <a:off x="219456" y="3913632"/>
            <a:ext cx="2087620" cy="105156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400" b="1" i="0">
                <a:solidFill>
                  <a:srgbClr val="000000"/>
                </a:solidFill>
                <a:latin typeface="Book Antiqua"/>
              </a:rPr>
              <a:t>Upside to target</a:t>
            </a:r>
          </a:p>
          <a:p>
            <a:pPr algn="ctr">
              <a:spcBef>
                <a:spcPts val="400"/>
              </a:spcBef>
              <a:buNone/>
            </a:pPr>
            <a:r>
              <a:rPr sz="2600" b="1" i="0">
                <a:solidFill>
                  <a:srgbClr val="2E7D32"/>
                </a:solidFill>
                <a:latin typeface="Book Antiqua"/>
              </a:rPr>
              <a:t>+34.9%</a:t>
            </a:r>
          </a:p>
        </p:txBody>
      </p:sp>
      <p:sp>
        <p:nvSpPr>
          <p:cNvPr id="25" name="panel:ratio"/>
          <p:cNvSpPr/>
          <p:nvPr/>
        </p:nvSpPr>
        <p:spPr>
          <a:xfrm>
            <a:off x="2407660" y="3913632"/>
            <a:ext cx="2087620" cy="105156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400" b="1" i="0">
                <a:solidFill>
                  <a:srgbClr val="000000"/>
                </a:solidFill>
                <a:latin typeface="Book Antiqua"/>
              </a:rPr>
              <a:t>Downside to stop</a:t>
            </a:r>
          </a:p>
          <a:p>
            <a:pPr algn="ctr">
              <a:spcBef>
                <a:spcPts val="400"/>
              </a:spcBef>
              <a:buNone/>
            </a:pPr>
            <a:r>
              <a:rPr sz="2600" b="1" i="0">
                <a:solidFill>
                  <a:srgbClr val="C0392B"/>
                </a:solidFill>
                <a:latin typeface="Book Antiqua"/>
              </a:rPr>
              <a:t>-10.4%</a:t>
            </a:r>
          </a:p>
        </p:txBody>
      </p:sp>
      <p:sp>
        <p:nvSpPr>
          <p:cNvPr id="26" name="panel:ratio"/>
          <p:cNvSpPr/>
          <p:nvPr/>
        </p:nvSpPr>
        <p:spPr>
          <a:xfrm>
            <a:off x="4595865" y="3913632"/>
            <a:ext cx="2087620" cy="105156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1400" b="1" i="0">
                <a:solidFill>
                  <a:srgbClr val="000000"/>
                </a:solidFill>
                <a:latin typeface="Book Antiqua"/>
              </a:rPr>
              <a:t>Reward : risk</a:t>
            </a:r>
          </a:p>
          <a:p>
            <a:pPr algn="ctr">
              <a:spcBef>
                <a:spcPts val="400"/>
              </a:spcBef>
              <a:buNone/>
            </a:pPr>
            <a:r>
              <a:rPr sz="2600" b="1" i="0">
                <a:solidFill>
                  <a:srgbClr val="376092"/>
                </a:solidFill>
                <a:latin typeface="Book Antiqua"/>
              </a:rPr>
              <a:t>3.3 : 1</a:t>
            </a:r>
          </a:p>
        </p:txBody>
      </p:sp>
      <p:sp>
        <p:nvSpPr>
          <p:cNvPr id="27" name="body:stop"/>
          <p:cNvSpPr/>
          <p:nvPr/>
        </p:nvSpPr>
        <p:spPr>
          <a:xfrm>
            <a:off x="219456" y="5038344"/>
            <a:ext cx="6464030"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noAutofit/>
          </a:bodyPr>
          <a:lstStyle/>
          <a:p>
            <a:pPr algn="l">
              <a:buNone/>
            </a:pPr>
            <a:r>
              <a:rPr sz="1400" b="1" i="0">
                <a:solidFill>
                  <a:srgbClr val="000000"/>
                </a:solidFill>
                <a:latin typeface="Book Antiqua"/>
              </a:rPr>
              <a:t>Stop-loss $2.40:</a:t>
            </a:r>
            <a:r>
              <a:rPr sz="1400" b="0" i="0">
                <a:solidFill>
                  <a:srgbClr val="000000"/>
                </a:solidFill>
                <a:latin typeface="Book Antiqua"/>
              </a:rPr>
              <a:t> just above our value if Indonesia also capped food ($2.37); ~10% room for normal swings and Q3 results.</a:t>
            </a:r>
          </a:p>
          <a:p>
            <a:pPr algn="l">
              <a:spcBef>
                <a:spcPts val="600"/>
              </a:spcBef>
              <a:buNone/>
            </a:pPr>
            <a:r>
              <a:rPr sz="1400" b="0" i="0">
                <a:solidFill>
                  <a:srgbClr val="000000"/>
                </a:solidFill>
                <a:latin typeface="Book Antiqua"/>
              </a:rPr>
              <a:t>Our stress cases (-25% to -31%) assume fee caps no government has proposed; the stop limits the loss to -10% if the market starts pricing them in.</a:t>
            </a:r>
          </a:p>
        </p:txBody>
      </p:sp>
      <p:sp>
        <p:nvSpPr>
          <p:cNvPr id="28" name="section:Recommendation"/>
          <p:cNvSpPr/>
          <p:nvPr/>
        </p:nvSpPr>
        <p:spPr>
          <a:xfrm>
            <a:off x="6912086" y="1362456"/>
            <a:ext cx="5060152"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Recommendation</a:t>
            </a:r>
          </a:p>
        </p:txBody>
      </p:sp>
      <p:sp>
        <p:nvSpPr>
          <p:cNvPr id="29" name="panel:recommendation"/>
          <p:cNvSpPr/>
          <p:nvPr/>
        </p:nvSpPr>
        <p:spPr>
          <a:xfrm>
            <a:off x="6912086" y="1728216"/>
            <a:ext cx="5060152" cy="868680"/>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ctr">
              <a:buNone/>
            </a:pPr>
            <a:r>
              <a:rPr sz="2200" b="1" i="0">
                <a:solidFill>
                  <a:srgbClr val="376092"/>
                </a:solidFill>
                <a:latin typeface="Book Antiqua"/>
              </a:rPr>
              <a:t>LONG GRAB</a:t>
            </a:r>
          </a:p>
          <a:p>
            <a:pPr algn="ctr">
              <a:buNone/>
            </a:pPr>
            <a:r>
              <a:rPr sz="1500" b="1" i="0">
                <a:solidFill>
                  <a:srgbClr val="000000"/>
                </a:solidFill>
                <a:latin typeface="Book Antiqua"/>
              </a:rPr>
              <a:t>Target $3.62 (May 2027)  |  Stop $2.40</a:t>
            </a:r>
          </a:p>
        </p:txBody>
      </p:sp>
      <p:sp>
        <p:nvSpPr>
          <p:cNvPr id="30" name="section:Why We Own It"/>
          <p:cNvSpPr/>
          <p:nvPr/>
        </p:nvSpPr>
        <p:spPr>
          <a:xfrm>
            <a:off x="6912086" y="2697480"/>
            <a:ext cx="5060152"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Why We Own It</a:t>
            </a:r>
          </a:p>
        </p:txBody>
      </p:sp>
      <p:sp>
        <p:nvSpPr>
          <p:cNvPr id="31" name="body:conclusion"/>
          <p:cNvSpPr/>
          <p:nvPr/>
        </p:nvSpPr>
        <p:spPr>
          <a:xfrm>
            <a:off x="6912086" y="3026664"/>
            <a:ext cx="5060152" cy="138531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300" b="0" i="0">
                <a:solidFill>
                  <a:srgbClr val="000000"/>
                </a:solidFill>
                <a:latin typeface="Book Antiqua"/>
              </a:rPr>
              <a:t>Profits inflecting: adj. EBITDA margin 13% to 17% (Q2 2025 to Q2 2026)</a:t>
            </a:r>
          </a:p>
          <a:p>
            <a:pPr marL="177800" indent="-177800" algn="l">
              <a:spcBef>
                <a:spcPts val="324"/>
              </a:spcBef>
              <a:buFont typeface="Arial"/>
              <a:buChar char="•"/>
            </a:pPr>
            <a:r>
              <a:rPr sz="1300" b="0" i="0">
                <a:solidFill>
                  <a:srgbClr val="000000"/>
                </a:solidFill>
                <a:latin typeface="Book Antiqua"/>
              </a:rPr>
              <a:t>Fintech and Atome nearing breakeven; $500M EBITDA target for 2028</a:t>
            </a:r>
          </a:p>
          <a:p>
            <a:pPr marL="177800" indent="-177800" algn="l">
              <a:spcBef>
                <a:spcPts val="324"/>
              </a:spcBef>
              <a:buFont typeface="Arial"/>
              <a:buChar char="•"/>
            </a:pPr>
            <a:r>
              <a:rPr sz="1300" b="0" i="0">
                <a:solidFill>
                  <a:srgbClr val="000000"/>
                </a:solidFill>
                <a:latin typeface="Book Antiqua"/>
              </a:rPr>
              <a:t>Even with car rides capped too, our value ($3.04) is above the price</a:t>
            </a:r>
          </a:p>
        </p:txBody>
      </p:sp>
      <p:sp>
        <p:nvSpPr>
          <p:cNvPr id="32" name="section:We Exit If"/>
          <p:cNvSpPr/>
          <p:nvPr/>
        </p:nvSpPr>
        <p:spPr>
          <a:xfrm>
            <a:off x="6912086" y="4512564"/>
            <a:ext cx="5060152"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We Exit If</a:t>
            </a:r>
          </a:p>
        </p:txBody>
      </p:sp>
      <p:sp>
        <p:nvSpPr>
          <p:cNvPr id="33" name="body:conclusion"/>
          <p:cNvSpPr/>
          <p:nvPr/>
        </p:nvSpPr>
        <p:spPr>
          <a:xfrm>
            <a:off x="6912086" y="4841748"/>
            <a:ext cx="5060152" cy="138531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marL="177800" indent="-177800" algn="l">
              <a:buFont typeface="Arial"/>
              <a:buChar char="•"/>
            </a:pPr>
            <a:r>
              <a:rPr sz="1400" b="0" i="0">
                <a:solidFill>
                  <a:srgbClr val="000000"/>
                </a:solidFill>
                <a:latin typeface="Book Antiqua"/>
              </a:rPr>
              <a:t>The 8% cap reaches food delivery or a second country</a:t>
            </a:r>
          </a:p>
          <a:p>
            <a:pPr marL="177800" indent="-177800" algn="l">
              <a:spcBef>
                <a:spcPts val="400"/>
              </a:spcBef>
              <a:buFont typeface="Arial"/>
              <a:buChar char="•"/>
            </a:pPr>
            <a:r>
              <a:rPr sz="1400" b="0" i="0">
                <a:solidFill>
                  <a:srgbClr val="000000"/>
                </a:solidFill>
                <a:latin typeface="Book Antiqua"/>
              </a:rPr>
              <a:t>Margins stop rising in the Q3 or Q4 2026 results</a:t>
            </a:r>
          </a:p>
          <a:p>
            <a:pPr marL="177800" indent="-177800" algn="l">
              <a:spcBef>
                <a:spcPts val="400"/>
              </a:spcBef>
              <a:buFont typeface="Arial"/>
              <a:buChar char="•"/>
            </a:pPr>
            <a:r>
              <a:rPr sz="1400" b="0" i="0">
                <a:solidFill>
                  <a:srgbClr val="000000"/>
                </a:solidFill>
                <a:latin typeface="Book Antiqua"/>
              </a:rPr>
              <a:t>Fintech misses H2 2026 breakeven or credit losses rise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Ownership &amp; Management</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A founder-led company - the CEO controls the vote and just bought $29.9M of stock with his own money.</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17</a:t>
            </a:r>
          </a:p>
        </p:txBody>
      </p:sp>
      <p:sp>
        <p:nvSpPr>
          <p:cNvPr id="10" name="section:Major Shareholders (31 Jan 2026)"/>
          <p:cNvSpPr/>
          <p:nvPr/>
        </p:nvSpPr>
        <p:spPr>
          <a:xfrm>
            <a:off x="219456" y="1362456"/>
            <a:ext cx="552380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Major Shareholders (31 Jan 2026)</a:t>
            </a:r>
          </a:p>
        </p:txBody>
      </p:sp>
      <p:sp>
        <p:nvSpPr>
          <p:cNvPr id="11" name="table:header"/>
          <p:cNvSpPr/>
          <p:nvPr/>
        </p:nvSpPr>
        <p:spPr>
          <a:xfrm>
            <a:off x="219456" y="1728216"/>
            <a:ext cx="3093332"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FFFFFF"/>
                </a:solidFill>
                <a:latin typeface="Book Antiqua"/>
              </a:rPr>
              <a:t>Holder</a:t>
            </a:r>
          </a:p>
        </p:txBody>
      </p:sp>
      <p:sp>
        <p:nvSpPr>
          <p:cNvPr id="12" name="table:header"/>
          <p:cNvSpPr/>
          <p:nvPr/>
        </p:nvSpPr>
        <p:spPr>
          <a:xfrm>
            <a:off x="3312788" y="1728216"/>
            <a:ext cx="1215237"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 of Shares</a:t>
            </a:r>
          </a:p>
        </p:txBody>
      </p:sp>
      <p:sp>
        <p:nvSpPr>
          <p:cNvPr id="13" name="table:header"/>
          <p:cNvSpPr/>
          <p:nvPr/>
        </p:nvSpPr>
        <p:spPr>
          <a:xfrm>
            <a:off x="4528026" y="1728216"/>
            <a:ext cx="1215237" cy="36576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 of Votes</a:t>
            </a:r>
          </a:p>
        </p:txBody>
      </p:sp>
      <p:sp>
        <p:nvSpPr>
          <p:cNvPr id="14" name="table:cell"/>
          <p:cNvSpPr/>
          <p:nvPr/>
        </p:nvSpPr>
        <p:spPr>
          <a:xfrm>
            <a:off x="219456" y="2093976"/>
            <a:ext cx="3093332" cy="566928"/>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Anthony Tan (CEO, incl. proxies)</a:t>
            </a:r>
          </a:p>
        </p:txBody>
      </p:sp>
      <p:sp>
        <p:nvSpPr>
          <p:cNvPr id="15" name="table:cell"/>
          <p:cNvSpPr/>
          <p:nvPr/>
        </p:nvSpPr>
        <p:spPr>
          <a:xfrm>
            <a:off x="3312788" y="2093976"/>
            <a:ext cx="1215237" cy="566928"/>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3.2%</a:t>
            </a:r>
          </a:p>
        </p:txBody>
      </p:sp>
      <p:sp>
        <p:nvSpPr>
          <p:cNvPr id="16" name="table:cell"/>
          <p:cNvSpPr/>
          <p:nvPr/>
        </p:nvSpPr>
        <p:spPr>
          <a:xfrm>
            <a:off x="4528026" y="2093976"/>
            <a:ext cx="1215237" cy="566928"/>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59.9%</a:t>
            </a:r>
          </a:p>
        </p:txBody>
      </p:sp>
      <p:sp>
        <p:nvSpPr>
          <p:cNvPr id="17" name="table:cell"/>
          <p:cNvSpPr/>
          <p:nvPr/>
        </p:nvSpPr>
        <p:spPr>
          <a:xfrm>
            <a:off x="219456" y="2660904"/>
            <a:ext cx="309333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Uber Technologies</a:t>
            </a:r>
          </a:p>
        </p:txBody>
      </p:sp>
      <p:sp>
        <p:nvSpPr>
          <p:cNvPr id="18" name="table:cell"/>
          <p:cNvSpPr/>
          <p:nvPr/>
        </p:nvSpPr>
        <p:spPr>
          <a:xfrm>
            <a:off x="3312788" y="2660904"/>
            <a:ext cx="1215237"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13.1%</a:t>
            </a:r>
          </a:p>
        </p:txBody>
      </p:sp>
      <p:sp>
        <p:nvSpPr>
          <p:cNvPr id="19" name="table:cell"/>
          <p:cNvSpPr/>
          <p:nvPr/>
        </p:nvSpPr>
        <p:spPr>
          <a:xfrm>
            <a:off x="4528026" y="2660904"/>
            <a:ext cx="1215237"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5.5%</a:t>
            </a:r>
          </a:p>
        </p:txBody>
      </p:sp>
      <p:sp>
        <p:nvSpPr>
          <p:cNvPr id="20" name="table:cell"/>
          <p:cNvSpPr/>
          <p:nvPr/>
        </p:nvSpPr>
        <p:spPr>
          <a:xfrm>
            <a:off x="219456" y="3227832"/>
            <a:ext cx="3093332" cy="566928"/>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SoftBank (SB Investment Advisers)</a:t>
            </a:r>
          </a:p>
        </p:txBody>
      </p:sp>
      <p:sp>
        <p:nvSpPr>
          <p:cNvPr id="21" name="table:cell"/>
          <p:cNvSpPr/>
          <p:nvPr/>
        </p:nvSpPr>
        <p:spPr>
          <a:xfrm>
            <a:off x="3312788" y="3227832"/>
            <a:ext cx="1215237" cy="566928"/>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9.8%</a:t>
            </a:r>
          </a:p>
        </p:txBody>
      </p:sp>
      <p:sp>
        <p:nvSpPr>
          <p:cNvPr id="22" name="table:cell"/>
          <p:cNvSpPr/>
          <p:nvPr/>
        </p:nvSpPr>
        <p:spPr>
          <a:xfrm>
            <a:off x="4528026" y="3227832"/>
            <a:ext cx="1215237" cy="566928"/>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4.1%</a:t>
            </a:r>
          </a:p>
        </p:txBody>
      </p:sp>
      <p:sp>
        <p:nvSpPr>
          <p:cNvPr id="23" name="table:cell"/>
          <p:cNvSpPr/>
          <p:nvPr/>
        </p:nvSpPr>
        <p:spPr>
          <a:xfrm>
            <a:off x="219456" y="3794760"/>
            <a:ext cx="309333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Toyota Motor</a:t>
            </a:r>
          </a:p>
        </p:txBody>
      </p:sp>
      <p:sp>
        <p:nvSpPr>
          <p:cNvPr id="24" name="table:cell"/>
          <p:cNvSpPr/>
          <p:nvPr/>
        </p:nvSpPr>
        <p:spPr>
          <a:xfrm>
            <a:off x="3312788" y="3794760"/>
            <a:ext cx="1215237"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5.4%</a:t>
            </a:r>
          </a:p>
        </p:txBody>
      </p:sp>
      <p:sp>
        <p:nvSpPr>
          <p:cNvPr id="25" name="table:cell"/>
          <p:cNvSpPr/>
          <p:nvPr/>
        </p:nvSpPr>
        <p:spPr>
          <a:xfrm>
            <a:off x="4528026" y="3794760"/>
            <a:ext cx="1215237"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0" i="0">
                <a:solidFill>
                  <a:srgbClr val="000000"/>
                </a:solidFill>
                <a:latin typeface="Book Antiqua"/>
              </a:rPr>
              <a:t>2.3%</a:t>
            </a:r>
          </a:p>
        </p:txBody>
      </p:sp>
      <p:sp>
        <p:nvSpPr>
          <p:cNvPr id="26" name="callout:holders"/>
          <p:cNvSpPr/>
          <p:nvPr/>
        </p:nvSpPr>
        <p:spPr>
          <a:xfrm>
            <a:off x="219456" y="5138927"/>
            <a:ext cx="5523808" cy="868680"/>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ctr">
              <a:buNone/>
            </a:pPr>
            <a:r>
              <a:rPr sz="1350" b="0" i="0">
                <a:solidFill>
                  <a:srgbClr val="000000"/>
                </a:solidFill>
                <a:latin typeface="Book Antiqua"/>
              </a:rPr>
              <a:t>Class B votes doubled to 90 per share in Mar 2026: Tan now controls ~69-75% of the vote. Long-term owner, but little say for minorities.</a:t>
            </a:r>
          </a:p>
        </p:txBody>
      </p:sp>
      <p:sp>
        <p:nvSpPr>
          <p:cNvPr id="27" name="source"/>
          <p:cNvSpPr/>
          <p:nvPr/>
        </p:nvSpPr>
        <p:spPr>
          <a:xfrm>
            <a:off x="219456" y="6007607"/>
            <a:ext cx="11752783" cy="219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1000" b="0" i="1">
                <a:solidFill>
                  <a:srgbClr val="898989"/>
                </a:solidFill>
                <a:latin typeface="Book Antiqua"/>
              </a:rPr>
              <a:t>Source: Grab FY2025 20-F (Item 6, Item 7); Mar 2026 EGM results (6-K); Form 4 filings, Sep 2026</a:t>
            </a:r>
          </a:p>
        </p:txBody>
      </p:sp>
      <p:sp>
        <p:nvSpPr>
          <p:cNvPr id="28" name="section:Management Team"/>
          <p:cNvSpPr/>
          <p:nvPr/>
        </p:nvSpPr>
        <p:spPr>
          <a:xfrm>
            <a:off x="6017584" y="1362456"/>
            <a:ext cx="5954655"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Management Team</a:t>
            </a:r>
          </a:p>
        </p:txBody>
      </p:sp>
      <p:sp>
        <p:nvSpPr>
          <p:cNvPr id="29" name="panel:person-bg"/>
          <p:cNvSpPr/>
          <p:nvPr/>
        </p:nvSpPr>
        <p:spPr>
          <a:xfrm>
            <a:off x="6017584" y="1728216"/>
            <a:ext cx="5954655" cy="1371599"/>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mage:person" descr="tan.jpg"/>
          <p:cNvPicPr>
            <a:picLocks noChangeAspect="1"/>
          </p:cNvPicPr>
          <p:nvPr/>
        </p:nvPicPr>
        <p:blipFill>
          <a:blip r:embed="rId4"/>
          <a:stretch>
            <a:fillRect/>
          </a:stretch>
        </p:blipFill>
        <p:spPr>
          <a:xfrm>
            <a:off x="6090736" y="1801368"/>
            <a:ext cx="1225295" cy="1225295"/>
          </a:xfrm>
          <a:prstGeom prst="rect">
            <a:avLst/>
          </a:prstGeom>
        </p:spPr>
      </p:pic>
      <p:sp>
        <p:nvSpPr>
          <p:cNvPr id="31" name="body:person"/>
          <p:cNvSpPr/>
          <p:nvPr/>
        </p:nvSpPr>
        <p:spPr>
          <a:xfrm>
            <a:off x="7389184" y="1728216"/>
            <a:ext cx="4583055" cy="13715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l">
              <a:buNone/>
            </a:pPr>
            <a:r>
              <a:rPr sz="1600" b="1" i="0">
                <a:solidFill>
                  <a:srgbClr val="376092"/>
                </a:solidFill>
                <a:latin typeface="Book Antiqua"/>
              </a:rPr>
              <a:t>Anthony Tan</a:t>
            </a:r>
          </a:p>
          <a:p>
            <a:pPr algn="l">
              <a:buNone/>
            </a:pPr>
            <a:r>
              <a:rPr sz="1400" b="0" i="1">
                <a:solidFill>
                  <a:srgbClr val="898989"/>
                </a:solidFill>
                <a:latin typeface="Book Antiqua"/>
              </a:rPr>
              <a:t>Co-founder, Chairman and CEO (since 2012)</a:t>
            </a:r>
          </a:p>
          <a:p>
            <a:pPr marL="177800" indent="-177800" algn="l">
              <a:spcBef>
                <a:spcPts val="300"/>
              </a:spcBef>
              <a:buFont typeface="Arial"/>
              <a:buChar char="•"/>
            </a:pPr>
            <a:r>
              <a:rPr sz="1400" b="0" i="0">
                <a:solidFill>
                  <a:srgbClr val="000000"/>
                </a:solidFill>
                <a:latin typeface="Book Antiqua"/>
              </a:rPr>
              <a:t>Founded Grab in 2012; Harvard MBA</a:t>
            </a:r>
          </a:p>
          <a:p>
            <a:pPr marL="177800" indent="-177800" algn="l">
              <a:spcBef>
                <a:spcPts val="300"/>
              </a:spcBef>
              <a:buFont typeface="Arial"/>
              <a:buChar char="•"/>
            </a:pPr>
            <a:r>
              <a:rPr sz="1400" b="0" i="0">
                <a:solidFill>
                  <a:srgbClr val="000000"/>
                </a:solidFill>
                <a:latin typeface="Book Antiqua"/>
              </a:rPr>
              <a:t>Bought $29.9M of shares at ~$2.89 in Sep 2026</a:t>
            </a:r>
          </a:p>
        </p:txBody>
      </p:sp>
      <p:sp>
        <p:nvSpPr>
          <p:cNvPr id="32" name="panel:person-bg"/>
          <p:cNvSpPr/>
          <p:nvPr/>
        </p:nvSpPr>
        <p:spPr>
          <a:xfrm>
            <a:off x="6017584" y="3154680"/>
            <a:ext cx="5954655" cy="1371599"/>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mage:person" descr="hungate.jpg"/>
          <p:cNvPicPr>
            <a:picLocks noChangeAspect="1"/>
          </p:cNvPicPr>
          <p:nvPr/>
        </p:nvPicPr>
        <p:blipFill>
          <a:blip r:embed="rId5"/>
          <a:stretch>
            <a:fillRect/>
          </a:stretch>
        </p:blipFill>
        <p:spPr>
          <a:xfrm>
            <a:off x="6090736" y="3227832"/>
            <a:ext cx="1225295" cy="1225295"/>
          </a:xfrm>
          <a:prstGeom prst="rect">
            <a:avLst/>
          </a:prstGeom>
        </p:spPr>
      </p:pic>
      <p:sp>
        <p:nvSpPr>
          <p:cNvPr id="34" name="body:person"/>
          <p:cNvSpPr/>
          <p:nvPr/>
        </p:nvSpPr>
        <p:spPr>
          <a:xfrm>
            <a:off x="7389184" y="3154680"/>
            <a:ext cx="4583055" cy="13715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l">
              <a:buNone/>
            </a:pPr>
            <a:r>
              <a:rPr sz="1600" b="1" i="0">
                <a:solidFill>
                  <a:srgbClr val="376092"/>
                </a:solidFill>
                <a:latin typeface="Book Antiqua"/>
              </a:rPr>
              <a:t>Alex Hungate</a:t>
            </a:r>
          </a:p>
          <a:p>
            <a:pPr algn="l">
              <a:buNone/>
            </a:pPr>
            <a:r>
              <a:rPr sz="1400" b="0" i="1">
                <a:solidFill>
                  <a:srgbClr val="898989"/>
                </a:solidFill>
                <a:latin typeface="Book Antiqua"/>
              </a:rPr>
              <a:t>President and COO (since Jan 2022)</a:t>
            </a:r>
          </a:p>
          <a:p>
            <a:pPr marL="177800" indent="-177800" algn="l">
              <a:spcBef>
                <a:spcPts val="300"/>
              </a:spcBef>
              <a:buFont typeface="Arial"/>
              <a:buChar char="•"/>
            </a:pPr>
            <a:r>
              <a:rPr sz="1400" b="0" i="0">
                <a:solidFill>
                  <a:srgbClr val="000000"/>
                </a:solidFill>
                <a:latin typeface="Book Antiqua"/>
              </a:rPr>
              <a:t>Runs Mobility, Deliveries and Financial Services</a:t>
            </a:r>
          </a:p>
          <a:p>
            <a:pPr marL="177800" indent="-177800" algn="l">
              <a:spcBef>
                <a:spcPts val="300"/>
              </a:spcBef>
              <a:buFont typeface="Arial"/>
              <a:buChar char="•"/>
            </a:pPr>
            <a:r>
              <a:rPr sz="1400" b="0" i="0">
                <a:solidFill>
                  <a:srgbClr val="000000"/>
                </a:solidFill>
                <a:latin typeface="Book Antiqua"/>
              </a:rPr>
              <a:t>Ex-CEO of SATS and HSBC Singapore; bought $0.87M of shares</a:t>
            </a:r>
          </a:p>
        </p:txBody>
      </p:sp>
      <p:sp>
        <p:nvSpPr>
          <p:cNvPr id="35" name="panel:person-bg"/>
          <p:cNvSpPr/>
          <p:nvPr/>
        </p:nvSpPr>
        <p:spPr>
          <a:xfrm>
            <a:off x="6017584" y="4581144"/>
            <a:ext cx="5954655" cy="1371599"/>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mage:person" descr="oey.jpg"/>
          <p:cNvPicPr>
            <a:picLocks noChangeAspect="1"/>
          </p:cNvPicPr>
          <p:nvPr/>
        </p:nvPicPr>
        <p:blipFill>
          <a:blip r:embed="rId6"/>
          <a:stretch>
            <a:fillRect/>
          </a:stretch>
        </p:blipFill>
        <p:spPr>
          <a:xfrm>
            <a:off x="6090736" y="4654296"/>
            <a:ext cx="1225295" cy="1225295"/>
          </a:xfrm>
          <a:prstGeom prst="rect">
            <a:avLst/>
          </a:prstGeom>
        </p:spPr>
      </p:pic>
      <p:sp>
        <p:nvSpPr>
          <p:cNvPr id="37" name="body:person"/>
          <p:cNvSpPr/>
          <p:nvPr/>
        </p:nvSpPr>
        <p:spPr>
          <a:xfrm>
            <a:off x="7389184" y="4581144"/>
            <a:ext cx="4583055" cy="13715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Autofit/>
          </a:bodyPr>
          <a:lstStyle/>
          <a:p>
            <a:pPr algn="l">
              <a:buNone/>
            </a:pPr>
            <a:r>
              <a:rPr sz="1600" b="1" i="0">
                <a:solidFill>
                  <a:srgbClr val="376092"/>
                </a:solidFill>
                <a:latin typeface="Book Antiqua"/>
              </a:rPr>
              <a:t>Peter Oey</a:t>
            </a:r>
          </a:p>
          <a:p>
            <a:pPr algn="l">
              <a:buNone/>
            </a:pPr>
            <a:r>
              <a:rPr sz="1400" b="0" i="1">
                <a:solidFill>
                  <a:srgbClr val="898989"/>
                </a:solidFill>
                <a:latin typeface="Book Antiqua"/>
              </a:rPr>
              <a:t>Chief Financial Officer (since Apr 2020)</a:t>
            </a:r>
          </a:p>
          <a:p>
            <a:pPr marL="177800" indent="-177800" algn="l">
              <a:spcBef>
                <a:spcPts val="300"/>
              </a:spcBef>
              <a:buFont typeface="Arial"/>
              <a:buChar char="•"/>
            </a:pPr>
            <a:r>
              <a:rPr sz="1400" b="0" i="0">
                <a:solidFill>
                  <a:srgbClr val="000000"/>
                </a:solidFill>
                <a:latin typeface="Book Antiqua"/>
              </a:rPr>
              <a:t>Ex-CFO of LegalZoom; 15 years at Activision Blizzard</a:t>
            </a:r>
          </a:p>
          <a:p>
            <a:pPr marL="177800" indent="-177800" algn="l">
              <a:spcBef>
                <a:spcPts val="300"/>
              </a:spcBef>
              <a:buFont typeface="Arial"/>
              <a:buChar char="•"/>
            </a:pPr>
            <a:r>
              <a:rPr sz="1400" b="0" i="0">
                <a:solidFill>
                  <a:srgbClr val="000000"/>
                </a:solidFill>
                <a:latin typeface="Book Antiqua"/>
              </a:rPr>
              <a:t>CFO through the turn to Grab's first full-year profit (FY2025)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M&amp;A History and Track Record</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Buying Uber's regional business made Grab the leader; its fintech deals are mixed, and Atome is the biggest bet yet.</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18</a:t>
            </a:r>
          </a:p>
        </p:txBody>
      </p:sp>
      <p:sp>
        <p:nvSpPr>
          <p:cNvPr id="10" name="label:deal-date"/>
          <p:cNvSpPr/>
          <p:nvPr/>
        </p:nvSpPr>
        <p:spPr>
          <a:xfrm>
            <a:off x="219456" y="1362456"/>
            <a:ext cx="22627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Apr 2017</a:t>
            </a:r>
          </a:p>
        </p:txBody>
      </p:sp>
      <p:sp>
        <p:nvSpPr>
          <p:cNvPr id="11" name="body:deal"/>
          <p:cNvSpPr/>
          <p:nvPr/>
        </p:nvSpPr>
        <p:spPr>
          <a:xfrm>
            <a:off x="219456" y="1673352"/>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400" b="1" i="0">
                <a:solidFill>
                  <a:srgbClr val="376092"/>
                </a:solidFill>
                <a:latin typeface="Book Antiqua"/>
              </a:rPr>
              <a:t>Kudo</a:t>
            </a:r>
          </a:p>
          <a:p>
            <a:pPr algn="ctr">
              <a:spcBef>
                <a:spcPts val="162"/>
              </a:spcBef>
              <a:buNone/>
            </a:pPr>
            <a:r>
              <a:rPr sz="1300" b="1" i="0">
                <a:solidFill>
                  <a:srgbClr val="000000"/>
                </a:solidFill>
                <a:latin typeface="Book Antiqua"/>
              </a:rPr>
              <a:t>~$80-100M (reported)</a:t>
            </a:r>
          </a:p>
          <a:p>
            <a:pPr algn="ctr">
              <a:spcBef>
                <a:spcPts val="324"/>
              </a:spcBef>
              <a:buNone/>
            </a:pPr>
            <a:r>
              <a:rPr sz="1300" b="0" i="0">
                <a:solidFill>
                  <a:srgbClr val="000000"/>
                </a:solidFill>
                <a:latin typeface="Book Antiqua"/>
              </a:rPr>
              <a:t>Indonesian payments agent network</a:t>
            </a:r>
          </a:p>
          <a:p>
            <a:pPr algn="ctr">
              <a:spcBef>
                <a:spcPts val="405"/>
              </a:spcBef>
              <a:buNone/>
            </a:pPr>
            <a:r>
              <a:rPr sz="1300" b="1" i="0">
                <a:solidFill>
                  <a:srgbClr val="2E7D32"/>
                </a:solidFill>
                <a:latin typeface="Book Antiqua"/>
              </a:rPr>
              <a:t>WORKED: still runs as GrabKios</a:t>
            </a:r>
          </a:p>
        </p:txBody>
      </p:sp>
      <p:sp>
        <p:nvSpPr>
          <p:cNvPr id="12" name="label:deal-tag"/>
          <p:cNvSpPr/>
          <p:nvPr/>
        </p:nvSpPr>
        <p:spPr>
          <a:xfrm>
            <a:off x="219456" y="3172968"/>
            <a:ext cx="2262774" cy="822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abel:deal-date"/>
          <p:cNvSpPr/>
          <p:nvPr/>
        </p:nvSpPr>
        <p:spPr>
          <a:xfrm>
            <a:off x="2591958" y="1362456"/>
            <a:ext cx="2262774" cy="3108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Mar 2018</a:t>
            </a:r>
          </a:p>
        </p:txBody>
      </p:sp>
      <p:sp>
        <p:nvSpPr>
          <p:cNvPr id="14" name="body:deal"/>
          <p:cNvSpPr/>
          <p:nvPr/>
        </p:nvSpPr>
        <p:spPr>
          <a:xfrm>
            <a:off x="2591958" y="1673352"/>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400" b="1" i="0">
                <a:solidFill>
                  <a:srgbClr val="376092"/>
                </a:solidFill>
                <a:latin typeface="Book Antiqua"/>
              </a:rPr>
              <a:t>Uber Southeast Asia</a:t>
            </a:r>
          </a:p>
          <a:p>
            <a:pPr algn="ctr">
              <a:spcBef>
                <a:spcPts val="162"/>
              </a:spcBef>
              <a:buNone/>
            </a:pPr>
            <a:r>
              <a:rPr sz="1300" b="1" i="0">
                <a:solidFill>
                  <a:srgbClr val="000000"/>
                </a:solidFill>
                <a:latin typeface="Book Antiqua"/>
              </a:rPr>
              <a:t>27.5% of Grab (13% now)</a:t>
            </a:r>
          </a:p>
          <a:p>
            <a:pPr algn="ctr">
              <a:spcBef>
                <a:spcPts val="324"/>
              </a:spcBef>
              <a:buNone/>
            </a:pPr>
            <a:r>
              <a:rPr sz="1300" b="0" i="0">
                <a:solidFill>
                  <a:srgbClr val="000000"/>
                </a:solidFill>
                <a:latin typeface="Book Antiqua"/>
              </a:rPr>
              <a:t>Uber's regional rides and food</a:t>
            </a:r>
          </a:p>
          <a:p>
            <a:pPr algn="ctr">
              <a:spcBef>
                <a:spcPts val="405"/>
              </a:spcBef>
              <a:buNone/>
            </a:pPr>
            <a:r>
              <a:rPr sz="1300" b="1" i="0">
                <a:solidFill>
                  <a:srgbClr val="2E7D32"/>
                </a:solidFill>
                <a:latin typeface="Book Antiqua"/>
              </a:rPr>
              <a:t>WORKED: ~80% of Singapore rides; fined</a:t>
            </a:r>
          </a:p>
        </p:txBody>
      </p:sp>
      <p:sp>
        <p:nvSpPr>
          <p:cNvPr id="15" name="label:deal-tag"/>
          <p:cNvSpPr/>
          <p:nvPr/>
        </p:nvSpPr>
        <p:spPr>
          <a:xfrm>
            <a:off x="2591958" y="3172968"/>
            <a:ext cx="2262774" cy="822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label:deal-date"/>
          <p:cNvSpPr/>
          <p:nvPr/>
        </p:nvSpPr>
        <p:spPr>
          <a:xfrm>
            <a:off x="4964460" y="1362456"/>
            <a:ext cx="22627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Feb 2020</a:t>
            </a:r>
          </a:p>
        </p:txBody>
      </p:sp>
      <p:sp>
        <p:nvSpPr>
          <p:cNvPr id="17" name="body:deal"/>
          <p:cNvSpPr/>
          <p:nvPr/>
        </p:nvSpPr>
        <p:spPr>
          <a:xfrm>
            <a:off x="4964460" y="1673352"/>
            <a:ext cx="2262774" cy="1499615"/>
          </a:xfrm>
          <a:prstGeom prst="rect">
            <a:avLst/>
          </a:prstGeom>
          <a:solidFill>
            <a:srgbClr val="E6EEF8"/>
          </a:solidFill>
          <a:ln w="9525">
            <a:solidFill>
              <a:srgbClr val="C0392B"/>
            </a:solidFill>
            <a:prstDash val="dash"/>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500" b="1" i="0">
                <a:solidFill>
                  <a:srgbClr val="376092"/>
                </a:solidFill>
                <a:latin typeface="Book Antiqua"/>
              </a:rPr>
              <a:t>Bento</a:t>
            </a:r>
          </a:p>
          <a:p>
            <a:pPr algn="ctr">
              <a:spcBef>
                <a:spcPts val="400"/>
              </a:spcBef>
              <a:buNone/>
            </a:pPr>
            <a:r>
              <a:rPr sz="1400" b="0" i="0">
                <a:solidFill>
                  <a:srgbClr val="000000"/>
                </a:solidFill>
                <a:latin typeface="Book Antiqua"/>
              </a:rPr>
              <a:t>Singapore robo-advisor (GrabInvest)</a:t>
            </a:r>
          </a:p>
          <a:p>
            <a:pPr algn="ctr">
              <a:spcBef>
                <a:spcPts val="500"/>
              </a:spcBef>
              <a:buNone/>
            </a:pPr>
            <a:r>
              <a:rPr sz="1400" b="1" i="0">
                <a:solidFill>
                  <a:srgbClr val="C0392B"/>
                </a:solidFill>
                <a:latin typeface="Book Antiqua"/>
              </a:rPr>
              <a:t>FAILED: shut in 2023, not viable</a:t>
            </a:r>
          </a:p>
        </p:txBody>
      </p:sp>
      <p:sp>
        <p:nvSpPr>
          <p:cNvPr id="18" name="label:deal-tag"/>
          <p:cNvSpPr/>
          <p:nvPr/>
        </p:nvSpPr>
        <p:spPr>
          <a:xfrm>
            <a:off x="4964460" y="3172968"/>
            <a:ext cx="2262774" cy="822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label:deal-date"/>
          <p:cNvSpPr/>
          <p:nvPr/>
        </p:nvSpPr>
        <p:spPr>
          <a:xfrm>
            <a:off x="7336962" y="1362456"/>
            <a:ext cx="22627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Oct 2021</a:t>
            </a:r>
          </a:p>
        </p:txBody>
      </p:sp>
      <p:sp>
        <p:nvSpPr>
          <p:cNvPr id="20" name="body:deal"/>
          <p:cNvSpPr/>
          <p:nvPr/>
        </p:nvSpPr>
        <p:spPr>
          <a:xfrm>
            <a:off x="7336962" y="1673352"/>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500" b="1" i="0">
                <a:solidFill>
                  <a:srgbClr val="376092"/>
                </a:solidFill>
                <a:latin typeface="Book Antiqua"/>
              </a:rPr>
              <a:t>OVO</a:t>
            </a:r>
          </a:p>
          <a:p>
            <a:pPr algn="ctr">
              <a:spcBef>
                <a:spcPts val="200"/>
              </a:spcBef>
              <a:buNone/>
            </a:pPr>
            <a:r>
              <a:rPr sz="1400" b="1" i="0">
                <a:solidFill>
                  <a:srgbClr val="000000"/>
                </a:solidFill>
                <a:latin typeface="Book Antiqua"/>
              </a:rPr>
              <a:t>majority control</a:t>
            </a:r>
          </a:p>
          <a:p>
            <a:pPr algn="ctr">
              <a:spcBef>
                <a:spcPts val="400"/>
              </a:spcBef>
              <a:buNone/>
            </a:pPr>
            <a:r>
              <a:rPr sz="1400" b="0" i="0">
                <a:solidFill>
                  <a:srgbClr val="000000"/>
                </a:solidFill>
                <a:latin typeface="Book Antiqua"/>
              </a:rPr>
              <a:t>Indonesian e-wallet</a:t>
            </a:r>
          </a:p>
          <a:p>
            <a:pPr algn="ctr">
              <a:spcBef>
                <a:spcPts val="500"/>
              </a:spcBef>
              <a:buNone/>
            </a:pPr>
            <a:r>
              <a:rPr sz="1400" b="1" i="0">
                <a:solidFill>
                  <a:srgbClr val="898989"/>
                </a:solidFill>
                <a:latin typeface="Book Antiqua"/>
              </a:rPr>
              <a:t>UNCLEAR: results not disclosed</a:t>
            </a:r>
          </a:p>
        </p:txBody>
      </p:sp>
      <p:sp>
        <p:nvSpPr>
          <p:cNvPr id="21" name="label:deal-tag"/>
          <p:cNvSpPr/>
          <p:nvPr/>
        </p:nvSpPr>
        <p:spPr>
          <a:xfrm>
            <a:off x="7336962" y="3172968"/>
            <a:ext cx="2262774" cy="822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label:deal-date"/>
          <p:cNvSpPr/>
          <p:nvPr/>
        </p:nvSpPr>
        <p:spPr>
          <a:xfrm>
            <a:off x="9709464" y="1362456"/>
            <a:ext cx="2262774" cy="3108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Jan 2022</a:t>
            </a:r>
          </a:p>
        </p:txBody>
      </p:sp>
      <p:sp>
        <p:nvSpPr>
          <p:cNvPr id="23" name="body:deal"/>
          <p:cNvSpPr/>
          <p:nvPr/>
        </p:nvSpPr>
        <p:spPr>
          <a:xfrm>
            <a:off x="9709464" y="1673352"/>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400" b="1" i="0">
                <a:solidFill>
                  <a:srgbClr val="376092"/>
                </a:solidFill>
                <a:latin typeface="Book Antiqua"/>
              </a:rPr>
              <a:t>Jaya Grocer</a:t>
            </a:r>
          </a:p>
          <a:p>
            <a:pPr algn="ctr">
              <a:spcBef>
                <a:spcPts val="162"/>
              </a:spcBef>
              <a:buNone/>
            </a:pPr>
            <a:r>
              <a:rPr sz="1300" b="1" i="0">
                <a:solidFill>
                  <a:srgbClr val="000000"/>
                </a:solidFill>
                <a:latin typeface="Book Antiqua"/>
              </a:rPr>
              <a:t>majority stake</a:t>
            </a:r>
          </a:p>
          <a:p>
            <a:pPr algn="ctr">
              <a:spcBef>
                <a:spcPts val="324"/>
              </a:spcBef>
              <a:buNone/>
            </a:pPr>
            <a:r>
              <a:rPr sz="1300" b="0" i="0">
                <a:solidFill>
                  <a:srgbClr val="000000"/>
                </a:solidFill>
                <a:latin typeface="Book Antiqua"/>
              </a:rPr>
              <a:t>Malaysian supermarket chain</a:t>
            </a:r>
          </a:p>
          <a:p>
            <a:pPr algn="ctr">
              <a:spcBef>
                <a:spcPts val="405"/>
              </a:spcBef>
              <a:buNone/>
            </a:pPr>
            <a:r>
              <a:rPr sz="1300" b="1" i="0">
                <a:solidFill>
                  <a:srgbClr val="2E7D32"/>
                </a:solidFill>
                <a:latin typeface="Book Antiqua"/>
              </a:rPr>
              <a:t>WORKING: still expanding</a:t>
            </a:r>
          </a:p>
        </p:txBody>
      </p:sp>
      <p:sp>
        <p:nvSpPr>
          <p:cNvPr id="24" name="label:deal-tag"/>
          <p:cNvSpPr/>
          <p:nvPr/>
        </p:nvSpPr>
        <p:spPr>
          <a:xfrm>
            <a:off x="9709464" y="3172968"/>
            <a:ext cx="2262774" cy="822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abel:deal-date"/>
          <p:cNvSpPr/>
          <p:nvPr/>
        </p:nvSpPr>
        <p:spPr>
          <a:xfrm>
            <a:off x="1405707" y="3355848"/>
            <a:ext cx="2262774" cy="3108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Jul 2024</a:t>
            </a:r>
          </a:p>
        </p:txBody>
      </p:sp>
      <p:sp>
        <p:nvSpPr>
          <p:cNvPr id="26" name="body:deal"/>
          <p:cNvSpPr/>
          <p:nvPr/>
        </p:nvSpPr>
        <p:spPr>
          <a:xfrm>
            <a:off x="1405707" y="3666744"/>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500" b="1" i="0">
                <a:solidFill>
                  <a:srgbClr val="376092"/>
                </a:solidFill>
                <a:latin typeface="Book Antiqua"/>
              </a:rPr>
              <a:t>Chope</a:t>
            </a:r>
          </a:p>
          <a:p>
            <a:pPr algn="ctr">
              <a:spcBef>
                <a:spcPts val="400"/>
              </a:spcBef>
              <a:buNone/>
            </a:pPr>
            <a:r>
              <a:rPr sz="1400" b="0" i="0">
                <a:solidFill>
                  <a:srgbClr val="000000"/>
                </a:solidFill>
                <a:latin typeface="Book Antiqua"/>
              </a:rPr>
              <a:t>Restaurant bookings in SG, ID and TH</a:t>
            </a:r>
          </a:p>
          <a:p>
            <a:pPr algn="ctr">
              <a:spcBef>
                <a:spcPts val="500"/>
              </a:spcBef>
              <a:buNone/>
            </a:pPr>
            <a:r>
              <a:rPr sz="1400" b="1" i="0">
                <a:solidFill>
                  <a:srgbClr val="898989"/>
                </a:solidFill>
                <a:latin typeface="Book Antiqua"/>
              </a:rPr>
              <a:t>TOO EARLY</a:t>
            </a:r>
          </a:p>
        </p:txBody>
      </p:sp>
      <p:sp>
        <p:nvSpPr>
          <p:cNvPr id="27" name="label:deal-tag"/>
          <p:cNvSpPr/>
          <p:nvPr/>
        </p:nvSpPr>
        <p:spPr>
          <a:xfrm>
            <a:off x="1405707" y="5166360"/>
            <a:ext cx="2262774" cy="822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abel:deal-date"/>
          <p:cNvSpPr/>
          <p:nvPr/>
        </p:nvSpPr>
        <p:spPr>
          <a:xfrm>
            <a:off x="3778209" y="3355848"/>
            <a:ext cx="2262774" cy="3108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Mar 2026</a:t>
            </a:r>
          </a:p>
        </p:txBody>
      </p:sp>
      <p:sp>
        <p:nvSpPr>
          <p:cNvPr id="29" name="body:deal"/>
          <p:cNvSpPr/>
          <p:nvPr/>
        </p:nvSpPr>
        <p:spPr>
          <a:xfrm>
            <a:off x="3778209" y="3666744"/>
            <a:ext cx="2262774" cy="1499615"/>
          </a:xfrm>
          <a:prstGeom prst="rect">
            <a:avLst/>
          </a:prstGeom>
          <a:solidFill>
            <a:srgbClr val="E6EEF8"/>
          </a:solidFill>
          <a:ln w="9525">
            <a:solidFill>
              <a:srgbClr val="C0392B"/>
            </a:solidFill>
            <a:prstDash val="dash"/>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400" b="1" i="0">
                <a:solidFill>
                  <a:srgbClr val="376092"/>
                </a:solidFill>
                <a:latin typeface="Book Antiqua"/>
              </a:rPr>
              <a:t>Foodpanda Taiwan</a:t>
            </a:r>
          </a:p>
          <a:p>
            <a:pPr algn="ctr">
              <a:spcBef>
                <a:spcPts val="162"/>
              </a:spcBef>
              <a:buNone/>
            </a:pPr>
            <a:r>
              <a:rPr sz="1300" b="1" i="0">
                <a:solidFill>
                  <a:srgbClr val="000000"/>
                </a:solidFill>
                <a:latin typeface="Book Antiqua"/>
              </a:rPr>
              <a:t>$600M cash</a:t>
            </a:r>
          </a:p>
          <a:p>
            <a:pPr algn="ctr">
              <a:spcBef>
                <a:spcPts val="324"/>
              </a:spcBef>
              <a:buNone/>
            </a:pPr>
            <a:r>
              <a:rPr sz="1300" b="0" i="0">
                <a:solidFill>
                  <a:srgbClr val="000000"/>
                </a:solidFill>
                <a:latin typeface="Book Antiqua"/>
              </a:rPr>
              <a:t>First market outside Southeast Asia</a:t>
            </a:r>
          </a:p>
          <a:p>
            <a:pPr algn="ctr">
              <a:spcBef>
                <a:spcPts val="405"/>
              </a:spcBef>
              <a:buNone/>
            </a:pPr>
            <a:r>
              <a:rPr sz="1300" b="1" i="0">
                <a:solidFill>
                  <a:srgbClr val="C0392B"/>
                </a:solidFill>
                <a:latin typeface="Book Antiqua"/>
              </a:rPr>
              <a:t>BLOCKED: Taiwan regulator, 21 Oct</a:t>
            </a:r>
          </a:p>
        </p:txBody>
      </p:sp>
      <p:sp>
        <p:nvSpPr>
          <p:cNvPr id="30" name="label:deal-tag"/>
          <p:cNvSpPr/>
          <p:nvPr/>
        </p:nvSpPr>
        <p:spPr>
          <a:xfrm>
            <a:off x="3778209" y="5166360"/>
            <a:ext cx="2262774" cy="82296"/>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label:deal-date"/>
          <p:cNvSpPr/>
          <p:nvPr/>
        </p:nvSpPr>
        <p:spPr>
          <a:xfrm>
            <a:off x="6150711" y="3355848"/>
            <a:ext cx="22627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May 2026</a:t>
            </a:r>
          </a:p>
        </p:txBody>
      </p:sp>
      <p:sp>
        <p:nvSpPr>
          <p:cNvPr id="32" name="body:deal"/>
          <p:cNvSpPr/>
          <p:nvPr/>
        </p:nvSpPr>
        <p:spPr>
          <a:xfrm>
            <a:off x="6150711" y="3666744"/>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500" b="1" i="0">
                <a:solidFill>
                  <a:srgbClr val="376092"/>
                </a:solidFill>
                <a:latin typeface="Book Antiqua"/>
              </a:rPr>
              <a:t>Superbank</a:t>
            </a:r>
          </a:p>
          <a:p>
            <a:pPr algn="ctr">
              <a:spcBef>
                <a:spcPts val="200"/>
              </a:spcBef>
              <a:buNone/>
            </a:pPr>
            <a:r>
              <a:rPr sz="1400" b="1" i="0">
                <a:solidFill>
                  <a:srgbClr val="000000"/>
                </a:solidFill>
                <a:latin typeface="Book Antiqua"/>
              </a:rPr>
              <a:t>stake to 50.5%</a:t>
            </a:r>
          </a:p>
          <a:p>
            <a:pPr algn="ctr">
              <a:spcBef>
                <a:spcPts val="400"/>
              </a:spcBef>
              <a:buNone/>
            </a:pPr>
            <a:r>
              <a:rPr sz="1400" b="0" i="0">
                <a:solidFill>
                  <a:srgbClr val="000000"/>
                </a:solidFill>
                <a:latin typeface="Book Antiqua"/>
              </a:rPr>
              <a:t>Indonesian digital bank</a:t>
            </a:r>
          </a:p>
          <a:p>
            <a:pPr algn="ctr">
              <a:spcBef>
                <a:spcPts val="500"/>
              </a:spcBef>
              <a:buNone/>
            </a:pPr>
            <a:r>
              <a:rPr sz="1400" b="1" i="0">
                <a:solidFill>
                  <a:srgbClr val="2E7D32"/>
                </a:solidFill>
                <a:latin typeface="Book Antiqua"/>
              </a:rPr>
              <a:t>WORKING: profitable; 7M+ customers</a:t>
            </a:r>
          </a:p>
        </p:txBody>
      </p:sp>
      <p:sp>
        <p:nvSpPr>
          <p:cNvPr id="33" name="label:deal-tag"/>
          <p:cNvSpPr/>
          <p:nvPr/>
        </p:nvSpPr>
        <p:spPr>
          <a:xfrm>
            <a:off x="6150711" y="5166360"/>
            <a:ext cx="2262774" cy="822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abel:deal-date"/>
          <p:cNvSpPr/>
          <p:nvPr/>
        </p:nvSpPr>
        <p:spPr>
          <a:xfrm>
            <a:off x="8523213" y="3355848"/>
            <a:ext cx="22627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buNone/>
            </a:pPr>
            <a:r>
              <a:rPr sz="1400" b="1" i="0">
                <a:solidFill>
                  <a:srgbClr val="FFFFFF"/>
                </a:solidFill>
                <a:latin typeface="Book Antiqua"/>
              </a:rPr>
              <a:t>Sep 2026</a:t>
            </a:r>
          </a:p>
        </p:txBody>
      </p:sp>
      <p:sp>
        <p:nvSpPr>
          <p:cNvPr id="35" name="body:deal"/>
          <p:cNvSpPr/>
          <p:nvPr/>
        </p:nvSpPr>
        <p:spPr>
          <a:xfrm>
            <a:off x="8523213" y="3666744"/>
            <a:ext cx="2262774" cy="149961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t">
            <a:noAutofit/>
          </a:bodyPr>
          <a:lstStyle/>
          <a:p>
            <a:pPr algn="ctr">
              <a:buNone/>
            </a:pPr>
            <a:r>
              <a:rPr sz="1400" b="1" i="0">
                <a:solidFill>
                  <a:srgbClr val="376092"/>
                </a:solidFill>
                <a:latin typeface="Book Antiqua"/>
              </a:rPr>
              <a:t>Atome</a:t>
            </a:r>
          </a:p>
          <a:p>
            <a:pPr algn="ctr">
              <a:spcBef>
                <a:spcPts val="162"/>
              </a:spcBef>
              <a:buNone/>
            </a:pPr>
            <a:r>
              <a:rPr sz="1300" b="1" i="0">
                <a:solidFill>
                  <a:srgbClr val="000000"/>
                </a:solidFill>
                <a:latin typeface="Book Antiqua"/>
              </a:rPr>
              <a:t>$1.49B for 60%</a:t>
            </a:r>
          </a:p>
          <a:p>
            <a:pPr algn="ctr">
              <a:spcBef>
                <a:spcPts val="324"/>
              </a:spcBef>
              <a:buNone/>
            </a:pPr>
            <a:r>
              <a:rPr sz="1300" b="0" i="0">
                <a:solidFill>
                  <a:srgbClr val="000000"/>
                </a:solidFill>
                <a:latin typeface="Book Antiqua"/>
              </a:rPr>
              <a:t>Consumer lender (pay later)</a:t>
            </a:r>
          </a:p>
          <a:p>
            <a:pPr algn="ctr">
              <a:spcBef>
                <a:spcPts val="405"/>
              </a:spcBef>
              <a:buNone/>
            </a:pPr>
            <a:r>
              <a:rPr sz="1300" b="1" i="0">
                <a:solidFill>
                  <a:srgbClr val="898989"/>
                </a:solidFill>
                <a:latin typeface="Book Antiqua"/>
              </a:rPr>
              <a:t>PENDING: closes by Q3 2027</a:t>
            </a:r>
          </a:p>
        </p:txBody>
      </p:sp>
      <p:sp>
        <p:nvSpPr>
          <p:cNvPr id="36" name="label:deal-tag"/>
          <p:cNvSpPr/>
          <p:nvPr/>
        </p:nvSpPr>
        <p:spPr>
          <a:xfrm>
            <a:off x="8523213" y="5166360"/>
            <a:ext cx="2262774" cy="822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label:legend-swatch"/>
          <p:cNvSpPr/>
          <p:nvPr/>
        </p:nvSpPr>
        <p:spPr>
          <a:xfrm>
            <a:off x="219456" y="5349240"/>
            <a:ext cx="146304" cy="14630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label:legend"/>
          <p:cNvSpPr/>
          <p:nvPr/>
        </p:nvSpPr>
        <p:spPr>
          <a:xfrm>
            <a:off x="420623" y="5266944"/>
            <a:ext cx="152019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400" b="0" i="0">
                <a:solidFill>
                  <a:srgbClr val="000000"/>
                </a:solidFill>
                <a:latin typeface="Book Antiqua"/>
              </a:rPr>
              <a:t>Financial services</a:t>
            </a:r>
          </a:p>
        </p:txBody>
      </p:sp>
      <p:sp>
        <p:nvSpPr>
          <p:cNvPr id="39" name="label:legend-swatch"/>
          <p:cNvSpPr/>
          <p:nvPr/>
        </p:nvSpPr>
        <p:spPr>
          <a:xfrm>
            <a:off x="2215134" y="5349240"/>
            <a:ext cx="146304" cy="146304"/>
          </a:xfrm>
          <a:prstGeom prst="rect">
            <a:avLst/>
          </a:prstGeom>
          <a:solidFill>
            <a:srgbClr val="187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abel:legend"/>
          <p:cNvSpPr/>
          <p:nvPr/>
        </p:nvSpPr>
        <p:spPr>
          <a:xfrm>
            <a:off x="2416302" y="5266944"/>
            <a:ext cx="145796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400" b="0" i="0">
                <a:solidFill>
                  <a:srgbClr val="000000"/>
                </a:solidFill>
                <a:latin typeface="Book Antiqua"/>
              </a:rPr>
              <a:t>Rides &amp; delivery</a:t>
            </a:r>
          </a:p>
        </p:txBody>
      </p:sp>
      <p:sp>
        <p:nvSpPr>
          <p:cNvPr id="41" name="source"/>
          <p:cNvSpPr/>
          <p:nvPr/>
        </p:nvSpPr>
        <p:spPr>
          <a:xfrm>
            <a:off x="4148581" y="5266944"/>
            <a:ext cx="7823657"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000" b="0" i="1">
                <a:solidFill>
                  <a:srgbClr val="898989"/>
                </a:solidFill>
                <a:latin typeface="Book Antiqua"/>
              </a:rPr>
              <a:t>Source: Grab filings and releases; TechCrunch, The Edge, Reuters / Nikkei (see notes)</a:t>
            </a:r>
          </a:p>
        </p:txBody>
      </p:sp>
      <p:sp>
        <p:nvSpPr>
          <p:cNvPr id="42" name="callout:timeline"/>
          <p:cNvSpPr/>
          <p:nvPr/>
        </p:nvSpPr>
        <p:spPr>
          <a:xfrm>
            <a:off x="219456" y="5660136"/>
            <a:ext cx="11752783" cy="566928"/>
          </a:xfrm>
          <a:prstGeom prst="rect">
            <a:avLst/>
          </a:prstGeom>
          <a:noFill/>
          <a:ln w="9525">
            <a:solidFill>
              <a:srgbClr val="376092"/>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noAutofit/>
          </a:bodyPr>
          <a:lstStyle/>
          <a:p>
            <a:pPr algn="ctr">
              <a:buNone/>
            </a:pPr>
            <a:r>
              <a:rPr sz="1250" b="0" i="0">
                <a:solidFill>
                  <a:srgbClr val="000000"/>
                </a:solidFill>
                <a:latin typeface="Book Antiqua"/>
              </a:rPr>
              <a:t>Scorecard: 4 worked, 1 failed, 1 unclear, 1 blocked, 2 too early. It matters because Atome ($1.49B, Grab's largest cash deal) underpins the $500M 2028 fintech target.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Appendix – Peer Set</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Full peer set behind the comparable-company statistics.</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19</a:t>
            </a:r>
          </a:p>
        </p:txBody>
      </p:sp>
      <p:sp>
        <p:nvSpPr>
          <p:cNvPr id="10" name="section:Full Peer Set (9 companies)"/>
          <p:cNvSpPr/>
          <p:nvPr/>
        </p:nvSpPr>
        <p:spPr>
          <a:xfrm>
            <a:off x="219456" y="1362456"/>
            <a:ext cx="11752783"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Full Peer Set (9 companies)</a:t>
            </a:r>
          </a:p>
        </p:txBody>
      </p:sp>
      <p:sp>
        <p:nvSpPr>
          <p:cNvPr id="11" name="table:header"/>
          <p:cNvSpPr/>
          <p:nvPr/>
        </p:nvSpPr>
        <p:spPr>
          <a:xfrm>
            <a:off x="219456" y="1709928"/>
            <a:ext cx="2938195"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FFFFFF"/>
                </a:solidFill>
                <a:latin typeface="Book Antiqua"/>
              </a:rPr>
              <a:t>Company</a:t>
            </a:r>
          </a:p>
        </p:txBody>
      </p:sp>
      <p:sp>
        <p:nvSpPr>
          <p:cNvPr id="12" name="table:header"/>
          <p:cNvSpPr/>
          <p:nvPr/>
        </p:nvSpPr>
        <p:spPr>
          <a:xfrm>
            <a:off x="3157651"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Mkt Cap
($bn)</a:t>
            </a:r>
          </a:p>
        </p:txBody>
      </p:sp>
      <p:sp>
        <p:nvSpPr>
          <p:cNvPr id="13" name="table:header"/>
          <p:cNvSpPr/>
          <p:nvPr/>
        </p:nvSpPr>
        <p:spPr>
          <a:xfrm>
            <a:off x="4416878"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EV/EBITDA
LTM</a:t>
            </a:r>
          </a:p>
        </p:txBody>
      </p:sp>
      <p:sp>
        <p:nvSpPr>
          <p:cNvPr id="14" name="table:header"/>
          <p:cNvSpPr/>
          <p:nvPr/>
        </p:nvSpPr>
        <p:spPr>
          <a:xfrm>
            <a:off x="5676105"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EV/EBITDA
FY1</a:t>
            </a:r>
          </a:p>
        </p:txBody>
      </p:sp>
      <p:sp>
        <p:nvSpPr>
          <p:cNvPr id="15" name="table:header"/>
          <p:cNvSpPr/>
          <p:nvPr/>
        </p:nvSpPr>
        <p:spPr>
          <a:xfrm>
            <a:off x="6935332"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P/E
LTM</a:t>
            </a:r>
          </a:p>
        </p:txBody>
      </p:sp>
      <p:sp>
        <p:nvSpPr>
          <p:cNvPr id="16" name="table:header"/>
          <p:cNvSpPr/>
          <p:nvPr/>
        </p:nvSpPr>
        <p:spPr>
          <a:xfrm>
            <a:off x="8194558"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P/E
FY1</a:t>
            </a:r>
          </a:p>
        </p:txBody>
      </p:sp>
      <p:sp>
        <p:nvSpPr>
          <p:cNvPr id="17" name="table:header"/>
          <p:cNvSpPr/>
          <p:nvPr/>
        </p:nvSpPr>
        <p:spPr>
          <a:xfrm>
            <a:off x="9453785"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EV/Sales
LTM</a:t>
            </a:r>
          </a:p>
        </p:txBody>
      </p:sp>
      <p:sp>
        <p:nvSpPr>
          <p:cNvPr id="18" name="table:header"/>
          <p:cNvSpPr/>
          <p:nvPr/>
        </p:nvSpPr>
        <p:spPr>
          <a:xfrm>
            <a:off x="10713012" y="1709928"/>
            <a:ext cx="1259226"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FFFFFF"/>
                </a:solidFill>
                <a:latin typeface="Book Antiqua"/>
              </a:rPr>
              <a:t>Sim.
Weight</a:t>
            </a:r>
          </a:p>
        </p:txBody>
      </p:sp>
      <p:sp>
        <p:nvSpPr>
          <p:cNvPr id="19" name="table:cell"/>
          <p:cNvSpPr/>
          <p:nvPr/>
        </p:nvSpPr>
        <p:spPr>
          <a:xfrm>
            <a:off x="219456" y="2167128"/>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Uber Technologies</a:t>
            </a:r>
          </a:p>
        </p:txBody>
      </p:sp>
      <p:sp>
        <p:nvSpPr>
          <p:cNvPr id="20" name="table:cell"/>
          <p:cNvSpPr/>
          <p:nvPr/>
        </p:nvSpPr>
        <p:spPr>
          <a:xfrm>
            <a:off x="3157651"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138.1</a:t>
            </a:r>
          </a:p>
        </p:txBody>
      </p:sp>
      <p:sp>
        <p:nvSpPr>
          <p:cNvPr id="21" name="table:cell"/>
          <p:cNvSpPr/>
          <p:nvPr/>
        </p:nvSpPr>
        <p:spPr>
          <a:xfrm>
            <a:off x="4416878"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18.0x</a:t>
            </a:r>
          </a:p>
        </p:txBody>
      </p:sp>
      <p:sp>
        <p:nvSpPr>
          <p:cNvPr id="22" name="table:cell"/>
          <p:cNvSpPr/>
          <p:nvPr/>
        </p:nvSpPr>
        <p:spPr>
          <a:xfrm>
            <a:off x="5676105"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13.1x</a:t>
            </a:r>
          </a:p>
        </p:txBody>
      </p:sp>
      <p:sp>
        <p:nvSpPr>
          <p:cNvPr id="23" name="table:cell"/>
          <p:cNvSpPr/>
          <p:nvPr/>
        </p:nvSpPr>
        <p:spPr>
          <a:xfrm>
            <a:off x="6935332"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14.8x</a:t>
            </a:r>
          </a:p>
        </p:txBody>
      </p:sp>
      <p:sp>
        <p:nvSpPr>
          <p:cNvPr id="24" name="table:cell"/>
          <p:cNvSpPr/>
          <p:nvPr/>
        </p:nvSpPr>
        <p:spPr>
          <a:xfrm>
            <a:off x="8194558"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20.5x</a:t>
            </a:r>
          </a:p>
        </p:txBody>
      </p:sp>
      <p:sp>
        <p:nvSpPr>
          <p:cNvPr id="25" name="table:cell"/>
          <p:cNvSpPr/>
          <p:nvPr/>
        </p:nvSpPr>
        <p:spPr>
          <a:xfrm>
            <a:off x="9453785"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2.7x</a:t>
            </a:r>
          </a:p>
        </p:txBody>
      </p:sp>
      <p:sp>
        <p:nvSpPr>
          <p:cNvPr id="26" name="table:cell"/>
          <p:cNvSpPr/>
          <p:nvPr/>
        </p:nvSpPr>
        <p:spPr>
          <a:xfrm>
            <a:off x="10713012" y="216712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9%</a:t>
            </a:r>
          </a:p>
        </p:txBody>
      </p:sp>
      <p:cxnSp>
        <p:nvCxnSpPr>
          <p:cNvPr id="27" name="frame:table-rule"/>
          <p:cNvCxnSpPr/>
          <p:nvPr/>
        </p:nvCxnSpPr>
        <p:spPr>
          <a:xfrm>
            <a:off x="219456" y="2457123"/>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8" name="table:cell"/>
          <p:cNvSpPr/>
          <p:nvPr/>
        </p:nvSpPr>
        <p:spPr>
          <a:xfrm>
            <a:off x="219456" y="2457123"/>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Doordash</a:t>
            </a:r>
          </a:p>
        </p:txBody>
      </p:sp>
      <p:sp>
        <p:nvSpPr>
          <p:cNvPr id="29" name="table:cell"/>
          <p:cNvSpPr/>
          <p:nvPr/>
        </p:nvSpPr>
        <p:spPr>
          <a:xfrm>
            <a:off x="3157651"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79.9</a:t>
            </a:r>
          </a:p>
        </p:txBody>
      </p:sp>
      <p:sp>
        <p:nvSpPr>
          <p:cNvPr id="30" name="table:cell"/>
          <p:cNvSpPr/>
          <p:nvPr/>
        </p:nvSpPr>
        <p:spPr>
          <a:xfrm>
            <a:off x="4416878"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37.0x</a:t>
            </a:r>
          </a:p>
        </p:txBody>
      </p:sp>
      <p:sp>
        <p:nvSpPr>
          <p:cNvPr id="31" name="table:cell"/>
          <p:cNvSpPr/>
          <p:nvPr/>
        </p:nvSpPr>
        <p:spPr>
          <a:xfrm>
            <a:off x="5676105"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20.9x</a:t>
            </a:r>
          </a:p>
        </p:txBody>
      </p:sp>
      <p:sp>
        <p:nvSpPr>
          <p:cNvPr id="32" name="table:cell"/>
          <p:cNvSpPr/>
          <p:nvPr/>
        </p:nvSpPr>
        <p:spPr>
          <a:xfrm>
            <a:off x="6935332"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96.9x</a:t>
            </a:r>
          </a:p>
        </p:txBody>
      </p:sp>
      <p:sp>
        <p:nvSpPr>
          <p:cNvPr id="33" name="table:cell"/>
          <p:cNvSpPr/>
          <p:nvPr/>
        </p:nvSpPr>
        <p:spPr>
          <a:xfrm>
            <a:off x="8194558"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71.0x</a:t>
            </a:r>
          </a:p>
        </p:txBody>
      </p:sp>
      <p:sp>
        <p:nvSpPr>
          <p:cNvPr id="34" name="table:cell"/>
          <p:cNvSpPr/>
          <p:nvPr/>
        </p:nvSpPr>
        <p:spPr>
          <a:xfrm>
            <a:off x="9453785"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4.9x</a:t>
            </a:r>
          </a:p>
        </p:txBody>
      </p:sp>
      <p:sp>
        <p:nvSpPr>
          <p:cNvPr id="35" name="table:cell"/>
          <p:cNvSpPr/>
          <p:nvPr/>
        </p:nvSpPr>
        <p:spPr>
          <a:xfrm>
            <a:off x="10713012" y="2457123"/>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15%</a:t>
            </a:r>
          </a:p>
        </p:txBody>
      </p:sp>
      <p:cxnSp>
        <p:nvCxnSpPr>
          <p:cNvPr id="36" name="frame:table-rule"/>
          <p:cNvCxnSpPr/>
          <p:nvPr/>
        </p:nvCxnSpPr>
        <p:spPr>
          <a:xfrm>
            <a:off x="219456" y="2747118"/>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7" name="table:cell"/>
          <p:cNvSpPr/>
          <p:nvPr/>
        </p:nvSpPr>
        <p:spPr>
          <a:xfrm>
            <a:off x="219456" y="2747118"/>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Lyft</a:t>
            </a:r>
          </a:p>
        </p:txBody>
      </p:sp>
      <p:sp>
        <p:nvSpPr>
          <p:cNvPr id="38" name="table:cell"/>
          <p:cNvSpPr/>
          <p:nvPr/>
        </p:nvSpPr>
        <p:spPr>
          <a:xfrm>
            <a:off x="3157651"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6.4</a:t>
            </a:r>
          </a:p>
        </p:txBody>
      </p:sp>
      <p:sp>
        <p:nvSpPr>
          <p:cNvPr id="39" name="table:cell"/>
          <p:cNvSpPr/>
          <p:nvPr/>
        </p:nvSpPr>
        <p:spPr>
          <a:xfrm>
            <a:off x="4416878"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20.8x</a:t>
            </a:r>
          </a:p>
        </p:txBody>
      </p:sp>
      <p:sp>
        <p:nvSpPr>
          <p:cNvPr id="40" name="table:cell"/>
          <p:cNvSpPr/>
          <p:nvPr/>
        </p:nvSpPr>
        <p:spPr>
          <a:xfrm>
            <a:off x="5676105"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8.1x</a:t>
            </a:r>
          </a:p>
        </p:txBody>
      </p:sp>
      <p:sp>
        <p:nvSpPr>
          <p:cNvPr id="41" name="table:cell"/>
          <p:cNvSpPr/>
          <p:nvPr/>
        </p:nvSpPr>
        <p:spPr>
          <a:xfrm>
            <a:off x="6935332"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2.4x</a:t>
            </a:r>
          </a:p>
        </p:txBody>
      </p:sp>
      <p:sp>
        <p:nvSpPr>
          <p:cNvPr id="42" name="table:cell"/>
          <p:cNvSpPr/>
          <p:nvPr/>
        </p:nvSpPr>
        <p:spPr>
          <a:xfrm>
            <a:off x="8194558"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31.7x</a:t>
            </a:r>
          </a:p>
        </p:txBody>
      </p:sp>
      <p:sp>
        <p:nvSpPr>
          <p:cNvPr id="43" name="table:cell"/>
          <p:cNvSpPr/>
          <p:nvPr/>
        </p:nvSpPr>
        <p:spPr>
          <a:xfrm>
            <a:off x="9453785"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0.8x</a:t>
            </a:r>
          </a:p>
        </p:txBody>
      </p:sp>
      <p:sp>
        <p:nvSpPr>
          <p:cNvPr id="44" name="table:cell"/>
          <p:cNvSpPr/>
          <p:nvPr/>
        </p:nvSpPr>
        <p:spPr>
          <a:xfrm>
            <a:off x="10713012" y="2747118"/>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12%</a:t>
            </a:r>
          </a:p>
        </p:txBody>
      </p:sp>
      <p:cxnSp>
        <p:nvCxnSpPr>
          <p:cNvPr id="45" name="frame:table-rule"/>
          <p:cNvCxnSpPr/>
          <p:nvPr/>
        </p:nvCxnSpPr>
        <p:spPr>
          <a:xfrm>
            <a:off x="219456" y="3037114"/>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6" name="table:cell"/>
          <p:cNvSpPr/>
          <p:nvPr/>
        </p:nvSpPr>
        <p:spPr>
          <a:xfrm>
            <a:off x="219456" y="3037114"/>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Sea</a:t>
            </a:r>
          </a:p>
        </p:txBody>
      </p:sp>
      <p:sp>
        <p:nvSpPr>
          <p:cNvPr id="47" name="table:cell"/>
          <p:cNvSpPr/>
          <p:nvPr/>
        </p:nvSpPr>
        <p:spPr>
          <a:xfrm>
            <a:off x="3157651"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44.2</a:t>
            </a:r>
          </a:p>
        </p:txBody>
      </p:sp>
      <p:sp>
        <p:nvSpPr>
          <p:cNvPr id="48" name="table:cell"/>
          <p:cNvSpPr/>
          <p:nvPr/>
        </p:nvSpPr>
        <p:spPr>
          <a:xfrm>
            <a:off x="4416878"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13.9x</a:t>
            </a:r>
          </a:p>
        </p:txBody>
      </p:sp>
      <p:sp>
        <p:nvSpPr>
          <p:cNvPr id="49" name="table:cell"/>
          <p:cNvSpPr/>
          <p:nvPr/>
        </p:nvSpPr>
        <p:spPr>
          <a:xfrm>
            <a:off x="5676105"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10.1x</a:t>
            </a:r>
          </a:p>
        </p:txBody>
      </p:sp>
      <p:sp>
        <p:nvSpPr>
          <p:cNvPr id="50" name="table:cell"/>
          <p:cNvSpPr/>
          <p:nvPr/>
        </p:nvSpPr>
        <p:spPr>
          <a:xfrm>
            <a:off x="6935332"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29.7x</a:t>
            </a:r>
          </a:p>
        </p:txBody>
      </p:sp>
      <p:sp>
        <p:nvSpPr>
          <p:cNvPr id="51" name="table:cell"/>
          <p:cNvSpPr/>
          <p:nvPr/>
        </p:nvSpPr>
        <p:spPr>
          <a:xfrm>
            <a:off x="8194558"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25.7x</a:t>
            </a:r>
          </a:p>
        </p:txBody>
      </p:sp>
      <p:sp>
        <p:nvSpPr>
          <p:cNvPr id="52" name="table:cell"/>
          <p:cNvSpPr/>
          <p:nvPr/>
        </p:nvSpPr>
        <p:spPr>
          <a:xfrm>
            <a:off x="9453785"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1.4x</a:t>
            </a:r>
          </a:p>
        </p:txBody>
      </p:sp>
      <p:sp>
        <p:nvSpPr>
          <p:cNvPr id="53" name="table:cell"/>
          <p:cNvSpPr/>
          <p:nvPr/>
        </p:nvSpPr>
        <p:spPr>
          <a:xfrm>
            <a:off x="10713012" y="3037114"/>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17%</a:t>
            </a:r>
          </a:p>
        </p:txBody>
      </p:sp>
      <p:cxnSp>
        <p:nvCxnSpPr>
          <p:cNvPr id="54" name="frame:table-rule"/>
          <p:cNvCxnSpPr/>
          <p:nvPr/>
        </p:nvCxnSpPr>
        <p:spPr>
          <a:xfrm>
            <a:off x="219456" y="3327109"/>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5" name="table:cell"/>
          <p:cNvSpPr/>
          <p:nvPr/>
        </p:nvSpPr>
        <p:spPr>
          <a:xfrm>
            <a:off x="219456" y="3327109"/>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MercadoLibre</a:t>
            </a:r>
          </a:p>
        </p:txBody>
      </p:sp>
      <p:sp>
        <p:nvSpPr>
          <p:cNvPr id="56" name="table:cell"/>
          <p:cNvSpPr/>
          <p:nvPr/>
        </p:nvSpPr>
        <p:spPr>
          <a:xfrm>
            <a:off x="3157651"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94.0</a:t>
            </a:r>
          </a:p>
        </p:txBody>
      </p:sp>
      <p:sp>
        <p:nvSpPr>
          <p:cNvPr id="57" name="table:cell"/>
          <p:cNvSpPr/>
          <p:nvPr/>
        </p:nvSpPr>
        <p:spPr>
          <a:xfrm>
            <a:off x="4416878"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25.4x</a:t>
            </a:r>
          </a:p>
        </p:txBody>
      </p:sp>
      <p:sp>
        <p:nvSpPr>
          <p:cNvPr id="58" name="table:cell"/>
          <p:cNvSpPr/>
          <p:nvPr/>
        </p:nvSpPr>
        <p:spPr>
          <a:xfrm>
            <a:off x="5676105"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24.3x</a:t>
            </a:r>
          </a:p>
        </p:txBody>
      </p:sp>
      <p:sp>
        <p:nvSpPr>
          <p:cNvPr id="59" name="table:cell"/>
          <p:cNvSpPr/>
          <p:nvPr/>
        </p:nvSpPr>
        <p:spPr>
          <a:xfrm>
            <a:off x="6935332"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50.5x</a:t>
            </a:r>
          </a:p>
        </p:txBody>
      </p:sp>
      <p:sp>
        <p:nvSpPr>
          <p:cNvPr id="60" name="table:cell"/>
          <p:cNvSpPr/>
          <p:nvPr/>
        </p:nvSpPr>
        <p:spPr>
          <a:xfrm>
            <a:off x="8194558"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47.7x</a:t>
            </a:r>
          </a:p>
        </p:txBody>
      </p:sp>
      <p:sp>
        <p:nvSpPr>
          <p:cNvPr id="61" name="table:cell"/>
          <p:cNvSpPr/>
          <p:nvPr/>
        </p:nvSpPr>
        <p:spPr>
          <a:xfrm>
            <a:off x="9453785"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2.8x</a:t>
            </a:r>
          </a:p>
        </p:txBody>
      </p:sp>
      <p:sp>
        <p:nvSpPr>
          <p:cNvPr id="62" name="table:cell"/>
          <p:cNvSpPr/>
          <p:nvPr/>
        </p:nvSpPr>
        <p:spPr>
          <a:xfrm>
            <a:off x="10713012" y="3327109"/>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11%</a:t>
            </a:r>
          </a:p>
        </p:txBody>
      </p:sp>
      <p:cxnSp>
        <p:nvCxnSpPr>
          <p:cNvPr id="63" name="frame:table-rule"/>
          <p:cNvCxnSpPr/>
          <p:nvPr/>
        </p:nvCxnSpPr>
        <p:spPr>
          <a:xfrm>
            <a:off x="219456" y="3617105"/>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4" name="table:cell"/>
          <p:cNvSpPr/>
          <p:nvPr/>
        </p:nvSpPr>
        <p:spPr>
          <a:xfrm>
            <a:off x="219456" y="3617105"/>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Nu Holdings Ltd.</a:t>
            </a:r>
          </a:p>
        </p:txBody>
      </p:sp>
      <p:sp>
        <p:nvSpPr>
          <p:cNvPr id="65" name="table:cell"/>
          <p:cNvSpPr/>
          <p:nvPr/>
        </p:nvSpPr>
        <p:spPr>
          <a:xfrm>
            <a:off x="3157651"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72.7</a:t>
            </a:r>
          </a:p>
        </p:txBody>
      </p:sp>
      <p:sp>
        <p:nvSpPr>
          <p:cNvPr id="66" name="table:cell"/>
          <p:cNvSpPr/>
          <p:nvPr/>
        </p:nvSpPr>
        <p:spPr>
          <a:xfrm>
            <a:off x="4416878"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25.2x</a:t>
            </a:r>
          </a:p>
        </p:txBody>
      </p:sp>
      <p:sp>
        <p:nvSpPr>
          <p:cNvPr id="67" name="table:cell"/>
          <p:cNvSpPr/>
          <p:nvPr/>
        </p:nvSpPr>
        <p:spPr>
          <a:xfrm>
            <a:off x="5676105"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21.8x</a:t>
            </a:r>
          </a:p>
        </p:txBody>
      </p:sp>
      <p:sp>
        <p:nvSpPr>
          <p:cNvPr id="68" name="table:cell"/>
          <p:cNvSpPr/>
          <p:nvPr/>
        </p:nvSpPr>
        <p:spPr>
          <a:xfrm>
            <a:off x="6935332"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20.5x</a:t>
            </a:r>
          </a:p>
        </p:txBody>
      </p:sp>
      <p:sp>
        <p:nvSpPr>
          <p:cNvPr id="69" name="table:cell"/>
          <p:cNvSpPr/>
          <p:nvPr/>
        </p:nvSpPr>
        <p:spPr>
          <a:xfrm>
            <a:off x="8194558"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17.3x</a:t>
            </a:r>
          </a:p>
        </p:txBody>
      </p:sp>
      <p:sp>
        <p:nvSpPr>
          <p:cNvPr id="70" name="table:cell"/>
          <p:cNvSpPr/>
          <p:nvPr/>
        </p:nvSpPr>
        <p:spPr>
          <a:xfrm>
            <a:off x="9453785"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5.9x</a:t>
            </a:r>
          </a:p>
        </p:txBody>
      </p:sp>
      <p:sp>
        <p:nvSpPr>
          <p:cNvPr id="71" name="table:cell"/>
          <p:cNvSpPr/>
          <p:nvPr/>
        </p:nvSpPr>
        <p:spPr>
          <a:xfrm>
            <a:off x="10713012" y="3617105"/>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7%</a:t>
            </a:r>
          </a:p>
        </p:txBody>
      </p:sp>
      <p:cxnSp>
        <p:nvCxnSpPr>
          <p:cNvPr id="72" name="frame:table-rule"/>
          <p:cNvCxnSpPr/>
          <p:nvPr/>
        </p:nvCxnSpPr>
        <p:spPr>
          <a:xfrm>
            <a:off x="219456" y="3907100"/>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3" name="table:cell"/>
          <p:cNvSpPr/>
          <p:nvPr/>
        </p:nvSpPr>
        <p:spPr>
          <a:xfrm>
            <a:off x="219456" y="3907100"/>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GoTo Gojek Tokopedia</a:t>
            </a:r>
          </a:p>
        </p:txBody>
      </p:sp>
      <p:sp>
        <p:nvSpPr>
          <p:cNvPr id="74" name="table:cell"/>
          <p:cNvSpPr/>
          <p:nvPr/>
        </p:nvSpPr>
        <p:spPr>
          <a:xfrm>
            <a:off x="3157651"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1.6</a:t>
            </a:r>
          </a:p>
        </p:txBody>
      </p:sp>
      <p:sp>
        <p:nvSpPr>
          <p:cNvPr id="75" name="table:cell"/>
          <p:cNvSpPr/>
          <p:nvPr/>
        </p:nvSpPr>
        <p:spPr>
          <a:xfrm>
            <a:off x="4416878"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1.8x</a:t>
            </a:r>
          </a:p>
        </p:txBody>
      </p:sp>
      <p:sp>
        <p:nvSpPr>
          <p:cNvPr id="76" name="table:cell"/>
          <p:cNvSpPr/>
          <p:nvPr/>
        </p:nvSpPr>
        <p:spPr>
          <a:xfrm>
            <a:off x="5676105"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0.9x</a:t>
            </a:r>
          </a:p>
        </p:txBody>
      </p:sp>
      <p:sp>
        <p:nvSpPr>
          <p:cNvPr id="77" name="table:cell"/>
          <p:cNvSpPr/>
          <p:nvPr/>
        </p:nvSpPr>
        <p:spPr>
          <a:xfrm>
            <a:off x="6935332"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n/a</a:t>
            </a:r>
          </a:p>
        </p:txBody>
      </p:sp>
      <p:sp>
        <p:nvSpPr>
          <p:cNvPr id="78" name="table:cell"/>
          <p:cNvSpPr/>
          <p:nvPr/>
        </p:nvSpPr>
        <p:spPr>
          <a:xfrm>
            <a:off x="8194558"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30.0x</a:t>
            </a:r>
          </a:p>
        </p:txBody>
      </p:sp>
      <p:sp>
        <p:nvSpPr>
          <p:cNvPr id="79" name="table:cell"/>
          <p:cNvSpPr/>
          <p:nvPr/>
        </p:nvSpPr>
        <p:spPr>
          <a:xfrm>
            <a:off x="9453785"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n/a</a:t>
            </a:r>
          </a:p>
        </p:txBody>
      </p:sp>
      <p:sp>
        <p:nvSpPr>
          <p:cNvPr id="80" name="table:cell"/>
          <p:cNvSpPr/>
          <p:nvPr/>
        </p:nvSpPr>
        <p:spPr>
          <a:xfrm>
            <a:off x="10713012" y="3907100"/>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8%</a:t>
            </a:r>
          </a:p>
        </p:txBody>
      </p:sp>
      <p:cxnSp>
        <p:nvCxnSpPr>
          <p:cNvPr id="81" name="frame:table-rule"/>
          <p:cNvCxnSpPr/>
          <p:nvPr/>
        </p:nvCxnSpPr>
        <p:spPr>
          <a:xfrm>
            <a:off x="219456" y="4197096"/>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2" name="table:cell"/>
          <p:cNvSpPr/>
          <p:nvPr/>
        </p:nvSpPr>
        <p:spPr>
          <a:xfrm>
            <a:off x="219456" y="4197096"/>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Meituan</a:t>
            </a:r>
          </a:p>
        </p:txBody>
      </p:sp>
      <p:sp>
        <p:nvSpPr>
          <p:cNvPr id="83" name="table:cell"/>
          <p:cNvSpPr/>
          <p:nvPr/>
        </p:nvSpPr>
        <p:spPr>
          <a:xfrm>
            <a:off x="3157651"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56.1</a:t>
            </a:r>
          </a:p>
        </p:txBody>
      </p:sp>
      <p:sp>
        <p:nvSpPr>
          <p:cNvPr id="84" name="table:cell"/>
          <p:cNvSpPr/>
          <p:nvPr/>
        </p:nvSpPr>
        <p:spPr>
          <a:xfrm>
            <a:off x="4416878"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n/a</a:t>
            </a:r>
          </a:p>
        </p:txBody>
      </p:sp>
      <p:sp>
        <p:nvSpPr>
          <p:cNvPr id="85" name="table:cell"/>
          <p:cNvSpPr/>
          <p:nvPr/>
        </p:nvSpPr>
        <p:spPr>
          <a:xfrm>
            <a:off x="5676105"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28.3x</a:t>
            </a:r>
          </a:p>
        </p:txBody>
      </p:sp>
      <p:sp>
        <p:nvSpPr>
          <p:cNvPr id="86" name="table:cell"/>
          <p:cNvSpPr/>
          <p:nvPr/>
        </p:nvSpPr>
        <p:spPr>
          <a:xfrm>
            <a:off x="6935332"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n/a</a:t>
            </a:r>
          </a:p>
        </p:txBody>
      </p:sp>
      <p:sp>
        <p:nvSpPr>
          <p:cNvPr id="87" name="table:cell"/>
          <p:cNvSpPr/>
          <p:nvPr/>
        </p:nvSpPr>
        <p:spPr>
          <a:xfrm>
            <a:off x="8194558"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188.2x</a:t>
            </a:r>
          </a:p>
        </p:txBody>
      </p:sp>
      <p:sp>
        <p:nvSpPr>
          <p:cNvPr id="88" name="table:cell"/>
          <p:cNvSpPr/>
          <p:nvPr/>
        </p:nvSpPr>
        <p:spPr>
          <a:xfrm>
            <a:off x="9453785"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0.8x</a:t>
            </a:r>
          </a:p>
        </p:txBody>
      </p:sp>
      <p:sp>
        <p:nvSpPr>
          <p:cNvPr id="89" name="table:cell"/>
          <p:cNvSpPr/>
          <p:nvPr/>
        </p:nvSpPr>
        <p:spPr>
          <a:xfrm>
            <a:off x="10713012" y="4197096"/>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10%</a:t>
            </a:r>
          </a:p>
        </p:txBody>
      </p:sp>
      <p:cxnSp>
        <p:nvCxnSpPr>
          <p:cNvPr id="90" name="frame:table-rule"/>
          <p:cNvCxnSpPr/>
          <p:nvPr/>
        </p:nvCxnSpPr>
        <p:spPr>
          <a:xfrm>
            <a:off x="219456" y="4487091"/>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1" name="table:cell"/>
          <p:cNvSpPr/>
          <p:nvPr/>
        </p:nvSpPr>
        <p:spPr>
          <a:xfrm>
            <a:off x="219456" y="4487091"/>
            <a:ext cx="2938195"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0" i="0">
                <a:solidFill>
                  <a:srgbClr val="000000"/>
                </a:solidFill>
                <a:latin typeface="Book Antiqua"/>
              </a:rPr>
              <a:t>Delivery Hero SE</a:t>
            </a:r>
          </a:p>
        </p:txBody>
      </p:sp>
      <p:sp>
        <p:nvSpPr>
          <p:cNvPr id="92" name="table:cell"/>
          <p:cNvSpPr/>
          <p:nvPr/>
        </p:nvSpPr>
        <p:spPr>
          <a:xfrm>
            <a:off x="3157651"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13.1</a:t>
            </a:r>
          </a:p>
        </p:txBody>
      </p:sp>
      <p:sp>
        <p:nvSpPr>
          <p:cNvPr id="93" name="table:cell"/>
          <p:cNvSpPr/>
          <p:nvPr/>
        </p:nvSpPr>
        <p:spPr>
          <a:xfrm>
            <a:off x="4416878"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34.6x</a:t>
            </a:r>
          </a:p>
        </p:txBody>
      </p:sp>
      <p:sp>
        <p:nvSpPr>
          <p:cNvPr id="94" name="table:cell"/>
          <p:cNvSpPr/>
          <p:nvPr/>
        </p:nvSpPr>
        <p:spPr>
          <a:xfrm>
            <a:off x="5676105"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14.8x</a:t>
            </a:r>
          </a:p>
        </p:txBody>
      </p:sp>
      <p:sp>
        <p:nvSpPr>
          <p:cNvPr id="95" name="table:cell"/>
          <p:cNvSpPr/>
          <p:nvPr/>
        </p:nvSpPr>
        <p:spPr>
          <a:xfrm>
            <a:off x="6935332"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n/a</a:t>
            </a:r>
          </a:p>
        </p:txBody>
      </p:sp>
      <p:sp>
        <p:nvSpPr>
          <p:cNvPr id="96" name="table:cell"/>
          <p:cNvSpPr/>
          <p:nvPr/>
        </p:nvSpPr>
        <p:spPr>
          <a:xfrm>
            <a:off x="8194558"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n/a</a:t>
            </a:r>
          </a:p>
        </p:txBody>
      </p:sp>
      <p:sp>
        <p:nvSpPr>
          <p:cNvPr id="97" name="table:cell"/>
          <p:cNvSpPr/>
          <p:nvPr/>
        </p:nvSpPr>
        <p:spPr>
          <a:xfrm>
            <a:off x="9453785"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0.9x</a:t>
            </a:r>
          </a:p>
        </p:txBody>
      </p:sp>
      <p:sp>
        <p:nvSpPr>
          <p:cNvPr id="98" name="table:cell"/>
          <p:cNvSpPr/>
          <p:nvPr/>
        </p:nvSpPr>
        <p:spPr>
          <a:xfrm>
            <a:off x="10713012" y="4487091"/>
            <a:ext cx="1259226" cy="2899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0" i="0">
                <a:solidFill>
                  <a:srgbClr val="000000"/>
                </a:solidFill>
                <a:latin typeface="Book Antiqua"/>
              </a:rPr>
              <a:t>10%</a:t>
            </a:r>
          </a:p>
        </p:txBody>
      </p:sp>
      <p:cxnSp>
        <p:nvCxnSpPr>
          <p:cNvPr id="99" name="frame:table-rule"/>
          <p:cNvCxnSpPr/>
          <p:nvPr/>
        </p:nvCxnSpPr>
        <p:spPr>
          <a:xfrm>
            <a:off x="219456" y="4777086"/>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00" name="table:cell"/>
          <p:cNvSpPr/>
          <p:nvPr/>
        </p:nvSpPr>
        <p:spPr>
          <a:xfrm>
            <a:off x="219456" y="4777086"/>
            <a:ext cx="2938195"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25th Percentile</a:t>
            </a:r>
          </a:p>
        </p:txBody>
      </p:sp>
      <p:sp>
        <p:nvSpPr>
          <p:cNvPr id="101" name="table:cell"/>
          <p:cNvSpPr/>
          <p:nvPr/>
        </p:nvSpPr>
        <p:spPr>
          <a:xfrm>
            <a:off x="3157651"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13.1</a:t>
            </a:r>
          </a:p>
        </p:txBody>
      </p:sp>
      <p:sp>
        <p:nvSpPr>
          <p:cNvPr id="102" name="table:cell"/>
          <p:cNvSpPr/>
          <p:nvPr/>
        </p:nvSpPr>
        <p:spPr>
          <a:xfrm>
            <a:off x="4416878"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17.0x</a:t>
            </a:r>
          </a:p>
        </p:txBody>
      </p:sp>
      <p:sp>
        <p:nvSpPr>
          <p:cNvPr id="103" name="table:cell"/>
          <p:cNvSpPr/>
          <p:nvPr/>
        </p:nvSpPr>
        <p:spPr>
          <a:xfrm>
            <a:off x="5676105"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10.1x</a:t>
            </a:r>
          </a:p>
        </p:txBody>
      </p:sp>
      <p:sp>
        <p:nvSpPr>
          <p:cNvPr id="104" name="table:cell"/>
          <p:cNvSpPr/>
          <p:nvPr/>
        </p:nvSpPr>
        <p:spPr>
          <a:xfrm>
            <a:off x="6935332"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16.3x</a:t>
            </a:r>
          </a:p>
        </p:txBody>
      </p:sp>
      <p:sp>
        <p:nvSpPr>
          <p:cNvPr id="105" name="table:cell"/>
          <p:cNvSpPr/>
          <p:nvPr/>
        </p:nvSpPr>
        <p:spPr>
          <a:xfrm>
            <a:off x="8194558"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24.4x</a:t>
            </a:r>
          </a:p>
        </p:txBody>
      </p:sp>
      <p:sp>
        <p:nvSpPr>
          <p:cNvPr id="106" name="table:cell"/>
          <p:cNvSpPr/>
          <p:nvPr/>
        </p:nvSpPr>
        <p:spPr>
          <a:xfrm>
            <a:off x="9453785"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0.9x</a:t>
            </a:r>
          </a:p>
        </p:txBody>
      </p:sp>
      <p:sp>
        <p:nvSpPr>
          <p:cNvPr id="107" name="table:cell"/>
          <p:cNvSpPr/>
          <p:nvPr/>
        </p:nvSpPr>
        <p:spPr>
          <a:xfrm>
            <a:off x="10713012" y="4777086"/>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08" name="frame:table-rule"/>
          <p:cNvCxnSpPr/>
          <p:nvPr/>
        </p:nvCxnSpPr>
        <p:spPr>
          <a:xfrm>
            <a:off x="219456" y="5067082"/>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09" name="table:cell"/>
          <p:cNvSpPr/>
          <p:nvPr/>
        </p:nvSpPr>
        <p:spPr>
          <a:xfrm>
            <a:off x="219456" y="5067082"/>
            <a:ext cx="2938195"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Median</a:t>
            </a:r>
          </a:p>
        </p:txBody>
      </p:sp>
      <p:sp>
        <p:nvSpPr>
          <p:cNvPr id="110" name="table:cell"/>
          <p:cNvSpPr/>
          <p:nvPr/>
        </p:nvSpPr>
        <p:spPr>
          <a:xfrm>
            <a:off x="3157651"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56.1</a:t>
            </a:r>
          </a:p>
        </p:txBody>
      </p:sp>
      <p:sp>
        <p:nvSpPr>
          <p:cNvPr id="111" name="table:cell"/>
          <p:cNvSpPr/>
          <p:nvPr/>
        </p:nvSpPr>
        <p:spPr>
          <a:xfrm>
            <a:off x="4416878"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23.0x</a:t>
            </a:r>
          </a:p>
        </p:txBody>
      </p:sp>
      <p:sp>
        <p:nvSpPr>
          <p:cNvPr id="112" name="table:cell"/>
          <p:cNvSpPr/>
          <p:nvPr/>
        </p:nvSpPr>
        <p:spPr>
          <a:xfrm>
            <a:off x="5676105"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14.8x</a:t>
            </a:r>
          </a:p>
        </p:txBody>
      </p:sp>
      <p:sp>
        <p:nvSpPr>
          <p:cNvPr id="113" name="table:cell"/>
          <p:cNvSpPr/>
          <p:nvPr/>
        </p:nvSpPr>
        <p:spPr>
          <a:xfrm>
            <a:off x="6935332"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25.1x</a:t>
            </a:r>
          </a:p>
        </p:txBody>
      </p:sp>
      <p:sp>
        <p:nvSpPr>
          <p:cNvPr id="114" name="table:cell"/>
          <p:cNvSpPr/>
          <p:nvPr/>
        </p:nvSpPr>
        <p:spPr>
          <a:xfrm>
            <a:off x="8194558"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30.8x</a:t>
            </a:r>
          </a:p>
        </p:txBody>
      </p:sp>
      <p:sp>
        <p:nvSpPr>
          <p:cNvPr id="115" name="table:cell"/>
          <p:cNvSpPr/>
          <p:nvPr/>
        </p:nvSpPr>
        <p:spPr>
          <a:xfrm>
            <a:off x="9453785"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2.0x</a:t>
            </a:r>
          </a:p>
        </p:txBody>
      </p:sp>
      <p:sp>
        <p:nvSpPr>
          <p:cNvPr id="116" name="table:cell"/>
          <p:cNvSpPr/>
          <p:nvPr/>
        </p:nvSpPr>
        <p:spPr>
          <a:xfrm>
            <a:off x="10713012" y="5067082"/>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17" name="frame:table-rule"/>
          <p:cNvCxnSpPr/>
          <p:nvPr/>
        </p:nvCxnSpPr>
        <p:spPr>
          <a:xfrm>
            <a:off x="219456" y="5357077"/>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18" name="table:cell"/>
          <p:cNvSpPr/>
          <p:nvPr/>
        </p:nvSpPr>
        <p:spPr>
          <a:xfrm>
            <a:off x="219456" y="5357077"/>
            <a:ext cx="2938195"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75th Percentile</a:t>
            </a:r>
          </a:p>
        </p:txBody>
      </p:sp>
      <p:sp>
        <p:nvSpPr>
          <p:cNvPr id="119" name="table:cell"/>
          <p:cNvSpPr/>
          <p:nvPr/>
        </p:nvSpPr>
        <p:spPr>
          <a:xfrm>
            <a:off x="3157651"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79.9</a:t>
            </a:r>
          </a:p>
        </p:txBody>
      </p:sp>
      <p:sp>
        <p:nvSpPr>
          <p:cNvPr id="120" name="table:cell"/>
          <p:cNvSpPr/>
          <p:nvPr/>
        </p:nvSpPr>
        <p:spPr>
          <a:xfrm>
            <a:off x="4416878"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27.7x</a:t>
            </a:r>
          </a:p>
        </p:txBody>
      </p:sp>
      <p:sp>
        <p:nvSpPr>
          <p:cNvPr id="121" name="table:cell"/>
          <p:cNvSpPr/>
          <p:nvPr/>
        </p:nvSpPr>
        <p:spPr>
          <a:xfrm>
            <a:off x="5676105"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21.8x</a:t>
            </a:r>
          </a:p>
        </p:txBody>
      </p:sp>
      <p:sp>
        <p:nvSpPr>
          <p:cNvPr id="122" name="table:cell"/>
          <p:cNvSpPr/>
          <p:nvPr/>
        </p:nvSpPr>
        <p:spPr>
          <a:xfrm>
            <a:off x="6935332"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45.3x</a:t>
            </a:r>
          </a:p>
        </p:txBody>
      </p:sp>
      <p:sp>
        <p:nvSpPr>
          <p:cNvPr id="123" name="table:cell"/>
          <p:cNvSpPr/>
          <p:nvPr/>
        </p:nvSpPr>
        <p:spPr>
          <a:xfrm>
            <a:off x="8194558"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53.5x</a:t>
            </a:r>
          </a:p>
        </p:txBody>
      </p:sp>
      <p:sp>
        <p:nvSpPr>
          <p:cNvPr id="124" name="table:cell"/>
          <p:cNvSpPr/>
          <p:nvPr/>
        </p:nvSpPr>
        <p:spPr>
          <a:xfrm>
            <a:off x="9453785"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3.3x</a:t>
            </a:r>
          </a:p>
        </p:txBody>
      </p:sp>
      <p:sp>
        <p:nvSpPr>
          <p:cNvPr id="125" name="table:cell"/>
          <p:cNvSpPr/>
          <p:nvPr/>
        </p:nvSpPr>
        <p:spPr>
          <a:xfrm>
            <a:off x="10713012" y="5357077"/>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26" name="frame:table-rule"/>
          <p:cNvCxnSpPr/>
          <p:nvPr/>
        </p:nvCxnSpPr>
        <p:spPr>
          <a:xfrm>
            <a:off x="219456" y="5647073"/>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27" name="table:cell"/>
          <p:cNvSpPr/>
          <p:nvPr/>
        </p:nvSpPr>
        <p:spPr>
          <a:xfrm>
            <a:off x="219456" y="5647073"/>
            <a:ext cx="2938195"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Similarity-Weighted</a:t>
            </a:r>
          </a:p>
        </p:txBody>
      </p:sp>
      <p:sp>
        <p:nvSpPr>
          <p:cNvPr id="128" name="table:cell"/>
          <p:cNvSpPr/>
          <p:nvPr/>
        </p:nvSpPr>
        <p:spPr>
          <a:xfrm>
            <a:off x="3157651"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sp>
        <p:nvSpPr>
          <p:cNvPr id="129" name="table:cell"/>
          <p:cNvSpPr/>
          <p:nvPr/>
        </p:nvSpPr>
        <p:spPr>
          <a:xfrm>
            <a:off x="4416878"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20.8x</a:t>
            </a:r>
          </a:p>
        </p:txBody>
      </p:sp>
      <p:sp>
        <p:nvSpPr>
          <p:cNvPr id="130" name="table:cell"/>
          <p:cNvSpPr/>
          <p:nvPr/>
        </p:nvSpPr>
        <p:spPr>
          <a:xfrm>
            <a:off x="5676105"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14.8x</a:t>
            </a:r>
          </a:p>
        </p:txBody>
      </p:sp>
      <p:sp>
        <p:nvSpPr>
          <p:cNvPr id="131" name="table:cell"/>
          <p:cNvSpPr/>
          <p:nvPr/>
        </p:nvSpPr>
        <p:spPr>
          <a:xfrm>
            <a:off x="6935332"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29.7x</a:t>
            </a:r>
          </a:p>
        </p:txBody>
      </p:sp>
      <p:sp>
        <p:nvSpPr>
          <p:cNvPr id="132" name="table:cell"/>
          <p:cNvSpPr/>
          <p:nvPr/>
        </p:nvSpPr>
        <p:spPr>
          <a:xfrm>
            <a:off x="8194558"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31.7x</a:t>
            </a:r>
          </a:p>
        </p:txBody>
      </p:sp>
      <p:sp>
        <p:nvSpPr>
          <p:cNvPr id="133" name="table:cell"/>
          <p:cNvSpPr/>
          <p:nvPr/>
        </p:nvSpPr>
        <p:spPr>
          <a:xfrm>
            <a:off x="9453785"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1.4x</a:t>
            </a:r>
          </a:p>
        </p:txBody>
      </p:sp>
      <p:sp>
        <p:nvSpPr>
          <p:cNvPr id="134" name="table:cell"/>
          <p:cNvSpPr/>
          <p:nvPr/>
        </p:nvSpPr>
        <p:spPr>
          <a:xfrm>
            <a:off x="10713012" y="5647073"/>
            <a:ext cx="1259226" cy="289995"/>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35" name="frame:table-rule"/>
          <p:cNvCxnSpPr/>
          <p:nvPr/>
        </p:nvCxnSpPr>
        <p:spPr>
          <a:xfrm>
            <a:off x="219456" y="5937068"/>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36" name="table:cell"/>
          <p:cNvSpPr/>
          <p:nvPr/>
        </p:nvSpPr>
        <p:spPr>
          <a:xfrm>
            <a:off x="219456" y="5937068"/>
            <a:ext cx="2938195"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000000"/>
                </a:solidFill>
                <a:latin typeface="Book Antiqua"/>
              </a:rPr>
              <a:t>Grab Holdings</a:t>
            </a:r>
          </a:p>
        </p:txBody>
      </p:sp>
      <p:sp>
        <p:nvSpPr>
          <p:cNvPr id="137" name="table:cell"/>
          <p:cNvSpPr/>
          <p:nvPr/>
        </p:nvSpPr>
        <p:spPr>
          <a:xfrm>
            <a:off x="3157651"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11.0</a:t>
            </a:r>
          </a:p>
        </p:txBody>
      </p:sp>
      <p:sp>
        <p:nvSpPr>
          <p:cNvPr id="138" name="table:cell"/>
          <p:cNvSpPr/>
          <p:nvPr/>
        </p:nvSpPr>
        <p:spPr>
          <a:xfrm>
            <a:off x="4416878"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12.1x</a:t>
            </a:r>
          </a:p>
        </p:txBody>
      </p:sp>
      <p:sp>
        <p:nvSpPr>
          <p:cNvPr id="139" name="table:cell"/>
          <p:cNvSpPr/>
          <p:nvPr/>
        </p:nvSpPr>
        <p:spPr>
          <a:xfrm>
            <a:off x="5676105"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10.0x</a:t>
            </a:r>
          </a:p>
        </p:txBody>
      </p:sp>
      <p:sp>
        <p:nvSpPr>
          <p:cNvPr id="140" name="table:cell"/>
          <p:cNvSpPr/>
          <p:nvPr/>
        </p:nvSpPr>
        <p:spPr>
          <a:xfrm>
            <a:off x="6935332"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19.3x</a:t>
            </a:r>
          </a:p>
        </p:txBody>
      </p:sp>
      <p:sp>
        <p:nvSpPr>
          <p:cNvPr id="141" name="table:cell"/>
          <p:cNvSpPr/>
          <p:nvPr/>
        </p:nvSpPr>
        <p:spPr>
          <a:xfrm>
            <a:off x="8194558"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17.9x</a:t>
            </a:r>
          </a:p>
        </p:txBody>
      </p:sp>
      <p:sp>
        <p:nvSpPr>
          <p:cNvPr id="142" name="table:cell"/>
          <p:cNvSpPr/>
          <p:nvPr/>
        </p:nvSpPr>
        <p:spPr>
          <a:xfrm>
            <a:off x="9453785"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100" b="1" i="0">
                <a:solidFill>
                  <a:srgbClr val="000000"/>
                </a:solidFill>
                <a:latin typeface="Book Antiqua"/>
              </a:rPr>
              <a:t>2.0x</a:t>
            </a:r>
          </a:p>
        </p:txBody>
      </p:sp>
      <p:sp>
        <p:nvSpPr>
          <p:cNvPr id="143" name="table:cell"/>
          <p:cNvSpPr/>
          <p:nvPr/>
        </p:nvSpPr>
        <p:spPr>
          <a:xfrm>
            <a:off x="10713012" y="5937068"/>
            <a:ext cx="1259226" cy="289995"/>
          </a:xfrm>
          <a:prstGeom prst="rect">
            <a:avLst/>
          </a:prstGeom>
          <a:solidFill>
            <a:srgbClr val="C5D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endParaRPr/>
          </a:p>
        </p:txBody>
      </p:sp>
      <p:cxnSp>
        <p:nvCxnSpPr>
          <p:cNvPr id="144" name="frame:table-rule"/>
          <p:cNvCxnSpPr/>
          <p:nvPr/>
        </p:nvCxnSpPr>
        <p:spPr>
          <a:xfrm>
            <a:off x="219456" y="6227063"/>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2850" b="1" i="0">
                <a:solidFill>
                  <a:srgbClr val="376092"/>
                </a:solidFill>
                <a:latin typeface="Book Antiqua"/>
              </a:rPr>
              <a:t>Appendix – How the DCF Inputs Were Set (1/2)</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Growth and margins follow consensus, then fade; history is pre-profit, so trends say little.</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20</a:t>
            </a:r>
          </a:p>
        </p:txBody>
      </p:sp>
      <p:sp>
        <p:nvSpPr>
          <p:cNvPr id="10" name="section:Revenue Growth"/>
          <p:cNvSpPr/>
          <p:nvPr/>
        </p:nvSpPr>
        <p:spPr>
          <a:xfrm>
            <a:off x="219456" y="1362456"/>
            <a:ext cx="37956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Revenue Growth</a:t>
            </a:r>
          </a:p>
        </p:txBody>
      </p:sp>
      <p:graphicFrame>
        <p:nvGraphicFramePr>
          <p:cNvPr id="11" name="chart:input-growth"/>
          <p:cNvGraphicFramePr>
            <a:graphicFrameLocks noGrp="1"/>
          </p:cNvGraphicFramePr>
          <p:nvPr/>
        </p:nvGraphicFramePr>
        <p:xfrm>
          <a:off x="219456" y="1709928"/>
          <a:ext cx="3795674" cy="2816351"/>
        </p:xfrm>
        <a:graphic>
          <a:graphicData uri="http://schemas.openxmlformats.org/drawingml/2006/chart">
            <c:chart xmlns:c="http://schemas.openxmlformats.org/drawingml/2006/chart" xmlns:r="http://schemas.openxmlformats.org/officeDocument/2006/relationships" r:id="rId4"/>
          </a:graphicData>
        </a:graphic>
      </p:graphicFrame>
      <p:sp>
        <p:nvSpPr>
          <p:cNvPr id="12" name="body:input-used"/>
          <p:cNvSpPr/>
          <p:nvPr/>
        </p:nvSpPr>
        <p:spPr>
          <a:xfrm>
            <a:off x="219456" y="4626864"/>
            <a:ext cx="3795674" cy="16002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buNone/>
            </a:pPr>
            <a:r>
              <a:rPr sz="1500" b="1" i="0">
                <a:solidFill>
                  <a:srgbClr val="376092"/>
                </a:solidFill>
                <a:latin typeface="Book Antiqua"/>
              </a:rPr>
              <a:t>Used: 24.2% → 2.5%</a:t>
            </a:r>
          </a:p>
          <a:p>
            <a:pPr algn="l">
              <a:spcBef>
                <a:spcPts val="300"/>
              </a:spcBef>
              <a:buNone/>
            </a:pPr>
            <a:r>
              <a:rPr sz="1300" b="0" i="0">
                <a:solidFill>
                  <a:srgbClr val="000000"/>
                </a:solidFill>
                <a:latin typeface="Book Antiqua"/>
              </a:rPr>
              <a:t>Consensus for the first 3 years, then a straight-line fade to 2.5% terminal growth (at most the long-run risk-free rate).</a:t>
            </a:r>
          </a:p>
        </p:txBody>
      </p:sp>
      <p:sp>
        <p:nvSpPr>
          <p:cNvPr id="13" name="section:EBIT Margin"/>
          <p:cNvSpPr/>
          <p:nvPr/>
        </p:nvSpPr>
        <p:spPr>
          <a:xfrm>
            <a:off x="4198010" y="1362456"/>
            <a:ext cx="37956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EBIT Margin</a:t>
            </a:r>
          </a:p>
        </p:txBody>
      </p:sp>
      <p:graphicFrame>
        <p:nvGraphicFramePr>
          <p:cNvPr id="14" name="chart:input-margin"/>
          <p:cNvGraphicFramePr>
            <a:graphicFrameLocks noGrp="1"/>
          </p:cNvGraphicFramePr>
          <p:nvPr/>
        </p:nvGraphicFramePr>
        <p:xfrm>
          <a:off x="4198010" y="1709928"/>
          <a:ext cx="3795674" cy="2816351"/>
        </p:xfrm>
        <a:graphic>
          <a:graphicData uri="http://schemas.openxmlformats.org/drawingml/2006/chart">
            <c:chart xmlns:c="http://schemas.openxmlformats.org/drawingml/2006/chart" xmlns:r="http://schemas.openxmlformats.org/officeDocument/2006/relationships" r:id="rId5"/>
          </a:graphicData>
        </a:graphic>
      </p:graphicFrame>
      <p:sp>
        <p:nvSpPr>
          <p:cNvPr id="15" name="body:input-used"/>
          <p:cNvSpPr/>
          <p:nvPr/>
        </p:nvSpPr>
        <p:spPr>
          <a:xfrm>
            <a:off x="4198010" y="4626864"/>
            <a:ext cx="3795674" cy="16002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buNone/>
            </a:pPr>
            <a:r>
              <a:rPr sz="1500" b="1" i="0">
                <a:solidFill>
                  <a:srgbClr val="376092"/>
                </a:solidFill>
                <a:latin typeface="Book Antiqua"/>
              </a:rPr>
              <a:t>Used: 15.3% steady state</a:t>
            </a:r>
          </a:p>
          <a:p>
            <a:pPr algn="l">
              <a:spcBef>
                <a:spcPts val="300"/>
              </a:spcBef>
              <a:buNone/>
            </a:pPr>
            <a:r>
              <a:rPr sz="1300" b="0" i="0">
                <a:solidFill>
                  <a:srgbClr val="000000"/>
                </a:solidFill>
                <a:latin typeface="Book Antiqua"/>
              </a:rPr>
              <a:t>Consensus EBIT margins for 3 years; the steady-state margin is rises to the peer 75th percentile (10.7%, capped at 45%).</a:t>
            </a:r>
          </a:p>
        </p:txBody>
      </p:sp>
      <p:sp>
        <p:nvSpPr>
          <p:cNvPr id="16" name="section:Reinvestment (Sales-to-Capital)"/>
          <p:cNvSpPr/>
          <p:nvPr/>
        </p:nvSpPr>
        <p:spPr>
          <a:xfrm>
            <a:off x="8176564" y="1362456"/>
            <a:ext cx="3795674"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Reinvestment (Sales-to-Capital)</a:t>
            </a:r>
          </a:p>
        </p:txBody>
      </p:sp>
      <p:graphicFrame>
        <p:nvGraphicFramePr>
          <p:cNvPr id="17" name="chart:input-reinvestment"/>
          <p:cNvGraphicFramePr>
            <a:graphicFrameLocks noGrp="1"/>
          </p:cNvGraphicFramePr>
          <p:nvPr/>
        </p:nvGraphicFramePr>
        <p:xfrm>
          <a:off x="8176564" y="1709928"/>
          <a:ext cx="3795674" cy="2816351"/>
        </p:xfrm>
        <a:graphic>
          <a:graphicData uri="http://schemas.openxmlformats.org/drawingml/2006/chart">
            <c:chart xmlns:c="http://schemas.openxmlformats.org/drawingml/2006/chart" xmlns:r="http://schemas.openxmlformats.org/officeDocument/2006/relationships" r:id="rId6"/>
          </a:graphicData>
        </a:graphic>
      </p:graphicFrame>
      <p:sp>
        <p:nvSpPr>
          <p:cNvPr id="18" name="body:input-used"/>
          <p:cNvSpPr/>
          <p:nvPr/>
        </p:nvSpPr>
        <p:spPr>
          <a:xfrm>
            <a:off x="8176564" y="4626864"/>
            <a:ext cx="3795674" cy="16002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buNone/>
            </a:pPr>
            <a:r>
              <a:rPr sz="1500" b="1" i="0">
                <a:solidFill>
                  <a:srgbClr val="376092"/>
                </a:solidFill>
                <a:latin typeface="Book Antiqua"/>
              </a:rPr>
              <a:t>Used: 5.00x</a:t>
            </a:r>
          </a:p>
          <a:p>
            <a:pPr algn="l">
              <a:spcBef>
                <a:spcPts val="300"/>
              </a:spcBef>
              <a:buNone/>
            </a:pPr>
            <a:r>
              <a:rPr sz="1300" b="0" i="0">
                <a:solidFill>
                  <a:srgbClr val="000000"/>
                </a:solidFill>
                <a:latin typeface="Book Antiqua"/>
              </a:rPr>
              <a:t>Revenue added 2,901 vs net capex -477 (USD MM) = n/m (capex ≈ D&amp;A), bounded to 0.8–5.0x; each new $ of revenue needs $0.20 of capital.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2850" b="1" i="0">
                <a:solidFill>
                  <a:srgbClr val="376092"/>
                </a:solidFill>
                <a:latin typeface="Book Antiqua"/>
              </a:rPr>
              <a:t>Appendix – How the DCF Inputs Were Set (2/2)</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The discount rate uses a peer beta and a risk-free rate fading to its 30-year average.</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21</a:t>
            </a:r>
          </a:p>
        </p:txBody>
      </p:sp>
      <p:sp>
        <p:nvSpPr>
          <p:cNvPr id="10" name="section:Risk-Free Rate (US 10Y Treasury)"/>
          <p:cNvSpPr/>
          <p:nvPr/>
        </p:nvSpPr>
        <p:spPr>
          <a:xfrm>
            <a:off x="219456" y="1362456"/>
            <a:ext cx="578495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Risk-Free Rate (US 10Y Treasury)</a:t>
            </a:r>
          </a:p>
        </p:txBody>
      </p:sp>
      <p:graphicFrame>
        <p:nvGraphicFramePr>
          <p:cNvPr id="11" name="chart:input-rf"/>
          <p:cNvGraphicFramePr>
            <a:graphicFrameLocks noGrp="1"/>
          </p:cNvGraphicFramePr>
          <p:nvPr/>
        </p:nvGraphicFramePr>
        <p:xfrm>
          <a:off x="219456" y="1709928"/>
          <a:ext cx="5784951" cy="2816351"/>
        </p:xfrm>
        <a:graphic>
          <a:graphicData uri="http://schemas.openxmlformats.org/drawingml/2006/chart">
            <c:chart xmlns:c="http://schemas.openxmlformats.org/drawingml/2006/chart" xmlns:r="http://schemas.openxmlformats.org/officeDocument/2006/relationships" r:id="rId4"/>
          </a:graphicData>
        </a:graphic>
      </p:graphicFrame>
      <p:sp>
        <p:nvSpPr>
          <p:cNvPr id="12" name="body:input-used"/>
          <p:cNvSpPr/>
          <p:nvPr/>
        </p:nvSpPr>
        <p:spPr>
          <a:xfrm>
            <a:off x="219456" y="4626864"/>
            <a:ext cx="5784951" cy="16002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buNone/>
            </a:pPr>
            <a:r>
              <a:rPr sz="1500" b="1" i="0">
                <a:solidFill>
                  <a:srgbClr val="376092"/>
                </a:solidFill>
                <a:latin typeface="Book Antiqua"/>
              </a:rPr>
              <a:t>Used: 5.04% → 3.59%</a:t>
            </a:r>
          </a:p>
          <a:p>
            <a:pPr algn="l">
              <a:spcBef>
                <a:spcPts val="300"/>
              </a:spcBef>
              <a:buNone/>
            </a:pPr>
            <a:r>
              <a:rPr sz="1300" b="0" i="0">
                <a:solidFill>
                  <a:srgbClr val="000000"/>
                </a:solidFill>
                <a:latin typeface="Book Antiqua"/>
              </a:rPr>
              <a:t>Today's yield fades to its 30-year average by year 5, spanning several rate cycles (shorter windows: 20-year 2.9%, 10-year 2.9%).</a:t>
            </a:r>
          </a:p>
        </p:txBody>
      </p:sp>
      <p:sp>
        <p:nvSpPr>
          <p:cNvPr id="13" name="section:Beta (5-Year Regression vs Index)"/>
          <p:cNvSpPr/>
          <p:nvPr/>
        </p:nvSpPr>
        <p:spPr>
          <a:xfrm>
            <a:off x="6187287" y="1362456"/>
            <a:ext cx="578495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Beta (5-Year Regression vs Index)</a:t>
            </a:r>
          </a:p>
        </p:txBody>
      </p:sp>
      <p:graphicFrame>
        <p:nvGraphicFramePr>
          <p:cNvPr id="14" name="chart:input-beta"/>
          <p:cNvGraphicFramePr>
            <a:graphicFrameLocks noGrp="1"/>
          </p:cNvGraphicFramePr>
          <p:nvPr/>
        </p:nvGraphicFramePr>
        <p:xfrm>
          <a:off x="6187287" y="1709928"/>
          <a:ext cx="5784951" cy="2816351"/>
        </p:xfrm>
        <a:graphic>
          <a:graphicData uri="http://schemas.openxmlformats.org/drawingml/2006/chart">
            <c:chart xmlns:c="http://schemas.openxmlformats.org/drawingml/2006/chart" xmlns:r="http://schemas.openxmlformats.org/officeDocument/2006/relationships" r:id="rId5"/>
          </a:graphicData>
        </a:graphic>
      </p:graphicFrame>
      <p:sp>
        <p:nvSpPr>
          <p:cNvPr id="15" name="body:input-used"/>
          <p:cNvSpPr/>
          <p:nvPr/>
        </p:nvSpPr>
        <p:spPr>
          <a:xfrm>
            <a:off x="6187287" y="4626864"/>
            <a:ext cx="5784951" cy="1600200"/>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buNone/>
            </a:pPr>
            <a:r>
              <a:rPr sz="1500" b="1" i="0">
                <a:solidFill>
                  <a:srgbClr val="376092"/>
                </a:solidFill>
                <a:latin typeface="Book Antiqua"/>
              </a:rPr>
              <a:t>Used: 1.31</a:t>
            </a:r>
          </a:p>
          <a:p>
            <a:pPr algn="l">
              <a:spcBef>
                <a:spcPts val="300"/>
              </a:spcBef>
              <a:buNone/>
            </a:pPr>
            <a:r>
              <a:rPr sz="1300" b="0" i="0">
                <a:solidFill>
                  <a:srgbClr val="000000"/>
                </a:solidFill>
                <a:latin typeface="Book Antiqua"/>
              </a:rPr>
              <a:t>Median peer beta 1.46, Blume-adjusted (0.67 × raw + 0.33) to 1.31; GRAB's own is 0.81. Cost of equity = rf + β × 5.0% ERP.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Appendix – DCF Sensitivity</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Value depends far more on growth and margins than on discount rates.</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22</a:t>
            </a:r>
          </a:p>
        </p:txBody>
      </p:sp>
      <p:sp>
        <p:nvSpPr>
          <p:cNvPr id="10" name="section:WACC vs Terminal Growth"/>
          <p:cNvSpPr/>
          <p:nvPr/>
        </p:nvSpPr>
        <p:spPr>
          <a:xfrm>
            <a:off x="219456" y="1362456"/>
            <a:ext cx="573923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WACC vs Terminal Growth</a:t>
            </a:r>
          </a:p>
        </p:txBody>
      </p:sp>
      <p:sp>
        <p:nvSpPr>
          <p:cNvPr id="11" name="table:header"/>
          <p:cNvSpPr/>
          <p:nvPr/>
        </p:nvSpPr>
        <p:spPr>
          <a:xfrm>
            <a:off x="219456" y="1728216"/>
            <a:ext cx="195133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FFFFFF"/>
                </a:solidFill>
                <a:latin typeface="Book Antiqua"/>
              </a:rPr>
              <a:t>WACC (all years) ↓  Terminal growth →</a:t>
            </a:r>
          </a:p>
        </p:txBody>
      </p:sp>
      <p:sp>
        <p:nvSpPr>
          <p:cNvPr id="12" name="table:header"/>
          <p:cNvSpPr/>
          <p:nvPr/>
        </p:nvSpPr>
        <p:spPr>
          <a:xfrm>
            <a:off x="2170794" y="1728216"/>
            <a:ext cx="1262630"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2.0%</a:t>
            </a:r>
          </a:p>
        </p:txBody>
      </p:sp>
      <p:sp>
        <p:nvSpPr>
          <p:cNvPr id="13" name="table:header"/>
          <p:cNvSpPr/>
          <p:nvPr/>
        </p:nvSpPr>
        <p:spPr>
          <a:xfrm>
            <a:off x="3433425" y="1728216"/>
            <a:ext cx="1262630"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2.5%</a:t>
            </a:r>
          </a:p>
        </p:txBody>
      </p:sp>
      <p:sp>
        <p:nvSpPr>
          <p:cNvPr id="14" name="table:header"/>
          <p:cNvSpPr/>
          <p:nvPr/>
        </p:nvSpPr>
        <p:spPr>
          <a:xfrm>
            <a:off x="4696056" y="1728216"/>
            <a:ext cx="1262630"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3.0%</a:t>
            </a:r>
          </a:p>
        </p:txBody>
      </p:sp>
      <p:sp>
        <p:nvSpPr>
          <p:cNvPr id="15" name="table:cell"/>
          <p:cNvSpPr/>
          <p:nvPr/>
        </p:nvSpPr>
        <p:spPr>
          <a:xfrm>
            <a:off x="219456" y="2185416"/>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-1.0 pts</a:t>
            </a:r>
          </a:p>
        </p:txBody>
      </p:sp>
      <p:sp>
        <p:nvSpPr>
          <p:cNvPr id="16" name="table:cell"/>
          <p:cNvSpPr/>
          <p:nvPr/>
        </p:nvSpPr>
        <p:spPr>
          <a:xfrm>
            <a:off x="2170794" y="2185416"/>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$3.70</a:t>
            </a:r>
          </a:p>
        </p:txBody>
      </p:sp>
      <p:sp>
        <p:nvSpPr>
          <p:cNvPr id="17" name="table:cell"/>
          <p:cNvSpPr/>
          <p:nvPr/>
        </p:nvSpPr>
        <p:spPr>
          <a:xfrm>
            <a:off x="3433425" y="2185416"/>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$3.81</a:t>
            </a:r>
          </a:p>
        </p:txBody>
      </p:sp>
      <p:sp>
        <p:nvSpPr>
          <p:cNvPr id="18" name="table:cell"/>
          <p:cNvSpPr/>
          <p:nvPr/>
        </p:nvSpPr>
        <p:spPr>
          <a:xfrm>
            <a:off x="4696056" y="2185416"/>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$3.93</a:t>
            </a:r>
          </a:p>
        </p:txBody>
      </p:sp>
      <p:cxnSp>
        <p:nvCxnSpPr>
          <p:cNvPr id="19" name="frame:table-rule"/>
          <p:cNvCxnSpPr/>
          <p:nvPr/>
        </p:nvCxnSpPr>
        <p:spPr>
          <a:xfrm>
            <a:off x="219456" y="2728569"/>
            <a:ext cx="5739231"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able:cell"/>
          <p:cNvSpPr/>
          <p:nvPr/>
        </p:nvSpPr>
        <p:spPr>
          <a:xfrm>
            <a:off x="219456" y="2728569"/>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-0.5 pts</a:t>
            </a:r>
          </a:p>
        </p:txBody>
      </p:sp>
      <p:sp>
        <p:nvSpPr>
          <p:cNvPr id="21" name="table:cell"/>
          <p:cNvSpPr/>
          <p:nvPr/>
        </p:nvSpPr>
        <p:spPr>
          <a:xfrm>
            <a:off x="2170794" y="2728569"/>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$3.50</a:t>
            </a:r>
          </a:p>
        </p:txBody>
      </p:sp>
      <p:sp>
        <p:nvSpPr>
          <p:cNvPr id="22" name="table:cell"/>
          <p:cNvSpPr/>
          <p:nvPr/>
        </p:nvSpPr>
        <p:spPr>
          <a:xfrm>
            <a:off x="3433425" y="2728569"/>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$3.58</a:t>
            </a:r>
          </a:p>
        </p:txBody>
      </p:sp>
      <p:sp>
        <p:nvSpPr>
          <p:cNvPr id="23" name="table:cell"/>
          <p:cNvSpPr/>
          <p:nvPr/>
        </p:nvSpPr>
        <p:spPr>
          <a:xfrm>
            <a:off x="4696056" y="2728569"/>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$3.67</a:t>
            </a:r>
          </a:p>
        </p:txBody>
      </p:sp>
      <p:cxnSp>
        <p:nvCxnSpPr>
          <p:cNvPr id="24" name="frame:table-rule"/>
          <p:cNvCxnSpPr/>
          <p:nvPr/>
        </p:nvCxnSpPr>
        <p:spPr>
          <a:xfrm>
            <a:off x="219456" y="3271723"/>
            <a:ext cx="5739231"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25" name="table:cell"/>
          <p:cNvSpPr/>
          <p:nvPr/>
        </p:nvSpPr>
        <p:spPr>
          <a:xfrm>
            <a:off x="219456" y="3271723"/>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9.4% terminal</a:t>
            </a:r>
          </a:p>
        </p:txBody>
      </p:sp>
      <p:sp>
        <p:nvSpPr>
          <p:cNvPr id="26" name="table:cell"/>
          <p:cNvSpPr/>
          <p:nvPr/>
        </p:nvSpPr>
        <p:spPr>
          <a:xfrm>
            <a:off x="2170794" y="3271723"/>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$3.32</a:t>
            </a:r>
          </a:p>
        </p:txBody>
      </p:sp>
      <p:sp>
        <p:nvSpPr>
          <p:cNvPr id="27" name="table:cell"/>
          <p:cNvSpPr/>
          <p:nvPr/>
        </p:nvSpPr>
        <p:spPr>
          <a:xfrm>
            <a:off x="3433425" y="3271723"/>
            <a:ext cx="1262630" cy="543153"/>
          </a:xfrm>
          <a:prstGeom prst="rect">
            <a:avLst/>
          </a:prstGeom>
          <a:solidFill>
            <a:srgbClr val="C5D9F0"/>
          </a:solidFill>
          <a:ln w="9525">
            <a:solidFill>
              <a:srgbClr val="376092"/>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1" i="0">
                <a:solidFill>
                  <a:srgbClr val="2E7D32"/>
                </a:solidFill>
                <a:latin typeface="Book Antiqua"/>
              </a:rPr>
              <a:t>$3.39</a:t>
            </a:r>
          </a:p>
        </p:txBody>
      </p:sp>
      <p:sp>
        <p:nvSpPr>
          <p:cNvPr id="28" name="table:cell"/>
          <p:cNvSpPr/>
          <p:nvPr/>
        </p:nvSpPr>
        <p:spPr>
          <a:xfrm>
            <a:off x="4696056" y="3271723"/>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$3.46</a:t>
            </a:r>
          </a:p>
        </p:txBody>
      </p:sp>
      <p:cxnSp>
        <p:nvCxnSpPr>
          <p:cNvPr id="29" name="frame:table-rule"/>
          <p:cNvCxnSpPr/>
          <p:nvPr/>
        </p:nvCxnSpPr>
        <p:spPr>
          <a:xfrm>
            <a:off x="219456" y="3814876"/>
            <a:ext cx="5739231"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able:cell"/>
          <p:cNvSpPr/>
          <p:nvPr/>
        </p:nvSpPr>
        <p:spPr>
          <a:xfrm>
            <a:off x="219456" y="3814876"/>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+0.5 pts</a:t>
            </a:r>
          </a:p>
        </p:txBody>
      </p:sp>
      <p:sp>
        <p:nvSpPr>
          <p:cNvPr id="31" name="table:cell"/>
          <p:cNvSpPr/>
          <p:nvPr/>
        </p:nvSpPr>
        <p:spPr>
          <a:xfrm>
            <a:off x="2170794" y="3814876"/>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$3.17</a:t>
            </a:r>
          </a:p>
        </p:txBody>
      </p:sp>
      <p:sp>
        <p:nvSpPr>
          <p:cNvPr id="32" name="table:cell"/>
          <p:cNvSpPr/>
          <p:nvPr/>
        </p:nvSpPr>
        <p:spPr>
          <a:xfrm>
            <a:off x="3433425" y="3814876"/>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$3.22</a:t>
            </a:r>
          </a:p>
        </p:txBody>
      </p:sp>
      <p:sp>
        <p:nvSpPr>
          <p:cNvPr id="33" name="table:cell"/>
          <p:cNvSpPr/>
          <p:nvPr/>
        </p:nvSpPr>
        <p:spPr>
          <a:xfrm>
            <a:off x="4696056" y="3814876"/>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$3.28</a:t>
            </a:r>
          </a:p>
        </p:txBody>
      </p:sp>
      <p:cxnSp>
        <p:nvCxnSpPr>
          <p:cNvPr id="34" name="frame:table-rule"/>
          <p:cNvCxnSpPr/>
          <p:nvPr/>
        </p:nvCxnSpPr>
        <p:spPr>
          <a:xfrm>
            <a:off x="219456" y="4358030"/>
            <a:ext cx="5739231"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5" name="table:cell"/>
          <p:cNvSpPr/>
          <p:nvPr/>
        </p:nvSpPr>
        <p:spPr>
          <a:xfrm>
            <a:off x="219456" y="4358030"/>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+1.0 pts</a:t>
            </a:r>
          </a:p>
        </p:txBody>
      </p:sp>
      <p:sp>
        <p:nvSpPr>
          <p:cNvPr id="36" name="table:cell"/>
          <p:cNvSpPr/>
          <p:nvPr/>
        </p:nvSpPr>
        <p:spPr>
          <a:xfrm>
            <a:off x="2170794" y="4358030"/>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$3.03</a:t>
            </a:r>
          </a:p>
        </p:txBody>
      </p:sp>
      <p:sp>
        <p:nvSpPr>
          <p:cNvPr id="37" name="table:cell"/>
          <p:cNvSpPr/>
          <p:nvPr/>
        </p:nvSpPr>
        <p:spPr>
          <a:xfrm>
            <a:off x="3433425" y="4358030"/>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$3.08</a:t>
            </a:r>
          </a:p>
        </p:txBody>
      </p:sp>
      <p:sp>
        <p:nvSpPr>
          <p:cNvPr id="38" name="table:cell"/>
          <p:cNvSpPr/>
          <p:nvPr/>
        </p:nvSpPr>
        <p:spPr>
          <a:xfrm>
            <a:off x="4696056" y="4358030"/>
            <a:ext cx="1262630"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$3.12</a:t>
            </a:r>
          </a:p>
        </p:txBody>
      </p:sp>
      <p:cxnSp>
        <p:nvCxnSpPr>
          <p:cNvPr id="39" name="frame:table-rule"/>
          <p:cNvCxnSpPr/>
          <p:nvPr/>
        </p:nvCxnSpPr>
        <p:spPr>
          <a:xfrm>
            <a:off x="219456" y="4901184"/>
            <a:ext cx="5739231"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0" name="section:Revenue Growth vs Steady-State Margin (Base Case)"/>
          <p:cNvSpPr/>
          <p:nvPr/>
        </p:nvSpPr>
        <p:spPr>
          <a:xfrm>
            <a:off x="6233007" y="1362456"/>
            <a:ext cx="5739231"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Revenue Growth vs Steady-State Margin (Base Case)</a:t>
            </a:r>
          </a:p>
        </p:txBody>
      </p:sp>
      <p:sp>
        <p:nvSpPr>
          <p:cNvPr id="41" name="table:header"/>
          <p:cNvSpPr/>
          <p:nvPr/>
        </p:nvSpPr>
        <p:spPr>
          <a:xfrm>
            <a:off x="6233007" y="1728216"/>
            <a:ext cx="1951338"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100" b="1" i="0">
                <a:solidFill>
                  <a:srgbClr val="FFFFFF"/>
                </a:solidFill>
                <a:latin typeface="Book Antiqua"/>
              </a:rPr>
              <a:t>Growth, yrs 1-5 ↓  EBIT margin after SBC →</a:t>
            </a:r>
          </a:p>
        </p:txBody>
      </p:sp>
      <p:sp>
        <p:nvSpPr>
          <p:cNvPr id="42" name="table:header"/>
          <p:cNvSpPr/>
          <p:nvPr/>
        </p:nvSpPr>
        <p:spPr>
          <a:xfrm>
            <a:off x="8184346" y="1728216"/>
            <a:ext cx="946973"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8.0%</a:t>
            </a:r>
          </a:p>
        </p:txBody>
      </p:sp>
      <p:sp>
        <p:nvSpPr>
          <p:cNvPr id="43" name="table:header"/>
          <p:cNvSpPr/>
          <p:nvPr/>
        </p:nvSpPr>
        <p:spPr>
          <a:xfrm>
            <a:off x="9131319" y="1728216"/>
            <a:ext cx="946973"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10.0%</a:t>
            </a:r>
          </a:p>
        </p:txBody>
      </p:sp>
      <p:sp>
        <p:nvSpPr>
          <p:cNvPr id="44" name="table:header"/>
          <p:cNvSpPr/>
          <p:nvPr/>
        </p:nvSpPr>
        <p:spPr>
          <a:xfrm>
            <a:off x="10078292" y="1728216"/>
            <a:ext cx="946973"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12.1%</a:t>
            </a:r>
          </a:p>
        </p:txBody>
      </p:sp>
      <p:sp>
        <p:nvSpPr>
          <p:cNvPr id="45" name="table:header"/>
          <p:cNvSpPr/>
          <p:nvPr/>
        </p:nvSpPr>
        <p:spPr>
          <a:xfrm>
            <a:off x="11025265" y="1728216"/>
            <a:ext cx="946973" cy="457200"/>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300" b="1" i="0">
                <a:solidFill>
                  <a:srgbClr val="FFFFFF"/>
                </a:solidFill>
                <a:latin typeface="Book Antiqua"/>
              </a:rPr>
              <a:t>14.1%</a:t>
            </a:r>
          </a:p>
        </p:txBody>
      </p:sp>
      <p:sp>
        <p:nvSpPr>
          <p:cNvPr id="46" name="table:cell"/>
          <p:cNvSpPr/>
          <p:nvPr/>
        </p:nvSpPr>
        <p:spPr>
          <a:xfrm>
            <a:off x="6233007" y="2185416"/>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10.8% (priced in)</a:t>
            </a:r>
          </a:p>
        </p:txBody>
      </p:sp>
      <p:sp>
        <p:nvSpPr>
          <p:cNvPr id="47" name="table:cell"/>
          <p:cNvSpPr/>
          <p:nvPr/>
        </p:nvSpPr>
        <p:spPr>
          <a:xfrm>
            <a:off x="8184346" y="218541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C0392B"/>
                </a:solidFill>
                <a:latin typeface="Book Antiqua"/>
              </a:rPr>
              <a:t>$2.21</a:t>
            </a:r>
          </a:p>
        </p:txBody>
      </p:sp>
      <p:sp>
        <p:nvSpPr>
          <p:cNvPr id="48" name="table:cell"/>
          <p:cNvSpPr/>
          <p:nvPr/>
        </p:nvSpPr>
        <p:spPr>
          <a:xfrm>
            <a:off x="9131319" y="218541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C0392B"/>
                </a:solidFill>
                <a:latin typeface="Book Antiqua"/>
              </a:rPr>
              <a:t>$2.40</a:t>
            </a:r>
          </a:p>
        </p:txBody>
      </p:sp>
      <p:sp>
        <p:nvSpPr>
          <p:cNvPr id="49" name="table:cell"/>
          <p:cNvSpPr/>
          <p:nvPr/>
        </p:nvSpPr>
        <p:spPr>
          <a:xfrm>
            <a:off x="10078292" y="218541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C0392B"/>
                </a:solidFill>
                <a:latin typeface="Book Antiqua"/>
              </a:rPr>
              <a:t>$2.59</a:t>
            </a:r>
          </a:p>
        </p:txBody>
      </p:sp>
      <p:sp>
        <p:nvSpPr>
          <p:cNvPr id="50" name="table:cell"/>
          <p:cNvSpPr/>
          <p:nvPr/>
        </p:nvSpPr>
        <p:spPr>
          <a:xfrm>
            <a:off x="11025265" y="218541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$2.78</a:t>
            </a:r>
          </a:p>
        </p:txBody>
      </p:sp>
      <p:cxnSp>
        <p:nvCxnSpPr>
          <p:cNvPr id="51" name="frame:table-rule"/>
          <p:cNvCxnSpPr/>
          <p:nvPr/>
        </p:nvCxnSpPr>
        <p:spPr>
          <a:xfrm>
            <a:off x="6233007" y="2728569"/>
            <a:ext cx="5739232"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2" name="table:cell"/>
          <p:cNvSpPr/>
          <p:nvPr/>
        </p:nvSpPr>
        <p:spPr>
          <a:xfrm>
            <a:off x="6233007" y="2728569"/>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12.0%</a:t>
            </a:r>
          </a:p>
        </p:txBody>
      </p:sp>
      <p:sp>
        <p:nvSpPr>
          <p:cNvPr id="53" name="table:cell"/>
          <p:cNvSpPr/>
          <p:nvPr/>
        </p:nvSpPr>
        <p:spPr>
          <a:xfrm>
            <a:off x="8184346" y="2728569"/>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C0392B"/>
                </a:solidFill>
                <a:latin typeface="Book Antiqua"/>
              </a:rPr>
              <a:t>$2.28</a:t>
            </a:r>
          </a:p>
        </p:txBody>
      </p:sp>
      <p:sp>
        <p:nvSpPr>
          <p:cNvPr id="54" name="table:cell"/>
          <p:cNvSpPr/>
          <p:nvPr/>
        </p:nvSpPr>
        <p:spPr>
          <a:xfrm>
            <a:off x="9131319" y="2728569"/>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C0392B"/>
                </a:solidFill>
                <a:latin typeface="Book Antiqua"/>
              </a:rPr>
              <a:t>$2.48</a:t>
            </a:r>
          </a:p>
        </p:txBody>
      </p:sp>
      <p:sp>
        <p:nvSpPr>
          <p:cNvPr id="55" name="table:cell"/>
          <p:cNvSpPr/>
          <p:nvPr/>
        </p:nvSpPr>
        <p:spPr>
          <a:xfrm>
            <a:off x="10078292" y="2728569"/>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$2.69</a:t>
            </a:r>
          </a:p>
        </p:txBody>
      </p:sp>
      <p:sp>
        <p:nvSpPr>
          <p:cNvPr id="56" name="table:cell"/>
          <p:cNvSpPr/>
          <p:nvPr/>
        </p:nvSpPr>
        <p:spPr>
          <a:xfrm>
            <a:off x="11025265" y="2728569"/>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$2.89</a:t>
            </a:r>
          </a:p>
        </p:txBody>
      </p:sp>
      <p:cxnSp>
        <p:nvCxnSpPr>
          <p:cNvPr id="57" name="frame:table-rule"/>
          <p:cNvCxnSpPr/>
          <p:nvPr/>
        </p:nvCxnSpPr>
        <p:spPr>
          <a:xfrm>
            <a:off x="6233007" y="3271723"/>
            <a:ext cx="5739232"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8" name="table:cell"/>
          <p:cNvSpPr/>
          <p:nvPr/>
        </p:nvSpPr>
        <p:spPr>
          <a:xfrm>
            <a:off x="6233007" y="3271723"/>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19.3% (consensus)</a:t>
            </a:r>
          </a:p>
        </p:txBody>
      </p:sp>
      <p:sp>
        <p:nvSpPr>
          <p:cNvPr id="59" name="table:cell"/>
          <p:cNvSpPr/>
          <p:nvPr/>
        </p:nvSpPr>
        <p:spPr>
          <a:xfrm>
            <a:off x="8184346" y="3271723"/>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$2.76</a:t>
            </a:r>
          </a:p>
        </p:txBody>
      </p:sp>
      <p:sp>
        <p:nvSpPr>
          <p:cNvPr id="60" name="table:cell"/>
          <p:cNvSpPr/>
          <p:nvPr/>
        </p:nvSpPr>
        <p:spPr>
          <a:xfrm>
            <a:off x="9131319" y="3271723"/>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$3.07</a:t>
            </a:r>
          </a:p>
        </p:txBody>
      </p:sp>
      <p:sp>
        <p:nvSpPr>
          <p:cNvPr id="61" name="table:cell"/>
          <p:cNvSpPr/>
          <p:nvPr/>
        </p:nvSpPr>
        <p:spPr>
          <a:xfrm>
            <a:off x="10078292" y="3271723"/>
            <a:ext cx="946973" cy="543153"/>
          </a:xfrm>
          <a:prstGeom prst="rect">
            <a:avLst/>
          </a:prstGeom>
          <a:solidFill>
            <a:srgbClr val="C5D9F0"/>
          </a:solidFill>
          <a:ln w="9525">
            <a:solidFill>
              <a:srgbClr val="376092"/>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1" i="0">
                <a:solidFill>
                  <a:srgbClr val="2E7D32"/>
                </a:solidFill>
                <a:latin typeface="Book Antiqua"/>
              </a:rPr>
              <a:t>$3.39</a:t>
            </a:r>
          </a:p>
        </p:txBody>
      </p:sp>
      <p:sp>
        <p:nvSpPr>
          <p:cNvPr id="62" name="table:cell"/>
          <p:cNvSpPr/>
          <p:nvPr/>
        </p:nvSpPr>
        <p:spPr>
          <a:xfrm>
            <a:off x="11025265" y="3271723"/>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$3.70</a:t>
            </a:r>
          </a:p>
        </p:txBody>
      </p:sp>
      <p:cxnSp>
        <p:nvCxnSpPr>
          <p:cNvPr id="63" name="frame:table-rule"/>
          <p:cNvCxnSpPr/>
          <p:nvPr/>
        </p:nvCxnSpPr>
        <p:spPr>
          <a:xfrm>
            <a:off x="6233007" y="3814876"/>
            <a:ext cx="5739232"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4" name="table:cell"/>
          <p:cNvSpPr/>
          <p:nvPr/>
        </p:nvSpPr>
        <p:spPr>
          <a:xfrm>
            <a:off x="6233007" y="3814876"/>
            <a:ext cx="1951338" cy="543153"/>
          </a:xfrm>
          <a:prstGeom prst="rect">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300" b="1" i="0">
                <a:solidFill>
                  <a:srgbClr val="000000"/>
                </a:solidFill>
                <a:latin typeface="Book Antiqua"/>
              </a:rPr>
              <a:t>22.3%</a:t>
            </a:r>
          </a:p>
        </p:txBody>
      </p:sp>
      <p:sp>
        <p:nvSpPr>
          <p:cNvPr id="65" name="table:cell"/>
          <p:cNvSpPr/>
          <p:nvPr/>
        </p:nvSpPr>
        <p:spPr>
          <a:xfrm>
            <a:off x="8184346" y="381487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$3.00</a:t>
            </a:r>
          </a:p>
        </p:txBody>
      </p:sp>
      <p:sp>
        <p:nvSpPr>
          <p:cNvPr id="66" name="table:cell"/>
          <p:cNvSpPr/>
          <p:nvPr/>
        </p:nvSpPr>
        <p:spPr>
          <a:xfrm>
            <a:off x="9131319" y="381487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$3.37</a:t>
            </a:r>
          </a:p>
        </p:txBody>
      </p:sp>
      <p:sp>
        <p:nvSpPr>
          <p:cNvPr id="67" name="table:cell"/>
          <p:cNvSpPr/>
          <p:nvPr/>
        </p:nvSpPr>
        <p:spPr>
          <a:xfrm>
            <a:off x="10078292" y="381487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$3.76</a:t>
            </a:r>
          </a:p>
        </p:txBody>
      </p:sp>
      <p:sp>
        <p:nvSpPr>
          <p:cNvPr id="68" name="table:cell"/>
          <p:cNvSpPr/>
          <p:nvPr/>
        </p:nvSpPr>
        <p:spPr>
          <a:xfrm>
            <a:off x="11025265" y="3814876"/>
            <a:ext cx="946973" cy="543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noAutofit/>
          </a:bodyPr>
          <a:lstStyle/>
          <a:p>
            <a:pPr algn="ctr">
              <a:buNone/>
            </a:pPr>
            <a:r>
              <a:rPr sz="1500" b="0" i="0">
                <a:solidFill>
                  <a:srgbClr val="2E7D32"/>
                </a:solidFill>
                <a:latin typeface="Book Antiqua"/>
              </a:rPr>
              <a:t>$4.12</a:t>
            </a:r>
          </a:p>
        </p:txBody>
      </p:sp>
      <p:cxnSp>
        <p:nvCxnSpPr>
          <p:cNvPr id="69" name="frame:table-rule"/>
          <p:cNvCxnSpPr/>
          <p:nvPr/>
        </p:nvCxnSpPr>
        <p:spPr>
          <a:xfrm>
            <a:off x="6233007" y="4358030"/>
            <a:ext cx="5739232"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70" name="body:sensitivity-note"/>
          <p:cNvSpPr/>
          <p:nvPr/>
        </p:nvSpPr>
        <p:spPr>
          <a:xfrm>
            <a:off x="219456" y="5038344"/>
            <a:ext cx="11752783"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t">
            <a:noAutofit/>
          </a:bodyPr>
          <a:lstStyle/>
          <a:p>
            <a:pPr algn="l">
              <a:buNone/>
            </a:pPr>
            <a:r>
              <a:rPr sz="1400" b="0" i="0">
                <a:solidFill>
                  <a:srgbClr val="000000"/>
                </a:solidFill>
                <a:latin typeface="Book Antiqua"/>
              </a:rPr>
              <a:t>Base-case value per share today vs the $2.68 share price: </a:t>
            </a:r>
            <a:r>
              <a:rPr sz="1400" b="1" i="0">
                <a:solidFill>
                  <a:srgbClr val="000000"/>
                </a:solidFill>
                <a:latin typeface="Book Antiqua"/>
              </a:rPr>
              <a:t>green</a:t>
            </a:r>
            <a:r>
              <a:rPr sz="1400" b="0" i="0">
                <a:solidFill>
                  <a:srgbClr val="000000"/>
                </a:solidFill>
                <a:latin typeface="Book Antiqua"/>
              </a:rPr>
              <a:t> above it, </a:t>
            </a:r>
            <a:r>
              <a:rPr sz="1400" b="1" i="0">
                <a:solidFill>
                  <a:srgbClr val="000000"/>
                </a:solidFill>
                <a:latin typeface="Book Antiqua"/>
              </a:rPr>
              <a:t>red</a:t>
            </a:r>
            <a:r>
              <a:rPr sz="1400" b="0" i="0">
                <a:solidFill>
                  <a:srgbClr val="000000"/>
                </a:solidFill>
                <a:latin typeface="Book Antiqua"/>
              </a:rPr>
              <a:t> below. Boxed cell = inputs used.</a:t>
            </a:r>
          </a:p>
          <a:p>
            <a:pPr algn="l">
              <a:spcBef>
                <a:spcPts val="600"/>
              </a:spcBef>
              <a:buNone/>
            </a:pPr>
            <a:r>
              <a:rPr sz="1400" b="1" i="0">
                <a:solidFill>
                  <a:srgbClr val="000000"/>
                </a:solidFill>
                <a:latin typeface="Book Antiqua"/>
              </a:rPr>
              <a:t>Reverse DCF:</a:t>
            </a:r>
            <a:r>
              <a:rPr sz="1400" b="0" i="0">
                <a:solidFill>
                  <a:srgbClr val="000000"/>
                </a:solidFill>
                <a:latin typeface="Book Antiqua"/>
              </a:rPr>
              <a:t> Today's price is consistent with </a:t>
            </a:r>
            <a:r>
              <a:rPr sz="1400" b="1" i="0">
                <a:solidFill>
                  <a:srgbClr val="000000"/>
                </a:solidFill>
                <a:latin typeface="Book Antiqua"/>
              </a:rPr>
              <a:t>10.8%</a:t>
            </a:r>
            <a:r>
              <a:rPr sz="1400" b="0" i="0">
                <a:solidFill>
                  <a:srgbClr val="000000"/>
                </a:solidFill>
                <a:latin typeface="Book Antiqua"/>
              </a:rPr>
              <a:t> a year revenue growth (next 5 years), vs analysts' </a:t>
            </a:r>
            <a:r>
              <a:rPr sz="1400" b="1" i="0">
                <a:solidFill>
                  <a:srgbClr val="000000"/>
                </a:solidFill>
                <a:latin typeface="Book Antiqua"/>
              </a:rPr>
              <a:t>19.3%</a:t>
            </a:r>
          </a:p>
          <a:p>
            <a:pPr marL="177800" indent="-177800" algn="l">
              <a:spcBef>
                <a:spcPts val="600"/>
              </a:spcBef>
              <a:buFont typeface="Arial"/>
              <a:buChar char="•"/>
            </a:pPr>
            <a:r>
              <a:rPr sz="1400" b="0" i="0">
                <a:solidFill>
                  <a:srgbClr val="000000"/>
                </a:solidFill>
                <a:latin typeface="Book Antiqua"/>
              </a:rPr>
              <a:t>At consensus growth, a ~12% steady margin after stock pay is needed to reach the base case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title"/>
          <p:cNvSpPr/>
          <p:nvPr/>
        </p:nvSpPr>
        <p:spPr>
          <a:xfrm>
            <a:off x="219456" y="146304"/>
            <a:ext cx="78716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l">
              <a:buNone/>
            </a:pPr>
            <a:r>
              <a:rPr sz="3000" b="1" i="0">
                <a:solidFill>
                  <a:srgbClr val="376092"/>
                </a:solidFill>
                <a:latin typeface="Book Antiqua"/>
              </a:rPr>
              <a:t>Appendix – DCF Projection (Consensus)</a:t>
            </a:r>
          </a:p>
        </p:txBody>
      </p:sp>
      <p:sp>
        <p:nvSpPr>
          <p:cNvPr id="3" name="frame:ticker"/>
          <p:cNvSpPr/>
          <p:nvPr/>
        </p:nvSpPr>
        <p:spPr>
          <a:xfrm>
            <a:off x="8365439" y="146304"/>
            <a:ext cx="3606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Autofit/>
          </a:bodyPr>
          <a:lstStyle/>
          <a:p>
            <a:pPr algn="r">
              <a:buNone/>
            </a:pPr>
            <a:r>
              <a:rPr sz="1400" b="1" i="0">
                <a:solidFill>
                  <a:srgbClr val="376092"/>
                </a:solidFill>
                <a:latin typeface="Book Antiqua"/>
              </a:rPr>
              <a:t>Grab Holdings (NASDAQ: GRAB)</a:t>
            </a:r>
          </a:p>
          <a:p>
            <a:pPr algn="r">
              <a:buNone/>
            </a:pPr>
            <a:r>
              <a:rPr sz="1400" b="1" i="0">
                <a:solidFill>
                  <a:srgbClr val="898989"/>
                </a:solidFill>
                <a:latin typeface="Book Antiqua"/>
              </a:rPr>
              <a:t>GARP  |  Industrials / Mobility &amp; Delivery</a:t>
            </a:r>
          </a:p>
        </p:txBody>
      </p:sp>
      <p:cxnSp>
        <p:nvCxnSpPr>
          <p:cNvPr id="4" name="frame:rule-top"/>
          <p:cNvCxnSpPr/>
          <p:nvPr/>
        </p:nvCxnSpPr>
        <p:spPr>
          <a:xfrm>
            <a:off x="219456" y="768096"/>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sp>
        <p:nvSpPr>
          <p:cNvPr id="5" name="banner"/>
          <p:cNvSpPr/>
          <p:nvPr/>
        </p:nvSpPr>
        <p:spPr>
          <a:xfrm>
            <a:off x="219456" y="868680"/>
            <a:ext cx="11752783" cy="3840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noAutofit/>
          </a:bodyPr>
          <a:lstStyle/>
          <a:p>
            <a:pPr algn="l">
              <a:buNone/>
            </a:pPr>
            <a:r>
              <a:rPr sz="1600" b="0" i="0">
                <a:solidFill>
                  <a:srgbClr val="FFFFFF"/>
                </a:solidFill>
                <a:latin typeface="Book Antiqua"/>
              </a:rPr>
              <a:t>Consensus-case DCF projection.</a:t>
            </a:r>
          </a:p>
        </p:txBody>
      </p:sp>
      <p:cxnSp>
        <p:nvCxnSpPr>
          <p:cNvPr id="6" name="frame:rule-bottom"/>
          <p:cNvCxnSpPr/>
          <p:nvPr/>
        </p:nvCxnSpPr>
        <p:spPr>
          <a:xfrm>
            <a:off x="219456" y="6336792"/>
            <a:ext cx="11752783" cy="0"/>
          </a:xfrm>
          <a:prstGeom prst="line">
            <a:avLst/>
          </a:prstGeom>
          <a:ln w="44450" cmpd="dbl">
            <a:solidFill>
              <a:srgbClr val="898989"/>
            </a:solidFill>
          </a:ln>
        </p:spPr>
        <p:style>
          <a:lnRef idx="2">
            <a:schemeClr val="accent1"/>
          </a:lnRef>
          <a:fillRef idx="0">
            <a:schemeClr val="accent1"/>
          </a:fillRef>
          <a:effectRef idx="1">
            <a:schemeClr val="accent1"/>
          </a:effectRef>
          <a:fontRef idx="minor">
            <a:schemeClr val="tx1"/>
          </a:fontRef>
        </p:style>
      </p:cxnSp>
      <p:pic>
        <p:nvPicPr>
          <p:cNvPr id="7" name="frame:logo" descr="nova_logo.png"/>
          <p:cNvPicPr>
            <a:picLocks noChangeAspect="1"/>
          </p:cNvPicPr>
          <p:nvPr/>
        </p:nvPicPr>
        <p:blipFill>
          <a:blip r:embed="rId3"/>
          <a:stretch>
            <a:fillRect/>
          </a:stretch>
        </p:blipFill>
        <p:spPr>
          <a:xfrm>
            <a:off x="219456" y="6469380"/>
            <a:ext cx="1481328" cy="246888"/>
          </a:xfrm>
          <a:prstGeom prst="rect">
            <a:avLst/>
          </a:prstGeom>
        </p:spPr>
      </p:pic>
      <p:sp>
        <p:nvSpPr>
          <p:cNvPr id="8" name="frame:footer-center"/>
          <p:cNvSpPr/>
          <p:nvPr/>
        </p:nvSpPr>
        <p:spPr>
          <a:xfrm>
            <a:off x="4137050"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buNone/>
            </a:pPr>
            <a:r>
              <a:rPr sz="1200" b="0" i="0">
                <a:solidFill>
                  <a:srgbClr val="898989"/>
                </a:solidFill>
                <a:latin typeface="Book Antiqua"/>
              </a:rPr>
              <a:t>NSP</a:t>
            </a:r>
          </a:p>
        </p:txBody>
      </p:sp>
      <p:sp>
        <p:nvSpPr>
          <p:cNvPr id="9" name="frame:footer-right"/>
          <p:cNvSpPr/>
          <p:nvPr/>
        </p:nvSpPr>
        <p:spPr>
          <a:xfrm>
            <a:off x="8054644" y="6409944"/>
            <a:ext cx="391759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200" b="0" i="0">
                <a:solidFill>
                  <a:srgbClr val="898989"/>
                </a:solidFill>
                <a:latin typeface="Book Antiqua"/>
              </a:rPr>
              <a:t>Stock Pick  |  23</a:t>
            </a:r>
          </a:p>
        </p:txBody>
      </p:sp>
      <p:sp>
        <p:nvSpPr>
          <p:cNvPr id="10" name="table:header"/>
          <p:cNvSpPr/>
          <p:nvPr/>
        </p:nvSpPr>
        <p:spPr>
          <a:xfrm>
            <a:off x="219456" y="1362456"/>
            <a:ext cx="1737360"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FFFFFF"/>
                </a:solidFill>
                <a:latin typeface="Book Antiqua"/>
              </a:rPr>
              <a:t>USD MM</a:t>
            </a:r>
          </a:p>
        </p:txBody>
      </p:sp>
      <p:sp>
        <p:nvSpPr>
          <p:cNvPr id="11" name="table:header"/>
          <p:cNvSpPr/>
          <p:nvPr/>
        </p:nvSpPr>
        <p:spPr>
          <a:xfrm>
            <a:off x="1956815"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FY26E (18%)</a:t>
            </a:r>
          </a:p>
        </p:txBody>
      </p:sp>
      <p:sp>
        <p:nvSpPr>
          <p:cNvPr id="12" name="table:header"/>
          <p:cNvSpPr/>
          <p:nvPr/>
        </p:nvSpPr>
        <p:spPr>
          <a:xfrm>
            <a:off x="2958358"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FY27E</a:t>
            </a:r>
          </a:p>
        </p:txBody>
      </p:sp>
      <p:sp>
        <p:nvSpPr>
          <p:cNvPr id="13" name="table:header"/>
          <p:cNvSpPr/>
          <p:nvPr/>
        </p:nvSpPr>
        <p:spPr>
          <a:xfrm>
            <a:off x="3959900"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FY28E</a:t>
            </a:r>
          </a:p>
        </p:txBody>
      </p:sp>
      <p:sp>
        <p:nvSpPr>
          <p:cNvPr id="14" name="table:header"/>
          <p:cNvSpPr/>
          <p:nvPr/>
        </p:nvSpPr>
        <p:spPr>
          <a:xfrm>
            <a:off x="4961442"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FY29E</a:t>
            </a:r>
          </a:p>
        </p:txBody>
      </p:sp>
      <p:sp>
        <p:nvSpPr>
          <p:cNvPr id="15" name="table:header"/>
          <p:cNvSpPr/>
          <p:nvPr/>
        </p:nvSpPr>
        <p:spPr>
          <a:xfrm>
            <a:off x="5962985"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FY30E</a:t>
            </a:r>
          </a:p>
        </p:txBody>
      </p:sp>
      <p:sp>
        <p:nvSpPr>
          <p:cNvPr id="16" name="table:header"/>
          <p:cNvSpPr/>
          <p:nvPr/>
        </p:nvSpPr>
        <p:spPr>
          <a:xfrm>
            <a:off x="6964527"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FY31E</a:t>
            </a:r>
          </a:p>
        </p:txBody>
      </p:sp>
      <p:sp>
        <p:nvSpPr>
          <p:cNvPr id="17" name="table:header"/>
          <p:cNvSpPr/>
          <p:nvPr/>
        </p:nvSpPr>
        <p:spPr>
          <a:xfrm>
            <a:off x="7966069"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FY32E</a:t>
            </a:r>
          </a:p>
        </p:txBody>
      </p:sp>
      <p:sp>
        <p:nvSpPr>
          <p:cNvPr id="18" name="table:header"/>
          <p:cNvSpPr/>
          <p:nvPr/>
        </p:nvSpPr>
        <p:spPr>
          <a:xfrm>
            <a:off x="8967612"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FY33E</a:t>
            </a:r>
          </a:p>
        </p:txBody>
      </p:sp>
      <p:sp>
        <p:nvSpPr>
          <p:cNvPr id="19" name="table:header"/>
          <p:cNvSpPr/>
          <p:nvPr/>
        </p:nvSpPr>
        <p:spPr>
          <a:xfrm>
            <a:off x="9969154"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FY34E</a:t>
            </a:r>
          </a:p>
        </p:txBody>
      </p:sp>
      <p:sp>
        <p:nvSpPr>
          <p:cNvPr id="20" name="table:header"/>
          <p:cNvSpPr/>
          <p:nvPr/>
        </p:nvSpPr>
        <p:spPr>
          <a:xfrm>
            <a:off x="10970696" y="1362456"/>
            <a:ext cx="1001542" cy="329184"/>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FFFFFF"/>
                </a:solidFill>
                <a:latin typeface="Book Antiqua"/>
              </a:rPr>
              <a:t>FY35E</a:t>
            </a:r>
          </a:p>
        </p:txBody>
      </p:sp>
      <p:sp>
        <p:nvSpPr>
          <p:cNvPr id="21" name="table:cell"/>
          <p:cNvSpPr/>
          <p:nvPr/>
        </p:nvSpPr>
        <p:spPr>
          <a:xfrm>
            <a:off x="219456" y="1691640"/>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Revenue</a:t>
            </a:r>
          </a:p>
        </p:txBody>
      </p:sp>
      <p:sp>
        <p:nvSpPr>
          <p:cNvPr id="22" name="table:cell"/>
          <p:cNvSpPr/>
          <p:nvPr/>
        </p:nvSpPr>
        <p:spPr>
          <a:xfrm>
            <a:off x="1956815"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4,185</a:t>
            </a:r>
          </a:p>
        </p:txBody>
      </p:sp>
      <p:sp>
        <p:nvSpPr>
          <p:cNvPr id="23" name="table:cell"/>
          <p:cNvSpPr/>
          <p:nvPr/>
        </p:nvSpPr>
        <p:spPr>
          <a:xfrm>
            <a:off x="2958358"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5,191</a:t>
            </a:r>
          </a:p>
        </p:txBody>
      </p:sp>
      <p:sp>
        <p:nvSpPr>
          <p:cNvPr id="24" name="table:cell"/>
          <p:cNvSpPr/>
          <p:nvPr/>
        </p:nvSpPr>
        <p:spPr>
          <a:xfrm>
            <a:off x="3959900"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6,143</a:t>
            </a:r>
          </a:p>
        </p:txBody>
      </p:sp>
      <p:sp>
        <p:nvSpPr>
          <p:cNvPr id="25" name="table:cell"/>
          <p:cNvSpPr/>
          <p:nvPr/>
        </p:nvSpPr>
        <p:spPr>
          <a:xfrm>
            <a:off x="4961442"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7,132</a:t>
            </a:r>
          </a:p>
        </p:txBody>
      </p:sp>
      <p:sp>
        <p:nvSpPr>
          <p:cNvPr id="26" name="table:cell"/>
          <p:cNvSpPr/>
          <p:nvPr/>
        </p:nvSpPr>
        <p:spPr>
          <a:xfrm>
            <a:off x="5962985"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8,117</a:t>
            </a:r>
          </a:p>
        </p:txBody>
      </p:sp>
      <p:sp>
        <p:nvSpPr>
          <p:cNvPr id="27" name="table:cell"/>
          <p:cNvSpPr/>
          <p:nvPr/>
        </p:nvSpPr>
        <p:spPr>
          <a:xfrm>
            <a:off x="6964527"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9,056</a:t>
            </a:r>
          </a:p>
        </p:txBody>
      </p:sp>
      <p:sp>
        <p:nvSpPr>
          <p:cNvPr id="28" name="table:cell"/>
          <p:cNvSpPr/>
          <p:nvPr/>
        </p:nvSpPr>
        <p:spPr>
          <a:xfrm>
            <a:off x="7966069"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9,897</a:t>
            </a:r>
          </a:p>
        </p:txBody>
      </p:sp>
      <p:sp>
        <p:nvSpPr>
          <p:cNvPr id="29" name="table:cell"/>
          <p:cNvSpPr/>
          <p:nvPr/>
        </p:nvSpPr>
        <p:spPr>
          <a:xfrm>
            <a:off x="8967612"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10,593</a:t>
            </a:r>
          </a:p>
        </p:txBody>
      </p:sp>
      <p:sp>
        <p:nvSpPr>
          <p:cNvPr id="30" name="table:cell"/>
          <p:cNvSpPr/>
          <p:nvPr/>
        </p:nvSpPr>
        <p:spPr>
          <a:xfrm>
            <a:off x="9969154"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11,098</a:t>
            </a:r>
          </a:p>
        </p:txBody>
      </p:sp>
      <p:sp>
        <p:nvSpPr>
          <p:cNvPr id="31" name="table:cell"/>
          <p:cNvSpPr/>
          <p:nvPr/>
        </p:nvSpPr>
        <p:spPr>
          <a:xfrm>
            <a:off x="10970696" y="1691640"/>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11,375</a:t>
            </a:r>
          </a:p>
        </p:txBody>
      </p:sp>
      <p:cxnSp>
        <p:nvCxnSpPr>
          <p:cNvPr id="32" name="frame:table-rule"/>
          <p:cNvCxnSpPr/>
          <p:nvPr/>
        </p:nvCxnSpPr>
        <p:spPr>
          <a:xfrm>
            <a:off x="219456" y="2020824"/>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33" name="table:cell"/>
          <p:cNvSpPr/>
          <p:nvPr/>
        </p:nvSpPr>
        <p:spPr>
          <a:xfrm>
            <a:off x="219456" y="2020824"/>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Growth</a:t>
            </a:r>
          </a:p>
        </p:txBody>
      </p:sp>
      <p:sp>
        <p:nvSpPr>
          <p:cNvPr id="34" name="table:cell"/>
          <p:cNvSpPr/>
          <p:nvPr/>
        </p:nvSpPr>
        <p:spPr>
          <a:xfrm>
            <a:off x="1956815"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24.2%</a:t>
            </a:r>
          </a:p>
        </p:txBody>
      </p:sp>
      <p:sp>
        <p:nvSpPr>
          <p:cNvPr id="35" name="table:cell"/>
          <p:cNvSpPr/>
          <p:nvPr/>
        </p:nvSpPr>
        <p:spPr>
          <a:xfrm>
            <a:off x="2958358"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24.0%</a:t>
            </a:r>
          </a:p>
        </p:txBody>
      </p:sp>
      <p:sp>
        <p:nvSpPr>
          <p:cNvPr id="36" name="table:cell"/>
          <p:cNvSpPr/>
          <p:nvPr/>
        </p:nvSpPr>
        <p:spPr>
          <a:xfrm>
            <a:off x="3959900"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18.4%</a:t>
            </a:r>
          </a:p>
        </p:txBody>
      </p:sp>
      <p:sp>
        <p:nvSpPr>
          <p:cNvPr id="37" name="table:cell"/>
          <p:cNvSpPr/>
          <p:nvPr/>
        </p:nvSpPr>
        <p:spPr>
          <a:xfrm>
            <a:off x="4961442"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16.1%</a:t>
            </a:r>
          </a:p>
        </p:txBody>
      </p:sp>
      <p:sp>
        <p:nvSpPr>
          <p:cNvPr id="38" name="table:cell"/>
          <p:cNvSpPr/>
          <p:nvPr/>
        </p:nvSpPr>
        <p:spPr>
          <a:xfrm>
            <a:off x="5962985"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13.8%</a:t>
            </a:r>
          </a:p>
        </p:txBody>
      </p:sp>
      <p:sp>
        <p:nvSpPr>
          <p:cNvPr id="39" name="table:cell"/>
          <p:cNvSpPr/>
          <p:nvPr/>
        </p:nvSpPr>
        <p:spPr>
          <a:xfrm>
            <a:off x="6964527"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11.6%</a:t>
            </a:r>
          </a:p>
        </p:txBody>
      </p:sp>
      <p:sp>
        <p:nvSpPr>
          <p:cNvPr id="40" name="table:cell"/>
          <p:cNvSpPr/>
          <p:nvPr/>
        </p:nvSpPr>
        <p:spPr>
          <a:xfrm>
            <a:off x="7966069"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9.3%</a:t>
            </a:r>
          </a:p>
        </p:txBody>
      </p:sp>
      <p:sp>
        <p:nvSpPr>
          <p:cNvPr id="41" name="table:cell"/>
          <p:cNvSpPr/>
          <p:nvPr/>
        </p:nvSpPr>
        <p:spPr>
          <a:xfrm>
            <a:off x="8967612"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7.0%</a:t>
            </a:r>
          </a:p>
        </p:txBody>
      </p:sp>
      <p:sp>
        <p:nvSpPr>
          <p:cNvPr id="42" name="table:cell"/>
          <p:cNvSpPr/>
          <p:nvPr/>
        </p:nvSpPr>
        <p:spPr>
          <a:xfrm>
            <a:off x="9969154"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4.8%</a:t>
            </a:r>
          </a:p>
        </p:txBody>
      </p:sp>
      <p:sp>
        <p:nvSpPr>
          <p:cNvPr id="43" name="table:cell"/>
          <p:cNvSpPr/>
          <p:nvPr/>
        </p:nvSpPr>
        <p:spPr>
          <a:xfrm>
            <a:off x="10970696" y="202082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2.5%</a:t>
            </a:r>
          </a:p>
        </p:txBody>
      </p:sp>
      <p:cxnSp>
        <p:nvCxnSpPr>
          <p:cNvPr id="44" name="frame:table-rule"/>
          <p:cNvCxnSpPr/>
          <p:nvPr/>
        </p:nvCxnSpPr>
        <p:spPr>
          <a:xfrm>
            <a:off x="219456" y="2350008"/>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able:cell"/>
          <p:cNvSpPr/>
          <p:nvPr/>
        </p:nvSpPr>
        <p:spPr>
          <a:xfrm>
            <a:off x="219456" y="2350008"/>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EBIT Margin</a:t>
            </a:r>
          </a:p>
        </p:txBody>
      </p:sp>
      <p:sp>
        <p:nvSpPr>
          <p:cNvPr id="46" name="table:cell"/>
          <p:cNvSpPr/>
          <p:nvPr/>
        </p:nvSpPr>
        <p:spPr>
          <a:xfrm>
            <a:off x="1956815"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0.6%</a:t>
            </a:r>
          </a:p>
        </p:txBody>
      </p:sp>
      <p:sp>
        <p:nvSpPr>
          <p:cNvPr id="47" name="table:cell"/>
          <p:cNvSpPr/>
          <p:nvPr/>
        </p:nvSpPr>
        <p:spPr>
          <a:xfrm>
            <a:off x="2958358"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6.6%</a:t>
            </a:r>
          </a:p>
        </p:txBody>
      </p:sp>
      <p:sp>
        <p:nvSpPr>
          <p:cNvPr id="48" name="table:cell"/>
          <p:cNvSpPr/>
          <p:nvPr/>
        </p:nvSpPr>
        <p:spPr>
          <a:xfrm>
            <a:off x="3959900"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10.5%</a:t>
            </a:r>
          </a:p>
        </p:txBody>
      </p:sp>
      <p:sp>
        <p:nvSpPr>
          <p:cNvPr id="49" name="table:cell"/>
          <p:cNvSpPr/>
          <p:nvPr/>
        </p:nvSpPr>
        <p:spPr>
          <a:xfrm>
            <a:off x="4961442"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11.0%</a:t>
            </a:r>
          </a:p>
        </p:txBody>
      </p:sp>
      <p:sp>
        <p:nvSpPr>
          <p:cNvPr id="50" name="table:cell"/>
          <p:cNvSpPr/>
          <p:nvPr/>
        </p:nvSpPr>
        <p:spPr>
          <a:xfrm>
            <a:off x="5962985"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11.4%</a:t>
            </a:r>
          </a:p>
        </p:txBody>
      </p:sp>
      <p:sp>
        <p:nvSpPr>
          <p:cNvPr id="51" name="table:cell"/>
          <p:cNvSpPr/>
          <p:nvPr/>
        </p:nvSpPr>
        <p:spPr>
          <a:xfrm>
            <a:off x="6964527"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11.7%</a:t>
            </a:r>
          </a:p>
        </p:txBody>
      </p:sp>
      <p:sp>
        <p:nvSpPr>
          <p:cNvPr id="52" name="table:cell"/>
          <p:cNvSpPr/>
          <p:nvPr/>
        </p:nvSpPr>
        <p:spPr>
          <a:xfrm>
            <a:off x="7966069"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11.9%</a:t>
            </a:r>
          </a:p>
        </p:txBody>
      </p:sp>
      <p:sp>
        <p:nvSpPr>
          <p:cNvPr id="53" name="table:cell"/>
          <p:cNvSpPr/>
          <p:nvPr/>
        </p:nvSpPr>
        <p:spPr>
          <a:xfrm>
            <a:off x="8967612"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12.0%</a:t>
            </a:r>
          </a:p>
        </p:txBody>
      </p:sp>
      <p:sp>
        <p:nvSpPr>
          <p:cNvPr id="54" name="table:cell"/>
          <p:cNvSpPr/>
          <p:nvPr/>
        </p:nvSpPr>
        <p:spPr>
          <a:xfrm>
            <a:off x="9969154"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12.1%</a:t>
            </a:r>
          </a:p>
        </p:txBody>
      </p:sp>
      <p:sp>
        <p:nvSpPr>
          <p:cNvPr id="55" name="table:cell"/>
          <p:cNvSpPr/>
          <p:nvPr/>
        </p:nvSpPr>
        <p:spPr>
          <a:xfrm>
            <a:off x="10970696" y="2350008"/>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12.1%</a:t>
            </a:r>
          </a:p>
        </p:txBody>
      </p:sp>
      <p:cxnSp>
        <p:nvCxnSpPr>
          <p:cNvPr id="56" name="frame:table-rule"/>
          <p:cNvCxnSpPr/>
          <p:nvPr/>
        </p:nvCxnSpPr>
        <p:spPr>
          <a:xfrm>
            <a:off x="219456" y="2679191"/>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57" name="table:cell"/>
          <p:cNvSpPr/>
          <p:nvPr/>
        </p:nvSpPr>
        <p:spPr>
          <a:xfrm>
            <a:off x="219456" y="2679191"/>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NOPAT</a:t>
            </a:r>
          </a:p>
        </p:txBody>
      </p:sp>
      <p:sp>
        <p:nvSpPr>
          <p:cNvPr id="58" name="table:cell"/>
          <p:cNvSpPr/>
          <p:nvPr/>
        </p:nvSpPr>
        <p:spPr>
          <a:xfrm>
            <a:off x="1956815"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21</a:t>
            </a:r>
          </a:p>
        </p:txBody>
      </p:sp>
      <p:sp>
        <p:nvSpPr>
          <p:cNvPr id="59" name="table:cell"/>
          <p:cNvSpPr/>
          <p:nvPr/>
        </p:nvSpPr>
        <p:spPr>
          <a:xfrm>
            <a:off x="2958358"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271</a:t>
            </a:r>
          </a:p>
        </p:txBody>
      </p:sp>
      <p:sp>
        <p:nvSpPr>
          <p:cNvPr id="60" name="table:cell"/>
          <p:cNvSpPr/>
          <p:nvPr/>
        </p:nvSpPr>
        <p:spPr>
          <a:xfrm>
            <a:off x="3959900"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507</a:t>
            </a:r>
          </a:p>
        </p:txBody>
      </p:sp>
      <p:sp>
        <p:nvSpPr>
          <p:cNvPr id="61" name="table:cell"/>
          <p:cNvSpPr/>
          <p:nvPr/>
        </p:nvSpPr>
        <p:spPr>
          <a:xfrm>
            <a:off x="4961442"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620</a:t>
            </a:r>
          </a:p>
        </p:txBody>
      </p:sp>
      <p:sp>
        <p:nvSpPr>
          <p:cNvPr id="62" name="table:cell"/>
          <p:cNvSpPr/>
          <p:nvPr/>
        </p:nvSpPr>
        <p:spPr>
          <a:xfrm>
            <a:off x="5962985"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731</a:t>
            </a:r>
          </a:p>
        </p:txBody>
      </p:sp>
      <p:sp>
        <p:nvSpPr>
          <p:cNvPr id="63" name="table:cell"/>
          <p:cNvSpPr/>
          <p:nvPr/>
        </p:nvSpPr>
        <p:spPr>
          <a:xfrm>
            <a:off x="6964527"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837</a:t>
            </a:r>
          </a:p>
        </p:txBody>
      </p:sp>
      <p:sp>
        <p:nvSpPr>
          <p:cNvPr id="64" name="table:cell"/>
          <p:cNvSpPr/>
          <p:nvPr/>
        </p:nvSpPr>
        <p:spPr>
          <a:xfrm>
            <a:off x="7966069"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931</a:t>
            </a:r>
          </a:p>
        </p:txBody>
      </p:sp>
      <p:sp>
        <p:nvSpPr>
          <p:cNvPr id="65" name="table:cell"/>
          <p:cNvSpPr/>
          <p:nvPr/>
        </p:nvSpPr>
        <p:spPr>
          <a:xfrm>
            <a:off x="8967612"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1,007</a:t>
            </a:r>
          </a:p>
        </p:txBody>
      </p:sp>
      <p:sp>
        <p:nvSpPr>
          <p:cNvPr id="66" name="table:cell"/>
          <p:cNvSpPr/>
          <p:nvPr/>
        </p:nvSpPr>
        <p:spPr>
          <a:xfrm>
            <a:off x="9969154"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1,060</a:t>
            </a:r>
          </a:p>
        </p:txBody>
      </p:sp>
      <p:sp>
        <p:nvSpPr>
          <p:cNvPr id="67" name="table:cell"/>
          <p:cNvSpPr/>
          <p:nvPr/>
        </p:nvSpPr>
        <p:spPr>
          <a:xfrm>
            <a:off x="10970696" y="2679191"/>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1,085</a:t>
            </a:r>
          </a:p>
        </p:txBody>
      </p:sp>
      <p:cxnSp>
        <p:nvCxnSpPr>
          <p:cNvPr id="68" name="frame:table-rule"/>
          <p:cNvCxnSpPr/>
          <p:nvPr/>
        </p:nvCxnSpPr>
        <p:spPr>
          <a:xfrm>
            <a:off x="219456" y="3008375"/>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69" name="table:cell"/>
          <p:cNvSpPr/>
          <p:nvPr/>
        </p:nvSpPr>
        <p:spPr>
          <a:xfrm>
            <a:off x="219456" y="3008375"/>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Reinvestment</a:t>
            </a:r>
          </a:p>
        </p:txBody>
      </p:sp>
      <p:sp>
        <p:nvSpPr>
          <p:cNvPr id="70" name="table:cell"/>
          <p:cNvSpPr/>
          <p:nvPr/>
        </p:nvSpPr>
        <p:spPr>
          <a:xfrm>
            <a:off x="1956815"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201</a:t>
            </a:r>
          </a:p>
        </p:txBody>
      </p:sp>
      <p:sp>
        <p:nvSpPr>
          <p:cNvPr id="71" name="table:cell"/>
          <p:cNvSpPr/>
          <p:nvPr/>
        </p:nvSpPr>
        <p:spPr>
          <a:xfrm>
            <a:off x="2958358"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191</a:t>
            </a:r>
          </a:p>
        </p:txBody>
      </p:sp>
      <p:sp>
        <p:nvSpPr>
          <p:cNvPr id="72" name="table:cell"/>
          <p:cNvSpPr/>
          <p:nvPr/>
        </p:nvSpPr>
        <p:spPr>
          <a:xfrm>
            <a:off x="3959900"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198</a:t>
            </a:r>
          </a:p>
        </p:txBody>
      </p:sp>
      <p:sp>
        <p:nvSpPr>
          <p:cNvPr id="73" name="table:cell"/>
          <p:cNvSpPr/>
          <p:nvPr/>
        </p:nvSpPr>
        <p:spPr>
          <a:xfrm>
            <a:off x="4961442"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197</a:t>
            </a:r>
          </a:p>
        </p:txBody>
      </p:sp>
      <p:sp>
        <p:nvSpPr>
          <p:cNvPr id="74" name="table:cell"/>
          <p:cNvSpPr/>
          <p:nvPr/>
        </p:nvSpPr>
        <p:spPr>
          <a:xfrm>
            <a:off x="5962985"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188</a:t>
            </a:r>
          </a:p>
        </p:txBody>
      </p:sp>
      <p:sp>
        <p:nvSpPr>
          <p:cNvPr id="75" name="table:cell"/>
          <p:cNvSpPr/>
          <p:nvPr/>
        </p:nvSpPr>
        <p:spPr>
          <a:xfrm>
            <a:off x="6964527"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168</a:t>
            </a:r>
          </a:p>
        </p:txBody>
      </p:sp>
      <p:sp>
        <p:nvSpPr>
          <p:cNvPr id="76" name="table:cell"/>
          <p:cNvSpPr/>
          <p:nvPr/>
        </p:nvSpPr>
        <p:spPr>
          <a:xfrm>
            <a:off x="7966069"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139</a:t>
            </a:r>
          </a:p>
        </p:txBody>
      </p:sp>
      <p:sp>
        <p:nvSpPr>
          <p:cNvPr id="77" name="table:cell"/>
          <p:cNvSpPr/>
          <p:nvPr/>
        </p:nvSpPr>
        <p:spPr>
          <a:xfrm>
            <a:off x="8967612"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101</a:t>
            </a:r>
          </a:p>
        </p:txBody>
      </p:sp>
      <p:sp>
        <p:nvSpPr>
          <p:cNvPr id="78" name="table:cell"/>
          <p:cNvSpPr/>
          <p:nvPr/>
        </p:nvSpPr>
        <p:spPr>
          <a:xfrm>
            <a:off x="9969154"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55</a:t>
            </a:r>
          </a:p>
        </p:txBody>
      </p:sp>
      <p:sp>
        <p:nvSpPr>
          <p:cNvPr id="79" name="table:cell"/>
          <p:cNvSpPr/>
          <p:nvPr/>
        </p:nvSpPr>
        <p:spPr>
          <a:xfrm>
            <a:off x="10970696" y="3008375"/>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57</a:t>
            </a:r>
          </a:p>
        </p:txBody>
      </p:sp>
      <p:cxnSp>
        <p:nvCxnSpPr>
          <p:cNvPr id="80" name="frame:table-rule"/>
          <p:cNvCxnSpPr/>
          <p:nvPr/>
        </p:nvCxnSpPr>
        <p:spPr>
          <a:xfrm>
            <a:off x="219456" y="3337559"/>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1" name="table:cell"/>
          <p:cNvSpPr/>
          <p:nvPr/>
        </p:nvSpPr>
        <p:spPr>
          <a:xfrm>
            <a:off x="219456" y="3337559"/>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1" i="0">
                <a:solidFill>
                  <a:srgbClr val="000000"/>
                </a:solidFill>
                <a:latin typeface="Book Antiqua"/>
              </a:rPr>
              <a:t>Free Cash Flow</a:t>
            </a:r>
          </a:p>
        </p:txBody>
      </p:sp>
      <p:sp>
        <p:nvSpPr>
          <p:cNvPr id="82" name="table:cell"/>
          <p:cNvSpPr/>
          <p:nvPr/>
        </p:nvSpPr>
        <p:spPr>
          <a:xfrm>
            <a:off x="1956815"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-180</a:t>
            </a:r>
          </a:p>
        </p:txBody>
      </p:sp>
      <p:sp>
        <p:nvSpPr>
          <p:cNvPr id="83" name="table:cell"/>
          <p:cNvSpPr/>
          <p:nvPr/>
        </p:nvSpPr>
        <p:spPr>
          <a:xfrm>
            <a:off x="2958358"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81</a:t>
            </a:r>
          </a:p>
        </p:txBody>
      </p:sp>
      <p:sp>
        <p:nvSpPr>
          <p:cNvPr id="84" name="table:cell"/>
          <p:cNvSpPr/>
          <p:nvPr/>
        </p:nvSpPr>
        <p:spPr>
          <a:xfrm>
            <a:off x="3959900"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310</a:t>
            </a:r>
          </a:p>
        </p:txBody>
      </p:sp>
      <p:sp>
        <p:nvSpPr>
          <p:cNvPr id="85" name="table:cell"/>
          <p:cNvSpPr/>
          <p:nvPr/>
        </p:nvSpPr>
        <p:spPr>
          <a:xfrm>
            <a:off x="4961442"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422</a:t>
            </a:r>
          </a:p>
        </p:txBody>
      </p:sp>
      <p:sp>
        <p:nvSpPr>
          <p:cNvPr id="86" name="table:cell"/>
          <p:cNvSpPr/>
          <p:nvPr/>
        </p:nvSpPr>
        <p:spPr>
          <a:xfrm>
            <a:off x="5962985"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544</a:t>
            </a:r>
          </a:p>
        </p:txBody>
      </p:sp>
      <p:sp>
        <p:nvSpPr>
          <p:cNvPr id="87" name="table:cell"/>
          <p:cNvSpPr/>
          <p:nvPr/>
        </p:nvSpPr>
        <p:spPr>
          <a:xfrm>
            <a:off x="6964527"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669</a:t>
            </a:r>
          </a:p>
        </p:txBody>
      </p:sp>
      <p:sp>
        <p:nvSpPr>
          <p:cNvPr id="88" name="table:cell"/>
          <p:cNvSpPr/>
          <p:nvPr/>
        </p:nvSpPr>
        <p:spPr>
          <a:xfrm>
            <a:off x="7966069"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792</a:t>
            </a:r>
          </a:p>
        </p:txBody>
      </p:sp>
      <p:sp>
        <p:nvSpPr>
          <p:cNvPr id="89" name="table:cell"/>
          <p:cNvSpPr/>
          <p:nvPr/>
        </p:nvSpPr>
        <p:spPr>
          <a:xfrm>
            <a:off x="8967612"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906</a:t>
            </a:r>
          </a:p>
        </p:txBody>
      </p:sp>
      <p:sp>
        <p:nvSpPr>
          <p:cNvPr id="90" name="table:cell"/>
          <p:cNvSpPr/>
          <p:nvPr/>
        </p:nvSpPr>
        <p:spPr>
          <a:xfrm>
            <a:off x="9969154"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1,005</a:t>
            </a:r>
          </a:p>
        </p:txBody>
      </p:sp>
      <p:sp>
        <p:nvSpPr>
          <p:cNvPr id="91" name="table:cell"/>
          <p:cNvSpPr/>
          <p:nvPr/>
        </p:nvSpPr>
        <p:spPr>
          <a:xfrm>
            <a:off x="10970696" y="3337559"/>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1" i="0">
                <a:solidFill>
                  <a:srgbClr val="000000"/>
                </a:solidFill>
                <a:latin typeface="Book Antiqua"/>
              </a:rPr>
              <a:t>1,028</a:t>
            </a:r>
          </a:p>
        </p:txBody>
      </p:sp>
      <p:cxnSp>
        <p:nvCxnSpPr>
          <p:cNvPr id="92" name="frame:table-rule"/>
          <p:cNvCxnSpPr/>
          <p:nvPr/>
        </p:nvCxnSpPr>
        <p:spPr>
          <a:xfrm>
            <a:off x="219456" y="3666744"/>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3" name="table:cell"/>
          <p:cNvSpPr/>
          <p:nvPr/>
        </p:nvSpPr>
        <p:spPr>
          <a:xfrm>
            <a:off x="219456" y="3666744"/>
            <a:ext cx="17373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l">
              <a:buNone/>
            </a:pPr>
            <a:r>
              <a:rPr sz="1200" b="0" i="0">
                <a:solidFill>
                  <a:srgbClr val="000000"/>
                </a:solidFill>
                <a:latin typeface="Book Antiqua"/>
              </a:rPr>
              <a:t>PV of FCF</a:t>
            </a:r>
          </a:p>
        </p:txBody>
      </p:sp>
      <p:sp>
        <p:nvSpPr>
          <p:cNvPr id="94" name="table:cell"/>
          <p:cNvSpPr/>
          <p:nvPr/>
        </p:nvSpPr>
        <p:spPr>
          <a:xfrm>
            <a:off x="1956815"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-32</a:t>
            </a:r>
          </a:p>
        </p:txBody>
      </p:sp>
      <p:sp>
        <p:nvSpPr>
          <p:cNvPr id="95" name="table:cell"/>
          <p:cNvSpPr/>
          <p:nvPr/>
        </p:nvSpPr>
        <p:spPr>
          <a:xfrm>
            <a:off x="2958358"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72</a:t>
            </a:r>
          </a:p>
        </p:txBody>
      </p:sp>
      <p:sp>
        <p:nvSpPr>
          <p:cNvPr id="96" name="table:cell"/>
          <p:cNvSpPr/>
          <p:nvPr/>
        </p:nvSpPr>
        <p:spPr>
          <a:xfrm>
            <a:off x="3959900"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251</a:t>
            </a:r>
          </a:p>
        </p:txBody>
      </p:sp>
      <p:sp>
        <p:nvSpPr>
          <p:cNvPr id="97" name="table:cell"/>
          <p:cNvSpPr/>
          <p:nvPr/>
        </p:nvSpPr>
        <p:spPr>
          <a:xfrm>
            <a:off x="4961442"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312</a:t>
            </a:r>
          </a:p>
        </p:txBody>
      </p:sp>
      <p:sp>
        <p:nvSpPr>
          <p:cNvPr id="98" name="table:cell"/>
          <p:cNvSpPr/>
          <p:nvPr/>
        </p:nvSpPr>
        <p:spPr>
          <a:xfrm>
            <a:off x="5962985"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368</a:t>
            </a:r>
          </a:p>
        </p:txBody>
      </p:sp>
      <p:sp>
        <p:nvSpPr>
          <p:cNvPr id="99" name="table:cell"/>
          <p:cNvSpPr/>
          <p:nvPr/>
        </p:nvSpPr>
        <p:spPr>
          <a:xfrm>
            <a:off x="6964527"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414</a:t>
            </a:r>
          </a:p>
        </p:txBody>
      </p:sp>
      <p:sp>
        <p:nvSpPr>
          <p:cNvPr id="100" name="table:cell"/>
          <p:cNvSpPr/>
          <p:nvPr/>
        </p:nvSpPr>
        <p:spPr>
          <a:xfrm>
            <a:off x="7966069"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448</a:t>
            </a:r>
          </a:p>
        </p:txBody>
      </p:sp>
      <p:sp>
        <p:nvSpPr>
          <p:cNvPr id="101" name="table:cell"/>
          <p:cNvSpPr/>
          <p:nvPr/>
        </p:nvSpPr>
        <p:spPr>
          <a:xfrm>
            <a:off x="8967612"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469</a:t>
            </a:r>
          </a:p>
        </p:txBody>
      </p:sp>
      <p:sp>
        <p:nvSpPr>
          <p:cNvPr id="102" name="table:cell"/>
          <p:cNvSpPr/>
          <p:nvPr/>
        </p:nvSpPr>
        <p:spPr>
          <a:xfrm>
            <a:off x="9969154"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475</a:t>
            </a:r>
          </a:p>
        </p:txBody>
      </p:sp>
      <p:sp>
        <p:nvSpPr>
          <p:cNvPr id="103" name="table:cell"/>
          <p:cNvSpPr/>
          <p:nvPr/>
        </p:nvSpPr>
        <p:spPr>
          <a:xfrm>
            <a:off x="10970696" y="3666744"/>
            <a:ext cx="100154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Autofit/>
          </a:bodyPr>
          <a:lstStyle/>
          <a:p>
            <a:pPr algn="ctr">
              <a:buNone/>
            </a:pPr>
            <a:r>
              <a:rPr sz="1200" b="0" i="0">
                <a:solidFill>
                  <a:srgbClr val="000000"/>
                </a:solidFill>
                <a:latin typeface="Book Antiqua"/>
              </a:rPr>
              <a:t>445</a:t>
            </a:r>
          </a:p>
        </p:txBody>
      </p:sp>
      <p:cxnSp>
        <p:nvCxnSpPr>
          <p:cNvPr id="104" name="frame:table-rule"/>
          <p:cNvCxnSpPr/>
          <p:nvPr/>
        </p:nvCxnSpPr>
        <p:spPr>
          <a:xfrm>
            <a:off x="219456" y="3995928"/>
            <a:ext cx="11752783"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105" name="section:Enterprise Value Bridge"/>
          <p:cNvSpPr/>
          <p:nvPr/>
        </p:nvSpPr>
        <p:spPr>
          <a:xfrm>
            <a:off x="219456" y="4178808"/>
            <a:ext cx="385053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Enterprise Value Bridge</a:t>
            </a:r>
          </a:p>
        </p:txBody>
      </p:sp>
      <p:sp>
        <p:nvSpPr>
          <p:cNvPr id="106" name="body:bridge"/>
          <p:cNvSpPr/>
          <p:nvPr/>
        </p:nvSpPr>
        <p:spPr>
          <a:xfrm>
            <a:off x="274320" y="4526280"/>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PV of FCF (Yrs 1–10)</a:t>
            </a:r>
          </a:p>
        </p:txBody>
      </p:sp>
      <p:sp>
        <p:nvSpPr>
          <p:cNvPr id="107" name="body:bridge-value"/>
          <p:cNvSpPr/>
          <p:nvPr/>
        </p:nvSpPr>
        <p:spPr>
          <a:xfrm>
            <a:off x="2606789" y="4526280"/>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$3.2bn</a:t>
            </a:r>
          </a:p>
        </p:txBody>
      </p:sp>
      <p:sp>
        <p:nvSpPr>
          <p:cNvPr id="108" name="body:bridge"/>
          <p:cNvSpPr/>
          <p:nvPr/>
        </p:nvSpPr>
        <p:spPr>
          <a:xfrm>
            <a:off x="274320" y="4866436"/>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PV of Terminal Value</a:t>
            </a:r>
          </a:p>
        </p:txBody>
      </p:sp>
      <p:sp>
        <p:nvSpPr>
          <p:cNvPr id="109" name="body:bridge-value"/>
          <p:cNvSpPr/>
          <p:nvPr/>
        </p:nvSpPr>
        <p:spPr>
          <a:xfrm>
            <a:off x="2606789" y="4866436"/>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$5.6bn</a:t>
            </a:r>
          </a:p>
        </p:txBody>
      </p:sp>
      <p:sp>
        <p:nvSpPr>
          <p:cNvPr id="110" name="body:bridge"/>
          <p:cNvSpPr/>
          <p:nvPr/>
        </p:nvSpPr>
        <p:spPr>
          <a:xfrm>
            <a:off x="274320" y="5206593"/>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Enterprise Value</a:t>
            </a:r>
          </a:p>
        </p:txBody>
      </p:sp>
      <p:sp>
        <p:nvSpPr>
          <p:cNvPr id="111" name="body:bridge-value"/>
          <p:cNvSpPr/>
          <p:nvPr/>
        </p:nvSpPr>
        <p:spPr>
          <a:xfrm>
            <a:off x="2606789" y="5206593"/>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$8.8bn</a:t>
            </a:r>
          </a:p>
        </p:txBody>
      </p:sp>
      <p:sp>
        <p:nvSpPr>
          <p:cNvPr id="112" name="body:bridge"/>
          <p:cNvSpPr/>
          <p:nvPr/>
        </p:nvSpPr>
        <p:spPr>
          <a:xfrm>
            <a:off x="274320" y="5546750"/>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Plus Net Cash</a:t>
            </a:r>
          </a:p>
        </p:txBody>
      </p:sp>
      <p:sp>
        <p:nvSpPr>
          <p:cNvPr id="113" name="body:bridge-value"/>
          <p:cNvSpPr/>
          <p:nvPr/>
        </p:nvSpPr>
        <p:spPr>
          <a:xfrm>
            <a:off x="2606789" y="5546750"/>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$5.0bn</a:t>
            </a:r>
          </a:p>
        </p:txBody>
      </p:sp>
      <p:sp>
        <p:nvSpPr>
          <p:cNvPr id="114" name="body:bridge"/>
          <p:cNvSpPr/>
          <p:nvPr/>
        </p:nvSpPr>
        <p:spPr>
          <a:xfrm>
            <a:off x="274320" y="5886907"/>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Value per Share</a:t>
            </a:r>
          </a:p>
        </p:txBody>
      </p:sp>
      <p:sp>
        <p:nvSpPr>
          <p:cNvPr id="115" name="body:bridge-value"/>
          <p:cNvSpPr/>
          <p:nvPr/>
        </p:nvSpPr>
        <p:spPr>
          <a:xfrm>
            <a:off x="2606789" y="5886907"/>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$3.39</a:t>
            </a:r>
          </a:p>
        </p:txBody>
      </p:sp>
      <p:sp>
        <p:nvSpPr>
          <p:cNvPr id="116" name="section:Discount Rate"/>
          <p:cNvSpPr/>
          <p:nvPr/>
        </p:nvSpPr>
        <p:spPr>
          <a:xfrm>
            <a:off x="4170578" y="4178808"/>
            <a:ext cx="385053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Discount Rate</a:t>
            </a:r>
          </a:p>
        </p:txBody>
      </p:sp>
      <p:sp>
        <p:nvSpPr>
          <p:cNvPr id="117" name="body:bridge"/>
          <p:cNvSpPr/>
          <p:nvPr/>
        </p:nvSpPr>
        <p:spPr>
          <a:xfrm>
            <a:off x="4225442" y="4526280"/>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Cost of Equity Today (CAPM)</a:t>
            </a:r>
          </a:p>
        </p:txBody>
      </p:sp>
      <p:sp>
        <p:nvSpPr>
          <p:cNvPr id="118" name="body:bridge-value"/>
          <p:cNvSpPr/>
          <p:nvPr/>
        </p:nvSpPr>
        <p:spPr>
          <a:xfrm>
            <a:off x="6557912" y="4526280"/>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11.6%</a:t>
            </a:r>
          </a:p>
        </p:txBody>
      </p:sp>
      <p:sp>
        <p:nvSpPr>
          <p:cNvPr id="119" name="body:bridge"/>
          <p:cNvSpPr/>
          <p:nvPr/>
        </p:nvSpPr>
        <p:spPr>
          <a:xfrm>
            <a:off x="4225442" y="4866436"/>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Pre-tax Cost of Debt</a:t>
            </a:r>
          </a:p>
        </p:txBody>
      </p:sp>
      <p:sp>
        <p:nvSpPr>
          <p:cNvPr id="120" name="body:bridge-value"/>
          <p:cNvSpPr/>
          <p:nvPr/>
        </p:nvSpPr>
        <p:spPr>
          <a:xfrm>
            <a:off x="6557912" y="4866436"/>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6.5%</a:t>
            </a:r>
          </a:p>
        </p:txBody>
      </p:sp>
      <p:sp>
        <p:nvSpPr>
          <p:cNvPr id="121" name="body:bridge"/>
          <p:cNvSpPr/>
          <p:nvPr/>
        </p:nvSpPr>
        <p:spPr>
          <a:xfrm>
            <a:off x="4225442" y="5206593"/>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Tax Rate</a:t>
            </a:r>
          </a:p>
        </p:txBody>
      </p:sp>
      <p:sp>
        <p:nvSpPr>
          <p:cNvPr id="122" name="body:bridge-value"/>
          <p:cNvSpPr/>
          <p:nvPr/>
        </p:nvSpPr>
        <p:spPr>
          <a:xfrm>
            <a:off x="6557912" y="5206593"/>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21.0%</a:t>
            </a:r>
          </a:p>
        </p:txBody>
      </p:sp>
      <p:sp>
        <p:nvSpPr>
          <p:cNvPr id="123" name="body:bridge"/>
          <p:cNvSpPr/>
          <p:nvPr/>
        </p:nvSpPr>
        <p:spPr>
          <a:xfrm>
            <a:off x="4225442" y="5546750"/>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WACC (Year 1 → Terminal)</a:t>
            </a:r>
          </a:p>
        </p:txBody>
      </p:sp>
      <p:sp>
        <p:nvSpPr>
          <p:cNvPr id="124" name="body:bridge-value"/>
          <p:cNvSpPr/>
          <p:nvPr/>
        </p:nvSpPr>
        <p:spPr>
          <a:xfrm>
            <a:off x="6557912" y="5546750"/>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10.5% → 9.4%</a:t>
            </a:r>
          </a:p>
        </p:txBody>
      </p:sp>
      <p:sp>
        <p:nvSpPr>
          <p:cNvPr id="125" name="body:bridge"/>
          <p:cNvSpPr/>
          <p:nvPr/>
        </p:nvSpPr>
        <p:spPr>
          <a:xfrm>
            <a:off x="4225442" y="5886907"/>
            <a:ext cx="2277605"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Terminal Value Share of EV</a:t>
            </a:r>
          </a:p>
        </p:txBody>
      </p:sp>
      <p:sp>
        <p:nvSpPr>
          <p:cNvPr id="126" name="body:bridge-value"/>
          <p:cNvSpPr/>
          <p:nvPr/>
        </p:nvSpPr>
        <p:spPr>
          <a:xfrm>
            <a:off x="6557912" y="5886907"/>
            <a:ext cx="1408340" cy="3401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63.5%</a:t>
            </a:r>
          </a:p>
        </p:txBody>
      </p:sp>
      <p:sp>
        <p:nvSpPr>
          <p:cNvPr id="127" name="section:Key Assumptions"/>
          <p:cNvSpPr/>
          <p:nvPr/>
        </p:nvSpPr>
        <p:spPr>
          <a:xfrm>
            <a:off x="8121700" y="4178808"/>
            <a:ext cx="3850538" cy="310896"/>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buNone/>
            </a:pPr>
            <a:r>
              <a:rPr sz="1500" b="1" i="0">
                <a:solidFill>
                  <a:srgbClr val="FFFFFF"/>
                </a:solidFill>
                <a:latin typeface="Book Antiqua"/>
              </a:rPr>
              <a:t>Key Assumptions</a:t>
            </a:r>
          </a:p>
        </p:txBody>
      </p:sp>
      <p:sp>
        <p:nvSpPr>
          <p:cNvPr id="128" name="body:bridge"/>
          <p:cNvSpPr/>
          <p:nvPr/>
        </p:nvSpPr>
        <p:spPr>
          <a:xfrm>
            <a:off x="8176564" y="4526280"/>
            <a:ext cx="2277605"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WACC (Year 1 → Terminal)</a:t>
            </a:r>
          </a:p>
        </p:txBody>
      </p:sp>
      <p:sp>
        <p:nvSpPr>
          <p:cNvPr id="129" name="body:bridge-value"/>
          <p:cNvSpPr/>
          <p:nvPr/>
        </p:nvSpPr>
        <p:spPr>
          <a:xfrm>
            <a:off x="10509034" y="4526280"/>
            <a:ext cx="1408340"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10.5% → 9.4%</a:t>
            </a:r>
          </a:p>
        </p:txBody>
      </p:sp>
      <p:sp>
        <p:nvSpPr>
          <p:cNvPr id="130" name="body:bridge"/>
          <p:cNvSpPr/>
          <p:nvPr/>
        </p:nvSpPr>
        <p:spPr>
          <a:xfrm>
            <a:off x="8176564" y="4809744"/>
            <a:ext cx="2277605"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Terminal Growth</a:t>
            </a:r>
          </a:p>
        </p:txBody>
      </p:sp>
      <p:sp>
        <p:nvSpPr>
          <p:cNvPr id="131" name="body:bridge-value"/>
          <p:cNvSpPr/>
          <p:nvPr/>
        </p:nvSpPr>
        <p:spPr>
          <a:xfrm>
            <a:off x="10509034" y="4809744"/>
            <a:ext cx="1408340"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2.5%</a:t>
            </a:r>
          </a:p>
        </p:txBody>
      </p:sp>
      <p:sp>
        <p:nvSpPr>
          <p:cNvPr id="132" name="body:bridge"/>
          <p:cNvSpPr/>
          <p:nvPr/>
        </p:nvSpPr>
        <p:spPr>
          <a:xfrm>
            <a:off x="8176564" y="5093207"/>
            <a:ext cx="2277605"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Terminal ROIC</a:t>
            </a:r>
          </a:p>
        </p:txBody>
      </p:sp>
      <p:sp>
        <p:nvSpPr>
          <p:cNvPr id="133" name="body:bridge-value"/>
          <p:cNvSpPr/>
          <p:nvPr/>
        </p:nvSpPr>
        <p:spPr>
          <a:xfrm>
            <a:off x="10509034" y="5093207"/>
            <a:ext cx="1408340"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12.4%</a:t>
            </a:r>
          </a:p>
        </p:txBody>
      </p:sp>
      <p:sp>
        <p:nvSpPr>
          <p:cNvPr id="134" name="body:bridge"/>
          <p:cNvSpPr/>
          <p:nvPr/>
        </p:nvSpPr>
        <p:spPr>
          <a:xfrm>
            <a:off x="8176564" y="5376671"/>
            <a:ext cx="2277605"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Steady Margin (after SBC)</a:t>
            </a:r>
          </a:p>
        </p:txBody>
      </p:sp>
      <p:sp>
        <p:nvSpPr>
          <p:cNvPr id="135" name="body:bridge-value"/>
          <p:cNvSpPr/>
          <p:nvPr/>
        </p:nvSpPr>
        <p:spPr>
          <a:xfrm>
            <a:off x="10509034" y="5376671"/>
            <a:ext cx="1408340"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12.1%</a:t>
            </a:r>
          </a:p>
        </p:txBody>
      </p:sp>
      <p:sp>
        <p:nvSpPr>
          <p:cNvPr id="136" name="body:bridge"/>
          <p:cNvSpPr/>
          <p:nvPr/>
        </p:nvSpPr>
        <p:spPr>
          <a:xfrm>
            <a:off x="8176564" y="5660135"/>
            <a:ext cx="2277605"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Sales-to-Capital</a:t>
            </a:r>
          </a:p>
        </p:txBody>
      </p:sp>
      <p:sp>
        <p:nvSpPr>
          <p:cNvPr id="137" name="body:bridge-value"/>
          <p:cNvSpPr/>
          <p:nvPr/>
        </p:nvSpPr>
        <p:spPr>
          <a:xfrm>
            <a:off x="10509034" y="5660135"/>
            <a:ext cx="1408340"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5.00x</a:t>
            </a:r>
          </a:p>
        </p:txBody>
      </p:sp>
      <p:sp>
        <p:nvSpPr>
          <p:cNvPr id="138" name="body:bridge"/>
          <p:cNvSpPr/>
          <p:nvPr/>
        </p:nvSpPr>
        <p:spPr>
          <a:xfrm>
            <a:off x="8176564" y="5943599"/>
            <a:ext cx="2277605"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buNone/>
            </a:pPr>
            <a:r>
              <a:rPr sz="1300" b="0" i="0">
                <a:solidFill>
                  <a:srgbClr val="000000"/>
                </a:solidFill>
                <a:latin typeface="Book Antiqua"/>
              </a:rPr>
              <a:t>Consensus Growth (Yrs 1–5)</a:t>
            </a:r>
          </a:p>
        </p:txBody>
      </p:sp>
      <p:sp>
        <p:nvSpPr>
          <p:cNvPr id="139" name="body:bridge-value"/>
          <p:cNvSpPr/>
          <p:nvPr/>
        </p:nvSpPr>
        <p:spPr>
          <a:xfrm>
            <a:off x="10509034" y="5943599"/>
            <a:ext cx="1408340" cy="283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buNone/>
            </a:pPr>
            <a:r>
              <a:rPr sz="1300" b="1" i="0">
                <a:solidFill>
                  <a:srgbClr val="000000"/>
                </a:solidFill>
                <a:latin typeface="Book Antiqua"/>
              </a:rPr>
              <a:t>19.3%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12064</Words>
  <Application>Microsoft Office PowerPoint</Application>
  <PresentationFormat>Widescreen</PresentationFormat>
  <Paragraphs>1191</Paragraphs>
  <Slides>23</Slides>
  <Notes>23</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Book Antiqua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Quinten Goodman</cp:lastModifiedBy>
  <cp:revision>1</cp:revision>
  <dcterms:created xsi:type="dcterms:W3CDTF">2013-01-27T09:14:16Z</dcterms:created>
  <dcterms:modified xsi:type="dcterms:W3CDTF">2026-10-26T19:24:50Z</dcterms:modified>
  <cp:category/>
</cp:coreProperties>
</file>